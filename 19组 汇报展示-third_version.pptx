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8"/>
  </p:notesMasterIdLst>
  <p:sldIdLst>
    <p:sldId id="603" r:id="rId3"/>
    <p:sldId id="300" r:id="rId4"/>
    <p:sldId id="604" r:id="rId5"/>
    <p:sldId id="308" r:id="rId6"/>
    <p:sldId id="291" r:id="rId7"/>
    <p:sldId id="566" r:id="rId8"/>
    <p:sldId id="309" r:id="rId9"/>
    <p:sldId id="311" r:id="rId10"/>
    <p:sldId id="567" r:id="rId11"/>
    <p:sldId id="310" r:id="rId12"/>
    <p:sldId id="605" r:id="rId13"/>
    <p:sldId id="582" r:id="rId14"/>
    <p:sldId id="581" r:id="rId15"/>
    <p:sldId id="569" r:id="rId16"/>
    <p:sldId id="633" r:id="rId17"/>
    <p:sldId id="585" r:id="rId18"/>
    <p:sldId id="586" r:id="rId19"/>
    <p:sldId id="568" r:id="rId20"/>
    <p:sldId id="587" r:id="rId21"/>
    <p:sldId id="571" r:id="rId22"/>
    <p:sldId id="573" r:id="rId23"/>
    <p:sldId id="588" r:id="rId24"/>
    <p:sldId id="606" r:id="rId25"/>
    <p:sldId id="589" r:id="rId26"/>
    <p:sldId id="607" r:id="rId27"/>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DE10A08-58A7-48E6-B992-F1A44C5ADB3B}">
          <p14:sldIdLst>
            <p14:sldId id="603"/>
            <p14:sldId id="300"/>
            <p14:sldId id="604"/>
            <p14:sldId id="308"/>
            <p14:sldId id="291"/>
            <p14:sldId id="566"/>
            <p14:sldId id="309"/>
            <p14:sldId id="311"/>
            <p14:sldId id="567"/>
            <p14:sldId id="310"/>
            <p14:sldId id="605"/>
            <p14:sldId id="582"/>
            <p14:sldId id="581"/>
            <p14:sldId id="569"/>
            <p14:sldId id="633"/>
            <p14:sldId id="585"/>
            <p14:sldId id="586"/>
            <p14:sldId id="568"/>
            <p14:sldId id="587"/>
            <p14:sldId id="571"/>
            <p14:sldId id="573"/>
            <p14:sldId id="588"/>
            <p14:sldId id="606"/>
            <p14:sldId id="589"/>
            <p14:sldId id="607"/>
          </p14:sldIdLst>
        </p14:section>
      </p14:sectionLst>
    </p:ext>
    <p:ext uri="{EFAFB233-063F-42B5-8137-9DF3F51BA10A}">
      <p15:sldGuideLst xmlns:p15="http://schemas.microsoft.com/office/powerpoint/2012/main">
        <p15:guide id="1" pos="122">
          <p15:clr>
            <a:srgbClr val="A4A3A4"/>
          </p15:clr>
        </p15:guide>
        <p15:guide id="2" orient="horz" pos="3240">
          <p15:clr>
            <a:srgbClr val="A4A3A4"/>
          </p15:clr>
        </p15:guide>
        <p15:guide id="3" pos="2880">
          <p15:clr>
            <a:srgbClr val="A4A3A4"/>
          </p15:clr>
        </p15:guide>
        <p15:guide id="4" pos="5608">
          <p15:clr>
            <a:srgbClr val="A4A3A4"/>
          </p15:clr>
        </p15:guide>
        <p15:guide id="5" orient="horz">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F5994"/>
    <a:srgbClr val="EEF2F5"/>
    <a:srgbClr val="304371"/>
    <a:srgbClr val="F4F5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167" autoAdjust="0"/>
  </p:normalViewPr>
  <p:slideViewPr>
    <p:cSldViewPr snapToGrid="0" showGuides="1">
      <p:cViewPr varScale="1">
        <p:scale>
          <a:sx n="92" d="100"/>
          <a:sy n="92" d="100"/>
        </p:scale>
        <p:origin x="1032" y="69"/>
      </p:cViewPr>
      <p:guideLst>
        <p:guide pos="122"/>
        <p:guide orient="horz" pos="3240"/>
        <p:guide pos="2880"/>
        <p:guide pos="5608"/>
        <p:guide orient="horz"/>
      </p:guideLst>
    </p:cSldViewPr>
  </p:slideViewPr>
  <p:notesTextViewPr>
    <p:cViewPr>
      <p:scale>
        <a:sx n="1" d="1"/>
        <a:sy n="1" d="1"/>
      </p:scale>
      <p:origin x="0" y="0"/>
    </p:cViewPr>
  </p:notesTextViewPr>
  <p:sorterViewPr>
    <p:cViewPr>
      <p:scale>
        <a:sx n="121" d="100"/>
        <a:sy n="121"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D30B961-B413-4B2B-8C6C-EAF6D28275BA}" type="doc">
      <dgm:prSet loTypeId="urn:microsoft.com/office/officeart/2005/8/layout/hProcess9#1" loCatId="process" qsTypeId="urn:microsoft.com/office/officeart/2005/8/quickstyle/simple2#1" qsCatId="simple" csTypeId="urn:microsoft.com/office/officeart/2005/8/colors/accent1_2#1" csCatId="accent1" phldr="1"/>
      <dgm:spPr/>
    </dgm:pt>
    <dgm:pt modelId="{9B8BA540-5811-445D-8050-76A493F79C82}">
      <dgm:prSet phldrT="[文本]"/>
      <dgm:spPr/>
      <dgm:t>
        <a:bodyPr/>
        <a:lstStyle/>
        <a:p>
          <a:r>
            <a:rPr lang="zh-CN" b="1" dirty="0"/>
            <a:t>中英文混杂</a:t>
          </a:r>
          <a:endParaRPr lang="zh-CN" altLang="en-US" b="1" dirty="0"/>
        </a:p>
      </dgm:t>
    </dgm:pt>
    <dgm:pt modelId="{9D84122B-94C8-4240-A070-DC438943B2E5}" type="parTrans" cxnId="{7E634011-1329-4F18-AEED-27453027FD19}">
      <dgm:prSet/>
      <dgm:spPr/>
      <dgm:t>
        <a:bodyPr/>
        <a:lstStyle/>
        <a:p>
          <a:endParaRPr lang="zh-CN" altLang="en-US"/>
        </a:p>
      </dgm:t>
    </dgm:pt>
    <dgm:pt modelId="{2329EC6F-946B-4995-AFA4-11E49071B875}" type="sibTrans" cxnId="{7E634011-1329-4F18-AEED-27453027FD19}">
      <dgm:prSet/>
      <dgm:spPr/>
      <dgm:t>
        <a:bodyPr/>
        <a:lstStyle/>
        <a:p>
          <a:endParaRPr lang="zh-CN" altLang="en-US"/>
        </a:p>
      </dgm:t>
    </dgm:pt>
    <dgm:pt modelId="{8F7A169D-2191-43CB-80B5-B98CF2926995}">
      <dgm:prSet phldrT="[文本]"/>
      <dgm:spPr/>
      <dgm:t>
        <a:bodyPr/>
        <a:lstStyle/>
        <a:p>
          <a:r>
            <a:rPr lang="zh-CN" b="1" dirty="0"/>
            <a:t>分隔符混杂</a:t>
          </a:r>
          <a:endParaRPr lang="zh-CN" altLang="en-US" b="1" dirty="0"/>
        </a:p>
      </dgm:t>
    </dgm:pt>
    <dgm:pt modelId="{1E909EB9-DB93-4E6D-9BFC-003DA1303CA7}" type="parTrans" cxnId="{3CB106AD-FABE-4FE7-B572-26099D28AEAA}">
      <dgm:prSet/>
      <dgm:spPr/>
      <dgm:t>
        <a:bodyPr/>
        <a:lstStyle/>
        <a:p>
          <a:endParaRPr lang="zh-CN" altLang="en-US"/>
        </a:p>
      </dgm:t>
    </dgm:pt>
    <dgm:pt modelId="{29F8D1E7-A5A2-409D-90CF-2DDE73B7E950}" type="sibTrans" cxnId="{3CB106AD-FABE-4FE7-B572-26099D28AEAA}">
      <dgm:prSet/>
      <dgm:spPr/>
      <dgm:t>
        <a:bodyPr/>
        <a:lstStyle/>
        <a:p>
          <a:endParaRPr lang="zh-CN" altLang="en-US"/>
        </a:p>
      </dgm:t>
    </dgm:pt>
    <dgm:pt modelId="{5B51AF5D-0586-45F7-AE89-2A0985521E32}">
      <dgm:prSet phldrT="[文本]"/>
      <dgm:spPr/>
      <dgm:t>
        <a:bodyPr/>
        <a:lstStyle/>
        <a:p>
          <a:r>
            <a:rPr lang="zh-CN" b="1" dirty="0"/>
            <a:t>日期格式</a:t>
          </a:r>
          <a:r>
            <a:rPr lang="zh-CN" altLang="en-US" b="1" dirty="0"/>
            <a:t>混乱</a:t>
          </a:r>
        </a:p>
      </dgm:t>
    </dgm:pt>
    <dgm:pt modelId="{5A07B1A7-4F06-42E4-8675-3DF0CCECE12F}" type="parTrans" cxnId="{D0A64F81-CB4C-4D97-8E51-6001DD809CAA}">
      <dgm:prSet/>
      <dgm:spPr/>
      <dgm:t>
        <a:bodyPr/>
        <a:lstStyle/>
        <a:p>
          <a:endParaRPr lang="zh-CN" altLang="en-US"/>
        </a:p>
      </dgm:t>
    </dgm:pt>
    <dgm:pt modelId="{C0199976-4CBB-42DB-A7AB-2E007548AC15}" type="sibTrans" cxnId="{D0A64F81-CB4C-4D97-8E51-6001DD809CAA}">
      <dgm:prSet/>
      <dgm:spPr/>
      <dgm:t>
        <a:bodyPr/>
        <a:lstStyle/>
        <a:p>
          <a:endParaRPr lang="zh-CN" altLang="en-US"/>
        </a:p>
      </dgm:t>
    </dgm:pt>
    <dgm:pt modelId="{C3E6F624-8A6B-487E-86F9-3F7F41855396}">
      <dgm:prSet phldrT="[文本]"/>
      <dgm:spPr/>
      <dgm:t>
        <a:bodyPr/>
        <a:lstStyle/>
        <a:p>
          <a:r>
            <a:rPr lang="zh-CN" b="1" dirty="0"/>
            <a:t>去除缺失值</a:t>
          </a:r>
          <a:endParaRPr lang="zh-CN" altLang="en-US" b="1" dirty="0"/>
        </a:p>
      </dgm:t>
    </dgm:pt>
    <dgm:pt modelId="{F254BD7F-50A4-4E00-A225-FA2D6271BFBF}" type="parTrans" cxnId="{7F019D58-AF39-45BA-B67B-3066EFA0EEFC}">
      <dgm:prSet/>
      <dgm:spPr/>
      <dgm:t>
        <a:bodyPr/>
        <a:lstStyle/>
        <a:p>
          <a:endParaRPr lang="zh-CN" altLang="en-US"/>
        </a:p>
      </dgm:t>
    </dgm:pt>
    <dgm:pt modelId="{B6BF01C4-72ED-49AD-9579-A1997AC79732}" type="sibTrans" cxnId="{7F019D58-AF39-45BA-B67B-3066EFA0EEFC}">
      <dgm:prSet/>
      <dgm:spPr/>
      <dgm:t>
        <a:bodyPr/>
        <a:lstStyle/>
        <a:p>
          <a:endParaRPr lang="zh-CN" altLang="en-US"/>
        </a:p>
      </dgm:t>
    </dgm:pt>
    <dgm:pt modelId="{7923F6B9-922F-4207-B3E8-167E3C20A0D7}">
      <dgm:prSet phldrT="[文本]" custT="1"/>
      <dgm:spPr/>
      <dgm:t>
        <a:bodyPr/>
        <a:lstStyle/>
        <a:p>
          <a:r>
            <a:rPr lang="zh-CN" altLang="en-US" sz="1500" b="1" dirty="0"/>
            <a:t>全角半角符号混用</a:t>
          </a:r>
        </a:p>
      </dgm:t>
    </dgm:pt>
    <dgm:pt modelId="{3FBD5B65-28F8-4FE1-8D3C-3A897A76ED5A}" type="parTrans" cxnId="{D9ECCD63-0138-4792-86DB-9C29F174ADF4}">
      <dgm:prSet/>
      <dgm:spPr/>
      <dgm:t>
        <a:bodyPr/>
        <a:lstStyle/>
        <a:p>
          <a:endParaRPr lang="zh-CN" altLang="en-US"/>
        </a:p>
      </dgm:t>
    </dgm:pt>
    <dgm:pt modelId="{E3FE6F26-BD5C-4E58-81A8-C290441B9E24}" type="sibTrans" cxnId="{D9ECCD63-0138-4792-86DB-9C29F174ADF4}">
      <dgm:prSet/>
      <dgm:spPr/>
      <dgm:t>
        <a:bodyPr/>
        <a:lstStyle/>
        <a:p>
          <a:endParaRPr lang="zh-CN" altLang="en-US"/>
        </a:p>
      </dgm:t>
    </dgm:pt>
    <dgm:pt modelId="{8A348E6C-322E-412B-A648-B24C02E201B3}" type="pres">
      <dgm:prSet presAssocID="{CD30B961-B413-4B2B-8C6C-EAF6D28275BA}" presName="CompostProcess" presStyleCnt="0">
        <dgm:presLayoutVars>
          <dgm:dir/>
          <dgm:resizeHandles val="exact"/>
        </dgm:presLayoutVars>
      </dgm:prSet>
      <dgm:spPr/>
    </dgm:pt>
    <dgm:pt modelId="{D9AEFEE7-059F-47B8-B9FE-242DF729FBB5}" type="pres">
      <dgm:prSet presAssocID="{CD30B961-B413-4B2B-8C6C-EAF6D28275BA}" presName="arrow" presStyleLbl="bgShp" presStyleIdx="0" presStyleCnt="1" custLinFactY="94734" custLinFactNeighborX="12104" custLinFactNeighborY="100000"/>
      <dgm:spPr/>
    </dgm:pt>
    <dgm:pt modelId="{47518D84-5AE8-422B-8745-D98D64B9829B}" type="pres">
      <dgm:prSet presAssocID="{CD30B961-B413-4B2B-8C6C-EAF6D28275BA}" presName="linearProcess" presStyleCnt="0"/>
      <dgm:spPr/>
    </dgm:pt>
    <dgm:pt modelId="{C5B38F31-5156-4A1A-898F-1B7E76BE675C}" type="pres">
      <dgm:prSet presAssocID="{9B8BA540-5811-445D-8050-76A493F79C82}" presName="textNode" presStyleLbl="node1" presStyleIdx="0" presStyleCnt="5">
        <dgm:presLayoutVars>
          <dgm:bulletEnabled val="1"/>
        </dgm:presLayoutVars>
      </dgm:prSet>
      <dgm:spPr/>
    </dgm:pt>
    <dgm:pt modelId="{0C5AB836-E15B-4444-A9CF-BC4B693F16D0}" type="pres">
      <dgm:prSet presAssocID="{2329EC6F-946B-4995-AFA4-11E49071B875}" presName="sibTrans" presStyleCnt="0"/>
      <dgm:spPr/>
    </dgm:pt>
    <dgm:pt modelId="{B5E3E0A6-C8E8-4C36-9E34-6A8FACE59914}" type="pres">
      <dgm:prSet presAssocID="{8F7A169D-2191-43CB-80B5-B98CF2926995}" presName="textNode" presStyleLbl="node1" presStyleIdx="1" presStyleCnt="5">
        <dgm:presLayoutVars>
          <dgm:bulletEnabled val="1"/>
        </dgm:presLayoutVars>
      </dgm:prSet>
      <dgm:spPr/>
    </dgm:pt>
    <dgm:pt modelId="{834DAB24-D3B6-4D14-AF49-A2A55EFD1285}" type="pres">
      <dgm:prSet presAssocID="{29F8D1E7-A5A2-409D-90CF-2DDE73B7E950}" presName="sibTrans" presStyleCnt="0"/>
      <dgm:spPr/>
    </dgm:pt>
    <dgm:pt modelId="{E0610758-5609-4A3B-8834-393D40A8A103}" type="pres">
      <dgm:prSet presAssocID="{5B51AF5D-0586-45F7-AE89-2A0985521E32}" presName="textNode" presStyleLbl="node1" presStyleIdx="2" presStyleCnt="5">
        <dgm:presLayoutVars>
          <dgm:bulletEnabled val="1"/>
        </dgm:presLayoutVars>
      </dgm:prSet>
      <dgm:spPr/>
    </dgm:pt>
    <dgm:pt modelId="{364DCD97-148E-4A92-8E78-8A5EC8C522CF}" type="pres">
      <dgm:prSet presAssocID="{C0199976-4CBB-42DB-A7AB-2E007548AC15}" presName="sibTrans" presStyleCnt="0"/>
      <dgm:spPr/>
    </dgm:pt>
    <dgm:pt modelId="{95841282-7C40-495F-BC56-7CE185B59DDE}" type="pres">
      <dgm:prSet presAssocID="{C3E6F624-8A6B-487E-86F9-3F7F41855396}" presName="textNode" presStyleLbl="node1" presStyleIdx="3" presStyleCnt="5">
        <dgm:presLayoutVars>
          <dgm:bulletEnabled val="1"/>
        </dgm:presLayoutVars>
      </dgm:prSet>
      <dgm:spPr/>
    </dgm:pt>
    <dgm:pt modelId="{DB710962-3FC7-4248-9791-47A35EB12847}" type="pres">
      <dgm:prSet presAssocID="{B6BF01C4-72ED-49AD-9579-A1997AC79732}" presName="sibTrans" presStyleCnt="0"/>
      <dgm:spPr/>
    </dgm:pt>
    <dgm:pt modelId="{75528F3B-E899-4D84-9277-95FE3036CE16}" type="pres">
      <dgm:prSet presAssocID="{7923F6B9-922F-4207-B3E8-167E3C20A0D7}" presName="textNode" presStyleLbl="node1" presStyleIdx="4" presStyleCnt="5">
        <dgm:presLayoutVars>
          <dgm:bulletEnabled val="1"/>
        </dgm:presLayoutVars>
      </dgm:prSet>
      <dgm:spPr/>
    </dgm:pt>
  </dgm:ptLst>
  <dgm:cxnLst>
    <dgm:cxn modelId="{7E634011-1329-4F18-AEED-27453027FD19}" srcId="{CD30B961-B413-4B2B-8C6C-EAF6D28275BA}" destId="{9B8BA540-5811-445D-8050-76A493F79C82}" srcOrd="0" destOrd="0" parTransId="{9D84122B-94C8-4240-A070-DC438943B2E5}" sibTransId="{2329EC6F-946B-4995-AFA4-11E49071B875}"/>
    <dgm:cxn modelId="{D9ECCD63-0138-4792-86DB-9C29F174ADF4}" srcId="{CD30B961-B413-4B2B-8C6C-EAF6D28275BA}" destId="{7923F6B9-922F-4207-B3E8-167E3C20A0D7}" srcOrd="4" destOrd="0" parTransId="{3FBD5B65-28F8-4FE1-8D3C-3A897A76ED5A}" sibTransId="{E3FE6F26-BD5C-4E58-81A8-C290441B9E24}"/>
    <dgm:cxn modelId="{F0939250-07E0-4A17-AF5B-3CD9870928E2}" type="presOf" srcId="{CD30B961-B413-4B2B-8C6C-EAF6D28275BA}" destId="{8A348E6C-322E-412B-A648-B24C02E201B3}" srcOrd="0" destOrd="0" presId="urn:microsoft.com/office/officeart/2005/8/layout/hProcess9#1"/>
    <dgm:cxn modelId="{7F019D58-AF39-45BA-B67B-3066EFA0EEFC}" srcId="{CD30B961-B413-4B2B-8C6C-EAF6D28275BA}" destId="{C3E6F624-8A6B-487E-86F9-3F7F41855396}" srcOrd="3" destOrd="0" parTransId="{F254BD7F-50A4-4E00-A225-FA2D6271BFBF}" sibTransId="{B6BF01C4-72ED-49AD-9579-A1997AC79732}"/>
    <dgm:cxn modelId="{D0A64F81-CB4C-4D97-8E51-6001DD809CAA}" srcId="{CD30B961-B413-4B2B-8C6C-EAF6D28275BA}" destId="{5B51AF5D-0586-45F7-AE89-2A0985521E32}" srcOrd="2" destOrd="0" parTransId="{5A07B1A7-4F06-42E4-8675-3DF0CCECE12F}" sibTransId="{C0199976-4CBB-42DB-A7AB-2E007548AC15}"/>
    <dgm:cxn modelId="{18037D8B-120D-478D-95E8-B9DF6B377559}" type="presOf" srcId="{8F7A169D-2191-43CB-80B5-B98CF2926995}" destId="{B5E3E0A6-C8E8-4C36-9E34-6A8FACE59914}" srcOrd="0" destOrd="0" presId="urn:microsoft.com/office/officeart/2005/8/layout/hProcess9#1"/>
    <dgm:cxn modelId="{3CB106AD-FABE-4FE7-B572-26099D28AEAA}" srcId="{CD30B961-B413-4B2B-8C6C-EAF6D28275BA}" destId="{8F7A169D-2191-43CB-80B5-B98CF2926995}" srcOrd="1" destOrd="0" parTransId="{1E909EB9-DB93-4E6D-9BFC-003DA1303CA7}" sibTransId="{29F8D1E7-A5A2-409D-90CF-2DDE73B7E950}"/>
    <dgm:cxn modelId="{305A25AF-BCC1-4D62-9E7E-B0ED46F39E3F}" type="presOf" srcId="{5B51AF5D-0586-45F7-AE89-2A0985521E32}" destId="{E0610758-5609-4A3B-8834-393D40A8A103}" srcOrd="0" destOrd="0" presId="urn:microsoft.com/office/officeart/2005/8/layout/hProcess9#1"/>
    <dgm:cxn modelId="{40BBE4D5-EAE9-4091-9623-28E44680CD0C}" type="presOf" srcId="{9B8BA540-5811-445D-8050-76A493F79C82}" destId="{C5B38F31-5156-4A1A-898F-1B7E76BE675C}" srcOrd="0" destOrd="0" presId="urn:microsoft.com/office/officeart/2005/8/layout/hProcess9#1"/>
    <dgm:cxn modelId="{7F282DEA-5A94-47C5-A174-ECABB81946F4}" type="presOf" srcId="{C3E6F624-8A6B-487E-86F9-3F7F41855396}" destId="{95841282-7C40-495F-BC56-7CE185B59DDE}" srcOrd="0" destOrd="0" presId="urn:microsoft.com/office/officeart/2005/8/layout/hProcess9#1"/>
    <dgm:cxn modelId="{3C3647FF-27F6-482B-8695-E170B55FBBF2}" type="presOf" srcId="{7923F6B9-922F-4207-B3E8-167E3C20A0D7}" destId="{75528F3B-E899-4D84-9277-95FE3036CE16}" srcOrd="0" destOrd="0" presId="urn:microsoft.com/office/officeart/2005/8/layout/hProcess9#1"/>
    <dgm:cxn modelId="{CF72CE54-F5E5-449A-9DD3-0045931D7179}" type="presParOf" srcId="{8A348E6C-322E-412B-A648-B24C02E201B3}" destId="{D9AEFEE7-059F-47B8-B9FE-242DF729FBB5}" srcOrd="0" destOrd="0" presId="urn:microsoft.com/office/officeart/2005/8/layout/hProcess9#1"/>
    <dgm:cxn modelId="{D243F7EB-2ADB-4B49-BC15-61183E29E684}" type="presParOf" srcId="{8A348E6C-322E-412B-A648-B24C02E201B3}" destId="{47518D84-5AE8-422B-8745-D98D64B9829B}" srcOrd="1" destOrd="0" presId="urn:microsoft.com/office/officeart/2005/8/layout/hProcess9#1"/>
    <dgm:cxn modelId="{63AF3011-129F-4907-A67C-E15A689D4BCF}" type="presParOf" srcId="{47518D84-5AE8-422B-8745-D98D64B9829B}" destId="{C5B38F31-5156-4A1A-898F-1B7E76BE675C}" srcOrd="0" destOrd="0" presId="urn:microsoft.com/office/officeart/2005/8/layout/hProcess9#1"/>
    <dgm:cxn modelId="{81580433-D6DF-406C-A9DF-619547E4CD1C}" type="presParOf" srcId="{47518D84-5AE8-422B-8745-D98D64B9829B}" destId="{0C5AB836-E15B-4444-A9CF-BC4B693F16D0}" srcOrd="1" destOrd="0" presId="urn:microsoft.com/office/officeart/2005/8/layout/hProcess9#1"/>
    <dgm:cxn modelId="{59DC95B3-7FAC-4AF4-B022-B4CA17B00F8D}" type="presParOf" srcId="{47518D84-5AE8-422B-8745-D98D64B9829B}" destId="{B5E3E0A6-C8E8-4C36-9E34-6A8FACE59914}" srcOrd="2" destOrd="0" presId="urn:microsoft.com/office/officeart/2005/8/layout/hProcess9#1"/>
    <dgm:cxn modelId="{7FF1EF57-ED5D-4224-96E5-C2B1C7CEE6C7}" type="presParOf" srcId="{47518D84-5AE8-422B-8745-D98D64B9829B}" destId="{834DAB24-D3B6-4D14-AF49-A2A55EFD1285}" srcOrd="3" destOrd="0" presId="urn:microsoft.com/office/officeart/2005/8/layout/hProcess9#1"/>
    <dgm:cxn modelId="{BB7086F0-04FB-404A-8E16-702DBFA3083D}" type="presParOf" srcId="{47518D84-5AE8-422B-8745-D98D64B9829B}" destId="{E0610758-5609-4A3B-8834-393D40A8A103}" srcOrd="4" destOrd="0" presId="urn:microsoft.com/office/officeart/2005/8/layout/hProcess9#1"/>
    <dgm:cxn modelId="{741AFFA0-5F0F-43C4-B15C-501BD3FEEFCE}" type="presParOf" srcId="{47518D84-5AE8-422B-8745-D98D64B9829B}" destId="{364DCD97-148E-4A92-8E78-8A5EC8C522CF}" srcOrd="5" destOrd="0" presId="urn:microsoft.com/office/officeart/2005/8/layout/hProcess9#1"/>
    <dgm:cxn modelId="{FFEACF5E-25B9-4194-9EF3-9E380AFC62E5}" type="presParOf" srcId="{47518D84-5AE8-422B-8745-D98D64B9829B}" destId="{95841282-7C40-495F-BC56-7CE185B59DDE}" srcOrd="6" destOrd="0" presId="urn:microsoft.com/office/officeart/2005/8/layout/hProcess9#1"/>
    <dgm:cxn modelId="{4172046E-12D5-4E1A-84D5-C7C5350318C9}" type="presParOf" srcId="{47518D84-5AE8-422B-8745-D98D64B9829B}" destId="{DB710962-3FC7-4248-9791-47A35EB12847}" srcOrd="7" destOrd="0" presId="urn:microsoft.com/office/officeart/2005/8/layout/hProcess9#1"/>
    <dgm:cxn modelId="{1471DB82-8E89-4044-AB3B-EB68F862B23B}" type="presParOf" srcId="{47518D84-5AE8-422B-8745-D98D64B9829B}" destId="{75528F3B-E899-4D84-9277-95FE3036CE16}" srcOrd="8" destOrd="0" presId="urn:microsoft.com/office/officeart/2005/8/layout/hProcess9#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30B961-B413-4B2B-8C6C-EAF6D28275BA}" type="doc">
      <dgm:prSet loTypeId="urn:microsoft.com/office/officeart/2005/8/layout/hProcess9#2" loCatId="process" qsTypeId="urn:microsoft.com/office/officeart/2005/8/quickstyle/simple2#2" qsCatId="simple" csTypeId="urn:microsoft.com/office/officeart/2005/8/colors/accent1_2#2" csCatId="accent1" phldr="1"/>
      <dgm:spPr/>
    </dgm:pt>
    <dgm:pt modelId="{9B8BA540-5811-445D-8050-76A493F79C82}">
      <dgm:prSet phldrT="[文本]"/>
      <dgm:spPr/>
      <dgm:t>
        <a:bodyPr/>
        <a:lstStyle/>
        <a:p>
          <a:r>
            <a:rPr lang="zh-CN" altLang="en-US" b="1" dirty="0"/>
            <a:t>构造子图（对齐电影）</a:t>
          </a:r>
        </a:p>
      </dgm:t>
    </dgm:pt>
    <dgm:pt modelId="{9D84122B-94C8-4240-A070-DC438943B2E5}" type="parTrans" cxnId="{7E634011-1329-4F18-AEED-27453027FD19}">
      <dgm:prSet/>
      <dgm:spPr/>
      <dgm:t>
        <a:bodyPr/>
        <a:lstStyle/>
        <a:p>
          <a:endParaRPr lang="zh-CN" altLang="en-US"/>
        </a:p>
      </dgm:t>
    </dgm:pt>
    <dgm:pt modelId="{2329EC6F-946B-4995-AFA4-11E49071B875}" type="sibTrans" cxnId="{7E634011-1329-4F18-AEED-27453027FD19}">
      <dgm:prSet/>
      <dgm:spPr/>
      <dgm:t>
        <a:bodyPr/>
        <a:lstStyle/>
        <a:p>
          <a:endParaRPr lang="zh-CN" altLang="en-US"/>
        </a:p>
      </dgm:t>
    </dgm:pt>
    <dgm:pt modelId="{8F7A169D-2191-43CB-80B5-B98CF2926995}">
      <dgm:prSet phldrT="[文本]"/>
      <dgm:spPr/>
      <dgm:t>
        <a:bodyPr/>
        <a:lstStyle/>
        <a:p>
          <a:r>
            <a:rPr lang="zh-CN" altLang="en-US" b="1" dirty="0"/>
            <a:t>实体链接（构造三元组）</a:t>
          </a:r>
        </a:p>
      </dgm:t>
    </dgm:pt>
    <dgm:pt modelId="{1E909EB9-DB93-4E6D-9BFC-003DA1303CA7}" type="parTrans" cxnId="{3CB106AD-FABE-4FE7-B572-26099D28AEAA}">
      <dgm:prSet/>
      <dgm:spPr/>
      <dgm:t>
        <a:bodyPr/>
        <a:lstStyle/>
        <a:p>
          <a:endParaRPr lang="zh-CN" altLang="en-US"/>
        </a:p>
      </dgm:t>
    </dgm:pt>
    <dgm:pt modelId="{29F8D1E7-A5A2-409D-90CF-2DDE73B7E950}" type="sibTrans" cxnId="{3CB106AD-FABE-4FE7-B572-26099D28AEAA}">
      <dgm:prSet/>
      <dgm:spPr/>
      <dgm:t>
        <a:bodyPr/>
        <a:lstStyle/>
        <a:p>
          <a:endParaRPr lang="zh-CN" altLang="en-US"/>
        </a:p>
      </dgm:t>
    </dgm:pt>
    <dgm:pt modelId="{8A348E6C-322E-412B-A648-B24C02E201B3}" type="pres">
      <dgm:prSet presAssocID="{CD30B961-B413-4B2B-8C6C-EAF6D28275BA}" presName="CompostProcess" presStyleCnt="0">
        <dgm:presLayoutVars>
          <dgm:dir/>
          <dgm:resizeHandles val="exact"/>
        </dgm:presLayoutVars>
      </dgm:prSet>
      <dgm:spPr/>
    </dgm:pt>
    <dgm:pt modelId="{D9AEFEE7-059F-47B8-B9FE-242DF729FBB5}" type="pres">
      <dgm:prSet presAssocID="{CD30B961-B413-4B2B-8C6C-EAF6D28275BA}" presName="arrow" presStyleLbl="bgShp" presStyleIdx="0" presStyleCnt="1" custLinFactY="94734" custLinFactNeighborX="12104" custLinFactNeighborY="100000"/>
      <dgm:spPr/>
    </dgm:pt>
    <dgm:pt modelId="{47518D84-5AE8-422B-8745-D98D64B9829B}" type="pres">
      <dgm:prSet presAssocID="{CD30B961-B413-4B2B-8C6C-EAF6D28275BA}" presName="linearProcess" presStyleCnt="0"/>
      <dgm:spPr/>
    </dgm:pt>
    <dgm:pt modelId="{C5B38F31-5156-4A1A-898F-1B7E76BE675C}" type="pres">
      <dgm:prSet presAssocID="{9B8BA540-5811-445D-8050-76A493F79C82}" presName="textNode" presStyleLbl="node1" presStyleIdx="0" presStyleCnt="2">
        <dgm:presLayoutVars>
          <dgm:bulletEnabled val="1"/>
        </dgm:presLayoutVars>
      </dgm:prSet>
      <dgm:spPr/>
    </dgm:pt>
    <dgm:pt modelId="{0C5AB836-E15B-4444-A9CF-BC4B693F16D0}" type="pres">
      <dgm:prSet presAssocID="{2329EC6F-946B-4995-AFA4-11E49071B875}" presName="sibTrans" presStyleCnt="0"/>
      <dgm:spPr/>
    </dgm:pt>
    <dgm:pt modelId="{B5E3E0A6-C8E8-4C36-9E34-6A8FACE59914}" type="pres">
      <dgm:prSet presAssocID="{8F7A169D-2191-43CB-80B5-B98CF2926995}" presName="textNode" presStyleLbl="node1" presStyleIdx="1" presStyleCnt="2">
        <dgm:presLayoutVars>
          <dgm:bulletEnabled val="1"/>
        </dgm:presLayoutVars>
      </dgm:prSet>
      <dgm:spPr/>
    </dgm:pt>
  </dgm:ptLst>
  <dgm:cxnLst>
    <dgm:cxn modelId="{7E634011-1329-4F18-AEED-27453027FD19}" srcId="{CD30B961-B413-4B2B-8C6C-EAF6D28275BA}" destId="{9B8BA540-5811-445D-8050-76A493F79C82}" srcOrd="0" destOrd="0" parTransId="{9D84122B-94C8-4240-A070-DC438943B2E5}" sibTransId="{2329EC6F-946B-4995-AFA4-11E49071B875}"/>
    <dgm:cxn modelId="{F0939250-07E0-4A17-AF5B-3CD9870928E2}" type="presOf" srcId="{CD30B961-B413-4B2B-8C6C-EAF6D28275BA}" destId="{8A348E6C-322E-412B-A648-B24C02E201B3}" srcOrd="0" destOrd="0" presId="urn:microsoft.com/office/officeart/2005/8/layout/hProcess9#2"/>
    <dgm:cxn modelId="{18037D8B-120D-478D-95E8-B9DF6B377559}" type="presOf" srcId="{8F7A169D-2191-43CB-80B5-B98CF2926995}" destId="{B5E3E0A6-C8E8-4C36-9E34-6A8FACE59914}" srcOrd="0" destOrd="0" presId="urn:microsoft.com/office/officeart/2005/8/layout/hProcess9#2"/>
    <dgm:cxn modelId="{3CB106AD-FABE-4FE7-B572-26099D28AEAA}" srcId="{CD30B961-B413-4B2B-8C6C-EAF6D28275BA}" destId="{8F7A169D-2191-43CB-80B5-B98CF2926995}" srcOrd="1" destOrd="0" parTransId="{1E909EB9-DB93-4E6D-9BFC-003DA1303CA7}" sibTransId="{29F8D1E7-A5A2-409D-90CF-2DDE73B7E950}"/>
    <dgm:cxn modelId="{40BBE4D5-EAE9-4091-9623-28E44680CD0C}" type="presOf" srcId="{9B8BA540-5811-445D-8050-76A493F79C82}" destId="{C5B38F31-5156-4A1A-898F-1B7E76BE675C}" srcOrd="0" destOrd="0" presId="urn:microsoft.com/office/officeart/2005/8/layout/hProcess9#2"/>
    <dgm:cxn modelId="{CF72CE54-F5E5-449A-9DD3-0045931D7179}" type="presParOf" srcId="{8A348E6C-322E-412B-A648-B24C02E201B3}" destId="{D9AEFEE7-059F-47B8-B9FE-242DF729FBB5}" srcOrd="0" destOrd="0" presId="urn:microsoft.com/office/officeart/2005/8/layout/hProcess9#2"/>
    <dgm:cxn modelId="{D243F7EB-2ADB-4B49-BC15-61183E29E684}" type="presParOf" srcId="{8A348E6C-322E-412B-A648-B24C02E201B3}" destId="{47518D84-5AE8-422B-8745-D98D64B9829B}" srcOrd="1" destOrd="0" presId="urn:microsoft.com/office/officeart/2005/8/layout/hProcess9#2"/>
    <dgm:cxn modelId="{63AF3011-129F-4907-A67C-E15A689D4BCF}" type="presParOf" srcId="{47518D84-5AE8-422B-8745-D98D64B9829B}" destId="{C5B38F31-5156-4A1A-898F-1B7E76BE675C}" srcOrd="0" destOrd="0" presId="urn:microsoft.com/office/officeart/2005/8/layout/hProcess9#2"/>
    <dgm:cxn modelId="{81580433-D6DF-406C-A9DF-619547E4CD1C}" type="presParOf" srcId="{47518D84-5AE8-422B-8745-D98D64B9829B}" destId="{0C5AB836-E15B-4444-A9CF-BC4B693F16D0}" srcOrd="1" destOrd="0" presId="urn:microsoft.com/office/officeart/2005/8/layout/hProcess9#2"/>
    <dgm:cxn modelId="{59DC95B3-7FAC-4AF4-B022-B4CA17B00F8D}" type="presParOf" srcId="{47518D84-5AE8-422B-8745-D98D64B9829B}" destId="{B5E3E0A6-C8E8-4C36-9E34-6A8FACE59914}" srcOrd="2" destOrd="0" presId="urn:microsoft.com/office/officeart/2005/8/layout/hProcess9#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EFEE7-059F-47B8-B9FE-242DF729FBB5}">
      <dsp:nvSpPr>
        <dsp:cNvPr id="0" name=""/>
        <dsp:cNvSpPr/>
      </dsp:nvSpPr>
      <dsp:spPr>
        <a:xfrm>
          <a:off x="1054225" y="0"/>
          <a:ext cx="5973943" cy="141715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B38F31-5156-4A1A-898F-1B7E76BE675C}">
      <dsp:nvSpPr>
        <dsp:cNvPr id="0" name=""/>
        <dsp:cNvSpPr/>
      </dsp:nvSpPr>
      <dsp:spPr>
        <a:xfrm>
          <a:off x="2332" y="425146"/>
          <a:ext cx="1325771" cy="5668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中英文混杂</a:t>
          </a:r>
        </a:p>
      </dsp:txBody>
      <dsp:txXfrm>
        <a:off x="30004" y="452818"/>
        <a:ext cx="1270427" cy="511517"/>
      </dsp:txXfrm>
    </dsp:sp>
    <dsp:sp modelId="{B5E3E0A6-C8E8-4C36-9E34-6A8FACE59914}">
      <dsp:nvSpPr>
        <dsp:cNvPr id="0" name=""/>
        <dsp:cNvSpPr/>
      </dsp:nvSpPr>
      <dsp:spPr>
        <a:xfrm>
          <a:off x="1426765" y="425146"/>
          <a:ext cx="1325771" cy="5668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分隔符混杂</a:t>
          </a:r>
        </a:p>
      </dsp:txBody>
      <dsp:txXfrm>
        <a:off x="1454437" y="452818"/>
        <a:ext cx="1270427" cy="511517"/>
      </dsp:txXfrm>
    </dsp:sp>
    <dsp:sp modelId="{E0610758-5609-4A3B-8834-393D40A8A103}">
      <dsp:nvSpPr>
        <dsp:cNvPr id="0" name=""/>
        <dsp:cNvSpPr/>
      </dsp:nvSpPr>
      <dsp:spPr>
        <a:xfrm>
          <a:off x="2851198" y="425146"/>
          <a:ext cx="1325771" cy="5668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日期格式混乱</a:t>
          </a:r>
        </a:p>
      </dsp:txBody>
      <dsp:txXfrm>
        <a:off x="2878870" y="452818"/>
        <a:ext cx="1270427" cy="511517"/>
      </dsp:txXfrm>
    </dsp:sp>
    <dsp:sp modelId="{95841282-7C40-495F-BC56-7CE185B59DDE}">
      <dsp:nvSpPr>
        <dsp:cNvPr id="0" name=""/>
        <dsp:cNvSpPr/>
      </dsp:nvSpPr>
      <dsp:spPr>
        <a:xfrm>
          <a:off x="4275632" y="425146"/>
          <a:ext cx="1325771" cy="5668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去除缺失值</a:t>
          </a:r>
        </a:p>
      </dsp:txBody>
      <dsp:txXfrm>
        <a:off x="4303304" y="452818"/>
        <a:ext cx="1270427" cy="511517"/>
      </dsp:txXfrm>
    </dsp:sp>
    <dsp:sp modelId="{75528F3B-E899-4D84-9277-95FE3036CE16}">
      <dsp:nvSpPr>
        <dsp:cNvPr id="0" name=""/>
        <dsp:cNvSpPr/>
      </dsp:nvSpPr>
      <dsp:spPr>
        <a:xfrm>
          <a:off x="5700065" y="425146"/>
          <a:ext cx="1325771" cy="5668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全角半角符号混用</a:t>
          </a:r>
        </a:p>
      </dsp:txBody>
      <dsp:txXfrm>
        <a:off x="5727737" y="452818"/>
        <a:ext cx="1270427" cy="5115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EFEE7-059F-47B8-B9FE-242DF729FBB5}">
      <dsp:nvSpPr>
        <dsp:cNvPr id="0" name=""/>
        <dsp:cNvSpPr/>
      </dsp:nvSpPr>
      <dsp:spPr>
        <a:xfrm>
          <a:off x="927731" y="0"/>
          <a:ext cx="5257144" cy="115499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B38F31-5156-4A1A-898F-1B7E76BE675C}">
      <dsp:nvSpPr>
        <dsp:cNvPr id="0" name=""/>
        <dsp:cNvSpPr/>
      </dsp:nvSpPr>
      <dsp:spPr>
        <a:xfrm>
          <a:off x="895191" y="346496"/>
          <a:ext cx="2121823" cy="46199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构造子图（对齐电影）</a:t>
          </a:r>
        </a:p>
      </dsp:txBody>
      <dsp:txXfrm>
        <a:off x="917744" y="369049"/>
        <a:ext cx="2076717" cy="416890"/>
      </dsp:txXfrm>
    </dsp:sp>
    <dsp:sp modelId="{B5E3E0A6-C8E8-4C36-9E34-6A8FACE59914}">
      <dsp:nvSpPr>
        <dsp:cNvPr id="0" name=""/>
        <dsp:cNvSpPr/>
      </dsp:nvSpPr>
      <dsp:spPr>
        <a:xfrm>
          <a:off x="3167861" y="346496"/>
          <a:ext cx="2121823" cy="46199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zh-CN" altLang="en-US" sz="1500" b="1" kern="1200" dirty="0"/>
            <a:t>实体链接（构造三元组）</a:t>
          </a:r>
        </a:p>
      </dsp:txBody>
      <dsp:txXfrm>
        <a:off x="3190414" y="369049"/>
        <a:ext cx="2076717" cy="41689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2018/8/24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各位评委老师，大家辛苦了，我们组是今天展示的最后一组，我们将以精炼的语言尽快完成我们的项目展示，我们是</a:t>
            </a:r>
            <a:r>
              <a:rPr lang="en-US" altLang="zh-CN" dirty="0"/>
              <a:t>19</a:t>
            </a:r>
            <a:r>
              <a:rPr lang="zh-CN" altLang="en-US" dirty="0"/>
              <a:t>组</a:t>
            </a:r>
            <a:r>
              <a:rPr lang="en-US" altLang="zh-CN" dirty="0"/>
              <a:t>NTFKG</a:t>
            </a:r>
            <a:r>
              <a:rPr lang="zh-CN" altLang="en-US" dirty="0"/>
              <a:t>，</a:t>
            </a:r>
            <a:r>
              <a:rPr lang="en-US" altLang="zh-CN" dirty="0"/>
              <a:t>nineteen for knowledge graph</a:t>
            </a:r>
            <a:r>
              <a:rPr lang="zh-CN" altLang="en-US" dirty="0"/>
              <a:t>，我们做的项目是知识图谱助力电影推荐。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我们的展示主要分以下四部分进行，分别是项目介绍，</a:t>
            </a:r>
            <a:r>
              <a:rPr lang="zh-CN" altLang="en-US" sz="1200" kern="1200" dirty="0">
                <a:solidFill>
                  <a:schemeClr val="accent1"/>
                </a:solidFill>
                <a:latin typeface="+mj-ea"/>
                <a:ea typeface="+mn-ea"/>
                <a:cs typeface="+mn-cs"/>
              </a:rPr>
              <a:t>推荐模型构造，可解释性及项目展示，总结与致谢</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accent1"/>
              </a:solidFill>
              <a:latin typeface="+mj-ea"/>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746639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我们要进行的任务是基于给定的数据集构建基于知识图谱的推荐算法，尽可能提高推荐效果，并且，对于</a:t>
            </a:r>
            <a:r>
              <a:rPr lang="zh-CN" altLang="en-US" sz="1200" dirty="0">
                <a:solidFill>
                  <a:schemeClr val="tx1">
                    <a:lumMod val="85000"/>
                    <a:lumOff val="15000"/>
                  </a:schemeClr>
                </a:solidFill>
              </a:rPr>
              <a:t>每一个推荐的物品，找到用户可能对此物品感兴趣的点，然后基于此生成一句话的</a:t>
            </a:r>
            <a:r>
              <a:rPr lang="zh-CN" altLang="en-US" sz="1200" b="1" dirty="0">
                <a:solidFill>
                  <a:schemeClr val="tx1">
                    <a:lumMod val="85000"/>
                    <a:lumOff val="15000"/>
                  </a:schemeClr>
                </a:solidFill>
              </a:rPr>
              <a:t>推荐理由</a:t>
            </a:r>
            <a:r>
              <a:rPr lang="zh-CN" altLang="en-US" sz="1200" dirty="0">
                <a:solidFill>
                  <a:schemeClr val="tx1">
                    <a:lumMod val="85000"/>
                    <a:lumOff val="15000"/>
                  </a:schemeClr>
                </a:solidFill>
              </a:rPr>
              <a:t>。</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72297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那么，为什么要用知识图谱呢？这是因为传统推荐模型 ，往往存在着稀疏性和冷启动的问题。比如我们可以看到某音乐推荐软件，在推荐之前会需要做用户测试，此时就会极大的考验用户的耐心程度。（慢）为了解决这一问题，我们加入了知识图谱，知识图谱能够以跨领域沉淀知识与丰富的语义关联将我们生活中的一些小细节作为推荐的依据，从而做出更加个性化的推荐。</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如图所示的知识图谱，我们以推荐电影为例 如果用户有过一出好戏的观影记录，从知识图谱可以看到它通过演员关系王宝强，黄渤与人在囧途这部电影产生了联系</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那么就一起来看看我们如何完成的这一项推荐任务。首先，我们进行了数据清洗。对于第一个数据集，</a:t>
            </a:r>
            <a:r>
              <a:rPr lang="en-US" altLang="zh-CN" dirty="0"/>
              <a:t>movie.txt </a:t>
            </a:r>
            <a:r>
              <a:rPr lang="zh-CN" altLang="en-US" dirty="0"/>
              <a:t>包含</a:t>
            </a:r>
            <a:r>
              <a:rPr lang="en-US" altLang="zh-CN" dirty="0"/>
              <a:t>8</a:t>
            </a:r>
            <a:r>
              <a:rPr lang="zh-CN" altLang="en-US" dirty="0"/>
              <a:t>万条观影记录，其中包含电影</a:t>
            </a:r>
            <a:r>
              <a:rPr lang="en-US" altLang="zh-CN" dirty="0"/>
              <a:t>id</a:t>
            </a:r>
            <a:r>
              <a:rPr lang="zh-CN" altLang="en-US" dirty="0"/>
              <a:t>，导演，主演，类别，评分等数据等，但是，该数据的噪声比价大，存在中英文混杂，分割符混杂，日期格式混乱，以及缺失值、全半角符号混用等问题。对于这些问题，我们 采用正则表达式，适当删减数据的方法来解决，对于一些格式不统一的问题，我们将难处理的数据个格式处理成方便处理的数据格式，对一些很顽固的数据分子，采用手动删除的方式。</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第二个数据集</a:t>
            </a:r>
            <a:r>
              <a:rPr lang="en-US" altLang="zh-CN" dirty="0" err="1"/>
              <a:t>usermovie.train</a:t>
            </a:r>
            <a:r>
              <a:rPr lang="zh-CN" altLang="en-US" dirty="0"/>
              <a:t>里面存放着</a:t>
            </a:r>
            <a:r>
              <a:rPr lang="en-US" altLang="zh-CN" dirty="0"/>
              <a:t>870</a:t>
            </a:r>
            <a:r>
              <a:rPr lang="zh-CN" altLang="en-US" dirty="0"/>
              <a:t>万条观影记录的数据，经过分析，该电影的评分记录为</a:t>
            </a:r>
            <a:r>
              <a:rPr lang="en-US" altLang="zh-CN" dirty="0"/>
              <a:t>5</a:t>
            </a:r>
            <a:r>
              <a:rPr lang="zh-CN" altLang="en-US" dirty="0"/>
              <a:t>级评分制，获取到的数据集中只有评为</a:t>
            </a:r>
            <a:r>
              <a:rPr lang="en-US" altLang="zh-CN" dirty="0"/>
              <a:t>3.4.5</a:t>
            </a:r>
            <a:r>
              <a:rPr lang="zh-CN" altLang="en-US" dirty="0"/>
              <a:t>星的数据。因此，我们进行了负例的生成，初步采用的方法是将用户没有看过的电影，随机抽取作为负例来进行生成，我们在后面的模型中 测试了不同比例下的模型表现效果具有一定差异。</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最后的数据集是知识图谱的信息，经过构造相关电影的子图，匹配了</a:t>
            </a:r>
            <a:r>
              <a:rPr lang="en-US" altLang="zh-CN" dirty="0"/>
              <a:t>1.2</a:t>
            </a:r>
            <a:r>
              <a:rPr lang="zh-CN" altLang="en-US" dirty="0"/>
              <a:t>万条左右，我们将知识图谱中的文件可视化后可以看到，对于  这部电影 被偷走的新娘，与他直接相关的数据有</a:t>
            </a:r>
            <a:r>
              <a:rPr lang="en-US" altLang="zh-CN" dirty="0"/>
              <a:t>20</a:t>
            </a:r>
            <a:r>
              <a:rPr lang="zh-CN" altLang="en-US" dirty="0"/>
              <a:t>条左右通过构造三元组，即将形式转化为，主体，关系，客体的形式。</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后面我们进行数据分析，对于出产国家和出产语言进行分析，对数据量较少的，将其翻译为英语或中文，降低数据噪声。</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接下来是模型构造环节，在这个步骤里面我们分别构造出了</a:t>
            </a:r>
            <a:r>
              <a:rPr lang="en-US" altLang="zh-CN" dirty="0"/>
              <a:t>5</a:t>
            </a:r>
            <a:r>
              <a:rPr lang="zh-CN" altLang="en-US" dirty="0"/>
              <a:t>个模型，协同过滤</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第一个协同过滤，我们采用基于用户的推荐方案，即通过对相似的用户推荐相似的电影。我们以筛选过的数据作为输入，通过用户评分矩阵，计算余弦相似度，找出</a:t>
            </a:r>
            <a:r>
              <a:rPr lang="en-US" altLang="zh-CN" dirty="0"/>
              <a:t>top3</a:t>
            </a:r>
            <a:r>
              <a:rPr lang="zh-CN" altLang="en-US" dirty="0"/>
              <a:t>的相似用户，除去观影交集，生成推荐列表，这种方法的优点是算法简单可靠 评价精准，缺点就是训练时间非常长，对于</a:t>
            </a:r>
            <a:r>
              <a:rPr lang="en-US" altLang="zh-CN" dirty="0"/>
              <a:t>4</a:t>
            </a:r>
            <a:r>
              <a:rPr lang="zh-CN" altLang="en-US" dirty="0"/>
              <a:t>万用户的推荐结果还未完全生成，并且训练信息单一，未能全面考虑电影的信息，比如相同的演员，相同的类型。</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接下来我们考虑到用户的特征相互交互，采用了分解机</a:t>
            </a:r>
            <a:r>
              <a:rPr lang="en-US" altLang="zh-CN" dirty="0"/>
              <a:t>FM</a:t>
            </a:r>
            <a:r>
              <a:rPr lang="zh-CN" altLang="en-US" dirty="0"/>
              <a:t>的方法，对两特征值之间的特征做交互，为了保证交互向量相乘有意义以及降低算法复杂度，我们将二次项系数</a:t>
            </a:r>
            <a:r>
              <a:rPr lang="en-US" altLang="zh-CN" dirty="0" err="1"/>
              <a:t>wij</a:t>
            </a:r>
            <a:r>
              <a:rPr lang="zh-CN" altLang="en-US" dirty="0"/>
              <a:t>分解为相乘的矩阵</a:t>
            </a:r>
            <a:r>
              <a:rPr lang="en-US" altLang="zh-CN" dirty="0"/>
              <a:t>vi</a:t>
            </a:r>
            <a:r>
              <a:rPr lang="zh-CN" altLang="en-US" dirty="0"/>
              <a:t>与</a:t>
            </a:r>
            <a:r>
              <a:rPr lang="en-US" altLang="zh-CN" dirty="0" err="1"/>
              <a:t>vj</a:t>
            </a:r>
            <a:r>
              <a:rPr lang="zh-CN" altLang="en-US" dirty="0"/>
              <a:t>相乘，通过化简将算法复杂度由</a:t>
            </a:r>
            <a:r>
              <a:rPr lang="en-US" altLang="zh-CN" dirty="0"/>
              <a:t>kn2</a:t>
            </a:r>
            <a:r>
              <a:rPr lang="zh-CN" altLang="en-US" dirty="0"/>
              <a:t>降低为</a:t>
            </a:r>
            <a:r>
              <a:rPr lang="en-US" altLang="zh-CN" dirty="0" err="1"/>
              <a:t>kn</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接下来我们进行实验，首先测试</a:t>
            </a:r>
            <a:r>
              <a:rPr lang="en-US" altLang="zh-CN" dirty="0"/>
              <a:t>one-hot</a:t>
            </a:r>
            <a:r>
              <a:rPr lang="zh-CN" altLang="en-US" dirty="0"/>
              <a:t>编码作为向量的输入，因为这种方法的特征表示比较好，理论推荐效果也会比较好，但在实践的过程中出现了纬度爆炸（</a:t>
            </a:r>
            <a:r>
              <a:rPr lang="en-US" altLang="zh-CN" dirty="0"/>
              <a:t>1600</a:t>
            </a:r>
            <a:r>
              <a:rPr lang="zh-CN" altLang="en-US" dirty="0"/>
              <a:t>万*</a:t>
            </a:r>
            <a:r>
              <a:rPr lang="en-US" altLang="zh-CN" dirty="0"/>
              <a:t>30</a:t>
            </a:r>
            <a:r>
              <a:rPr lang="zh-CN" altLang="en-US" dirty="0"/>
              <a:t>万维），出现内存不够用的问题，后面我们尝试采用直接把数字等信息直接输入，训练速度提高了很多，但推荐效果较差，分析原因是信息交叉项相乘，纬度过低，噪声较大，没办法学习到应有的知识。</a:t>
            </a:r>
            <a:endParaRPr lang="en-US" altLang="zh-CN" dirty="0"/>
          </a:p>
          <a:p>
            <a:endParaRPr lang="en-US" altLang="zh-CN" dirty="0"/>
          </a:p>
          <a:p>
            <a:r>
              <a:rPr lang="zh-CN" altLang="en-US" dirty="0"/>
              <a:t>此时传统模型的局限性逐渐体现出来，这时我们提出方案，在原有的特征中添加</a:t>
            </a:r>
            <a:r>
              <a:rPr lang="en-US" altLang="zh-CN" dirty="0" err="1"/>
              <a:t>transR</a:t>
            </a:r>
            <a:r>
              <a:rPr lang="zh-CN" altLang="en-US" dirty="0"/>
              <a:t>得到特征，作为向量的输入。</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Trans</a:t>
            </a:r>
            <a:r>
              <a:rPr lang="zh-CN" altLang="en-US" dirty="0"/>
              <a:t>系列</a:t>
            </a:r>
            <a:r>
              <a:rPr lang="en-US" altLang="zh-CN" dirty="0"/>
              <a:t> </a:t>
            </a:r>
            <a:r>
              <a:rPr lang="zh-CN" altLang="en-US" dirty="0"/>
              <a:t>是基于知识图谱特征提取的一套模型，将知识库中的实体和关系映射到低维向量空间。它的前身有很多，最简单的</a:t>
            </a:r>
            <a:r>
              <a:rPr lang="en-US" altLang="zh-CN" dirty="0" err="1"/>
              <a:t>transE</a:t>
            </a:r>
            <a:r>
              <a:rPr lang="zh-CN" altLang="en-US" dirty="0"/>
              <a:t>模型是对三元组尽可能使头向量和关系向量之和尽可能和尾向量相等，下面是打分公式 。</a:t>
            </a:r>
            <a:r>
              <a:rPr lang="en-US" altLang="zh-CN" dirty="0" err="1"/>
              <a:t>transh</a:t>
            </a:r>
            <a:r>
              <a:rPr lang="zh-CN" altLang="en-US" dirty="0"/>
              <a:t>是为了解决一对多和多对一的问题，将关系映射到超平面。</a:t>
            </a:r>
            <a:r>
              <a:rPr lang="en-US" altLang="zh-CN" dirty="0" err="1"/>
              <a:t>transR</a:t>
            </a:r>
            <a:r>
              <a:rPr lang="zh-CN" altLang="en-US" dirty="0"/>
              <a:t>是对每个关系</a:t>
            </a:r>
            <a:r>
              <a:rPr lang="en-US" altLang="zh-CN" dirty="0"/>
              <a:t>r</a:t>
            </a:r>
            <a:r>
              <a:rPr lang="zh-CN" altLang="en-US" dirty="0"/>
              <a:t>分配空间</a:t>
            </a:r>
            <a:r>
              <a:rPr lang="en-US" altLang="zh-CN" dirty="0" err="1"/>
              <a:t>Mr</a:t>
            </a:r>
            <a:r>
              <a:rPr lang="zh-CN" altLang="en-US" dirty="0"/>
              <a:t>，将头节点和尾节点映射到</a:t>
            </a:r>
            <a:r>
              <a:rPr lang="en-US" altLang="zh-CN" dirty="0"/>
              <a:t>relation</a:t>
            </a:r>
            <a:r>
              <a:rPr lang="zh-CN" altLang="en-US" dirty="0"/>
              <a:t>空间，效果更好</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711928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我们的实验中通过</a:t>
            </a:r>
            <a:r>
              <a:rPr lang="en-US" altLang="zh-CN" dirty="0"/>
              <a:t>movie.txt</a:t>
            </a:r>
            <a:r>
              <a:rPr lang="zh-CN" altLang="en-US" dirty="0"/>
              <a:t>构造三元组，通过</a:t>
            </a:r>
            <a:r>
              <a:rPr lang="en-US" altLang="zh-CN" dirty="0" err="1"/>
              <a:t>transr</a:t>
            </a:r>
            <a:r>
              <a:rPr lang="zh-CN" altLang="en-US" dirty="0"/>
              <a:t>训练的到的向量</a:t>
            </a:r>
            <a:r>
              <a:rPr lang="en-US" altLang="zh-CN" dirty="0"/>
              <a:t>movie id list</a:t>
            </a:r>
            <a:r>
              <a:rPr lang="zh-CN" altLang="en-US" dirty="0"/>
              <a:t>拼接到原来的向量后面，进行训练提升了推荐效果，</a:t>
            </a:r>
            <a:r>
              <a:rPr lang="en-US" altLang="zh-CN" dirty="0"/>
              <a:t>f1</a:t>
            </a:r>
            <a:r>
              <a:rPr lang="zh-CN" altLang="en-US" dirty="0"/>
              <a:t>值达到了</a:t>
            </a:r>
            <a:r>
              <a:rPr lang="en-US" altLang="zh-CN" dirty="0"/>
              <a:t>0.057</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下一个模型是基于</a:t>
            </a:r>
            <a:r>
              <a:rPr lang="en-US" altLang="zh-CN" dirty="0" err="1"/>
              <a:t>LightGBM</a:t>
            </a:r>
            <a:r>
              <a:rPr lang="zh-CN" altLang="en-US" dirty="0"/>
              <a:t>搭建的</a:t>
            </a:r>
            <a:r>
              <a:rPr lang="zh-CN" altLang="en-US" sz="1200" dirty="0">
                <a:solidFill>
                  <a:schemeClr val="tx1">
                    <a:lumMod val="85000"/>
                    <a:lumOff val="15000"/>
                  </a:schemeClr>
                </a:solidFill>
              </a:rPr>
              <a:t>梯度 </a:t>
            </a:r>
            <a:r>
              <a:rPr lang="en-US" altLang="zh-CN" sz="1200" dirty="0">
                <a:solidFill>
                  <a:schemeClr val="tx1">
                    <a:lumMod val="85000"/>
                    <a:lumOff val="15000"/>
                  </a:schemeClr>
                </a:solidFill>
              </a:rPr>
              <a:t>boosting </a:t>
            </a:r>
            <a:r>
              <a:rPr lang="zh-CN" altLang="en-US" sz="1200" dirty="0">
                <a:solidFill>
                  <a:schemeClr val="tx1">
                    <a:lumMod val="85000"/>
                    <a:lumOff val="15000"/>
                  </a:schemeClr>
                </a:solidFill>
              </a:rPr>
              <a:t>框架，使用基于学习算法的决策树。该算法最显著的优点就是他的训练速度很快，如图与其他大部分树模型相比他的推荐速度是相对最快的，并且推荐效果与其他树模型相差不大</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783654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在我们的实验中，我们以  综合了三个数据集中的特征，提取了用户特征，</a:t>
            </a:r>
            <a:r>
              <a:rPr lang="en-US" altLang="zh-CN" dirty="0" err="1"/>
              <a:t>transR</a:t>
            </a:r>
            <a:r>
              <a:rPr lang="zh-CN" altLang="en-US" dirty="0"/>
              <a:t>特征以及电影特征，最后在不同情况下检测了训练结果，</a:t>
            </a:r>
            <a:r>
              <a:rPr lang="en-US" altLang="zh-CN" dirty="0"/>
              <a:t>AUC</a:t>
            </a:r>
            <a:r>
              <a:rPr lang="zh-CN" altLang="en-US" dirty="0"/>
              <a:t>值达到了比较到的水平。</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253165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lumMod val="85000"/>
                    <a:lumOff val="15000"/>
                  </a:schemeClr>
                </a:solidFill>
                <a:latin typeface="+mn-lt"/>
                <a:ea typeface="+mn-ea"/>
                <a:cs typeface="+mn-cs"/>
              </a:rPr>
              <a:t>Node2vec </a:t>
            </a:r>
            <a:r>
              <a:rPr lang="zh-CN" altLang="en-US" sz="1200" kern="1200" dirty="0">
                <a:solidFill>
                  <a:schemeClr val="tx1">
                    <a:lumMod val="85000"/>
                    <a:lumOff val="15000"/>
                  </a:schemeClr>
                </a:solidFill>
                <a:latin typeface="+mn-lt"/>
                <a:ea typeface="+mn-ea"/>
                <a:cs typeface="+mn-cs"/>
              </a:rPr>
              <a:t>也是一种对电影求相似度生成特征向量的方法，通过</a:t>
            </a:r>
            <a:r>
              <a:rPr lang="zh-CN" altLang="en-US" sz="1200" dirty="0">
                <a:solidFill>
                  <a:schemeClr val="tx1">
                    <a:lumMod val="85000"/>
                    <a:lumOff val="15000"/>
                  </a:schemeClr>
                </a:solidFill>
              </a:rPr>
              <a:t>模拟图上的随机游走，生成节点序列，再输入网络中生成特征向量，在我们的模型中，我们从</a:t>
            </a:r>
            <a:r>
              <a:rPr lang="en-US" altLang="zh-CN" sz="1200" dirty="0">
                <a:solidFill>
                  <a:schemeClr val="tx1">
                    <a:lumMod val="85000"/>
                    <a:lumOff val="15000"/>
                  </a:schemeClr>
                </a:solidFill>
              </a:rPr>
              <a:t>movie.txt</a:t>
            </a:r>
            <a:r>
              <a:rPr lang="zh-CN" altLang="en-US" sz="1200" dirty="0">
                <a:solidFill>
                  <a:schemeClr val="tx1">
                    <a:lumMod val="85000"/>
                    <a:lumOff val="15000"/>
                  </a:schemeClr>
                </a:solidFill>
              </a:rPr>
              <a:t>中提取了十位的特征，再添加了</a:t>
            </a:r>
            <a:r>
              <a:rPr lang="en-US" altLang="zh-CN" sz="1200" dirty="0">
                <a:solidFill>
                  <a:schemeClr val="tx1">
                    <a:lumMod val="85000"/>
                    <a:lumOff val="15000"/>
                  </a:schemeClr>
                </a:solidFill>
              </a:rPr>
              <a:t>user</a:t>
            </a:r>
            <a:r>
              <a:rPr lang="zh-CN" altLang="en-US" sz="1200" dirty="0">
                <a:solidFill>
                  <a:schemeClr val="tx1">
                    <a:lumMod val="85000"/>
                    <a:lumOff val="15000"/>
                  </a:schemeClr>
                </a:solidFill>
              </a:rPr>
              <a:t>和</a:t>
            </a:r>
            <a:r>
              <a:rPr lang="en-US" altLang="zh-CN" sz="1200" dirty="0">
                <a:solidFill>
                  <a:schemeClr val="tx1">
                    <a:lumMod val="85000"/>
                    <a:lumOff val="15000"/>
                  </a:schemeClr>
                </a:solidFill>
              </a:rPr>
              <a:t>movie</a:t>
            </a:r>
            <a:r>
              <a:rPr lang="zh-CN" altLang="en-US" sz="1200" dirty="0">
                <a:solidFill>
                  <a:schemeClr val="tx1">
                    <a:lumMod val="85000"/>
                    <a:lumOff val="15000"/>
                  </a:schemeClr>
                </a:solidFill>
              </a:rPr>
              <a:t>组成的特征，计算这十一维特征中预测得到的电影与原电影之间的相似度，最后将向量输入到</a:t>
            </a:r>
            <a:r>
              <a:rPr lang="en-US" altLang="zh-CN" sz="1200" dirty="0">
                <a:solidFill>
                  <a:schemeClr val="tx1">
                    <a:lumMod val="85000"/>
                    <a:lumOff val="15000"/>
                  </a:schemeClr>
                </a:solidFill>
              </a:rPr>
              <a:t>rank</a:t>
            </a:r>
            <a:r>
              <a:rPr lang="zh-CN" altLang="en-US" sz="1200" dirty="0">
                <a:solidFill>
                  <a:schemeClr val="tx1">
                    <a:lumMod val="85000"/>
                    <a:lumOff val="15000"/>
                  </a:schemeClr>
                </a:solidFill>
              </a:rPr>
              <a:t>函数中推荐</a:t>
            </a:r>
            <a:r>
              <a:rPr lang="en-US" altLang="zh-CN" sz="1200" dirty="0">
                <a:solidFill>
                  <a:schemeClr val="tx1">
                    <a:lumMod val="85000"/>
                    <a:lumOff val="15000"/>
                  </a:schemeClr>
                </a:solidFill>
              </a:rPr>
              <a:t>top-N</a:t>
            </a:r>
            <a:r>
              <a:rPr lang="zh-CN" altLang="en-US" sz="1200" dirty="0">
                <a:solidFill>
                  <a:schemeClr val="tx1">
                    <a:lumMod val="85000"/>
                    <a:lumOff val="15000"/>
                  </a:schemeClr>
                </a:solidFill>
              </a:rPr>
              <a:t>电影。</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2087315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a:t>
            </a:r>
            <a:r>
              <a:rPr lang="en-US" altLang="zh-CN" dirty="0" err="1"/>
              <a:t>rippleNetwork</a:t>
            </a:r>
            <a:r>
              <a:rPr lang="zh-CN" altLang="en-US" dirty="0"/>
              <a:t>，这是一种端到端的模型，模拟用户的兴趣在知识图谱上的传播过程，整个过程类似于水波的传播，以一个历史记录为中心，向两边扩展，通过头结点映射到关系空间中，再与</a:t>
            </a:r>
            <a:r>
              <a:rPr lang="en-US" altLang="zh-CN" dirty="0"/>
              <a:t>item embedding</a:t>
            </a:r>
            <a:r>
              <a:rPr lang="zh-CN" altLang="en-US" dirty="0"/>
              <a:t>做交互做</a:t>
            </a:r>
            <a:r>
              <a:rPr lang="en-US" altLang="zh-CN" dirty="0" err="1"/>
              <a:t>softmax</a:t>
            </a:r>
            <a:r>
              <a:rPr lang="zh-CN" altLang="en-US" dirty="0"/>
              <a:t>再与尾节点做加权求和得到向量的表示，最后再与</a:t>
            </a:r>
            <a:r>
              <a:rPr lang="en-US" altLang="zh-CN" dirty="0"/>
              <a:t>user embedding</a:t>
            </a:r>
            <a:r>
              <a:rPr lang="zh-CN" altLang="en-US" dirty="0"/>
              <a:t>交互得到预测概率。</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在我们的实验中，通过对用户编号，构建负样本，生成</a:t>
            </a:r>
            <a:r>
              <a:rPr lang="en-US" altLang="zh-CN" dirty="0"/>
              <a:t>ripple set </a:t>
            </a:r>
            <a:r>
              <a:rPr lang="zh-CN" altLang="en-US" dirty="0"/>
              <a:t>的数据集，经过</a:t>
            </a:r>
            <a:r>
              <a:rPr lang="en-US" altLang="zh-CN" dirty="0"/>
              <a:t>embedding</a:t>
            </a:r>
            <a:r>
              <a:rPr lang="zh-CN" altLang="en-US" dirty="0"/>
              <a:t>的训练输出用户对电影的喜爱程度，</a:t>
            </a:r>
            <a:r>
              <a:rPr lang="en-US" altLang="zh-CN" dirty="0"/>
              <a:t>rank</a:t>
            </a:r>
            <a:r>
              <a:rPr lang="zh-CN" altLang="en-US" dirty="0"/>
              <a:t>后输出推荐的电影。我们对两种情况下的</a:t>
            </a:r>
            <a:r>
              <a:rPr lang="en-US" altLang="zh-CN" dirty="0" err="1"/>
              <a:t>rippleset</a:t>
            </a:r>
            <a:r>
              <a:rPr lang="en-US" altLang="zh-CN" dirty="0"/>
              <a:t> </a:t>
            </a:r>
            <a:r>
              <a:rPr lang="zh-CN" altLang="en-US" dirty="0"/>
              <a:t>进行了测试，在</a:t>
            </a:r>
            <a:r>
              <a:rPr lang="en-US" altLang="zh-CN" dirty="0"/>
              <a:t>ripple set</a:t>
            </a:r>
            <a:r>
              <a:rPr lang="zh-CN" altLang="en-US" dirty="0"/>
              <a:t>较大时，</a:t>
            </a:r>
            <a:r>
              <a:rPr lang="en-US" altLang="zh-CN" dirty="0"/>
              <a:t>f1</a:t>
            </a:r>
            <a:r>
              <a:rPr lang="zh-CN" altLang="en-US" dirty="0"/>
              <a:t>的值反而会降低，我们分析后可能是过拟合引起的指标降低。</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3023821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50000"/>
              </a:lnSpc>
              <a:spcBef>
                <a:spcPts val="0"/>
              </a:spcBef>
              <a:spcAft>
                <a:spcPts val="0"/>
              </a:spcAft>
              <a:buClrTx/>
              <a:buSzTx/>
              <a:buFontTx/>
              <a:buNone/>
              <a:tabLst/>
              <a:defRPr/>
            </a:pPr>
            <a:r>
              <a:rPr lang="zh-CN" altLang="en-US" dirty="0"/>
              <a:t>我们的可解释性模型构建网络进行路径搜寻，即</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以对用户推荐的电影和用户看过的电影为圆心，寻找这两个网络之间相交的部分，即寻找小明的观影历史记录</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x1-xm</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与</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h1-hn</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的最短路径，在选择生成语言方式时，有两种思路，一种是对这些出现的最短路径随机抽取进行文本的生成，第二种</a:t>
            </a:r>
            <a:r>
              <a:rPr lang="zh-CN" altLang="en-US" sz="1200" dirty="0">
                <a:solidFill>
                  <a:srgbClr val="304371"/>
                </a:solidFill>
              </a:rPr>
              <a:t>以统计的方法获取相关关系</a:t>
            </a:r>
            <a:r>
              <a:rPr lang="en-US" altLang="zh-CN" sz="1200" dirty="0" err="1">
                <a:solidFill>
                  <a:srgbClr val="304371"/>
                </a:solidFill>
              </a:rPr>
              <a:t>作为推荐理由</a:t>
            </a:r>
            <a:r>
              <a:rPr lang="zh-CN" altLang="en-US" sz="1200" dirty="0">
                <a:solidFill>
                  <a:srgbClr val="304371"/>
                </a:solidFill>
              </a:rPr>
              <a:t>，</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比如如图所示</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x1</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与</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h1</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h3</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的最短路径都是喜剧类型，那么我们在进行文本生成时边沿用这一条语句，生成推荐的电影也是喜剧类型，因此对该电影进行推荐。下面来进行我们的</a:t>
            </a:r>
            <a:r>
              <a:rPr kumimoji="0" lang="en-US" altLang="zh-CN" sz="1200" b="0" i="0" u="none" strike="noStrike" kern="1200" cap="none" spc="0" normalizeH="0" baseline="0" noProof="0" dirty="0">
                <a:ln>
                  <a:noFill/>
                </a:ln>
                <a:solidFill>
                  <a:srgbClr val="304371"/>
                </a:solidFill>
                <a:effectLst/>
                <a:uLnTx/>
                <a:uFillTx/>
                <a:latin typeface="Calibri Light"/>
                <a:ea typeface="微软雅黑 Light"/>
                <a:cs typeface="+mn-cs"/>
              </a:rPr>
              <a:t>demo</a:t>
            </a:r>
            <a:r>
              <a:rPr kumimoji="0" lang="zh-CN" altLang="en-US" sz="1200" b="0" i="0" u="none" strike="noStrike" kern="1200" cap="none" spc="0" normalizeH="0" baseline="0" noProof="0" dirty="0">
                <a:ln>
                  <a:noFill/>
                </a:ln>
                <a:solidFill>
                  <a:srgbClr val="304371"/>
                </a:solidFill>
                <a:effectLst/>
                <a:uLnTx/>
                <a:uFillTx/>
                <a:latin typeface="Calibri Light"/>
                <a:ea typeface="微软雅黑 Light"/>
                <a:cs typeface="+mn-cs"/>
              </a:rPr>
              <a:t>演示。</a:t>
            </a:r>
            <a:endParaRPr lang="zh-CN" altLang="en-US" dirty="0"/>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6858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p:cNvGrpSpPr/>
          <p:nvPr userDrawn="1"/>
        </p:nvGrpSpPr>
        <p:grpSpPr>
          <a:xfrm>
            <a:off x="8147154" y="105427"/>
            <a:ext cx="819654" cy="692361"/>
            <a:chOff x="2992437" y="0"/>
            <a:chExt cx="2543175" cy="2148217"/>
          </a:xfrm>
          <a:solidFill>
            <a:srgbClr val="304371"/>
          </a:solidFill>
        </p:grpSpPr>
        <p:grpSp>
          <p:nvGrpSpPr>
            <p:cNvPr id="8" name="组合 7"/>
            <p:cNvGrpSpPr/>
            <p:nvPr/>
          </p:nvGrpSpPr>
          <p:grpSpPr>
            <a:xfrm>
              <a:off x="2992437" y="1183017"/>
              <a:ext cx="2543175" cy="965200"/>
              <a:chOff x="3297238" y="2879725"/>
              <a:chExt cx="2543175" cy="965200"/>
            </a:xfrm>
            <a:grpFill/>
          </p:grpSpPr>
          <p:sp>
            <p:nvSpPr>
              <p:cNvPr id="20"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5"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6"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7"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8"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9"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9" name="组合 8"/>
            <p:cNvGrpSpPr/>
            <p:nvPr/>
          </p:nvGrpSpPr>
          <p:grpSpPr>
            <a:xfrm>
              <a:off x="3763962" y="0"/>
              <a:ext cx="1069105" cy="1067923"/>
              <a:chOff x="3851276" y="1292225"/>
              <a:chExt cx="1435100" cy="1433513"/>
            </a:xfrm>
            <a:grpFill/>
          </p:grpSpPr>
          <p:sp>
            <p:nvSpPr>
              <p:cNvPr id="10"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1"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3"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4"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
        <p:nvSpPr>
          <p:cNvPr id="30" name="Picture Placeholder 7"/>
          <p:cNvSpPr>
            <a:spLocks noGrp="1"/>
          </p:cNvSpPr>
          <p:nvPr>
            <p:ph type="pic" sz="quarter" idx="14"/>
          </p:nvPr>
        </p:nvSpPr>
        <p:spPr>
          <a:xfrm>
            <a:off x="23090" y="1229219"/>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31" name="Picture Placeholder 7"/>
          <p:cNvSpPr>
            <a:spLocks noGrp="1"/>
          </p:cNvSpPr>
          <p:nvPr>
            <p:ph type="pic" sz="quarter" idx="15"/>
          </p:nvPr>
        </p:nvSpPr>
        <p:spPr>
          <a:xfrm>
            <a:off x="3061854" y="1219983"/>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32" name="Picture Placeholder 7"/>
          <p:cNvSpPr>
            <a:spLocks noGrp="1"/>
          </p:cNvSpPr>
          <p:nvPr>
            <p:ph type="pic" sz="quarter" idx="16"/>
          </p:nvPr>
        </p:nvSpPr>
        <p:spPr>
          <a:xfrm>
            <a:off x="6100618" y="1219983"/>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3" name="Picture Placeholder 7"/>
          <p:cNvSpPr>
            <a:spLocks noGrp="1"/>
          </p:cNvSpPr>
          <p:nvPr>
            <p:ph type="pic" sz="quarter" idx="14"/>
          </p:nvPr>
        </p:nvSpPr>
        <p:spPr>
          <a:xfrm>
            <a:off x="309860"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4" name="Picture Placeholder 7"/>
          <p:cNvSpPr>
            <a:spLocks noGrp="1"/>
          </p:cNvSpPr>
          <p:nvPr>
            <p:ph type="pic" sz="quarter" idx="15"/>
          </p:nvPr>
        </p:nvSpPr>
        <p:spPr>
          <a:xfrm>
            <a:off x="3348624"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5" name="Picture Placeholder 7"/>
          <p:cNvSpPr>
            <a:spLocks noGrp="1"/>
          </p:cNvSpPr>
          <p:nvPr>
            <p:ph type="pic" sz="quarter" idx="16"/>
          </p:nvPr>
        </p:nvSpPr>
        <p:spPr>
          <a:xfrm>
            <a:off x="6387388"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矩形 15"/>
          <p:cNvSpPr/>
          <p:nvPr userDrawn="1"/>
        </p:nvSpPr>
        <p:spPr>
          <a:xfrm>
            <a:off x="309860" y="2805681"/>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3348624" y="2805680"/>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6387388" y="2805680"/>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147154" y="105427"/>
            <a:ext cx="819654" cy="692361"/>
            <a:chOff x="2992437" y="0"/>
            <a:chExt cx="2543175" cy="2148217"/>
          </a:xfrm>
          <a:solidFill>
            <a:srgbClr val="304371"/>
          </a:solidFill>
        </p:grpSpPr>
        <p:grpSp>
          <p:nvGrpSpPr>
            <p:cNvPr id="9" name="组合 8"/>
            <p:cNvGrpSpPr/>
            <p:nvPr/>
          </p:nvGrpSpPr>
          <p:grpSpPr>
            <a:xfrm>
              <a:off x="2992437" y="1183017"/>
              <a:ext cx="2543175" cy="965200"/>
              <a:chOff x="3297238" y="2879725"/>
              <a:chExt cx="2543175" cy="965200"/>
            </a:xfrm>
            <a:grpFill/>
          </p:grpSpPr>
          <p:sp>
            <p:nvSpPr>
              <p:cNvPr id="27"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8"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9"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0"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1"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2"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3"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4"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5"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6"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10" name="组合 9"/>
            <p:cNvGrpSpPr/>
            <p:nvPr/>
          </p:nvGrpSpPr>
          <p:grpSpPr>
            <a:xfrm>
              <a:off x="3763962" y="0"/>
              <a:ext cx="1069105" cy="1067923"/>
              <a:chOff x="3851276" y="1292225"/>
              <a:chExt cx="1435100" cy="1433513"/>
            </a:xfrm>
            <a:grpFill/>
          </p:grpSpPr>
          <p:sp>
            <p:nvSpPr>
              <p:cNvPr id="11"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5"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6"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p:cNvGrpSpPr/>
          <p:nvPr userDrawn="1"/>
        </p:nvGrpSpPr>
        <p:grpSpPr>
          <a:xfrm>
            <a:off x="8147154" y="105427"/>
            <a:ext cx="819654" cy="692361"/>
            <a:chOff x="2992437" y="0"/>
            <a:chExt cx="2543175" cy="2148217"/>
          </a:xfrm>
          <a:solidFill>
            <a:srgbClr val="304371"/>
          </a:solidFill>
        </p:grpSpPr>
        <p:grpSp>
          <p:nvGrpSpPr>
            <p:cNvPr id="8" name="组合 7"/>
            <p:cNvGrpSpPr/>
            <p:nvPr/>
          </p:nvGrpSpPr>
          <p:grpSpPr>
            <a:xfrm>
              <a:off x="2992437" y="1183017"/>
              <a:ext cx="2543175" cy="965200"/>
              <a:chOff x="3297238" y="2879725"/>
              <a:chExt cx="2543175" cy="965200"/>
            </a:xfrm>
            <a:grpFill/>
          </p:grpSpPr>
          <p:sp>
            <p:nvSpPr>
              <p:cNvPr id="20"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5"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6"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7"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8"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9"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9" name="组合 8"/>
            <p:cNvGrpSpPr/>
            <p:nvPr/>
          </p:nvGrpSpPr>
          <p:grpSpPr>
            <a:xfrm>
              <a:off x="3763962" y="0"/>
              <a:ext cx="1069105" cy="1067923"/>
              <a:chOff x="3851276" y="1292225"/>
              <a:chExt cx="1435100" cy="1433513"/>
            </a:xfrm>
            <a:grpFill/>
          </p:grpSpPr>
          <p:sp>
            <p:nvSpPr>
              <p:cNvPr id="10"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1"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3"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4"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5"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6"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7"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8"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
        <p:nvSpPr>
          <p:cNvPr id="30" name="Picture Placeholder 7"/>
          <p:cNvSpPr>
            <a:spLocks noGrp="1"/>
          </p:cNvSpPr>
          <p:nvPr>
            <p:ph type="pic" sz="quarter" idx="14"/>
          </p:nvPr>
        </p:nvSpPr>
        <p:spPr>
          <a:xfrm>
            <a:off x="23090" y="1229219"/>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31" name="Picture Placeholder 7"/>
          <p:cNvSpPr>
            <a:spLocks noGrp="1"/>
          </p:cNvSpPr>
          <p:nvPr>
            <p:ph type="pic" sz="quarter" idx="15"/>
          </p:nvPr>
        </p:nvSpPr>
        <p:spPr>
          <a:xfrm>
            <a:off x="3061854" y="1219983"/>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32" name="Picture Placeholder 7"/>
          <p:cNvSpPr>
            <a:spLocks noGrp="1"/>
          </p:cNvSpPr>
          <p:nvPr>
            <p:ph type="pic" sz="quarter" idx="16"/>
          </p:nvPr>
        </p:nvSpPr>
        <p:spPr>
          <a:xfrm>
            <a:off x="6100618" y="1219983"/>
            <a:ext cx="3020292" cy="17684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3" name="Picture Placeholder 7"/>
          <p:cNvSpPr>
            <a:spLocks noGrp="1"/>
          </p:cNvSpPr>
          <p:nvPr>
            <p:ph type="pic" sz="quarter" idx="14"/>
          </p:nvPr>
        </p:nvSpPr>
        <p:spPr>
          <a:xfrm>
            <a:off x="309860"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4" name="Picture Placeholder 7"/>
          <p:cNvSpPr>
            <a:spLocks noGrp="1"/>
          </p:cNvSpPr>
          <p:nvPr>
            <p:ph type="pic" sz="quarter" idx="15"/>
          </p:nvPr>
        </p:nvSpPr>
        <p:spPr>
          <a:xfrm>
            <a:off x="3348624"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5" name="Picture Placeholder 7"/>
          <p:cNvSpPr>
            <a:spLocks noGrp="1"/>
          </p:cNvSpPr>
          <p:nvPr>
            <p:ph type="pic" sz="quarter" idx="16"/>
          </p:nvPr>
        </p:nvSpPr>
        <p:spPr>
          <a:xfrm>
            <a:off x="6387388" y="1106583"/>
            <a:ext cx="2446752" cy="1587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矩形 15"/>
          <p:cNvSpPr/>
          <p:nvPr userDrawn="1"/>
        </p:nvSpPr>
        <p:spPr>
          <a:xfrm>
            <a:off x="309860" y="2805681"/>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3348624" y="2805680"/>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6387388" y="2805680"/>
            <a:ext cx="2446752" cy="15872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8147154" y="105427"/>
            <a:ext cx="819654" cy="692361"/>
            <a:chOff x="2992437" y="0"/>
            <a:chExt cx="2543175" cy="2148217"/>
          </a:xfrm>
          <a:solidFill>
            <a:srgbClr val="304371"/>
          </a:solidFill>
        </p:grpSpPr>
        <p:grpSp>
          <p:nvGrpSpPr>
            <p:cNvPr id="9" name="组合 8"/>
            <p:cNvGrpSpPr/>
            <p:nvPr/>
          </p:nvGrpSpPr>
          <p:grpSpPr>
            <a:xfrm>
              <a:off x="2992437" y="1183017"/>
              <a:ext cx="2543175" cy="965200"/>
              <a:chOff x="3297238" y="2879725"/>
              <a:chExt cx="2543175" cy="965200"/>
            </a:xfrm>
            <a:grpFill/>
          </p:grpSpPr>
          <p:sp>
            <p:nvSpPr>
              <p:cNvPr id="27" name="Freeform 5"/>
              <p:cNvSpPr/>
              <p:nvPr/>
            </p:nvSpPr>
            <p:spPr bwMode="auto">
              <a:xfrm>
                <a:off x="3303588" y="2997200"/>
                <a:ext cx="573088" cy="647700"/>
              </a:xfrm>
              <a:custGeom>
                <a:avLst/>
                <a:gdLst>
                  <a:gd name="T0" fmla="*/ 139 w 152"/>
                  <a:gd name="T1" fmla="*/ 70 h 172"/>
                  <a:gd name="T2" fmla="*/ 120 w 152"/>
                  <a:gd name="T3" fmla="*/ 78 h 172"/>
                  <a:gd name="T4" fmla="*/ 130 w 152"/>
                  <a:gd name="T5" fmla="*/ 91 h 172"/>
                  <a:gd name="T6" fmla="*/ 124 w 152"/>
                  <a:gd name="T7" fmla="*/ 118 h 172"/>
                  <a:gd name="T8" fmla="*/ 136 w 152"/>
                  <a:gd name="T9" fmla="*/ 123 h 172"/>
                  <a:gd name="T10" fmla="*/ 140 w 152"/>
                  <a:gd name="T11" fmla="*/ 137 h 172"/>
                  <a:gd name="T12" fmla="*/ 139 w 152"/>
                  <a:gd name="T13" fmla="*/ 155 h 172"/>
                  <a:gd name="T14" fmla="*/ 119 w 152"/>
                  <a:gd name="T15" fmla="*/ 149 h 172"/>
                  <a:gd name="T16" fmla="*/ 94 w 152"/>
                  <a:gd name="T17" fmla="*/ 136 h 172"/>
                  <a:gd name="T18" fmla="*/ 73 w 152"/>
                  <a:gd name="T19" fmla="*/ 134 h 172"/>
                  <a:gd name="T20" fmla="*/ 69 w 152"/>
                  <a:gd name="T21" fmla="*/ 118 h 172"/>
                  <a:gd name="T22" fmla="*/ 93 w 152"/>
                  <a:gd name="T23" fmla="*/ 110 h 172"/>
                  <a:gd name="T24" fmla="*/ 105 w 152"/>
                  <a:gd name="T25" fmla="*/ 106 h 172"/>
                  <a:gd name="T26" fmla="*/ 110 w 152"/>
                  <a:gd name="T27" fmla="*/ 100 h 172"/>
                  <a:gd name="T28" fmla="*/ 98 w 152"/>
                  <a:gd name="T29" fmla="*/ 100 h 172"/>
                  <a:gd name="T30" fmla="*/ 86 w 152"/>
                  <a:gd name="T31" fmla="*/ 108 h 172"/>
                  <a:gd name="T32" fmla="*/ 81 w 152"/>
                  <a:gd name="T33" fmla="*/ 89 h 172"/>
                  <a:gd name="T34" fmla="*/ 100 w 152"/>
                  <a:gd name="T35" fmla="*/ 72 h 172"/>
                  <a:gd name="T36" fmla="*/ 123 w 152"/>
                  <a:gd name="T37" fmla="*/ 60 h 172"/>
                  <a:gd name="T38" fmla="*/ 110 w 152"/>
                  <a:gd name="T39" fmla="*/ 55 h 172"/>
                  <a:gd name="T40" fmla="*/ 90 w 152"/>
                  <a:gd name="T41" fmla="*/ 70 h 172"/>
                  <a:gd name="T42" fmla="*/ 79 w 152"/>
                  <a:gd name="T43" fmla="*/ 80 h 172"/>
                  <a:gd name="T44" fmla="*/ 67 w 152"/>
                  <a:gd name="T45" fmla="*/ 71 h 172"/>
                  <a:gd name="T46" fmla="*/ 73 w 152"/>
                  <a:gd name="T47" fmla="*/ 58 h 172"/>
                  <a:gd name="T48" fmla="*/ 87 w 152"/>
                  <a:gd name="T49" fmla="*/ 38 h 172"/>
                  <a:gd name="T50" fmla="*/ 91 w 152"/>
                  <a:gd name="T51" fmla="*/ 27 h 172"/>
                  <a:gd name="T52" fmla="*/ 80 w 152"/>
                  <a:gd name="T53" fmla="*/ 31 h 172"/>
                  <a:gd name="T54" fmla="*/ 59 w 152"/>
                  <a:gd name="T55" fmla="*/ 37 h 172"/>
                  <a:gd name="T56" fmla="*/ 53 w 152"/>
                  <a:gd name="T57" fmla="*/ 59 h 172"/>
                  <a:gd name="T58" fmla="*/ 49 w 152"/>
                  <a:gd name="T59" fmla="*/ 76 h 172"/>
                  <a:gd name="T60" fmla="*/ 43 w 152"/>
                  <a:gd name="T61" fmla="*/ 92 h 172"/>
                  <a:gd name="T62" fmla="*/ 40 w 152"/>
                  <a:gd name="T63" fmla="*/ 102 h 172"/>
                  <a:gd name="T64" fmla="*/ 36 w 152"/>
                  <a:gd name="T65" fmla="*/ 117 h 172"/>
                  <a:gd name="T66" fmla="*/ 32 w 152"/>
                  <a:gd name="T67" fmla="*/ 128 h 172"/>
                  <a:gd name="T68" fmla="*/ 21 w 152"/>
                  <a:gd name="T69" fmla="*/ 154 h 172"/>
                  <a:gd name="T70" fmla="*/ 12 w 152"/>
                  <a:gd name="T71" fmla="*/ 167 h 172"/>
                  <a:gd name="T72" fmla="*/ 0 w 152"/>
                  <a:gd name="T73" fmla="*/ 164 h 172"/>
                  <a:gd name="T74" fmla="*/ 11 w 152"/>
                  <a:gd name="T75" fmla="*/ 138 h 172"/>
                  <a:gd name="T76" fmla="*/ 18 w 152"/>
                  <a:gd name="T77" fmla="*/ 119 h 172"/>
                  <a:gd name="T78" fmla="*/ 24 w 152"/>
                  <a:gd name="T79" fmla="*/ 101 h 172"/>
                  <a:gd name="T80" fmla="*/ 27 w 152"/>
                  <a:gd name="T81" fmla="*/ 91 h 172"/>
                  <a:gd name="T82" fmla="*/ 31 w 152"/>
                  <a:gd name="T83" fmla="*/ 75 h 172"/>
                  <a:gd name="T84" fmla="*/ 37 w 152"/>
                  <a:gd name="T85" fmla="*/ 47 h 172"/>
                  <a:gd name="T86" fmla="*/ 42 w 152"/>
                  <a:gd name="T87" fmla="*/ 29 h 172"/>
                  <a:gd name="T88" fmla="*/ 61 w 152"/>
                  <a:gd name="T89" fmla="*/ 19 h 172"/>
                  <a:gd name="T90" fmla="*/ 79 w 152"/>
                  <a:gd name="T91" fmla="*/ 9 h 172"/>
                  <a:gd name="T92" fmla="*/ 93 w 152"/>
                  <a:gd name="T93" fmla="*/ 7 h 172"/>
                  <a:gd name="T94" fmla="*/ 104 w 152"/>
                  <a:gd name="T95" fmla="*/ 2 h 172"/>
                  <a:gd name="T96" fmla="*/ 119 w 152"/>
                  <a:gd name="T97" fmla="*/ 3 h 172"/>
                  <a:gd name="T98" fmla="*/ 132 w 152"/>
                  <a:gd name="T99" fmla="*/ 2 h 172"/>
                  <a:gd name="T100" fmla="*/ 129 w 152"/>
                  <a:gd name="T101" fmla="*/ 14 h 172"/>
                  <a:gd name="T102" fmla="*/ 112 w 152"/>
                  <a:gd name="T103" fmla="*/ 34 h 172"/>
                  <a:gd name="T104" fmla="*/ 123 w 152"/>
                  <a:gd name="T105" fmla="*/ 33 h 172"/>
                  <a:gd name="T106" fmla="*/ 150 w 152"/>
                  <a:gd name="T107" fmla="*/ 4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2" h="172">
                    <a:moveTo>
                      <a:pt x="151" y="50"/>
                    </a:moveTo>
                    <a:cubicBezTo>
                      <a:pt x="151" y="53"/>
                      <a:pt x="150" y="56"/>
                      <a:pt x="149" y="60"/>
                    </a:cubicBezTo>
                    <a:cubicBezTo>
                      <a:pt x="149" y="60"/>
                      <a:pt x="149" y="61"/>
                      <a:pt x="149" y="61"/>
                    </a:cubicBezTo>
                    <a:cubicBezTo>
                      <a:pt x="148" y="62"/>
                      <a:pt x="148" y="62"/>
                      <a:pt x="148" y="63"/>
                    </a:cubicBezTo>
                    <a:cubicBezTo>
                      <a:pt x="147" y="64"/>
                      <a:pt x="147" y="65"/>
                      <a:pt x="146" y="66"/>
                    </a:cubicBezTo>
                    <a:cubicBezTo>
                      <a:pt x="145" y="67"/>
                      <a:pt x="141" y="70"/>
                      <a:pt x="139" y="70"/>
                    </a:cubicBezTo>
                    <a:cubicBezTo>
                      <a:pt x="139" y="70"/>
                      <a:pt x="138" y="71"/>
                      <a:pt x="138" y="71"/>
                    </a:cubicBezTo>
                    <a:cubicBezTo>
                      <a:pt x="136" y="71"/>
                      <a:pt x="134" y="71"/>
                      <a:pt x="132" y="72"/>
                    </a:cubicBezTo>
                    <a:cubicBezTo>
                      <a:pt x="130" y="72"/>
                      <a:pt x="129" y="72"/>
                      <a:pt x="128" y="72"/>
                    </a:cubicBezTo>
                    <a:cubicBezTo>
                      <a:pt x="127" y="73"/>
                      <a:pt x="125" y="73"/>
                      <a:pt x="124" y="74"/>
                    </a:cubicBezTo>
                    <a:cubicBezTo>
                      <a:pt x="123" y="75"/>
                      <a:pt x="122" y="76"/>
                      <a:pt x="121" y="77"/>
                    </a:cubicBezTo>
                    <a:cubicBezTo>
                      <a:pt x="120" y="77"/>
                      <a:pt x="120" y="77"/>
                      <a:pt x="120" y="78"/>
                    </a:cubicBezTo>
                    <a:cubicBezTo>
                      <a:pt x="119" y="79"/>
                      <a:pt x="116" y="80"/>
                      <a:pt x="117" y="83"/>
                    </a:cubicBezTo>
                    <a:cubicBezTo>
                      <a:pt x="118" y="83"/>
                      <a:pt x="118" y="83"/>
                      <a:pt x="118" y="84"/>
                    </a:cubicBezTo>
                    <a:cubicBezTo>
                      <a:pt x="119" y="84"/>
                      <a:pt x="120" y="85"/>
                      <a:pt x="121" y="85"/>
                    </a:cubicBezTo>
                    <a:cubicBezTo>
                      <a:pt x="121" y="85"/>
                      <a:pt x="121" y="85"/>
                      <a:pt x="122" y="86"/>
                    </a:cubicBezTo>
                    <a:cubicBezTo>
                      <a:pt x="123" y="86"/>
                      <a:pt x="125" y="87"/>
                      <a:pt x="128" y="89"/>
                    </a:cubicBezTo>
                    <a:cubicBezTo>
                      <a:pt x="129" y="90"/>
                      <a:pt x="129" y="91"/>
                      <a:pt x="130" y="91"/>
                    </a:cubicBezTo>
                    <a:cubicBezTo>
                      <a:pt x="130" y="92"/>
                      <a:pt x="130" y="93"/>
                      <a:pt x="131" y="95"/>
                    </a:cubicBezTo>
                    <a:cubicBezTo>
                      <a:pt x="131" y="98"/>
                      <a:pt x="131" y="102"/>
                      <a:pt x="131" y="106"/>
                    </a:cubicBezTo>
                    <a:cubicBezTo>
                      <a:pt x="130" y="106"/>
                      <a:pt x="130" y="106"/>
                      <a:pt x="130" y="107"/>
                    </a:cubicBezTo>
                    <a:cubicBezTo>
                      <a:pt x="130" y="107"/>
                      <a:pt x="130" y="108"/>
                      <a:pt x="130" y="109"/>
                    </a:cubicBezTo>
                    <a:cubicBezTo>
                      <a:pt x="129" y="110"/>
                      <a:pt x="128" y="111"/>
                      <a:pt x="127" y="113"/>
                    </a:cubicBezTo>
                    <a:cubicBezTo>
                      <a:pt x="126" y="114"/>
                      <a:pt x="125" y="116"/>
                      <a:pt x="124" y="118"/>
                    </a:cubicBezTo>
                    <a:cubicBezTo>
                      <a:pt x="124" y="118"/>
                      <a:pt x="123" y="118"/>
                      <a:pt x="123" y="119"/>
                    </a:cubicBezTo>
                    <a:cubicBezTo>
                      <a:pt x="124" y="120"/>
                      <a:pt x="126" y="119"/>
                      <a:pt x="128" y="120"/>
                    </a:cubicBezTo>
                    <a:cubicBezTo>
                      <a:pt x="128" y="120"/>
                      <a:pt x="129" y="120"/>
                      <a:pt x="130" y="120"/>
                    </a:cubicBezTo>
                    <a:cubicBezTo>
                      <a:pt x="131" y="121"/>
                      <a:pt x="132" y="121"/>
                      <a:pt x="132" y="121"/>
                    </a:cubicBezTo>
                    <a:cubicBezTo>
                      <a:pt x="134" y="122"/>
                      <a:pt x="133" y="122"/>
                      <a:pt x="134" y="122"/>
                    </a:cubicBezTo>
                    <a:cubicBezTo>
                      <a:pt x="135" y="123"/>
                      <a:pt x="135" y="123"/>
                      <a:pt x="136" y="123"/>
                    </a:cubicBezTo>
                    <a:cubicBezTo>
                      <a:pt x="136" y="124"/>
                      <a:pt x="137" y="124"/>
                      <a:pt x="138" y="124"/>
                    </a:cubicBezTo>
                    <a:cubicBezTo>
                      <a:pt x="138" y="125"/>
                      <a:pt x="139" y="126"/>
                      <a:pt x="139" y="127"/>
                    </a:cubicBezTo>
                    <a:cubicBezTo>
                      <a:pt x="139" y="127"/>
                      <a:pt x="140" y="128"/>
                      <a:pt x="140" y="129"/>
                    </a:cubicBezTo>
                    <a:cubicBezTo>
                      <a:pt x="140" y="130"/>
                      <a:pt x="140" y="130"/>
                      <a:pt x="141" y="131"/>
                    </a:cubicBezTo>
                    <a:cubicBezTo>
                      <a:pt x="140" y="132"/>
                      <a:pt x="140" y="133"/>
                      <a:pt x="140" y="134"/>
                    </a:cubicBezTo>
                    <a:cubicBezTo>
                      <a:pt x="140" y="135"/>
                      <a:pt x="140" y="136"/>
                      <a:pt x="140" y="137"/>
                    </a:cubicBezTo>
                    <a:cubicBezTo>
                      <a:pt x="140" y="138"/>
                      <a:pt x="140" y="139"/>
                      <a:pt x="141" y="139"/>
                    </a:cubicBezTo>
                    <a:cubicBezTo>
                      <a:pt x="141" y="140"/>
                      <a:pt x="141" y="141"/>
                      <a:pt x="141" y="142"/>
                    </a:cubicBezTo>
                    <a:cubicBezTo>
                      <a:pt x="141" y="143"/>
                      <a:pt x="141" y="144"/>
                      <a:pt x="142" y="146"/>
                    </a:cubicBezTo>
                    <a:cubicBezTo>
                      <a:pt x="142" y="146"/>
                      <a:pt x="142" y="149"/>
                      <a:pt x="141" y="150"/>
                    </a:cubicBezTo>
                    <a:cubicBezTo>
                      <a:pt x="141" y="151"/>
                      <a:pt x="141" y="152"/>
                      <a:pt x="140" y="153"/>
                    </a:cubicBezTo>
                    <a:cubicBezTo>
                      <a:pt x="140" y="154"/>
                      <a:pt x="139" y="154"/>
                      <a:pt x="139" y="155"/>
                    </a:cubicBezTo>
                    <a:cubicBezTo>
                      <a:pt x="139" y="155"/>
                      <a:pt x="139" y="156"/>
                      <a:pt x="139" y="156"/>
                    </a:cubicBezTo>
                    <a:cubicBezTo>
                      <a:pt x="138" y="157"/>
                      <a:pt x="138" y="158"/>
                      <a:pt x="138" y="159"/>
                    </a:cubicBezTo>
                    <a:cubicBezTo>
                      <a:pt x="137" y="159"/>
                      <a:pt x="135" y="160"/>
                      <a:pt x="135" y="160"/>
                    </a:cubicBezTo>
                    <a:cubicBezTo>
                      <a:pt x="134" y="160"/>
                      <a:pt x="133" y="159"/>
                      <a:pt x="132" y="159"/>
                    </a:cubicBezTo>
                    <a:cubicBezTo>
                      <a:pt x="129" y="158"/>
                      <a:pt x="128" y="156"/>
                      <a:pt x="127" y="155"/>
                    </a:cubicBezTo>
                    <a:cubicBezTo>
                      <a:pt x="124" y="153"/>
                      <a:pt x="121" y="150"/>
                      <a:pt x="119" y="149"/>
                    </a:cubicBezTo>
                    <a:cubicBezTo>
                      <a:pt x="119" y="149"/>
                      <a:pt x="118" y="149"/>
                      <a:pt x="118" y="148"/>
                    </a:cubicBezTo>
                    <a:cubicBezTo>
                      <a:pt x="117" y="148"/>
                      <a:pt x="115" y="148"/>
                      <a:pt x="114" y="147"/>
                    </a:cubicBezTo>
                    <a:cubicBezTo>
                      <a:pt x="111" y="146"/>
                      <a:pt x="111" y="145"/>
                      <a:pt x="109" y="144"/>
                    </a:cubicBezTo>
                    <a:cubicBezTo>
                      <a:pt x="106" y="142"/>
                      <a:pt x="106" y="141"/>
                      <a:pt x="103" y="139"/>
                    </a:cubicBezTo>
                    <a:cubicBezTo>
                      <a:pt x="103" y="139"/>
                      <a:pt x="102" y="138"/>
                      <a:pt x="101" y="138"/>
                    </a:cubicBezTo>
                    <a:cubicBezTo>
                      <a:pt x="100" y="137"/>
                      <a:pt x="95" y="136"/>
                      <a:pt x="94" y="136"/>
                    </a:cubicBezTo>
                    <a:cubicBezTo>
                      <a:pt x="93" y="137"/>
                      <a:pt x="89" y="136"/>
                      <a:pt x="88" y="137"/>
                    </a:cubicBezTo>
                    <a:cubicBezTo>
                      <a:pt x="86" y="137"/>
                      <a:pt x="85" y="138"/>
                      <a:pt x="84" y="138"/>
                    </a:cubicBezTo>
                    <a:cubicBezTo>
                      <a:pt x="83" y="138"/>
                      <a:pt x="82" y="139"/>
                      <a:pt x="82" y="139"/>
                    </a:cubicBezTo>
                    <a:cubicBezTo>
                      <a:pt x="80" y="140"/>
                      <a:pt x="81" y="140"/>
                      <a:pt x="79" y="140"/>
                    </a:cubicBezTo>
                    <a:cubicBezTo>
                      <a:pt x="78" y="140"/>
                      <a:pt x="77" y="139"/>
                      <a:pt x="77" y="139"/>
                    </a:cubicBezTo>
                    <a:cubicBezTo>
                      <a:pt x="73" y="137"/>
                      <a:pt x="74" y="135"/>
                      <a:pt x="73" y="134"/>
                    </a:cubicBezTo>
                    <a:cubicBezTo>
                      <a:pt x="73" y="130"/>
                      <a:pt x="76" y="129"/>
                      <a:pt x="78" y="127"/>
                    </a:cubicBezTo>
                    <a:cubicBezTo>
                      <a:pt x="77" y="126"/>
                      <a:pt x="76" y="126"/>
                      <a:pt x="76" y="125"/>
                    </a:cubicBezTo>
                    <a:cubicBezTo>
                      <a:pt x="75" y="125"/>
                      <a:pt x="75" y="125"/>
                      <a:pt x="74" y="125"/>
                    </a:cubicBezTo>
                    <a:cubicBezTo>
                      <a:pt x="74" y="124"/>
                      <a:pt x="69" y="123"/>
                      <a:pt x="69" y="123"/>
                    </a:cubicBezTo>
                    <a:cubicBezTo>
                      <a:pt x="69" y="122"/>
                      <a:pt x="69" y="121"/>
                      <a:pt x="69" y="121"/>
                    </a:cubicBezTo>
                    <a:cubicBezTo>
                      <a:pt x="69" y="120"/>
                      <a:pt x="69" y="119"/>
                      <a:pt x="69" y="118"/>
                    </a:cubicBezTo>
                    <a:cubicBezTo>
                      <a:pt x="71" y="115"/>
                      <a:pt x="75" y="114"/>
                      <a:pt x="77" y="112"/>
                    </a:cubicBezTo>
                    <a:cubicBezTo>
                      <a:pt x="78" y="111"/>
                      <a:pt x="83" y="110"/>
                      <a:pt x="83" y="110"/>
                    </a:cubicBezTo>
                    <a:cubicBezTo>
                      <a:pt x="85" y="110"/>
                      <a:pt x="85" y="110"/>
                      <a:pt x="86" y="110"/>
                    </a:cubicBezTo>
                    <a:cubicBezTo>
                      <a:pt x="86" y="110"/>
                      <a:pt x="87" y="110"/>
                      <a:pt x="88" y="110"/>
                    </a:cubicBezTo>
                    <a:cubicBezTo>
                      <a:pt x="89" y="110"/>
                      <a:pt x="91" y="110"/>
                      <a:pt x="92" y="110"/>
                    </a:cubicBezTo>
                    <a:cubicBezTo>
                      <a:pt x="92" y="110"/>
                      <a:pt x="92" y="110"/>
                      <a:pt x="93" y="110"/>
                    </a:cubicBezTo>
                    <a:cubicBezTo>
                      <a:pt x="93" y="110"/>
                      <a:pt x="94" y="110"/>
                      <a:pt x="95" y="110"/>
                    </a:cubicBezTo>
                    <a:cubicBezTo>
                      <a:pt x="95" y="110"/>
                      <a:pt x="96" y="110"/>
                      <a:pt x="96" y="110"/>
                    </a:cubicBezTo>
                    <a:cubicBezTo>
                      <a:pt x="96" y="110"/>
                      <a:pt x="97" y="109"/>
                      <a:pt x="98" y="109"/>
                    </a:cubicBezTo>
                    <a:cubicBezTo>
                      <a:pt x="99" y="108"/>
                      <a:pt x="100" y="107"/>
                      <a:pt x="101" y="107"/>
                    </a:cubicBezTo>
                    <a:cubicBezTo>
                      <a:pt x="102" y="106"/>
                      <a:pt x="102" y="106"/>
                      <a:pt x="103" y="106"/>
                    </a:cubicBezTo>
                    <a:cubicBezTo>
                      <a:pt x="104" y="106"/>
                      <a:pt x="105" y="106"/>
                      <a:pt x="105" y="106"/>
                    </a:cubicBezTo>
                    <a:cubicBezTo>
                      <a:pt x="105" y="106"/>
                      <a:pt x="105" y="106"/>
                      <a:pt x="106" y="106"/>
                    </a:cubicBezTo>
                    <a:cubicBezTo>
                      <a:pt x="106" y="106"/>
                      <a:pt x="107" y="106"/>
                      <a:pt x="107" y="106"/>
                    </a:cubicBezTo>
                    <a:cubicBezTo>
                      <a:pt x="108" y="105"/>
                      <a:pt x="109" y="105"/>
                      <a:pt x="109" y="104"/>
                    </a:cubicBezTo>
                    <a:cubicBezTo>
                      <a:pt x="109" y="104"/>
                      <a:pt x="110" y="103"/>
                      <a:pt x="110" y="102"/>
                    </a:cubicBezTo>
                    <a:cubicBezTo>
                      <a:pt x="110" y="102"/>
                      <a:pt x="110" y="101"/>
                      <a:pt x="110" y="100"/>
                    </a:cubicBezTo>
                    <a:cubicBezTo>
                      <a:pt x="110" y="100"/>
                      <a:pt x="110" y="100"/>
                      <a:pt x="110" y="100"/>
                    </a:cubicBezTo>
                    <a:cubicBezTo>
                      <a:pt x="110" y="99"/>
                      <a:pt x="109" y="99"/>
                      <a:pt x="109" y="98"/>
                    </a:cubicBezTo>
                    <a:cubicBezTo>
                      <a:pt x="108" y="98"/>
                      <a:pt x="107" y="97"/>
                      <a:pt x="107" y="97"/>
                    </a:cubicBezTo>
                    <a:cubicBezTo>
                      <a:pt x="106" y="97"/>
                      <a:pt x="106" y="97"/>
                      <a:pt x="105" y="97"/>
                    </a:cubicBezTo>
                    <a:cubicBezTo>
                      <a:pt x="105" y="97"/>
                      <a:pt x="103" y="97"/>
                      <a:pt x="103" y="97"/>
                    </a:cubicBezTo>
                    <a:cubicBezTo>
                      <a:pt x="102" y="98"/>
                      <a:pt x="102" y="99"/>
                      <a:pt x="101" y="99"/>
                    </a:cubicBezTo>
                    <a:cubicBezTo>
                      <a:pt x="99" y="99"/>
                      <a:pt x="99" y="100"/>
                      <a:pt x="98" y="100"/>
                    </a:cubicBezTo>
                    <a:cubicBezTo>
                      <a:pt x="97" y="100"/>
                      <a:pt x="96" y="100"/>
                      <a:pt x="96" y="100"/>
                    </a:cubicBezTo>
                    <a:cubicBezTo>
                      <a:pt x="95" y="101"/>
                      <a:pt x="94" y="101"/>
                      <a:pt x="94" y="102"/>
                    </a:cubicBezTo>
                    <a:cubicBezTo>
                      <a:pt x="94" y="102"/>
                      <a:pt x="94" y="102"/>
                      <a:pt x="94" y="102"/>
                    </a:cubicBezTo>
                    <a:cubicBezTo>
                      <a:pt x="93" y="103"/>
                      <a:pt x="92" y="104"/>
                      <a:pt x="92" y="105"/>
                    </a:cubicBezTo>
                    <a:cubicBezTo>
                      <a:pt x="91" y="106"/>
                      <a:pt x="90" y="106"/>
                      <a:pt x="89" y="107"/>
                    </a:cubicBezTo>
                    <a:cubicBezTo>
                      <a:pt x="88" y="107"/>
                      <a:pt x="87" y="107"/>
                      <a:pt x="86" y="108"/>
                    </a:cubicBezTo>
                    <a:cubicBezTo>
                      <a:pt x="84" y="108"/>
                      <a:pt x="82" y="108"/>
                      <a:pt x="80" y="108"/>
                    </a:cubicBezTo>
                    <a:cubicBezTo>
                      <a:pt x="79" y="107"/>
                      <a:pt x="79" y="107"/>
                      <a:pt x="78" y="107"/>
                    </a:cubicBezTo>
                    <a:cubicBezTo>
                      <a:pt x="77" y="106"/>
                      <a:pt x="76" y="105"/>
                      <a:pt x="76" y="103"/>
                    </a:cubicBezTo>
                    <a:cubicBezTo>
                      <a:pt x="75" y="102"/>
                      <a:pt x="75" y="101"/>
                      <a:pt x="75" y="100"/>
                    </a:cubicBezTo>
                    <a:cubicBezTo>
                      <a:pt x="75" y="100"/>
                      <a:pt x="76" y="96"/>
                      <a:pt x="76" y="95"/>
                    </a:cubicBezTo>
                    <a:cubicBezTo>
                      <a:pt x="78" y="92"/>
                      <a:pt x="79" y="91"/>
                      <a:pt x="81" y="89"/>
                    </a:cubicBezTo>
                    <a:cubicBezTo>
                      <a:pt x="84" y="85"/>
                      <a:pt x="87" y="80"/>
                      <a:pt x="90" y="77"/>
                    </a:cubicBezTo>
                    <a:cubicBezTo>
                      <a:pt x="90" y="77"/>
                      <a:pt x="91" y="77"/>
                      <a:pt x="91" y="77"/>
                    </a:cubicBezTo>
                    <a:cubicBezTo>
                      <a:pt x="92" y="76"/>
                      <a:pt x="92" y="76"/>
                      <a:pt x="93" y="75"/>
                    </a:cubicBezTo>
                    <a:cubicBezTo>
                      <a:pt x="94" y="75"/>
                      <a:pt x="95" y="75"/>
                      <a:pt x="96" y="74"/>
                    </a:cubicBezTo>
                    <a:cubicBezTo>
                      <a:pt x="97" y="73"/>
                      <a:pt x="99" y="73"/>
                      <a:pt x="100" y="72"/>
                    </a:cubicBezTo>
                    <a:cubicBezTo>
                      <a:pt x="100" y="72"/>
                      <a:pt x="100" y="72"/>
                      <a:pt x="100" y="72"/>
                    </a:cubicBezTo>
                    <a:cubicBezTo>
                      <a:pt x="103" y="69"/>
                      <a:pt x="105" y="66"/>
                      <a:pt x="108" y="62"/>
                    </a:cubicBezTo>
                    <a:cubicBezTo>
                      <a:pt x="108" y="62"/>
                      <a:pt x="109" y="62"/>
                      <a:pt x="109" y="62"/>
                    </a:cubicBezTo>
                    <a:cubicBezTo>
                      <a:pt x="110" y="61"/>
                      <a:pt x="111" y="61"/>
                      <a:pt x="112" y="61"/>
                    </a:cubicBezTo>
                    <a:cubicBezTo>
                      <a:pt x="112" y="61"/>
                      <a:pt x="114" y="61"/>
                      <a:pt x="116" y="61"/>
                    </a:cubicBezTo>
                    <a:cubicBezTo>
                      <a:pt x="117" y="61"/>
                      <a:pt x="118" y="61"/>
                      <a:pt x="120" y="61"/>
                    </a:cubicBezTo>
                    <a:cubicBezTo>
                      <a:pt x="120" y="61"/>
                      <a:pt x="122" y="61"/>
                      <a:pt x="123" y="60"/>
                    </a:cubicBezTo>
                    <a:cubicBezTo>
                      <a:pt x="123" y="60"/>
                      <a:pt x="124" y="59"/>
                      <a:pt x="124" y="59"/>
                    </a:cubicBezTo>
                    <a:cubicBezTo>
                      <a:pt x="124" y="58"/>
                      <a:pt x="123" y="57"/>
                      <a:pt x="124" y="57"/>
                    </a:cubicBezTo>
                    <a:cubicBezTo>
                      <a:pt x="123" y="56"/>
                      <a:pt x="123" y="55"/>
                      <a:pt x="123" y="55"/>
                    </a:cubicBezTo>
                    <a:cubicBezTo>
                      <a:pt x="122" y="55"/>
                      <a:pt x="120" y="55"/>
                      <a:pt x="119" y="55"/>
                    </a:cubicBezTo>
                    <a:cubicBezTo>
                      <a:pt x="119" y="54"/>
                      <a:pt x="119" y="54"/>
                      <a:pt x="119" y="54"/>
                    </a:cubicBezTo>
                    <a:cubicBezTo>
                      <a:pt x="116" y="54"/>
                      <a:pt x="110" y="54"/>
                      <a:pt x="110" y="55"/>
                    </a:cubicBezTo>
                    <a:cubicBezTo>
                      <a:pt x="107" y="55"/>
                      <a:pt x="102" y="57"/>
                      <a:pt x="101" y="58"/>
                    </a:cubicBezTo>
                    <a:cubicBezTo>
                      <a:pt x="99" y="58"/>
                      <a:pt x="97" y="62"/>
                      <a:pt x="96" y="62"/>
                    </a:cubicBezTo>
                    <a:cubicBezTo>
                      <a:pt x="95" y="63"/>
                      <a:pt x="94" y="64"/>
                      <a:pt x="93" y="65"/>
                    </a:cubicBezTo>
                    <a:cubicBezTo>
                      <a:pt x="93" y="66"/>
                      <a:pt x="92" y="66"/>
                      <a:pt x="92" y="67"/>
                    </a:cubicBezTo>
                    <a:cubicBezTo>
                      <a:pt x="92" y="67"/>
                      <a:pt x="92" y="67"/>
                      <a:pt x="92" y="67"/>
                    </a:cubicBezTo>
                    <a:cubicBezTo>
                      <a:pt x="91" y="68"/>
                      <a:pt x="90" y="69"/>
                      <a:pt x="90" y="70"/>
                    </a:cubicBezTo>
                    <a:cubicBezTo>
                      <a:pt x="90" y="70"/>
                      <a:pt x="89" y="70"/>
                      <a:pt x="89" y="70"/>
                    </a:cubicBezTo>
                    <a:cubicBezTo>
                      <a:pt x="89" y="70"/>
                      <a:pt x="89" y="70"/>
                      <a:pt x="89" y="71"/>
                    </a:cubicBezTo>
                    <a:cubicBezTo>
                      <a:pt x="89" y="71"/>
                      <a:pt x="89" y="71"/>
                      <a:pt x="89" y="71"/>
                    </a:cubicBezTo>
                    <a:cubicBezTo>
                      <a:pt x="88" y="71"/>
                      <a:pt x="88" y="71"/>
                      <a:pt x="88" y="72"/>
                    </a:cubicBezTo>
                    <a:cubicBezTo>
                      <a:pt x="86" y="74"/>
                      <a:pt x="84" y="76"/>
                      <a:pt x="82" y="78"/>
                    </a:cubicBezTo>
                    <a:cubicBezTo>
                      <a:pt x="81" y="79"/>
                      <a:pt x="80" y="79"/>
                      <a:pt x="79" y="80"/>
                    </a:cubicBezTo>
                    <a:cubicBezTo>
                      <a:pt x="78" y="80"/>
                      <a:pt x="78" y="80"/>
                      <a:pt x="77" y="81"/>
                    </a:cubicBezTo>
                    <a:cubicBezTo>
                      <a:pt x="74" y="81"/>
                      <a:pt x="72" y="79"/>
                      <a:pt x="71" y="79"/>
                    </a:cubicBezTo>
                    <a:cubicBezTo>
                      <a:pt x="71" y="78"/>
                      <a:pt x="70" y="78"/>
                      <a:pt x="70" y="78"/>
                    </a:cubicBezTo>
                    <a:cubicBezTo>
                      <a:pt x="70" y="77"/>
                      <a:pt x="69" y="77"/>
                      <a:pt x="69" y="76"/>
                    </a:cubicBezTo>
                    <a:cubicBezTo>
                      <a:pt x="69" y="76"/>
                      <a:pt x="69" y="75"/>
                      <a:pt x="68" y="75"/>
                    </a:cubicBezTo>
                    <a:cubicBezTo>
                      <a:pt x="68" y="74"/>
                      <a:pt x="67" y="72"/>
                      <a:pt x="67" y="71"/>
                    </a:cubicBezTo>
                    <a:cubicBezTo>
                      <a:pt x="67" y="70"/>
                      <a:pt x="67" y="66"/>
                      <a:pt x="68" y="65"/>
                    </a:cubicBezTo>
                    <a:cubicBezTo>
                      <a:pt x="68" y="64"/>
                      <a:pt x="69" y="63"/>
                      <a:pt x="69" y="63"/>
                    </a:cubicBezTo>
                    <a:cubicBezTo>
                      <a:pt x="69" y="62"/>
                      <a:pt x="70" y="62"/>
                      <a:pt x="70" y="61"/>
                    </a:cubicBezTo>
                    <a:cubicBezTo>
                      <a:pt x="70" y="61"/>
                      <a:pt x="71" y="61"/>
                      <a:pt x="71" y="60"/>
                    </a:cubicBezTo>
                    <a:cubicBezTo>
                      <a:pt x="71" y="60"/>
                      <a:pt x="72" y="60"/>
                      <a:pt x="72" y="60"/>
                    </a:cubicBezTo>
                    <a:cubicBezTo>
                      <a:pt x="72" y="59"/>
                      <a:pt x="73" y="59"/>
                      <a:pt x="73" y="58"/>
                    </a:cubicBezTo>
                    <a:cubicBezTo>
                      <a:pt x="74" y="57"/>
                      <a:pt x="75" y="57"/>
                      <a:pt x="76" y="55"/>
                    </a:cubicBezTo>
                    <a:cubicBezTo>
                      <a:pt x="76" y="54"/>
                      <a:pt x="78" y="54"/>
                      <a:pt x="79" y="52"/>
                    </a:cubicBezTo>
                    <a:cubicBezTo>
                      <a:pt x="79" y="52"/>
                      <a:pt x="79" y="52"/>
                      <a:pt x="79" y="52"/>
                    </a:cubicBezTo>
                    <a:cubicBezTo>
                      <a:pt x="79" y="52"/>
                      <a:pt x="79" y="52"/>
                      <a:pt x="79" y="52"/>
                    </a:cubicBezTo>
                    <a:cubicBezTo>
                      <a:pt x="81" y="49"/>
                      <a:pt x="82" y="47"/>
                      <a:pt x="84" y="45"/>
                    </a:cubicBezTo>
                    <a:cubicBezTo>
                      <a:pt x="85" y="43"/>
                      <a:pt x="87" y="39"/>
                      <a:pt x="87" y="38"/>
                    </a:cubicBezTo>
                    <a:cubicBezTo>
                      <a:pt x="88" y="37"/>
                      <a:pt x="88" y="37"/>
                      <a:pt x="88" y="36"/>
                    </a:cubicBezTo>
                    <a:cubicBezTo>
                      <a:pt x="88" y="34"/>
                      <a:pt x="91" y="33"/>
                      <a:pt x="92" y="33"/>
                    </a:cubicBezTo>
                    <a:cubicBezTo>
                      <a:pt x="93" y="32"/>
                      <a:pt x="93" y="31"/>
                      <a:pt x="94" y="30"/>
                    </a:cubicBezTo>
                    <a:cubicBezTo>
                      <a:pt x="94" y="30"/>
                      <a:pt x="94" y="30"/>
                      <a:pt x="94" y="30"/>
                    </a:cubicBezTo>
                    <a:cubicBezTo>
                      <a:pt x="97" y="27"/>
                      <a:pt x="95" y="29"/>
                      <a:pt x="94" y="27"/>
                    </a:cubicBezTo>
                    <a:cubicBezTo>
                      <a:pt x="94" y="26"/>
                      <a:pt x="91" y="27"/>
                      <a:pt x="91" y="27"/>
                    </a:cubicBezTo>
                    <a:cubicBezTo>
                      <a:pt x="90" y="28"/>
                      <a:pt x="88" y="27"/>
                      <a:pt x="87" y="28"/>
                    </a:cubicBezTo>
                    <a:cubicBezTo>
                      <a:pt x="86" y="28"/>
                      <a:pt x="87" y="28"/>
                      <a:pt x="86" y="29"/>
                    </a:cubicBezTo>
                    <a:cubicBezTo>
                      <a:pt x="85" y="29"/>
                      <a:pt x="84" y="29"/>
                      <a:pt x="84" y="29"/>
                    </a:cubicBezTo>
                    <a:cubicBezTo>
                      <a:pt x="83" y="29"/>
                      <a:pt x="83" y="30"/>
                      <a:pt x="83" y="30"/>
                    </a:cubicBezTo>
                    <a:cubicBezTo>
                      <a:pt x="82" y="30"/>
                      <a:pt x="82" y="30"/>
                      <a:pt x="81" y="30"/>
                    </a:cubicBezTo>
                    <a:cubicBezTo>
                      <a:pt x="80" y="30"/>
                      <a:pt x="80" y="31"/>
                      <a:pt x="80" y="31"/>
                    </a:cubicBezTo>
                    <a:cubicBezTo>
                      <a:pt x="78" y="31"/>
                      <a:pt x="77" y="32"/>
                      <a:pt x="76" y="32"/>
                    </a:cubicBezTo>
                    <a:cubicBezTo>
                      <a:pt x="75" y="32"/>
                      <a:pt x="75" y="33"/>
                      <a:pt x="75" y="33"/>
                    </a:cubicBezTo>
                    <a:cubicBezTo>
                      <a:pt x="73" y="33"/>
                      <a:pt x="72" y="34"/>
                      <a:pt x="72" y="35"/>
                    </a:cubicBezTo>
                    <a:cubicBezTo>
                      <a:pt x="69" y="35"/>
                      <a:pt x="69" y="36"/>
                      <a:pt x="66" y="37"/>
                    </a:cubicBezTo>
                    <a:cubicBezTo>
                      <a:pt x="65" y="38"/>
                      <a:pt x="65" y="38"/>
                      <a:pt x="64" y="38"/>
                    </a:cubicBezTo>
                    <a:cubicBezTo>
                      <a:pt x="63" y="38"/>
                      <a:pt x="60" y="38"/>
                      <a:pt x="59" y="37"/>
                    </a:cubicBezTo>
                    <a:cubicBezTo>
                      <a:pt x="59" y="38"/>
                      <a:pt x="58" y="40"/>
                      <a:pt x="58" y="41"/>
                    </a:cubicBezTo>
                    <a:cubicBezTo>
                      <a:pt x="58" y="43"/>
                      <a:pt x="57" y="45"/>
                      <a:pt x="57" y="47"/>
                    </a:cubicBezTo>
                    <a:cubicBezTo>
                      <a:pt x="57" y="48"/>
                      <a:pt x="56" y="49"/>
                      <a:pt x="56" y="50"/>
                    </a:cubicBezTo>
                    <a:cubicBezTo>
                      <a:pt x="55" y="51"/>
                      <a:pt x="55" y="53"/>
                      <a:pt x="55" y="54"/>
                    </a:cubicBezTo>
                    <a:cubicBezTo>
                      <a:pt x="54" y="55"/>
                      <a:pt x="54" y="56"/>
                      <a:pt x="54" y="58"/>
                    </a:cubicBezTo>
                    <a:cubicBezTo>
                      <a:pt x="54" y="58"/>
                      <a:pt x="53" y="59"/>
                      <a:pt x="53" y="59"/>
                    </a:cubicBezTo>
                    <a:cubicBezTo>
                      <a:pt x="53" y="59"/>
                      <a:pt x="53" y="60"/>
                      <a:pt x="53" y="61"/>
                    </a:cubicBezTo>
                    <a:cubicBezTo>
                      <a:pt x="52" y="62"/>
                      <a:pt x="51" y="64"/>
                      <a:pt x="51" y="66"/>
                    </a:cubicBezTo>
                    <a:cubicBezTo>
                      <a:pt x="51" y="67"/>
                      <a:pt x="50" y="68"/>
                      <a:pt x="50" y="69"/>
                    </a:cubicBezTo>
                    <a:cubicBezTo>
                      <a:pt x="50" y="70"/>
                      <a:pt x="50" y="70"/>
                      <a:pt x="50" y="70"/>
                    </a:cubicBezTo>
                    <a:cubicBezTo>
                      <a:pt x="49" y="71"/>
                      <a:pt x="49" y="72"/>
                      <a:pt x="49" y="73"/>
                    </a:cubicBezTo>
                    <a:cubicBezTo>
                      <a:pt x="49" y="74"/>
                      <a:pt x="49" y="75"/>
                      <a:pt x="49" y="76"/>
                    </a:cubicBezTo>
                    <a:cubicBezTo>
                      <a:pt x="48" y="76"/>
                      <a:pt x="48" y="77"/>
                      <a:pt x="48" y="78"/>
                    </a:cubicBezTo>
                    <a:cubicBezTo>
                      <a:pt x="47" y="80"/>
                      <a:pt x="46" y="81"/>
                      <a:pt x="46" y="83"/>
                    </a:cubicBezTo>
                    <a:cubicBezTo>
                      <a:pt x="46" y="83"/>
                      <a:pt x="46" y="84"/>
                      <a:pt x="46" y="84"/>
                    </a:cubicBezTo>
                    <a:cubicBezTo>
                      <a:pt x="45" y="84"/>
                      <a:pt x="45" y="85"/>
                      <a:pt x="45" y="85"/>
                    </a:cubicBezTo>
                    <a:cubicBezTo>
                      <a:pt x="44" y="87"/>
                      <a:pt x="44" y="89"/>
                      <a:pt x="43" y="91"/>
                    </a:cubicBezTo>
                    <a:cubicBezTo>
                      <a:pt x="43" y="91"/>
                      <a:pt x="43" y="92"/>
                      <a:pt x="43" y="92"/>
                    </a:cubicBezTo>
                    <a:cubicBezTo>
                      <a:pt x="43" y="93"/>
                      <a:pt x="43" y="94"/>
                      <a:pt x="42" y="95"/>
                    </a:cubicBezTo>
                    <a:cubicBezTo>
                      <a:pt x="42" y="95"/>
                      <a:pt x="42" y="95"/>
                      <a:pt x="42" y="96"/>
                    </a:cubicBezTo>
                    <a:cubicBezTo>
                      <a:pt x="42" y="96"/>
                      <a:pt x="42" y="97"/>
                      <a:pt x="42" y="98"/>
                    </a:cubicBezTo>
                    <a:cubicBezTo>
                      <a:pt x="41" y="98"/>
                      <a:pt x="41" y="98"/>
                      <a:pt x="41" y="98"/>
                    </a:cubicBezTo>
                    <a:cubicBezTo>
                      <a:pt x="41" y="99"/>
                      <a:pt x="41" y="100"/>
                      <a:pt x="41" y="101"/>
                    </a:cubicBezTo>
                    <a:cubicBezTo>
                      <a:pt x="40" y="102"/>
                      <a:pt x="40" y="102"/>
                      <a:pt x="40" y="102"/>
                    </a:cubicBezTo>
                    <a:cubicBezTo>
                      <a:pt x="40" y="103"/>
                      <a:pt x="40" y="103"/>
                      <a:pt x="40" y="104"/>
                    </a:cubicBezTo>
                    <a:cubicBezTo>
                      <a:pt x="40" y="104"/>
                      <a:pt x="39" y="104"/>
                      <a:pt x="39" y="104"/>
                    </a:cubicBezTo>
                    <a:cubicBezTo>
                      <a:pt x="39" y="105"/>
                      <a:pt x="39" y="106"/>
                      <a:pt x="38" y="108"/>
                    </a:cubicBezTo>
                    <a:cubicBezTo>
                      <a:pt x="38" y="108"/>
                      <a:pt x="38" y="110"/>
                      <a:pt x="38" y="111"/>
                    </a:cubicBezTo>
                    <a:cubicBezTo>
                      <a:pt x="37" y="111"/>
                      <a:pt x="37" y="113"/>
                      <a:pt x="37" y="114"/>
                    </a:cubicBezTo>
                    <a:cubicBezTo>
                      <a:pt x="36" y="115"/>
                      <a:pt x="36" y="115"/>
                      <a:pt x="36" y="117"/>
                    </a:cubicBezTo>
                    <a:cubicBezTo>
                      <a:pt x="35" y="117"/>
                      <a:pt x="35" y="118"/>
                      <a:pt x="35" y="119"/>
                    </a:cubicBezTo>
                    <a:cubicBezTo>
                      <a:pt x="35" y="120"/>
                      <a:pt x="34" y="121"/>
                      <a:pt x="34" y="121"/>
                    </a:cubicBezTo>
                    <a:cubicBezTo>
                      <a:pt x="34" y="122"/>
                      <a:pt x="34" y="122"/>
                      <a:pt x="34" y="122"/>
                    </a:cubicBezTo>
                    <a:cubicBezTo>
                      <a:pt x="34" y="122"/>
                      <a:pt x="34" y="123"/>
                      <a:pt x="34" y="123"/>
                    </a:cubicBezTo>
                    <a:cubicBezTo>
                      <a:pt x="33" y="123"/>
                      <a:pt x="33" y="124"/>
                      <a:pt x="33" y="124"/>
                    </a:cubicBezTo>
                    <a:cubicBezTo>
                      <a:pt x="33" y="125"/>
                      <a:pt x="32" y="127"/>
                      <a:pt x="32" y="128"/>
                    </a:cubicBezTo>
                    <a:cubicBezTo>
                      <a:pt x="31" y="129"/>
                      <a:pt x="31" y="130"/>
                      <a:pt x="31" y="130"/>
                    </a:cubicBezTo>
                    <a:cubicBezTo>
                      <a:pt x="30" y="131"/>
                      <a:pt x="30" y="131"/>
                      <a:pt x="30" y="131"/>
                    </a:cubicBezTo>
                    <a:cubicBezTo>
                      <a:pt x="29" y="133"/>
                      <a:pt x="28" y="136"/>
                      <a:pt x="28" y="138"/>
                    </a:cubicBezTo>
                    <a:cubicBezTo>
                      <a:pt x="25" y="143"/>
                      <a:pt x="26" y="145"/>
                      <a:pt x="23" y="149"/>
                    </a:cubicBezTo>
                    <a:cubicBezTo>
                      <a:pt x="23" y="150"/>
                      <a:pt x="21" y="153"/>
                      <a:pt x="21" y="154"/>
                    </a:cubicBezTo>
                    <a:cubicBezTo>
                      <a:pt x="21" y="154"/>
                      <a:pt x="21" y="154"/>
                      <a:pt x="21" y="154"/>
                    </a:cubicBezTo>
                    <a:cubicBezTo>
                      <a:pt x="20" y="156"/>
                      <a:pt x="19" y="157"/>
                      <a:pt x="18" y="158"/>
                    </a:cubicBezTo>
                    <a:cubicBezTo>
                      <a:pt x="17" y="158"/>
                      <a:pt x="17" y="159"/>
                      <a:pt x="16" y="160"/>
                    </a:cubicBezTo>
                    <a:cubicBezTo>
                      <a:pt x="16" y="160"/>
                      <a:pt x="16" y="161"/>
                      <a:pt x="16" y="161"/>
                    </a:cubicBezTo>
                    <a:cubicBezTo>
                      <a:pt x="15" y="161"/>
                      <a:pt x="15" y="161"/>
                      <a:pt x="15" y="162"/>
                    </a:cubicBezTo>
                    <a:cubicBezTo>
                      <a:pt x="15" y="162"/>
                      <a:pt x="15" y="162"/>
                      <a:pt x="15" y="162"/>
                    </a:cubicBezTo>
                    <a:cubicBezTo>
                      <a:pt x="14" y="164"/>
                      <a:pt x="13" y="165"/>
                      <a:pt x="12" y="167"/>
                    </a:cubicBezTo>
                    <a:cubicBezTo>
                      <a:pt x="11" y="167"/>
                      <a:pt x="11" y="168"/>
                      <a:pt x="10" y="168"/>
                    </a:cubicBezTo>
                    <a:cubicBezTo>
                      <a:pt x="9" y="169"/>
                      <a:pt x="9" y="169"/>
                      <a:pt x="9" y="170"/>
                    </a:cubicBezTo>
                    <a:cubicBezTo>
                      <a:pt x="8" y="170"/>
                      <a:pt x="7" y="171"/>
                      <a:pt x="6" y="172"/>
                    </a:cubicBezTo>
                    <a:cubicBezTo>
                      <a:pt x="5" y="171"/>
                      <a:pt x="5" y="172"/>
                      <a:pt x="4" y="171"/>
                    </a:cubicBezTo>
                    <a:cubicBezTo>
                      <a:pt x="2" y="170"/>
                      <a:pt x="1" y="167"/>
                      <a:pt x="1" y="165"/>
                    </a:cubicBezTo>
                    <a:cubicBezTo>
                      <a:pt x="1" y="165"/>
                      <a:pt x="0" y="164"/>
                      <a:pt x="0" y="164"/>
                    </a:cubicBezTo>
                    <a:cubicBezTo>
                      <a:pt x="0" y="162"/>
                      <a:pt x="0" y="161"/>
                      <a:pt x="0" y="160"/>
                    </a:cubicBezTo>
                    <a:cubicBezTo>
                      <a:pt x="0" y="159"/>
                      <a:pt x="1" y="159"/>
                      <a:pt x="1" y="157"/>
                    </a:cubicBezTo>
                    <a:cubicBezTo>
                      <a:pt x="2" y="157"/>
                      <a:pt x="2" y="155"/>
                      <a:pt x="3" y="155"/>
                    </a:cubicBezTo>
                    <a:cubicBezTo>
                      <a:pt x="4" y="153"/>
                      <a:pt x="5" y="150"/>
                      <a:pt x="7" y="149"/>
                    </a:cubicBezTo>
                    <a:cubicBezTo>
                      <a:pt x="8" y="146"/>
                      <a:pt x="10" y="142"/>
                      <a:pt x="11" y="139"/>
                    </a:cubicBezTo>
                    <a:cubicBezTo>
                      <a:pt x="11" y="139"/>
                      <a:pt x="11" y="138"/>
                      <a:pt x="11" y="138"/>
                    </a:cubicBezTo>
                    <a:cubicBezTo>
                      <a:pt x="12" y="136"/>
                      <a:pt x="12" y="135"/>
                      <a:pt x="12" y="134"/>
                    </a:cubicBezTo>
                    <a:cubicBezTo>
                      <a:pt x="13" y="132"/>
                      <a:pt x="13" y="131"/>
                      <a:pt x="14" y="129"/>
                    </a:cubicBezTo>
                    <a:cubicBezTo>
                      <a:pt x="14" y="127"/>
                      <a:pt x="15" y="125"/>
                      <a:pt x="15" y="125"/>
                    </a:cubicBezTo>
                    <a:cubicBezTo>
                      <a:pt x="15" y="124"/>
                      <a:pt x="16" y="123"/>
                      <a:pt x="16" y="123"/>
                    </a:cubicBezTo>
                    <a:cubicBezTo>
                      <a:pt x="16" y="122"/>
                      <a:pt x="16" y="122"/>
                      <a:pt x="16" y="122"/>
                    </a:cubicBezTo>
                    <a:cubicBezTo>
                      <a:pt x="17" y="121"/>
                      <a:pt x="17" y="120"/>
                      <a:pt x="18" y="119"/>
                    </a:cubicBezTo>
                    <a:cubicBezTo>
                      <a:pt x="18" y="118"/>
                      <a:pt x="18" y="116"/>
                      <a:pt x="19" y="115"/>
                    </a:cubicBezTo>
                    <a:cubicBezTo>
                      <a:pt x="19" y="114"/>
                      <a:pt x="19" y="114"/>
                      <a:pt x="19" y="113"/>
                    </a:cubicBezTo>
                    <a:cubicBezTo>
                      <a:pt x="20" y="113"/>
                      <a:pt x="20" y="113"/>
                      <a:pt x="20" y="112"/>
                    </a:cubicBezTo>
                    <a:cubicBezTo>
                      <a:pt x="20" y="111"/>
                      <a:pt x="21" y="110"/>
                      <a:pt x="21" y="110"/>
                    </a:cubicBezTo>
                    <a:cubicBezTo>
                      <a:pt x="21" y="108"/>
                      <a:pt x="22" y="106"/>
                      <a:pt x="23" y="105"/>
                    </a:cubicBezTo>
                    <a:cubicBezTo>
                      <a:pt x="23" y="104"/>
                      <a:pt x="24" y="102"/>
                      <a:pt x="24" y="101"/>
                    </a:cubicBezTo>
                    <a:cubicBezTo>
                      <a:pt x="24" y="101"/>
                      <a:pt x="24" y="100"/>
                      <a:pt x="25" y="99"/>
                    </a:cubicBezTo>
                    <a:cubicBezTo>
                      <a:pt x="25" y="99"/>
                      <a:pt x="25" y="98"/>
                      <a:pt x="25" y="98"/>
                    </a:cubicBezTo>
                    <a:cubicBezTo>
                      <a:pt x="25" y="97"/>
                      <a:pt x="26" y="96"/>
                      <a:pt x="26" y="95"/>
                    </a:cubicBezTo>
                    <a:cubicBezTo>
                      <a:pt x="26" y="95"/>
                      <a:pt x="26" y="95"/>
                      <a:pt x="26" y="95"/>
                    </a:cubicBezTo>
                    <a:cubicBezTo>
                      <a:pt x="26" y="94"/>
                      <a:pt x="26" y="93"/>
                      <a:pt x="26" y="93"/>
                    </a:cubicBezTo>
                    <a:cubicBezTo>
                      <a:pt x="27" y="92"/>
                      <a:pt x="27" y="92"/>
                      <a:pt x="27" y="91"/>
                    </a:cubicBezTo>
                    <a:cubicBezTo>
                      <a:pt x="27" y="88"/>
                      <a:pt x="28" y="86"/>
                      <a:pt x="28" y="84"/>
                    </a:cubicBezTo>
                    <a:cubicBezTo>
                      <a:pt x="28" y="83"/>
                      <a:pt x="29" y="83"/>
                      <a:pt x="29" y="83"/>
                    </a:cubicBezTo>
                    <a:cubicBezTo>
                      <a:pt x="29" y="82"/>
                      <a:pt x="29" y="81"/>
                      <a:pt x="29" y="80"/>
                    </a:cubicBezTo>
                    <a:cubicBezTo>
                      <a:pt x="30" y="79"/>
                      <a:pt x="30" y="79"/>
                      <a:pt x="30" y="78"/>
                    </a:cubicBezTo>
                    <a:cubicBezTo>
                      <a:pt x="30" y="77"/>
                      <a:pt x="30" y="77"/>
                      <a:pt x="30" y="76"/>
                    </a:cubicBezTo>
                    <a:cubicBezTo>
                      <a:pt x="31" y="76"/>
                      <a:pt x="31" y="76"/>
                      <a:pt x="31" y="75"/>
                    </a:cubicBezTo>
                    <a:cubicBezTo>
                      <a:pt x="32" y="73"/>
                      <a:pt x="32" y="72"/>
                      <a:pt x="33" y="70"/>
                    </a:cubicBezTo>
                    <a:cubicBezTo>
                      <a:pt x="33" y="70"/>
                      <a:pt x="33" y="70"/>
                      <a:pt x="33" y="69"/>
                    </a:cubicBezTo>
                    <a:cubicBezTo>
                      <a:pt x="33" y="68"/>
                      <a:pt x="34" y="66"/>
                      <a:pt x="35" y="65"/>
                    </a:cubicBezTo>
                    <a:cubicBezTo>
                      <a:pt x="35" y="63"/>
                      <a:pt x="35" y="62"/>
                      <a:pt x="35" y="61"/>
                    </a:cubicBezTo>
                    <a:cubicBezTo>
                      <a:pt x="35" y="58"/>
                      <a:pt x="36" y="56"/>
                      <a:pt x="36" y="53"/>
                    </a:cubicBezTo>
                    <a:cubicBezTo>
                      <a:pt x="36" y="50"/>
                      <a:pt x="36" y="48"/>
                      <a:pt x="37" y="47"/>
                    </a:cubicBezTo>
                    <a:cubicBezTo>
                      <a:pt x="37" y="44"/>
                      <a:pt x="37" y="41"/>
                      <a:pt x="38" y="39"/>
                    </a:cubicBezTo>
                    <a:cubicBezTo>
                      <a:pt x="38" y="38"/>
                      <a:pt x="38" y="38"/>
                      <a:pt x="39" y="37"/>
                    </a:cubicBezTo>
                    <a:cubicBezTo>
                      <a:pt x="39" y="36"/>
                      <a:pt x="39" y="36"/>
                      <a:pt x="39" y="36"/>
                    </a:cubicBezTo>
                    <a:cubicBezTo>
                      <a:pt x="39" y="35"/>
                      <a:pt x="39" y="34"/>
                      <a:pt x="40" y="34"/>
                    </a:cubicBezTo>
                    <a:cubicBezTo>
                      <a:pt x="40" y="33"/>
                      <a:pt x="40" y="33"/>
                      <a:pt x="41" y="33"/>
                    </a:cubicBezTo>
                    <a:cubicBezTo>
                      <a:pt x="41" y="31"/>
                      <a:pt x="42" y="30"/>
                      <a:pt x="42" y="29"/>
                    </a:cubicBezTo>
                    <a:cubicBezTo>
                      <a:pt x="42" y="29"/>
                      <a:pt x="42" y="29"/>
                      <a:pt x="43" y="28"/>
                    </a:cubicBezTo>
                    <a:cubicBezTo>
                      <a:pt x="44" y="27"/>
                      <a:pt x="44" y="26"/>
                      <a:pt x="46" y="25"/>
                    </a:cubicBezTo>
                    <a:cubicBezTo>
                      <a:pt x="46" y="24"/>
                      <a:pt x="49" y="24"/>
                      <a:pt x="49" y="23"/>
                    </a:cubicBezTo>
                    <a:cubicBezTo>
                      <a:pt x="51" y="23"/>
                      <a:pt x="55" y="24"/>
                      <a:pt x="55" y="24"/>
                    </a:cubicBezTo>
                    <a:cubicBezTo>
                      <a:pt x="55" y="23"/>
                      <a:pt x="57" y="22"/>
                      <a:pt x="57" y="21"/>
                    </a:cubicBezTo>
                    <a:cubicBezTo>
                      <a:pt x="59" y="19"/>
                      <a:pt x="59" y="20"/>
                      <a:pt x="61" y="19"/>
                    </a:cubicBezTo>
                    <a:cubicBezTo>
                      <a:pt x="61" y="19"/>
                      <a:pt x="62" y="19"/>
                      <a:pt x="62" y="19"/>
                    </a:cubicBezTo>
                    <a:cubicBezTo>
                      <a:pt x="62" y="18"/>
                      <a:pt x="62" y="18"/>
                      <a:pt x="62" y="18"/>
                    </a:cubicBezTo>
                    <a:cubicBezTo>
                      <a:pt x="63" y="17"/>
                      <a:pt x="66" y="16"/>
                      <a:pt x="67" y="16"/>
                    </a:cubicBezTo>
                    <a:cubicBezTo>
                      <a:pt x="68" y="15"/>
                      <a:pt x="69" y="14"/>
                      <a:pt x="70" y="14"/>
                    </a:cubicBezTo>
                    <a:cubicBezTo>
                      <a:pt x="71" y="13"/>
                      <a:pt x="73" y="11"/>
                      <a:pt x="74" y="11"/>
                    </a:cubicBezTo>
                    <a:cubicBezTo>
                      <a:pt x="75" y="10"/>
                      <a:pt x="78" y="9"/>
                      <a:pt x="79" y="9"/>
                    </a:cubicBezTo>
                    <a:cubicBezTo>
                      <a:pt x="79" y="9"/>
                      <a:pt x="83" y="8"/>
                      <a:pt x="82" y="8"/>
                    </a:cubicBezTo>
                    <a:cubicBezTo>
                      <a:pt x="83" y="8"/>
                      <a:pt x="83" y="8"/>
                      <a:pt x="84" y="8"/>
                    </a:cubicBezTo>
                    <a:cubicBezTo>
                      <a:pt x="85" y="8"/>
                      <a:pt x="86" y="8"/>
                      <a:pt x="87" y="8"/>
                    </a:cubicBezTo>
                    <a:cubicBezTo>
                      <a:pt x="87" y="8"/>
                      <a:pt x="88" y="8"/>
                      <a:pt x="89" y="8"/>
                    </a:cubicBezTo>
                    <a:cubicBezTo>
                      <a:pt x="90" y="8"/>
                      <a:pt x="90" y="8"/>
                      <a:pt x="91" y="7"/>
                    </a:cubicBezTo>
                    <a:cubicBezTo>
                      <a:pt x="92" y="7"/>
                      <a:pt x="93" y="7"/>
                      <a:pt x="93" y="7"/>
                    </a:cubicBezTo>
                    <a:cubicBezTo>
                      <a:pt x="94" y="6"/>
                      <a:pt x="94" y="6"/>
                      <a:pt x="95" y="6"/>
                    </a:cubicBezTo>
                    <a:cubicBezTo>
                      <a:pt x="95" y="5"/>
                      <a:pt x="96" y="5"/>
                      <a:pt x="96" y="5"/>
                    </a:cubicBezTo>
                    <a:cubicBezTo>
                      <a:pt x="97" y="5"/>
                      <a:pt x="97" y="4"/>
                      <a:pt x="97" y="4"/>
                    </a:cubicBezTo>
                    <a:cubicBezTo>
                      <a:pt x="98" y="4"/>
                      <a:pt x="98" y="4"/>
                      <a:pt x="98" y="4"/>
                    </a:cubicBezTo>
                    <a:cubicBezTo>
                      <a:pt x="99" y="3"/>
                      <a:pt x="100" y="3"/>
                      <a:pt x="101" y="2"/>
                    </a:cubicBezTo>
                    <a:cubicBezTo>
                      <a:pt x="102" y="2"/>
                      <a:pt x="103" y="2"/>
                      <a:pt x="104" y="2"/>
                    </a:cubicBezTo>
                    <a:cubicBezTo>
                      <a:pt x="105" y="2"/>
                      <a:pt x="107" y="3"/>
                      <a:pt x="109" y="3"/>
                    </a:cubicBezTo>
                    <a:cubicBezTo>
                      <a:pt x="110" y="3"/>
                      <a:pt x="111" y="4"/>
                      <a:pt x="111" y="4"/>
                    </a:cubicBezTo>
                    <a:cubicBezTo>
                      <a:pt x="112" y="4"/>
                      <a:pt x="113" y="4"/>
                      <a:pt x="114" y="4"/>
                    </a:cubicBezTo>
                    <a:cubicBezTo>
                      <a:pt x="114" y="4"/>
                      <a:pt x="115" y="3"/>
                      <a:pt x="116" y="3"/>
                    </a:cubicBezTo>
                    <a:cubicBezTo>
                      <a:pt x="116" y="3"/>
                      <a:pt x="117" y="4"/>
                      <a:pt x="117" y="4"/>
                    </a:cubicBezTo>
                    <a:cubicBezTo>
                      <a:pt x="117" y="3"/>
                      <a:pt x="118" y="3"/>
                      <a:pt x="119" y="3"/>
                    </a:cubicBezTo>
                    <a:cubicBezTo>
                      <a:pt x="120" y="3"/>
                      <a:pt x="121" y="3"/>
                      <a:pt x="121" y="3"/>
                    </a:cubicBezTo>
                    <a:cubicBezTo>
                      <a:pt x="122" y="3"/>
                      <a:pt x="122" y="3"/>
                      <a:pt x="122" y="3"/>
                    </a:cubicBezTo>
                    <a:cubicBezTo>
                      <a:pt x="122" y="2"/>
                      <a:pt x="122" y="2"/>
                      <a:pt x="123" y="2"/>
                    </a:cubicBezTo>
                    <a:cubicBezTo>
                      <a:pt x="123" y="2"/>
                      <a:pt x="124" y="2"/>
                      <a:pt x="124" y="2"/>
                    </a:cubicBezTo>
                    <a:cubicBezTo>
                      <a:pt x="127" y="1"/>
                      <a:pt x="129" y="0"/>
                      <a:pt x="130" y="0"/>
                    </a:cubicBezTo>
                    <a:cubicBezTo>
                      <a:pt x="131" y="1"/>
                      <a:pt x="132" y="1"/>
                      <a:pt x="132" y="2"/>
                    </a:cubicBezTo>
                    <a:cubicBezTo>
                      <a:pt x="132" y="2"/>
                      <a:pt x="132" y="3"/>
                      <a:pt x="131" y="3"/>
                    </a:cubicBezTo>
                    <a:cubicBezTo>
                      <a:pt x="131" y="4"/>
                      <a:pt x="131" y="4"/>
                      <a:pt x="131" y="5"/>
                    </a:cubicBezTo>
                    <a:cubicBezTo>
                      <a:pt x="131" y="5"/>
                      <a:pt x="131" y="5"/>
                      <a:pt x="132" y="6"/>
                    </a:cubicBezTo>
                    <a:cubicBezTo>
                      <a:pt x="132" y="7"/>
                      <a:pt x="132" y="8"/>
                      <a:pt x="131" y="9"/>
                    </a:cubicBezTo>
                    <a:cubicBezTo>
                      <a:pt x="131" y="10"/>
                      <a:pt x="131" y="11"/>
                      <a:pt x="130" y="11"/>
                    </a:cubicBezTo>
                    <a:cubicBezTo>
                      <a:pt x="130" y="12"/>
                      <a:pt x="130" y="13"/>
                      <a:pt x="129" y="14"/>
                    </a:cubicBezTo>
                    <a:cubicBezTo>
                      <a:pt x="128" y="15"/>
                      <a:pt x="128" y="16"/>
                      <a:pt x="127" y="17"/>
                    </a:cubicBezTo>
                    <a:cubicBezTo>
                      <a:pt x="127" y="17"/>
                      <a:pt x="126" y="18"/>
                      <a:pt x="126" y="18"/>
                    </a:cubicBezTo>
                    <a:cubicBezTo>
                      <a:pt x="125" y="18"/>
                      <a:pt x="125" y="19"/>
                      <a:pt x="124" y="19"/>
                    </a:cubicBezTo>
                    <a:cubicBezTo>
                      <a:pt x="124" y="20"/>
                      <a:pt x="123" y="20"/>
                      <a:pt x="123" y="21"/>
                    </a:cubicBezTo>
                    <a:cubicBezTo>
                      <a:pt x="121" y="23"/>
                      <a:pt x="118" y="26"/>
                      <a:pt x="116" y="28"/>
                    </a:cubicBezTo>
                    <a:cubicBezTo>
                      <a:pt x="115" y="29"/>
                      <a:pt x="113" y="33"/>
                      <a:pt x="112" y="34"/>
                    </a:cubicBezTo>
                    <a:cubicBezTo>
                      <a:pt x="111" y="34"/>
                      <a:pt x="112" y="34"/>
                      <a:pt x="112" y="36"/>
                    </a:cubicBezTo>
                    <a:cubicBezTo>
                      <a:pt x="112" y="36"/>
                      <a:pt x="112" y="36"/>
                      <a:pt x="113" y="36"/>
                    </a:cubicBezTo>
                    <a:cubicBezTo>
                      <a:pt x="113" y="36"/>
                      <a:pt x="114" y="36"/>
                      <a:pt x="115" y="36"/>
                    </a:cubicBezTo>
                    <a:cubicBezTo>
                      <a:pt x="116" y="36"/>
                      <a:pt x="117" y="36"/>
                      <a:pt x="118" y="35"/>
                    </a:cubicBezTo>
                    <a:cubicBezTo>
                      <a:pt x="119" y="35"/>
                      <a:pt x="119" y="34"/>
                      <a:pt x="120" y="34"/>
                    </a:cubicBezTo>
                    <a:cubicBezTo>
                      <a:pt x="121" y="34"/>
                      <a:pt x="122" y="33"/>
                      <a:pt x="123" y="33"/>
                    </a:cubicBezTo>
                    <a:cubicBezTo>
                      <a:pt x="126" y="32"/>
                      <a:pt x="128" y="32"/>
                      <a:pt x="132" y="32"/>
                    </a:cubicBezTo>
                    <a:cubicBezTo>
                      <a:pt x="133" y="32"/>
                      <a:pt x="135" y="34"/>
                      <a:pt x="137" y="34"/>
                    </a:cubicBezTo>
                    <a:cubicBezTo>
                      <a:pt x="138" y="36"/>
                      <a:pt x="139" y="35"/>
                      <a:pt x="141" y="36"/>
                    </a:cubicBezTo>
                    <a:cubicBezTo>
                      <a:pt x="142" y="36"/>
                      <a:pt x="144" y="38"/>
                      <a:pt x="145" y="39"/>
                    </a:cubicBezTo>
                    <a:cubicBezTo>
                      <a:pt x="146" y="39"/>
                      <a:pt x="148" y="41"/>
                      <a:pt x="149" y="41"/>
                    </a:cubicBezTo>
                    <a:cubicBezTo>
                      <a:pt x="149" y="42"/>
                      <a:pt x="150" y="42"/>
                      <a:pt x="150" y="42"/>
                    </a:cubicBezTo>
                    <a:cubicBezTo>
                      <a:pt x="152" y="46"/>
                      <a:pt x="151" y="47"/>
                      <a:pt x="151"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8" name="Freeform 6"/>
              <p:cNvSpPr/>
              <p:nvPr/>
            </p:nvSpPr>
            <p:spPr bwMode="auto">
              <a:xfrm>
                <a:off x="4068763" y="3132138"/>
                <a:ext cx="161925" cy="384175"/>
              </a:xfrm>
              <a:custGeom>
                <a:avLst/>
                <a:gdLst>
                  <a:gd name="T0" fmla="*/ 4 w 43"/>
                  <a:gd name="T1" fmla="*/ 101 h 102"/>
                  <a:gd name="T2" fmla="*/ 2 w 43"/>
                  <a:gd name="T3" fmla="*/ 100 h 102"/>
                  <a:gd name="T4" fmla="*/ 1 w 43"/>
                  <a:gd name="T5" fmla="*/ 97 h 102"/>
                  <a:gd name="T6" fmla="*/ 1 w 43"/>
                  <a:gd name="T7" fmla="*/ 89 h 102"/>
                  <a:gd name="T8" fmla="*/ 4 w 43"/>
                  <a:gd name="T9" fmla="*/ 75 h 102"/>
                  <a:gd name="T10" fmla="*/ 9 w 43"/>
                  <a:gd name="T11" fmla="*/ 65 h 102"/>
                  <a:gd name="T12" fmla="*/ 15 w 43"/>
                  <a:gd name="T13" fmla="*/ 52 h 102"/>
                  <a:gd name="T14" fmla="*/ 17 w 43"/>
                  <a:gd name="T15" fmla="*/ 45 h 102"/>
                  <a:gd name="T16" fmla="*/ 16 w 43"/>
                  <a:gd name="T17" fmla="*/ 42 h 102"/>
                  <a:gd name="T18" fmla="*/ 15 w 43"/>
                  <a:gd name="T19" fmla="*/ 40 h 102"/>
                  <a:gd name="T20" fmla="*/ 13 w 43"/>
                  <a:gd name="T21" fmla="*/ 37 h 102"/>
                  <a:gd name="T22" fmla="*/ 13 w 43"/>
                  <a:gd name="T23" fmla="*/ 27 h 102"/>
                  <a:gd name="T24" fmla="*/ 13 w 43"/>
                  <a:gd name="T25" fmla="*/ 23 h 102"/>
                  <a:gd name="T26" fmla="*/ 15 w 43"/>
                  <a:gd name="T27" fmla="*/ 16 h 102"/>
                  <a:gd name="T28" fmla="*/ 16 w 43"/>
                  <a:gd name="T29" fmla="*/ 13 h 102"/>
                  <a:gd name="T30" fmla="*/ 17 w 43"/>
                  <a:gd name="T31" fmla="*/ 10 h 102"/>
                  <a:gd name="T32" fmla="*/ 19 w 43"/>
                  <a:gd name="T33" fmla="*/ 8 h 102"/>
                  <a:gd name="T34" fmla="*/ 20 w 43"/>
                  <a:gd name="T35" fmla="*/ 6 h 102"/>
                  <a:gd name="T36" fmla="*/ 24 w 43"/>
                  <a:gd name="T37" fmla="*/ 3 h 102"/>
                  <a:gd name="T38" fmla="*/ 29 w 43"/>
                  <a:gd name="T39" fmla="*/ 0 h 102"/>
                  <a:gd name="T40" fmla="*/ 34 w 43"/>
                  <a:gd name="T41" fmla="*/ 1 h 102"/>
                  <a:gd name="T42" fmla="*/ 39 w 43"/>
                  <a:gd name="T43" fmla="*/ 8 h 102"/>
                  <a:gd name="T44" fmla="*/ 42 w 43"/>
                  <a:gd name="T45" fmla="*/ 16 h 102"/>
                  <a:gd name="T46" fmla="*/ 42 w 43"/>
                  <a:gd name="T47" fmla="*/ 22 h 102"/>
                  <a:gd name="T48" fmla="*/ 39 w 43"/>
                  <a:gd name="T49" fmla="*/ 26 h 102"/>
                  <a:gd name="T50" fmla="*/ 35 w 43"/>
                  <a:gd name="T51" fmla="*/ 31 h 102"/>
                  <a:gd name="T52" fmla="*/ 34 w 43"/>
                  <a:gd name="T53" fmla="*/ 42 h 102"/>
                  <a:gd name="T54" fmla="*/ 32 w 43"/>
                  <a:gd name="T55" fmla="*/ 52 h 102"/>
                  <a:gd name="T56" fmla="*/ 31 w 43"/>
                  <a:gd name="T57" fmla="*/ 57 h 102"/>
                  <a:gd name="T58" fmla="*/ 30 w 43"/>
                  <a:gd name="T59" fmla="*/ 63 h 102"/>
                  <a:gd name="T60" fmla="*/ 26 w 43"/>
                  <a:gd name="T61" fmla="*/ 75 h 102"/>
                  <a:gd name="T62" fmla="*/ 25 w 43"/>
                  <a:gd name="T63" fmla="*/ 77 h 102"/>
                  <a:gd name="T64" fmla="*/ 21 w 43"/>
                  <a:gd name="T65" fmla="*/ 86 h 102"/>
                  <a:gd name="T66" fmla="*/ 6 w 43"/>
                  <a:gd name="T67"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102">
                    <a:moveTo>
                      <a:pt x="6" y="102"/>
                    </a:moveTo>
                    <a:cubicBezTo>
                      <a:pt x="5" y="102"/>
                      <a:pt x="5" y="102"/>
                      <a:pt x="4" y="101"/>
                    </a:cubicBezTo>
                    <a:cubicBezTo>
                      <a:pt x="4" y="101"/>
                      <a:pt x="3" y="101"/>
                      <a:pt x="3" y="101"/>
                    </a:cubicBezTo>
                    <a:cubicBezTo>
                      <a:pt x="2" y="101"/>
                      <a:pt x="2" y="100"/>
                      <a:pt x="2" y="100"/>
                    </a:cubicBezTo>
                    <a:cubicBezTo>
                      <a:pt x="2" y="100"/>
                      <a:pt x="1" y="99"/>
                      <a:pt x="1" y="98"/>
                    </a:cubicBezTo>
                    <a:cubicBezTo>
                      <a:pt x="1" y="98"/>
                      <a:pt x="1" y="97"/>
                      <a:pt x="1" y="97"/>
                    </a:cubicBezTo>
                    <a:cubicBezTo>
                      <a:pt x="1" y="96"/>
                      <a:pt x="1" y="95"/>
                      <a:pt x="1" y="95"/>
                    </a:cubicBezTo>
                    <a:cubicBezTo>
                      <a:pt x="1" y="94"/>
                      <a:pt x="0" y="92"/>
                      <a:pt x="1" y="89"/>
                    </a:cubicBezTo>
                    <a:cubicBezTo>
                      <a:pt x="1" y="87"/>
                      <a:pt x="2" y="86"/>
                      <a:pt x="2" y="84"/>
                    </a:cubicBezTo>
                    <a:cubicBezTo>
                      <a:pt x="3" y="81"/>
                      <a:pt x="3" y="77"/>
                      <a:pt x="4" y="75"/>
                    </a:cubicBezTo>
                    <a:cubicBezTo>
                      <a:pt x="5" y="72"/>
                      <a:pt x="7" y="68"/>
                      <a:pt x="8" y="65"/>
                    </a:cubicBezTo>
                    <a:cubicBezTo>
                      <a:pt x="8" y="65"/>
                      <a:pt x="9" y="65"/>
                      <a:pt x="9" y="65"/>
                    </a:cubicBezTo>
                    <a:cubicBezTo>
                      <a:pt x="9" y="64"/>
                      <a:pt x="10" y="63"/>
                      <a:pt x="10" y="62"/>
                    </a:cubicBezTo>
                    <a:cubicBezTo>
                      <a:pt x="12" y="59"/>
                      <a:pt x="14" y="56"/>
                      <a:pt x="15" y="52"/>
                    </a:cubicBezTo>
                    <a:cubicBezTo>
                      <a:pt x="15" y="51"/>
                      <a:pt x="17" y="50"/>
                      <a:pt x="17" y="48"/>
                    </a:cubicBezTo>
                    <a:cubicBezTo>
                      <a:pt x="17" y="47"/>
                      <a:pt x="17" y="46"/>
                      <a:pt x="17" y="45"/>
                    </a:cubicBezTo>
                    <a:cubicBezTo>
                      <a:pt x="17" y="45"/>
                      <a:pt x="17" y="44"/>
                      <a:pt x="17" y="44"/>
                    </a:cubicBezTo>
                    <a:cubicBezTo>
                      <a:pt x="17" y="43"/>
                      <a:pt x="17" y="42"/>
                      <a:pt x="16" y="42"/>
                    </a:cubicBezTo>
                    <a:cubicBezTo>
                      <a:pt x="16" y="41"/>
                      <a:pt x="16" y="41"/>
                      <a:pt x="16" y="41"/>
                    </a:cubicBezTo>
                    <a:cubicBezTo>
                      <a:pt x="16" y="41"/>
                      <a:pt x="15" y="40"/>
                      <a:pt x="15" y="40"/>
                    </a:cubicBezTo>
                    <a:cubicBezTo>
                      <a:pt x="15" y="39"/>
                      <a:pt x="14" y="39"/>
                      <a:pt x="14" y="39"/>
                    </a:cubicBezTo>
                    <a:cubicBezTo>
                      <a:pt x="14" y="38"/>
                      <a:pt x="14" y="38"/>
                      <a:pt x="13" y="37"/>
                    </a:cubicBezTo>
                    <a:cubicBezTo>
                      <a:pt x="13" y="37"/>
                      <a:pt x="13" y="36"/>
                      <a:pt x="13" y="34"/>
                    </a:cubicBezTo>
                    <a:cubicBezTo>
                      <a:pt x="13" y="32"/>
                      <a:pt x="13" y="29"/>
                      <a:pt x="13" y="27"/>
                    </a:cubicBezTo>
                    <a:cubicBezTo>
                      <a:pt x="13" y="26"/>
                      <a:pt x="13" y="25"/>
                      <a:pt x="13" y="25"/>
                    </a:cubicBezTo>
                    <a:cubicBezTo>
                      <a:pt x="13" y="24"/>
                      <a:pt x="13" y="24"/>
                      <a:pt x="13" y="23"/>
                    </a:cubicBezTo>
                    <a:cubicBezTo>
                      <a:pt x="13" y="23"/>
                      <a:pt x="14" y="23"/>
                      <a:pt x="14" y="22"/>
                    </a:cubicBezTo>
                    <a:cubicBezTo>
                      <a:pt x="14" y="21"/>
                      <a:pt x="15" y="17"/>
                      <a:pt x="15" y="16"/>
                    </a:cubicBezTo>
                    <a:cubicBezTo>
                      <a:pt x="15" y="16"/>
                      <a:pt x="15" y="15"/>
                      <a:pt x="16" y="15"/>
                    </a:cubicBezTo>
                    <a:cubicBezTo>
                      <a:pt x="16" y="14"/>
                      <a:pt x="16" y="14"/>
                      <a:pt x="16" y="13"/>
                    </a:cubicBezTo>
                    <a:cubicBezTo>
                      <a:pt x="16" y="12"/>
                      <a:pt x="17" y="12"/>
                      <a:pt x="17" y="11"/>
                    </a:cubicBezTo>
                    <a:cubicBezTo>
                      <a:pt x="17" y="11"/>
                      <a:pt x="17" y="10"/>
                      <a:pt x="17" y="10"/>
                    </a:cubicBezTo>
                    <a:cubicBezTo>
                      <a:pt x="18" y="10"/>
                      <a:pt x="18" y="10"/>
                      <a:pt x="18" y="10"/>
                    </a:cubicBezTo>
                    <a:cubicBezTo>
                      <a:pt x="18" y="9"/>
                      <a:pt x="18" y="9"/>
                      <a:pt x="19" y="8"/>
                    </a:cubicBezTo>
                    <a:cubicBezTo>
                      <a:pt x="19" y="8"/>
                      <a:pt x="19" y="7"/>
                      <a:pt x="19" y="7"/>
                    </a:cubicBezTo>
                    <a:cubicBezTo>
                      <a:pt x="19" y="7"/>
                      <a:pt x="19" y="7"/>
                      <a:pt x="20" y="6"/>
                    </a:cubicBezTo>
                    <a:cubicBezTo>
                      <a:pt x="21" y="5"/>
                      <a:pt x="21" y="5"/>
                      <a:pt x="22" y="4"/>
                    </a:cubicBezTo>
                    <a:cubicBezTo>
                      <a:pt x="22" y="4"/>
                      <a:pt x="23" y="3"/>
                      <a:pt x="24" y="3"/>
                    </a:cubicBezTo>
                    <a:cubicBezTo>
                      <a:pt x="24" y="2"/>
                      <a:pt x="25" y="1"/>
                      <a:pt x="26" y="1"/>
                    </a:cubicBezTo>
                    <a:cubicBezTo>
                      <a:pt x="27" y="1"/>
                      <a:pt x="29" y="0"/>
                      <a:pt x="29" y="0"/>
                    </a:cubicBezTo>
                    <a:cubicBezTo>
                      <a:pt x="30" y="0"/>
                      <a:pt x="31" y="0"/>
                      <a:pt x="31" y="0"/>
                    </a:cubicBezTo>
                    <a:cubicBezTo>
                      <a:pt x="33" y="1"/>
                      <a:pt x="33" y="1"/>
                      <a:pt x="34" y="1"/>
                    </a:cubicBezTo>
                    <a:cubicBezTo>
                      <a:pt x="35" y="2"/>
                      <a:pt x="38" y="4"/>
                      <a:pt x="38" y="6"/>
                    </a:cubicBezTo>
                    <a:cubicBezTo>
                      <a:pt x="38" y="8"/>
                      <a:pt x="39" y="8"/>
                      <a:pt x="39" y="8"/>
                    </a:cubicBezTo>
                    <a:cubicBezTo>
                      <a:pt x="39" y="9"/>
                      <a:pt x="39" y="9"/>
                      <a:pt x="40" y="11"/>
                    </a:cubicBezTo>
                    <a:cubicBezTo>
                      <a:pt x="40" y="12"/>
                      <a:pt x="41" y="15"/>
                      <a:pt x="42" y="16"/>
                    </a:cubicBezTo>
                    <a:cubicBezTo>
                      <a:pt x="43" y="17"/>
                      <a:pt x="42" y="18"/>
                      <a:pt x="43" y="19"/>
                    </a:cubicBezTo>
                    <a:cubicBezTo>
                      <a:pt x="43" y="22"/>
                      <a:pt x="43" y="18"/>
                      <a:pt x="42" y="22"/>
                    </a:cubicBezTo>
                    <a:cubicBezTo>
                      <a:pt x="42" y="22"/>
                      <a:pt x="42" y="23"/>
                      <a:pt x="42" y="24"/>
                    </a:cubicBezTo>
                    <a:cubicBezTo>
                      <a:pt x="41" y="25"/>
                      <a:pt x="40" y="25"/>
                      <a:pt x="39" y="26"/>
                    </a:cubicBezTo>
                    <a:cubicBezTo>
                      <a:pt x="38" y="27"/>
                      <a:pt x="37" y="28"/>
                      <a:pt x="36" y="29"/>
                    </a:cubicBezTo>
                    <a:cubicBezTo>
                      <a:pt x="35" y="30"/>
                      <a:pt x="35" y="30"/>
                      <a:pt x="35" y="31"/>
                    </a:cubicBezTo>
                    <a:cubicBezTo>
                      <a:pt x="35" y="32"/>
                      <a:pt x="34" y="33"/>
                      <a:pt x="34" y="34"/>
                    </a:cubicBezTo>
                    <a:cubicBezTo>
                      <a:pt x="34" y="37"/>
                      <a:pt x="34" y="41"/>
                      <a:pt x="34" y="42"/>
                    </a:cubicBezTo>
                    <a:cubicBezTo>
                      <a:pt x="33" y="44"/>
                      <a:pt x="33" y="46"/>
                      <a:pt x="33" y="49"/>
                    </a:cubicBezTo>
                    <a:cubicBezTo>
                      <a:pt x="33" y="50"/>
                      <a:pt x="32" y="51"/>
                      <a:pt x="32" y="52"/>
                    </a:cubicBezTo>
                    <a:cubicBezTo>
                      <a:pt x="32" y="54"/>
                      <a:pt x="32" y="55"/>
                      <a:pt x="31" y="57"/>
                    </a:cubicBezTo>
                    <a:cubicBezTo>
                      <a:pt x="31" y="57"/>
                      <a:pt x="31" y="57"/>
                      <a:pt x="31" y="57"/>
                    </a:cubicBezTo>
                    <a:cubicBezTo>
                      <a:pt x="31" y="58"/>
                      <a:pt x="31" y="58"/>
                      <a:pt x="31" y="59"/>
                    </a:cubicBezTo>
                    <a:cubicBezTo>
                      <a:pt x="30" y="60"/>
                      <a:pt x="30" y="62"/>
                      <a:pt x="30" y="63"/>
                    </a:cubicBezTo>
                    <a:cubicBezTo>
                      <a:pt x="29" y="67"/>
                      <a:pt x="27" y="71"/>
                      <a:pt x="26" y="74"/>
                    </a:cubicBezTo>
                    <a:cubicBezTo>
                      <a:pt x="26" y="74"/>
                      <a:pt x="26" y="74"/>
                      <a:pt x="26" y="75"/>
                    </a:cubicBezTo>
                    <a:cubicBezTo>
                      <a:pt x="26" y="75"/>
                      <a:pt x="26" y="75"/>
                      <a:pt x="26" y="75"/>
                    </a:cubicBezTo>
                    <a:cubicBezTo>
                      <a:pt x="26" y="76"/>
                      <a:pt x="25" y="77"/>
                      <a:pt x="25" y="77"/>
                    </a:cubicBezTo>
                    <a:cubicBezTo>
                      <a:pt x="25" y="79"/>
                      <a:pt x="24" y="80"/>
                      <a:pt x="23" y="82"/>
                    </a:cubicBezTo>
                    <a:cubicBezTo>
                      <a:pt x="22" y="83"/>
                      <a:pt x="21" y="84"/>
                      <a:pt x="21" y="86"/>
                    </a:cubicBezTo>
                    <a:cubicBezTo>
                      <a:pt x="17" y="90"/>
                      <a:pt x="15" y="99"/>
                      <a:pt x="10" y="102"/>
                    </a:cubicBezTo>
                    <a:cubicBezTo>
                      <a:pt x="9" y="102"/>
                      <a:pt x="7"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9" name="Freeform 7"/>
              <p:cNvSpPr/>
              <p:nvPr/>
            </p:nvSpPr>
            <p:spPr bwMode="auto">
              <a:xfrm>
                <a:off x="4254501" y="3016250"/>
                <a:ext cx="458788" cy="481013"/>
              </a:xfrm>
              <a:custGeom>
                <a:avLst/>
                <a:gdLst>
                  <a:gd name="T0" fmla="*/ 82 w 122"/>
                  <a:gd name="T1" fmla="*/ 4 h 128"/>
                  <a:gd name="T2" fmla="*/ 89 w 122"/>
                  <a:gd name="T3" fmla="*/ 10 h 128"/>
                  <a:gd name="T4" fmla="*/ 94 w 122"/>
                  <a:gd name="T5" fmla="*/ 15 h 128"/>
                  <a:gd name="T6" fmla="*/ 99 w 122"/>
                  <a:gd name="T7" fmla="*/ 19 h 128"/>
                  <a:gd name="T8" fmla="*/ 108 w 122"/>
                  <a:gd name="T9" fmla="*/ 28 h 128"/>
                  <a:gd name="T10" fmla="*/ 116 w 122"/>
                  <a:gd name="T11" fmla="*/ 36 h 128"/>
                  <a:gd name="T12" fmla="*/ 120 w 122"/>
                  <a:gd name="T13" fmla="*/ 42 h 128"/>
                  <a:gd name="T14" fmla="*/ 122 w 122"/>
                  <a:gd name="T15" fmla="*/ 60 h 128"/>
                  <a:gd name="T16" fmla="*/ 122 w 122"/>
                  <a:gd name="T17" fmla="*/ 68 h 128"/>
                  <a:gd name="T18" fmla="*/ 120 w 122"/>
                  <a:gd name="T19" fmla="*/ 79 h 128"/>
                  <a:gd name="T20" fmla="*/ 118 w 122"/>
                  <a:gd name="T21" fmla="*/ 87 h 128"/>
                  <a:gd name="T22" fmla="*/ 116 w 122"/>
                  <a:gd name="T23" fmla="*/ 96 h 128"/>
                  <a:gd name="T24" fmla="*/ 111 w 122"/>
                  <a:gd name="T25" fmla="*/ 108 h 128"/>
                  <a:gd name="T26" fmla="*/ 104 w 122"/>
                  <a:gd name="T27" fmla="*/ 114 h 128"/>
                  <a:gd name="T28" fmla="*/ 88 w 122"/>
                  <a:gd name="T29" fmla="*/ 125 h 128"/>
                  <a:gd name="T30" fmla="*/ 83 w 122"/>
                  <a:gd name="T31" fmla="*/ 128 h 128"/>
                  <a:gd name="T32" fmla="*/ 78 w 122"/>
                  <a:gd name="T33" fmla="*/ 128 h 128"/>
                  <a:gd name="T34" fmla="*/ 71 w 122"/>
                  <a:gd name="T35" fmla="*/ 124 h 128"/>
                  <a:gd name="T36" fmla="*/ 69 w 122"/>
                  <a:gd name="T37" fmla="*/ 118 h 128"/>
                  <a:gd name="T38" fmla="*/ 70 w 122"/>
                  <a:gd name="T39" fmla="*/ 115 h 128"/>
                  <a:gd name="T40" fmla="*/ 78 w 122"/>
                  <a:gd name="T41" fmla="*/ 107 h 128"/>
                  <a:gd name="T42" fmla="*/ 81 w 122"/>
                  <a:gd name="T43" fmla="*/ 105 h 128"/>
                  <a:gd name="T44" fmla="*/ 87 w 122"/>
                  <a:gd name="T45" fmla="*/ 101 h 128"/>
                  <a:gd name="T46" fmla="*/ 92 w 122"/>
                  <a:gd name="T47" fmla="*/ 93 h 128"/>
                  <a:gd name="T48" fmla="*/ 97 w 122"/>
                  <a:gd name="T49" fmla="*/ 78 h 128"/>
                  <a:gd name="T50" fmla="*/ 94 w 122"/>
                  <a:gd name="T51" fmla="*/ 48 h 128"/>
                  <a:gd name="T52" fmla="*/ 88 w 122"/>
                  <a:gd name="T53" fmla="*/ 41 h 128"/>
                  <a:gd name="T54" fmla="*/ 81 w 122"/>
                  <a:gd name="T55" fmla="*/ 34 h 128"/>
                  <a:gd name="T56" fmla="*/ 76 w 122"/>
                  <a:gd name="T57" fmla="*/ 29 h 128"/>
                  <a:gd name="T58" fmla="*/ 63 w 122"/>
                  <a:gd name="T59" fmla="*/ 25 h 128"/>
                  <a:gd name="T60" fmla="*/ 57 w 122"/>
                  <a:gd name="T61" fmla="*/ 27 h 128"/>
                  <a:gd name="T62" fmla="*/ 45 w 122"/>
                  <a:gd name="T63" fmla="*/ 34 h 128"/>
                  <a:gd name="T64" fmla="*/ 42 w 122"/>
                  <a:gd name="T65" fmla="*/ 36 h 128"/>
                  <a:gd name="T66" fmla="*/ 31 w 122"/>
                  <a:gd name="T67" fmla="*/ 45 h 128"/>
                  <a:gd name="T68" fmla="*/ 25 w 122"/>
                  <a:gd name="T69" fmla="*/ 48 h 128"/>
                  <a:gd name="T70" fmla="*/ 16 w 122"/>
                  <a:gd name="T71" fmla="*/ 49 h 128"/>
                  <a:gd name="T72" fmla="*/ 8 w 122"/>
                  <a:gd name="T73" fmla="*/ 46 h 128"/>
                  <a:gd name="T74" fmla="*/ 5 w 122"/>
                  <a:gd name="T75" fmla="*/ 44 h 128"/>
                  <a:gd name="T76" fmla="*/ 0 w 122"/>
                  <a:gd name="T77" fmla="*/ 36 h 128"/>
                  <a:gd name="T78" fmla="*/ 14 w 122"/>
                  <a:gd name="T79" fmla="*/ 23 h 128"/>
                  <a:gd name="T80" fmla="*/ 22 w 122"/>
                  <a:gd name="T81" fmla="*/ 23 h 128"/>
                  <a:gd name="T82" fmla="*/ 36 w 122"/>
                  <a:gd name="T83" fmla="*/ 16 h 128"/>
                  <a:gd name="T84" fmla="*/ 49 w 122"/>
                  <a:gd name="T85" fmla="*/ 9 h 128"/>
                  <a:gd name="T86" fmla="*/ 57 w 122"/>
                  <a:gd name="T87" fmla="*/ 5 h 128"/>
                  <a:gd name="T88" fmla="*/ 62 w 122"/>
                  <a:gd name="T89" fmla="*/ 2 h 128"/>
                  <a:gd name="T90" fmla="*/ 65 w 122"/>
                  <a:gd name="T91" fmla="*/ 1 h 128"/>
                  <a:gd name="T92" fmla="*/ 68 w 122"/>
                  <a:gd name="T93" fmla="*/ 1 h 128"/>
                  <a:gd name="T94" fmla="*/ 77 w 122"/>
                  <a:gd name="T95"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2" h="128">
                    <a:moveTo>
                      <a:pt x="77" y="1"/>
                    </a:moveTo>
                    <a:cubicBezTo>
                      <a:pt x="78" y="1"/>
                      <a:pt x="79" y="3"/>
                      <a:pt x="81" y="3"/>
                    </a:cubicBezTo>
                    <a:cubicBezTo>
                      <a:pt x="82" y="3"/>
                      <a:pt x="81" y="4"/>
                      <a:pt x="82" y="4"/>
                    </a:cubicBezTo>
                    <a:cubicBezTo>
                      <a:pt x="83" y="5"/>
                      <a:pt x="84" y="6"/>
                      <a:pt x="85" y="6"/>
                    </a:cubicBezTo>
                    <a:cubicBezTo>
                      <a:pt x="86" y="7"/>
                      <a:pt x="86" y="7"/>
                      <a:pt x="87" y="8"/>
                    </a:cubicBezTo>
                    <a:cubicBezTo>
                      <a:pt x="88" y="8"/>
                      <a:pt x="88" y="8"/>
                      <a:pt x="89" y="10"/>
                    </a:cubicBezTo>
                    <a:cubicBezTo>
                      <a:pt x="90" y="11"/>
                      <a:pt x="91" y="11"/>
                      <a:pt x="92" y="12"/>
                    </a:cubicBezTo>
                    <a:cubicBezTo>
                      <a:pt x="92" y="12"/>
                      <a:pt x="93" y="13"/>
                      <a:pt x="94" y="14"/>
                    </a:cubicBezTo>
                    <a:cubicBezTo>
                      <a:pt x="94" y="14"/>
                      <a:pt x="94" y="14"/>
                      <a:pt x="94" y="15"/>
                    </a:cubicBezTo>
                    <a:cubicBezTo>
                      <a:pt x="95" y="15"/>
                      <a:pt x="95" y="15"/>
                      <a:pt x="96" y="16"/>
                    </a:cubicBezTo>
                    <a:cubicBezTo>
                      <a:pt x="96" y="16"/>
                      <a:pt x="96" y="16"/>
                      <a:pt x="96" y="17"/>
                    </a:cubicBezTo>
                    <a:cubicBezTo>
                      <a:pt x="97" y="17"/>
                      <a:pt x="98" y="18"/>
                      <a:pt x="99" y="19"/>
                    </a:cubicBezTo>
                    <a:cubicBezTo>
                      <a:pt x="100" y="20"/>
                      <a:pt x="100" y="21"/>
                      <a:pt x="102" y="22"/>
                    </a:cubicBezTo>
                    <a:cubicBezTo>
                      <a:pt x="103" y="23"/>
                      <a:pt x="104" y="24"/>
                      <a:pt x="105" y="25"/>
                    </a:cubicBezTo>
                    <a:cubicBezTo>
                      <a:pt x="106" y="25"/>
                      <a:pt x="107" y="27"/>
                      <a:pt x="108" y="28"/>
                    </a:cubicBezTo>
                    <a:cubicBezTo>
                      <a:pt x="109" y="29"/>
                      <a:pt x="110" y="30"/>
                      <a:pt x="111" y="32"/>
                    </a:cubicBezTo>
                    <a:cubicBezTo>
                      <a:pt x="112" y="32"/>
                      <a:pt x="113" y="33"/>
                      <a:pt x="114" y="34"/>
                    </a:cubicBezTo>
                    <a:cubicBezTo>
                      <a:pt x="114" y="35"/>
                      <a:pt x="115" y="35"/>
                      <a:pt x="116" y="36"/>
                    </a:cubicBezTo>
                    <a:cubicBezTo>
                      <a:pt x="116" y="37"/>
                      <a:pt x="117" y="37"/>
                      <a:pt x="117" y="38"/>
                    </a:cubicBezTo>
                    <a:cubicBezTo>
                      <a:pt x="117" y="38"/>
                      <a:pt x="118" y="39"/>
                      <a:pt x="118" y="39"/>
                    </a:cubicBezTo>
                    <a:cubicBezTo>
                      <a:pt x="119" y="40"/>
                      <a:pt x="119" y="41"/>
                      <a:pt x="120" y="42"/>
                    </a:cubicBezTo>
                    <a:cubicBezTo>
                      <a:pt x="121" y="43"/>
                      <a:pt x="121" y="45"/>
                      <a:pt x="122" y="46"/>
                    </a:cubicBezTo>
                    <a:cubicBezTo>
                      <a:pt x="122" y="48"/>
                      <a:pt x="122" y="49"/>
                      <a:pt x="122" y="50"/>
                    </a:cubicBezTo>
                    <a:cubicBezTo>
                      <a:pt x="122" y="53"/>
                      <a:pt x="122" y="57"/>
                      <a:pt x="122" y="60"/>
                    </a:cubicBezTo>
                    <a:cubicBezTo>
                      <a:pt x="122" y="60"/>
                      <a:pt x="122" y="61"/>
                      <a:pt x="122" y="62"/>
                    </a:cubicBezTo>
                    <a:cubicBezTo>
                      <a:pt x="122" y="63"/>
                      <a:pt x="122" y="64"/>
                      <a:pt x="122" y="66"/>
                    </a:cubicBezTo>
                    <a:cubicBezTo>
                      <a:pt x="122" y="67"/>
                      <a:pt x="122" y="67"/>
                      <a:pt x="122" y="68"/>
                    </a:cubicBezTo>
                    <a:cubicBezTo>
                      <a:pt x="121" y="69"/>
                      <a:pt x="121" y="70"/>
                      <a:pt x="121" y="72"/>
                    </a:cubicBezTo>
                    <a:cubicBezTo>
                      <a:pt x="120" y="74"/>
                      <a:pt x="120" y="75"/>
                      <a:pt x="120" y="77"/>
                    </a:cubicBezTo>
                    <a:cubicBezTo>
                      <a:pt x="120" y="78"/>
                      <a:pt x="120" y="78"/>
                      <a:pt x="120" y="79"/>
                    </a:cubicBezTo>
                    <a:cubicBezTo>
                      <a:pt x="120" y="79"/>
                      <a:pt x="120" y="80"/>
                      <a:pt x="120" y="81"/>
                    </a:cubicBezTo>
                    <a:cubicBezTo>
                      <a:pt x="119" y="81"/>
                      <a:pt x="119" y="82"/>
                      <a:pt x="119" y="82"/>
                    </a:cubicBezTo>
                    <a:cubicBezTo>
                      <a:pt x="119" y="84"/>
                      <a:pt x="119" y="86"/>
                      <a:pt x="118" y="87"/>
                    </a:cubicBezTo>
                    <a:cubicBezTo>
                      <a:pt x="118" y="87"/>
                      <a:pt x="118" y="88"/>
                      <a:pt x="118" y="88"/>
                    </a:cubicBezTo>
                    <a:cubicBezTo>
                      <a:pt x="118" y="90"/>
                      <a:pt x="118" y="91"/>
                      <a:pt x="117" y="93"/>
                    </a:cubicBezTo>
                    <a:cubicBezTo>
                      <a:pt x="117" y="94"/>
                      <a:pt x="117" y="95"/>
                      <a:pt x="116" y="96"/>
                    </a:cubicBezTo>
                    <a:cubicBezTo>
                      <a:pt x="116" y="97"/>
                      <a:pt x="116" y="98"/>
                      <a:pt x="116" y="99"/>
                    </a:cubicBezTo>
                    <a:cubicBezTo>
                      <a:pt x="115" y="100"/>
                      <a:pt x="114" y="102"/>
                      <a:pt x="114" y="103"/>
                    </a:cubicBezTo>
                    <a:cubicBezTo>
                      <a:pt x="113" y="105"/>
                      <a:pt x="112" y="106"/>
                      <a:pt x="111" y="108"/>
                    </a:cubicBezTo>
                    <a:cubicBezTo>
                      <a:pt x="111" y="108"/>
                      <a:pt x="110" y="109"/>
                      <a:pt x="110" y="110"/>
                    </a:cubicBezTo>
                    <a:cubicBezTo>
                      <a:pt x="107" y="112"/>
                      <a:pt x="107" y="112"/>
                      <a:pt x="105" y="114"/>
                    </a:cubicBezTo>
                    <a:cubicBezTo>
                      <a:pt x="104" y="114"/>
                      <a:pt x="104" y="114"/>
                      <a:pt x="104" y="114"/>
                    </a:cubicBezTo>
                    <a:cubicBezTo>
                      <a:pt x="103" y="114"/>
                      <a:pt x="99" y="118"/>
                      <a:pt x="97" y="119"/>
                    </a:cubicBezTo>
                    <a:cubicBezTo>
                      <a:pt x="95" y="121"/>
                      <a:pt x="92" y="121"/>
                      <a:pt x="91" y="123"/>
                    </a:cubicBezTo>
                    <a:cubicBezTo>
                      <a:pt x="89" y="124"/>
                      <a:pt x="89" y="124"/>
                      <a:pt x="88" y="125"/>
                    </a:cubicBezTo>
                    <a:cubicBezTo>
                      <a:pt x="87" y="125"/>
                      <a:pt x="87" y="126"/>
                      <a:pt x="87" y="126"/>
                    </a:cubicBezTo>
                    <a:cubicBezTo>
                      <a:pt x="87" y="126"/>
                      <a:pt x="85" y="127"/>
                      <a:pt x="85" y="128"/>
                    </a:cubicBezTo>
                    <a:cubicBezTo>
                      <a:pt x="84" y="128"/>
                      <a:pt x="83" y="128"/>
                      <a:pt x="83" y="128"/>
                    </a:cubicBezTo>
                    <a:cubicBezTo>
                      <a:pt x="83" y="128"/>
                      <a:pt x="82" y="128"/>
                      <a:pt x="82" y="128"/>
                    </a:cubicBezTo>
                    <a:cubicBezTo>
                      <a:pt x="81" y="128"/>
                      <a:pt x="80" y="128"/>
                      <a:pt x="80" y="128"/>
                    </a:cubicBezTo>
                    <a:cubicBezTo>
                      <a:pt x="79" y="128"/>
                      <a:pt x="78" y="128"/>
                      <a:pt x="78" y="128"/>
                    </a:cubicBezTo>
                    <a:cubicBezTo>
                      <a:pt x="76" y="128"/>
                      <a:pt x="76" y="127"/>
                      <a:pt x="74" y="127"/>
                    </a:cubicBezTo>
                    <a:cubicBezTo>
                      <a:pt x="73" y="127"/>
                      <a:pt x="72" y="126"/>
                      <a:pt x="71" y="125"/>
                    </a:cubicBezTo>
                    <a:cubicBezTo>
                      <a:pt x="71" y="124"/>
                      <a:pt x="71" y="124"/>
                      <a:pt x="71" y="124"/>
                    </a:cubicBezTo>
                    <a:cubicBezTo>
                      <a:pt x="69" y="124"/>
                      <a:pt x="70" y="123"/>
                      <a:pt x="70" y="122"/>
                    </a:cubicBezTo>
                    <a:cubicBezTo>
                      <a:pt x="70" y="122"/>
                      <a:pt x="70" y="121"/>
                      <a:pt x="70" y="121"/>
                    </a:cubicBezTo>
                    <a:cubicBezTo>
                      <a:pt x="70" y="119"/>
                      <a:pt x="69" y="119"/>
                      <a:pt x="69" y="118"/>
                    </a:cubicBezTo>
                    <a:cubicBezTo>
                      <a:pt x="69" y="118"/>
                      <a:pt x="69" y="118"/>
                      <a:pt x="69" y="117"/>
                    </a:cubicBezTo>
                    <a:cubicBezTo>
                      <a:pt x="69" y="117"/>
                      <a:pt x="69" y="117"/>
                      <a:pt x="70" y="116"/>
                    </a:cubicBezTo>
                    <a:cubicBezTo>
                      <a:pt x="70" y="116"/>
                      <a:pt x="70" y="115"/>
                      <a:pt x="70" y="115"/>
                    </a:cubicBezTo>
                    <a:cubicBezTo>
                      <a:pt x="71" y="114"/>
                      <a:pt x="71" y="113"/>
                      <a:pt x="72" y="112"/>
                    </a:cubicBezTo>
                    <a:cubicBezTo>
                      <a:pt x="73" y="110"/>
                      <a:pt x="75" y="110"/>
                      <a:pt x="76" y="108"/>
                    </a:cubicBezTo>
                    <a:cubicBezTo>
                      <a:pt x="77" y="108"/>
                      <a:pt x="77" y="107"/>
                      <a:pt x="78" y="107"/>
                    </a:cubicBezTo>
                    <a:cubicBezTo>
                      <a:pt x="79" y="106"/>
                      <a:pt x="79" y="106"/>
                      <a:pt x="80" y="106"/>
                    </a:cubicBezTo>
                    <a:cubicBezTo>
                      <a:pt x="80" y="106"/>
                      <a:pt x="80" y="105"/>
                      <a:pt x="80" y="105"/>
                    </a:cubicBezTo>
                    <a:cubicBezTo>
                      <a:pt x="81" y="105"/>
                      <a:pt x="81" y="105"/>
                      <a:pt x="81" y="105"/>
                    </a:cubicBezTo>
                    <a:cubicBezTo>
                      <a:pt x="82" y="104"/>
                      <a:pt x="82" y="104"/>
                      <a:pt x="83" y="104"/>
                    </a:cubicBezTo>
                    <a:cubicBezTo>
                      <a:pt x="83" y="104"/>
                      <a:pt x="84" y="103"/>
                      <a:pt x="84" y="103"/>
                    </a:cubicBezTo>
                    <a:cubicBezTo>
                      <a:pt x="85" y="102"/>
                      <a:pt x="86" y="102"/>
                      <a:pt x="87" y="101"/>
                    </a:cubicBezTo>
                    <a:cubicBezTo>
                      <a:pt x="87" y="100"/>
                      <a:pt x="88" y="99"/>
                      <a:pt x="89" y="99"/>
                    </a:cubicBezTo>
                    <a:cubicBezTo>
                      <a:pt x="89" y="98"/>
                      <a:pt x="89" y="98"/>
                      <a:pt x="89" y="98"/>
                    </a:cubicBezTo>
                    <a:cubicBezTo>
                      <a:pt x="90" y="96"/>
                      <a:pt x="92" y="95"/>
                      <a:pt x="92" y="93"/>
                    </a:cubicBezTo>
                    <a:cubicBezTo>
                      <a:pt x="93" y="90"/>
                      <a:pt x="95" y="88"/>
                      <a:pt x="96" y="84"/>
                    </a:cubicBezTo>
                    <a:cubicBezTo>
                      <a:pt x="96" y="84"/>
                      <a:pt x="96" y="83"/>
                      <a:pt x="96" y="83"/>
                    </a:cubicBezTo>
                    <a:cubicBezTo>
                      <a:pt x="96" y="81"/>
                      <a:pt x="97" y="80"/>
                      <a:pt x="97" y="78"/>
                    </a:cubicBezTo>
                    <a:cubicBezTo>
                      <a:pt x="98" y="77"/>
                      <a:pt x="98" y="76"/>
                      <a:pt x="98" y="75"/>
                    </a:cubicBezTo>
                    <a:cubicBezTo>
                      <a:pt x="99" y="68"/>
                      <a:pt x="101" y="63"/>
                      <a:pt x="98" y="55"/>
                    </a:cubicBezTo>
                    <a:cubicBezTo>
                      <a:pt x="97" y="52"/>
                      <a:pt x="96" y="51"/>
                      <a:pt x="94" y="48"/>
                    </a:cubicBezTo>
                    <a:cubicBezTo>
                      <a:pt x="93" y="47"/>
                      <a:pt x="92" y="46"/>
                      <a:pt x="91" y="44"/>
                    </a:cubicBezTo>
                    <a:cubicBezTo>
                      <a:pt x="90" y="43"/>
                      <a:pt x="90" y="42"/>
                      <a:pt x="89" y="42"/>
                    </a:cubicBezTo>
                    <a:cubicBezTo>
                      <a:pt x="89" y="41"/>
                      <a:pt x="89" y="41"/>
                      <a:pt x="88" y="41"/>
                    </a:cubicBezTo>
                    <a:cubicBezTo>
                      <a:pt x="88" y="40"/>
                      <a:pt x="87" y="40"/>
                      <a:pt x="87" y="40"/>
                    </a:cubicBezTo>
                    <a:cubicBezTo>
                      <a:pt x="84" y="38"/>
                      <a:pt x="84" y="36"/>
                      <a:pt x="82" y="35"/>
                    </a:cubicBezTo>
                    <a:cubicBezTo>
                      <a:pt x="82" y="34"/>
                      <a:pt x="81" y="34"/>
                      <a:pt x="81" y="34"/>
                    </a:cubicBezTo>
                    <a:cubicBezTo>
                      <a:pt x="81" y="33"/>
                      <a:pt x="81" y="33"/>
                      <a:pt x="81" y="33"/>
                    </a:cubicBezTo>
                    <a:cubicBezTo>
                      <a:pt x="79" y="32"/>
                      <a:pt x="78" y="30"/>
                      <a:pt x="78" y="29"/>
                    </a:cubicBezTo>
                    <a:cubicBezTo>
                      <a:pt x="77" y="29"/>
                      <a:pt x="76" y="29"/>
                      <a:pt x="76" y="29"/>
                    </a:cubicBezTo>
                    <a:cubicBezTo>
                      <a:pt x="75" y="28"/>
                      <a:pt x="74" y="27"/>
                      <a:pt x="73" y="27"/>
                    </a:cubicBezTo>
                    <a:cubicBezTo>
                      <a:pt x="72" y="26"/>
                      <a:pt x="72" y="25"/>
                      <a:pt x="71" y="25"/>
                    </a:cubicBezTo>
                    <a:cubicBezTo>
                      <a:pt x="69" y="24"/>
                      <a:pt x="65" y="24"/>
                      <a:pt x="63" y="25"/>
                    </a:cubicBezTo>
                    <a:cubicBezTo>
                      <a:pt x="62" y="25"/>
                      <a:pt x="59" y="26"/>
                      <a:pt x="59" y="26"/>
                    </a:cubicBezTo>
                    <a:cubicBezTo>
                      <a:pt x="58" y="26"/>
                      <a:pt x="58" y="26"/>
                      <a:pt x="58" y="27"/>
                    </a:cubicBezTo>
                    <a:cubicBezTo>
                      <a:pt x="58" y="27"/>
                      <a:pt x="57" y="27"/>
                      <a:pt x="57" y="27"/>
                    </a:cubicBezTo>
                    <a:cubicBezTo>
                      <a:pt x="56" y="28"/>
                      <a:pt x="55" y="28"/>
                      <a:pt x="55" y="28"/>
                    </a:cubicBezTo>
                    <a:cubicBezTo>
                      <a:pt x="54" y="29"/>
                      <a:pt x="51" y="30"/>
                      <a:pt x="50" y="31"/>
                    </a:cubicBezTo>
                    <a:cubicBezTo>
                      <a:pt x="48" y="32"/>
                      <a:pt x="47" y="32"/>
                      <a:pt x="45" y="34"/>
                    </a:cubicBezTo>
                    <a:cubicBezTo>
                      <a:pt x="45" y="34"/>
                      <a:pt x="44" y="34"/>
                      <a:pt x="44" y="34"/>
                    </a:cubicBezTo>
                    <a:cubicBezTo>
                      <a:pt x="44" y="34"/>
                      <a:pt x="43" y="35"/>
                      <a:pt x="42" y="35"/>
                    </a:cubicBezTo>
                    <a:cubicBezTo>
                      <a:pt x="42" y="35"/>
                      <a:pt x="42" y="35"/>
                      <a:pt x="42" y="36"/>
                    </a:cubicBezTo>
                    <a:cubicBezTo>
                      <a:pt x="39" y="38"/>
                      <a:pt x="36" y="39"/>
                      <a:pt x="34" y="42"/>
                    </a:cubicBezTo>
                    <a:cubicBezTo>
                      <a:pt x="34" y="42"/>
                      <a:pt x="33" y="43"/>
                      <a:pt x="32" y="43"/>
                    </a:cubicBezTo>
                    <a:cubicBezTo>
                      <a:pt x="32" y="44"/>
                      <a:pt x="31" y="44"/>
                      <a:pt x="31" y="45"/>
                    </a:cubicBezTo>
                    <a:cubicBezTo>
                      <a:pt x="30" y="46"/>
                      <a:pt x="29" y="46"/>
                      <a:pt x="28" y="47"/>
                    </a:cubicBezTo>
                    <a:cubicBezTo>
                      <a:pt x="27" y="47"/>
                      <a:pt x="27" y="47"/>
                      <a:pt x="27" y="48"/>
                    </a:cubicBezTo>
                    <a:cubicBezTo>
                      <a:pt x="26" y="48"/>
                      <a:pt x="25" y="48"/>
                      <a:pt x="25" y="48"/>
                    </a:cubicBezTo>
                    <a:cubicBezTo>
                      <a:pt x="24" y="48"/>
                      <a:pt x="22" y="49"/>
                      <a:pt x="21" y="49"/>
                    </a:cubicBezTo>
                    <a:cubicBezTo>
                      <a:pt x="19" y="49"/>
                      <a:pt x="19" y="49"/>
                      <a:pt x="19" y="49"/>
                    </a:cubicBezTo>
                    <a:cubicBezTo>
                      <a:pt x="18" y="49"/>
                      <a:pt x="16" y="49"/>
                      <a:pt x="16" y="49"/>
                    </a:cubicBezTo>
                    <a:cubicBezTo>
                      <a:pt x="15" y="48"/>
                      <a:pt x="15" y="49"/>
                      <a:pt x="14" y="48"/>
                    </a:cubicBezTo>
                    <a:cubicBezTo>
                      <a:pt x="12" y="47"/>
                      <a:pt x="12" y="47"/>
                      <a:pt x="10" y="47"/>
                    </a:cubicBezTo>
                    <a:cubicBezTo>
                      <a:pt x="10" y="46"/>
                      <a:pt x="9" y="46"/>
                      <a:pt x="8" y="46"/>
                    </a:cubicBezTo>
                    <a:cubicBezTo>
                      <a:pt x="8" y="46"/>
                      <a:pt x="7" y="45"/>
                      <a:pt x="7" y="45"/>
                    </a:cubicBezTo>
                    <a:cubicBezTo>
                      <a:pt x="7" y="45"/>
                      <a:pt x="7" y="45"/>
                      <a:pt x="7" y="45"/>
                    </a:cubicBezTo>
                    <a:cubicBezTo>
                      <a:pt x="7" y="45"/>
                      <a:pt x="5" y="44"/>
                      <a:pt x="5" y="44"/>
                    </a:cubicBezTo>
                    <a:cubicBezTo>
                      <a:pt x="4" y="42"/>
                      <a:pt x="3" y="43"/>
                      <a:pt x="2" y="42"/>
                    </a:cubicBezTo>
                    <a:cubicBezTo>
                      <a:pt x="2" y="40"/>
                      <a:pt x="1" y="41"/>
                      <a:pt x="1" y="40"/>
                    </a:cubicBezTo>
                    <a:cubicBezTo>
                      <a:pt x="1" y="38"/>
                      <a:pt x="0" y="37"/>
                      <a:pt x="0" y="36"/>
                    </a:cubicBezTo>
                    <a:cubicBezTo>
                      <a:pt x="0" y="31"/>
                      <a:pt x="1" y="28"/>
                      <a:pt x="3" y="26"/>
                    </a:cubicBezTo>
                    <a:cubicBezTo>
                      <a:pt x="5" y="24"/>
                      <a:pt x="6" y="23"/>
                      <a:pt x="10" y="23"/>
                    </a:cubicBezTo>
                    <a:cubicBezTo>
                      <a:pt x="11" y="23"/>
                      <a:pt x="13" y="23"/>
                      <a:pt x="14" y="23"/>
                    </a:cubicBezTo>
                    <a:cubicBezTo>
                      <a:pt x="15" y="23"/>
                      <a:pt x="15" y="23"/>
                      <a:pt x="16" y="23"/>
                    </a:cubicBezTo>
                    <a:cubicBezTo>
                      <a:pt x="18" y="24"/>
                      <a:pt x="19" y="24"/>
                      <a:pt x="20" y="24"/>
                    </a:cubicBezTo>
                    <a:cubicBezTo>
                      <a:pt x="20" y="24"/>
                      <a:pt x="21" y="24"/>
                      <a:pt x="22" y="23"/>
                    </a:cubicBezTo>
                    <a:cubicBezTo>
                      <a:pt x="23" y="22"/>
                      <a:pt x="25" y="22"/>
                      <a:pt x="26" y="22"/>
                    </a:cubicBezTo>
                    <a:cubicBezTo>
                      <a:pt x="27" y="21"/>
                      <a:pt x="28" y="20"/>
                      <a:pt x="30" y="20"/>
                    </a:cubicBezTo>
                    <a:cubicBezTo>
                      <a:pt x="31" y="18"/>
                      <a:pt x="34" y="18"/>
                      <a:pt x="36" y="16"/>
                    </a:cubicBezTo>
                    <a:cubicBezTo>
                      <a:pt x="36" y="16"/>
                      <a:pt x="36" y="16"/>
                      <a:pt x="37" y="16"/>
                    </a:cubicBezTo>
                    <a:cubicBezTo>
                      <a:pt x="37" y="16"/>
                      <a:pt x="37" y="16"/>
                      <a:pt x="37" y="15"/>
                    </a:cubicBezTo>
                    <a:cubicBezTo>
                      <a:pt x="41" y="13"/>
                      <a:pt x="45" y="11"/>
                      <a:pt x="49" y="9"/>
                    </a:cubicBezTo>
                    <a:cubicBezTo>
                      <a:pt x="50" y="8"/>
                      <a:pt x="52" y="7"/>
                      <a:pt x="53" y="6"/>
                    </a:cubicBezTo>
                    <a:cubicBezTo>
                      <a:pt x="54" y="6"/>
                      <a:pt x="54" y="6"/>
                      <a:pt x="55" y="6"/>
                    </a:cubicBezTo>
                    <a:cubicBezTo>
                      <a:pt x="56" y="6"/>
                      <a:pt x="56" y="5"/>
                      <a:pt x="57" y="5"/>
                    </a:cubicBezTo>
                    <a:cubicBezTo>
                      <a:pt x="58" y="4"/>
                      <a:pt x="58" y="4"/>
                      <a:pt x="60" y="4"/>
                    </a:cubicBezTo>
                    <a:cubicBezTo>
                      <a:pt x="60" y="3"/>
                      <a:pt x="61" y="3"/>
                      <a:pt x="61" y="3"/>
                    </a:cubicBezTo>
                    <a:cubicBezTo>
                      <a:pt x="62" y="3"/>
                      <a:pt x="62" y="2"/>
                      <a:pt x="62" y="2"/>
                    </a:cubicBezTo>
                    <a:cubicBezTo>
                      <a:pt x="63" y="2"/>
                      <a:pt x="63" y="2"/>
                      <a:pt x="64" y="2"/>
                    </a:cubicBezTo>
                    <a:cubicBezTo>
                      <a:pt x="64" y="2"/>
                      <a:pt x="64" y="1"/>
                      <a:pt x="64" y="1"/>
                    </a:cubicBezTo>
                    <a:cubicBezTo>
                      <a:pt x="65" y="1"/>
                      <a:pt x="65" y="1"/>
                      <a:pt x="65" y="1"/>
                    </a:cubicBezTo>
                    <a:cubicBezTo>
                      <a:pt x="65" y="1"/>
                      <a:pt x="65" y="1"/>
                      <a:pt x="66" y="1"/>
                    </a:cubicBezTo>
                    <a:cubicBezTo>
                      <a:pt x="66" y="1"/>
                      <a:pt x="66" y="1"/>
                      <a:pt x="67" y="1"/>
                    </a:cubicBezTo>
                    <a:cubicBezTo>
                      <a:pt x="67" y="1"/>
                      <a:pt x="67" y="1"/>
                      <a:pt x="68" y="1"/>
                    </a:cubicBezTo>
                    <a:cubicBezTo>
                      <a:pt x="68" y="0"/>
                      <a:pt x="68" y="1"/>
                      <a:pt x="69" y="1"/>
                    </a:cubicBezTo>
                    <a:cubicBezTo>
                      <a:pt x="69" y="1"/>
                      <a:pt x="71" y="0"/>
                      <a:pt x="73" y="0"/>
                    </a:cubicBezTo>
                    <a:cubicBezTo>
                      <a:pt x="74" y="0"/>
                      <a:pt x="76" y="1"/>
                      <a:pt x="7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0" name="Freeform 8"/>
              <p:cNvSpPr/>
              <p:nvPr/>
            </p:nvSpPr>
            <p:spPr bwMode="auto">
              <a:xfrm>
                <a:off x="5497513" y="3151188"/>
                <a:ext cx="241300" cy="433388"/>
              </a:xfrm>
              <a:custGeom>
                <a:avLst/>
                <a:gdLst>
                  <a:gd name="T0" fmla="*/ 20 w 64"/>
                  <a:gd name="T1" fmla="*/ 44 h 115"/>
                  <a:gd name="T2" fmla="*/ 20 w 64"/>
                  <a:gd name="T3" fmla="*/ 35 h 115"/>
                  <a:gd name="T4" fmla="*/ 22 w 64"/>
                  <a:gd name="T5" fmla="*/ 32 h 115"/>
                  <a:gd name="T6" fmla="*/ 22 w 64"/>
                  <a:gd name="T7" fmla="*/ 25 h 115"/>
                  <a:gd name="T8" fmla="*/ 15 w 64"/>
                  <a:gd name="T9" fmla="*/ 24 h 115"/>
                  <a:gd name="T10" fmla="*/ 9 w 64"/>
                  <a:gd name="T11" fmla="*/ 23 h 115"/>
                  <a:gd name="T12" fmla="*/ 2 w 64"/>
                  <a:gd name="T13" fmla="*/ 18 h 115"/>
                  <a:gd name="T14" fmla="*/ 0 w 64"/>
                  <a:gd name="T15" fmla="*/ 12 h 115"/>
                  <a:gd name="T16" fmla="*/ 1 w 64"/>
                  <a:gd name="T17" fmla="*/ 10 h 115"/>
                  <a:gd name="T18" fmla="*/ 10 w 64"/>
                  <a:gd name="T19" fmla="*/ 8 h 115"/>
                  <a:gd name="T20" fmla="*/ 14 w 64"/>
                  <a:gd name="T21" fmla="*/ 7 h 115"/>
                  <a:gd name="T22" fmla="*/ 20 w 64"/>
                  <a:gd name="T23" fmla="*/ 3 h 115"/>
                  <a:gd name="T24" fmla="*/ 27 w 64"/>
                  <a:gd name="T25" fmla="*/ 0 h 115"/>
                  <a:gd name="T26" fmla="*/ 35 w 64"/>
                  <a:gd name="T27" fmla="*/ 0 h 115"/>
                  <a:gd name="T28" fmla="*/ 42 w 64"/>
                  <a:gd name="T29" fmla="*/ 6 h 115"/>
                  <a:gd name="T30" fmla="*/ 46 w 64"/>
                  <a:gd name="T31" fmla="*/ 12 h 115"/>
                  <a:gd name="T32" fmla="*/ 46 w 64"/>
                  <a:gd name="T33" fmla="*/ 17 h 115"/>
                  <a:gd name="T34" fmla="*/ 45 w 64"/>
                  <a:gd name="T35" fmla="*/ 25 h 115"/>
                  <a:gd name="T36" fmla="*/ 41 w 64"/>
                  <a:gd name="T37" fmla="*/ 39 h 115"/>
                  <a:gd name="T38" fmla="*/ 40 w 64"/>
                  <a:gd name="T39" fmla="*/ 42 h 115"/>
                  <a:gd name="T40" fmla="*/ 41 w 64"/>
                  <a:gd name="T41" fmla="*/ 49 h 115"/>
                  <a:gd name="T42" fmla="*/ 50 w 64"/>
                  <a:gd name="T43" fmla="*/ 48 h 115"/>
                  <a:gd name="T44" fmla="*/ 55 w 64"/>
                  <a:gd name="T45" fmla="*/ 48 h 115"/>
                  <a:gd name="T46" fmla="*/ 62 w 64"/>
                  <a:gd name="T47" fmla="*/ 55 h 115"/>
                  <a:gd name="T48" fmla="*/ 64 w 64"/>
                  <a:gd name="T49" fmla="*/ 58 h 115"/>
                  <a:gd name="T50" fmla="*/ 63 w 64"/>
                  <a:gd name="T51" fmla="*/ 62 h 115"/>
                  <a:gd name="T52" fmla="*/ 61 w 64"/>
                  <a:gd name="T53" fmla="*/ 70 h 115"/>
                  <a:gd name="T54" fmla="*/ 62 w 64"/>
                  <a:gd name="T55" fmla="*/ 75 h 115"/>
                  <a:gd name="T56" fmla="*/ 60 w 64"/>
                  <a:gd name="T57" fmla="*/ 82 h 115"/>
                  <a:gd name="T58" fmla="*/ 56 w 64"/>
                  <a:gd name="T59" fmla="*/ 84 h 115"/>
                  <a:gd name="T60" fmla="*/ 50 w 64"/>
                  <a:gd name="T61" fmla="*/ 97 h 115"/>
                  <a:gd name="T62" fmla="*/ 49 w 64"/>
                  <a:gd name="T63" fmla="*/ 100 h 115"/>
                  <a:gd name="T64" fmla="*/ 47 w 64"/>
                  <a:gd name="T65" fmla="*/ 104 h 115"/>
                  <a:gd name="T66" fmla="*/ 43 w 64"/>
                  <a:gd name="T67" fmla="*/ 110 h 115"/>
                  <a:gd name="T68" fmla="*/ 38 w 64"/>
                  <a:gd name="T69" fmla="*/ 114 h 115"/>
                  <a:gd name="T70" fmla="*/ 31 w 64"/>
                  <a:gd name="T71" fmla="*/ 115 h 115"/>
                  <a:gd name="T72" fmla="*/ 26 w 64"/>
                  <a:gd name="T73" fmla="*/ 113 h 115"/>
                  <a:gd name="T74" fmla="*/ 20 w 64"/>
                  <a:gd name="T75" fmla="*/ 111 h 115"/>
                  <a:gd name="T76" fmla="*/ 17 w 64"/>
                  <a:gd name="T77" fmla="*/ 110 h 115"/>
                  <a:gd name="T78" fmla="*/ 15 w 64"/>
                  <a:gd name="T79" fmla="*/ 110 h 115"/>
                  <a:gd name="T80" fmla="*/ 7 w 64"/>
                  <a:gd name="T81" fmla="*/ 109 h 115"/>
                  <a:gd name="T82" fmla="*/ 5 w 64"/>
                  <a:gd name="T83" fmla="*/ 102 h 115"/>
                  <a:gd name="T84" fmla="*/ 8 w 64"/>
                  <a:gd name="T85" fmla="*/ 96 h 115"/>
                  <a:gd name="T86" fmla="*/ 15 w 64"/>
                  <a:gd name="T87" fmla="*/ 92 h 115"/>
                  <a:gd name="T88" fmla="*/ 21 w 64"/>
                  <a:gd name="T89" fmla="*/ 88 h 115"/>
                  <a:gd name="T90" fmla="*/ 24 w 64"/>
                  <a:gd name="T91" fmla="*/ 86 h 115"/>
                  <a:gd name="T92" fmla="*/ 24 w 64"/>
                  <a:gd name="T93" fmla="*/ 84 h 115"/>
                  <a:gd name="T94" fmla="*/ 20 w 64"/>
                  <a:gd name="T95" fmla="*/ 82 h 115"/>
                  <a:gd name="T96" fmla="*/ 18 w 64"/>
                  <a:gd name="T97" fmla="*/ 79 h 115"/>
                  <a:gd name="T98" fmla="*/ 13 w 64"/>
                  <a:gd name="T99" fmla="*/ 76 h 115"/>
                  <a:gd name="T100" fmla="*/ 9 w 64"/>
                  <a:gd name="T101" fmla="*/ 76 h 115"/>
                  <a:gd name="T102" fmla="*/ 6 w 64"/>
                  <a:gd name="T103" fmla="*/ 72 h 115"/>
                  <a:gd name="T104" fmla="*/ 6 w 64"/>
                  <a:gd name="T105" fmla="*/ 68 h 115"/>
                  <a:gd name="T106" fmla="*/ 9 w 64"/>
                  <a:gd name="T107" fmla="*/ 62 h 115"/>
                  <a:gd name="T108" fmla="*/ 10 w 64"/>
                  <a:gd name="T109" fmla="*/ 60 h 115"/>
                  <a:gd name="T110" fmla="*/ 14 w 64"/>
                  <a:gd name="T111" fmla="*/ 57 h 115"/>
                  <a:gd name="T112" fmla="*/ 21 w 64"/>
                  <a:gd name="T113" fmla="*/ 56 h 115"/>
                  <a:gd name="T114" fmla="*/ 21 w 64"/>
                  <a:gd name="T115" fmla="*/ 52 h 115"/>
                  <a:gd name="T116" fmla="*/ 20 w 64"/>
                  <a:gd name="T117" fmla="*/ 4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4" h="115">
                    <a:moveTo>
                      <a:pt x="20" y="45"/>
                    </a:moveTo>
                    <a:cubicBezTo>
                      <a:pt x="20" y="45"/>
                      <a:pt x="20" y="44"/>
                      <a:pt x="20" y="44"/>
                    </a:cubicBezTo>
                    <a:cubicBezTo>
                      <a:pt x="20" y="41"/>
                      <a:pt x="20" y="41"/>
                      <a:pt x="20" y="38"/>
                    </a:cubicBezTo>
                    <a:cubicBezTo>
                      <a:pt x="20" y="37"/>
                      <a:pt x="20" y="36"/>
                      <a:pt x="20" y="35"/>
                    </a:cubicBezTo>
                    <a:cubicBezTo>
                      <a:pt x="21" y="35"/>
                      <a:pt x="21" y="34"/>
                      <a:pt x="21" y="33"/>
                    </a:cubicBezTo>
                    <a:cubicBezTo>
                      <a:pt x="21" y="33"/>
                      <a:pt x="21" y="32"/>
                      <a:pt x="22" y="32"/>
                    </a:cubicBezTo>
                    <a:cubicBezTo>
                      <a:pt x="22" y="30"/>
                      <a:pt x="23" y="29"/>
                      <a:pt x="23" y="28"/>
                    </a:cubicBezTo>
                    <a:cubicBezTo>
                      <a:pt x="23" y="27"/>
                      <a:pt x="23" y="25"/>
                      <a:pt x="22" y="25"/>
                    </a:cubicBezTo>
                    <a:cubicBezTo>
                      <a:pt x="21" y="24"/>
                      <a:pt x="20" y="24"/>
                      <a:pt x="19" y="24"/>
                    </a:cubicBezTo>
                    <a:cubicBezTo>
                      <a:pt x="19" y="23"/>
                      <a:pt x="16" y="24"/>
                      <a:pt x="15" y="24"/>
                    </a:cubicBezTo>
                    <a:cubicBezTo>
                      <a:pt x="15" y="24"/>
                      <a:pt x="13" y="24"/>
                      <a:pt x="13" y="24"/>
                    </a:cubicBezTo>
                    <a:cubicBezTo>
                      <a:pt x="11" y="24"/>
                      <a:pt x="10" y="23"/>
                      <a:pt x="9" y="23"/>
                    </a:cubicBezTo>
                    <a:cubicBezTo>
                      <a:pt x="8" y="23"/>
                      <a:pt x="4" y="20"/>
                      <a:pt x="4" y="20"/>
                    </a:cubicBezTo>
                    <a:cubicBezTo>
                      <a:pt x="3" y="19"/>
                      <a:pt x="3" y="18"/>
                      <a:pt x="2" y="18"/>
                    </a:cubicBezTo>
                    <a:cubicBezTo>
                      <a:pt x="2" y="17"/>
                      <a:pt x="1" y="17"/>
                      <a:pt x="1" y="16"/>
                    </a:cubicBezTo>
                    <a:cubicBezTo>
                      <a:pt x="1" y="15"/>
                      <a:pt x="0" y="13"/>
                      <a:pt x="0" y="12"/>
                    </a:cubicBezTo>
                    <a:cubicBezTo>
                      <a:pt x="0" y="12"/>
                      <a:pt x="0" y="11"/>
                      <a:pt x="0" y="11"/>
                    </a:cubicBezTo>
                    <a:cubicBezTo>
                      <a:pt x="0" y="10"/>
                      <a:pt x="0" y="10"/>
                      <a:pt x="1" y="10"/>
                    </a:cubicBezTo>
                    <a:cubicBezTo>
                      <a:pt x="1" y="9"/>
                      <a:pt x="1" y="9"/>
                      <a:pt x="1" y="9"/>
                    </a:cubicBezTo>
                    <a:cubicBezTo>
                      <a:pt x="5" y="9"/>
                      <a:pt x="7" y="8"/>
                      <a:pt x="10" y="8"/>
                    </a:cubicBezTo>
                    <a:cubicBezTo>
                      <a:pt x="11" y="7"/>
                      <a:pt x="13" y="7"/>
                      <a:pt x="13" y="7"/>
                    </a:cubicBezTo>
                    <a:cubicBezTo>
                      <a:pt x="14" y="7"/>
                      <a:pt x="14" y="7"/>
                      <a:pt x="14" y="7"/>
                    </a:cubicBezTo>
                    <a:cubicBezTo>
                      <a:pt x="15" y="6"/>
                      <a:pt x="15" y="6"/>
                      <a:pt x="16" y="6"/>
                    </a:cubicBezTo>
                    <a:cubicBezTo>
                      <a:pt x="17" y="4"/>
                      <a:pt x="18" y="4"/>
                      <a:pt x="20" y="3"/>
                    </a:cubicBezTo>
                    <a:cubicBezTo>
                      <a:pt x="21" y="3"/>
                      <a:pt x="22" y="2"/>
                      <a:pt x="23" y="2"/>
                    </a:cubicBezTo>
                    <a:cubicBezTo>
                      <a:pt x="24" y="1"/>
                      <a:pt x="26" y="0"/>
                      <a:pt x="27" y="0"/>
                    </a:cubicBezTo>
                    <a:cubicBezTo>
                      <a:pt x="29" y="0"/>
                      <a:pt x="30" y="0"/>
                      <a:pt x="33" y="0"/>
                    </a:cubicBezTo>
                    <a:cubicBezTo>
                      <a:pt x="33" y="0"/>
                      <a:pt x="35" y="0"/>
                      <a:pt x="35" y="0"/>
                    </a:cubicBezTo>
                    <a:cubicBezTo>
                      <a:pt x="36" y="1"/>
                      <a:pt x="38" y="2"/>
                      <a:pt x="39" y="2"/>
                    </a:cubicBezTo>
                    <a:cubicBezTo>
                      <a:pt x="40" y="3"/>
                      <a:pt x="41" y="6"/>
                      <a:pt x="42" y="6"/>
                    </a:cubicBezTo>
                    <a:cubicBezTo>
                      <a:pt x="43" y="7"/>
                      <a:pt x="44" y="9"/>
                      <a:pt x="45" y="9"/>
                    </a:cubicBezTo>
                    <a:cubicBezTo>
                      <a:pt x="45" y="10"/>
                      <a:pt x="45" y="11"/>
                      <a:pt x="46" y="12"/>
                    </a:cubicBezTo>
                    <a:cubicBezTo>
                      <a:pt x="46" y="12"/>
                      <a:pt x="46" y="13"/>
                      <a:pt x="46" y="14"/>
                    </a:cubicBezTo>
                    <a:cubicBezTo>
                      <a:pt x="46" y="15"/>
                      <a:pt x="46" y="16"/>
                      <a:pt x="46" y="17"/>
                    </a:cubicBezTo>
                    <a:cubicBezTo>
                      <a:pt x="46" y="18"/>
                      <a:pt x="46" y="19"/>
                      <a:pt x="46" y="21"/>
                    </a:cubicBezTo>
                    <a:cubicBezTo>
                      <a:pt x="46" y="22"/>
                      <a:pt x="45" y="24"/>
                      <a:pt x="45" y="25"/>
                    </a:cubicBezTo>
                    <a:cubicBezTo>
                      <a:pt x="44" y="28"/>
                      <a:pt x="43" y="32"/>
                      <a:pt x="42" y="34"/>
                    </a:cubicBezTo>
                    <a:cubicBezTo>
                      <a:pt x="41" y="35"/>
                      <a:pt x="41" y="37"/>
                      <a:pt x="41" y="39"/>
                    </a:cubicBezTo>
                    <a:cubicBezTo>
                      <a:pt x="40" y="39"/>
                      <a:pt x="40" y="40"/>
                      <a:pt x="40" y="40"/>
                    </a:cubicBezTo>
                    <a:cubicBezTo>
                      <a:pt x="40" y="42"/>
                      <a:pt x="40" y="40"/>
                      <a:pt x="40" y="42"/>
                    </a:cubicBezTo>
                    <a:cubicBezTo>
                      <a:pt x="40" y="44"/>
                      <a:pt x="40" y="43"/>
                      <a:pt x="40" y="45"/>
                    </a:cubicBezTo>
                    <a:cubicBezTo>
                      <a:pt x="41" y="46"/>
                      <a:pt x="40" y="47"/>
                      <a:pt x="41" y="49"/>
                    </a:cubicBezTo>
                    <a:cubicBezTo>
                      <a:pt x="41" y="49"/>
                      <a:pt x="41" y="51"/>
                      <a:pt x="41" y="50"/>
                    </a:cubicBezTo>
                    <a:cubicBezTo>
                      <a:pt x="43" y="50"/>
                      <a:pt x="48" y="48"/>
                      <a:pt x="50" y="48"/>
                    </a:cubicBezTo>
                    <a:cubicBezTo>
                      <a:pt x="50" y="48"/>
                      <a:pt x="50" y="48"/>
                      <a:pt x="50" y="48"/>
                    </a:cubicBezTo>
                    <a:cubicBezTo>
                      <a:pt x="52" y="48"/>
                      <a:pt x="53" y="48"/>
                      <a:pt x="55" y="48"/>
                    </a:cubicBezTo>
                    <a:cubicBezTo>
                      <a:pt x="57" y="48"/>
                      <a:pt x="57" y="49"/>
                      <a:pt x="60" y="51"/>
                    </a:cubicBezTo>
                    <a:cubicBezTo>
                      <a:pt x="61" y="52"/>
                      <a:pt x="62" y="54"/>
                      <a:pt x="62" y="55"/>
                    </a:cubicBezTo>
                    <a:cubicBezTo>
                      <a:pt x="62" y="55"/>
                      <a:pt x="62" y="55"/>
                      <a:pt x="63" y="55"/>
                    </a:cubicBezTo>
                    <a:cubicBezTo>
                      <a:pt x="63" y="56"/>
                      <a:pt x="63" y="57"/>
                      <a:pt x="64" y="58"/>
                    </a:cubicBezTo>
                    <a:cubicBezTo>
                      <a:pt x="64" y="59"/>
                      <a:pt x="64" y="59"/>
                      <a:pt x="64" y="60"/>
                    </a:cubicBezTo>
                    <a:cubicBezTo>
                      <a:pt x="64" y="61"/>
                      <a:pt x="63" y="61"/>
                      <a:pt x="63" y="62"/>
                    </a:cubicBezTo>
                    <a:cubicBezTo>
                      <a:pt x="62" y="64"/>
                      <a:pt x="63" y="64"/>
                      <a:pt x="62" y="66"/>
                    </a:cubicBezTo>
                    <a:cubicBezTo>
                      <a:pt x="61" y="66"/>
                      <a:pt x="61" y="70"/>
                      <a:pt x="61" y="70"/>
                    </a:cubicBezTo>
                    <a:cubicBezTo>
                      <a:pt x="61" y="70"/>
                      <a:pt x="61" y="70"/>
                      <a:pt x="61" y="71"/>
                    </a:cubicBezTo>
                    <a:cubicBezTo>
                      <a:pt x="61" y="72"/>
                      <a:pt x="62" y="73"/>
                      <a:pt x="62" y="75"/>
                    </a:cubicBezTo>
                    <a:cubicBezTo>
                      <a:pt x="63" y="77"/>
                      <a:pt x="62" y="79"/>
                      <a:pt x="61" y="80"/>
                    </a:cubicBezTo>
                    <a:cubicBezTo>
                      <a:pt x="60" y="81"/>
                      <a:pt x="60" y="81"/>
                      <a:pt x="60" y="82"/>
                    </a:cubicBezTo>
                    <a:cubicBezTo>
                      <a:pt x="58" y="82"/>
                      <a:pt x="58" y="83"/>
                      <a:pt x="58" y="83"/>
                    </a:cubicBezTo>
                    <a:cubicBezTo>
                      <a:pt x="57" y="83"/>
                      <a:pt x="56" y="83"/>
                      <a:pt x="56" y="84"/>
                    </a:cubicBezTo>
                    <a:cubicBezTo>
                      <a:pt x="54" y="84"/>
                      <a:pt x="51" y="84"/>
                      <a:pt x="50" y="85"/>
                    </a:cubicBezTo>
                    <a:cubicBezTo>
                      <a:pt x="50" y="89"/>
                      <a:pt x="50" y="93"/>
                      <a:pt x="50" y="97"/>
                    </a:cubicBezTo>
                    <a:cubicBezTo>
                      <a:pt x="50" y="97"/>
                      <a:pt x="49" y="98"/>
                      <a:pt x="49" y="99"/>
                    </a:cubicBezTo>
                    <a:cubicBezTo>
                      <a:pt x="49" y="99"/>
                      <a:pt x="49" y="100"/>
                      <a:pt x="49" y="100"/>
                    </a:cubicBezTo>
                    <a:cubicBezTo>
                      <a:pt x="49" y="101"/>
                      <a:pt x="48" y="102"/>
                      <a:pt x="48" y="102"/>
                    </a:cubicBezTo>
                    <a:cubicBezTo>
                      <a:pt x="48" y="103"/>
                      <a:pt x="48" y="103"/>
                      <a:pt x="47" y="104"/>
                    </a:cubicBezTo>
                    <a:cubicBezTo>
                      <a:pt x="47" y="105"/>
                      <a:pt x="46" y="107"/>
                      <a:pt x="45" y="108"/>
                    </a:cubicBezTo>
                    <a:cubicBezTo>
                      <a:pt x="44" y="109"/>
                      <a:pt x="44" y="109"/>
                      <a:pt x="43" y="110"/>
                    </a:cubicBezTo>
                    <a:cubicBezTo>
                      <a:pt x="42" y="111"/>
                      <a:pt x="41" y="111"/>
                      <a:pt x="41" y="112"/>
                    </a:cubicBezTo>
                    <a:cubicBezTo>
                      <a:pt x="40" y="113"/>
                      <a:pt x="39" y="113"/>
                      <a:pt x="38" y="114"/>
                    </a:cubicBezTo>
                    <a:cubicBezTo>
                      <a:pt x="37" y="114"/>
                      <a:pt x="35" y="114"/>
                      <a:pt x="34" y="115"/>
                    </a:cubicBezTo>
                    <a:cubicBezTo>
                      <a:pt x="33" y="115"/>
                      <a:pt x="32" y="115"/>
                      <a:pt x="31" y="115"/>
                    </a:cubicBezTo>
                    <a:cubicBezTo>
                      <a:pt x="30" y="114"/>
                      <a:pt x="29" y="114"/>
                      <a:pt x="28" y="114"/>
                    </a:cubicBezTo>
                    <a:cubicBezTo>
                      <a:pt x="27" y="114"/>
                      <a:pt x="26" y="113"/>
                      <a:pt x="26" y="113"/>
                    </a:cubicBezTo>
                    <a:cubicBezTo>
                      <a:pt x="25" y="112"/>
                      <a:pt x="25" y="112"/>
                      <a:pt x="24" y="112"/>
                    </a:cubicBezTo>
                    <a:cubicBezTo>
                      <a:pt x="23" y="111"/>
                      <a:pt x="22" y="111"/>
                      <a:pt x="20" y="111"/>
                    </a:cubicBezTo>
                    <a:cubicBezTo>
                      <a:pt x="20" y="111"/>
                      <a:pt x="20" y="110"/>
                      <a:pt x="19" y="110"/>
                    </a:cubicBezTo>
                    <a:cubicBezTo>
                      <a:pt x="18" y="110"/>
                      <a:pt x="18" y="110"/>
                      <a:pt x="17" y="110"/>
                    </a:cubicBezTo>
                    <a:cubicBezTo>
                      <a:pt x="16" y="110"/>
                      <a:pt x="15" y="110"/>
                      <a:pt x="15" y="110"/>
                    </a:cubicBezTo>
                    <a:cubicBezTo>
                      <a:pt x="15" y="110"/>
                      <a:pt x="15" y="110"/>
                      <a:pt x="15" y="110"/>
                    </a:cubicBezTo>
                    <a:cubicBezTo>
                      <a:pt x="13" y="110"/>
                      <a:pt x="11" y="110"/>
                      <a:pt x="10" y="110"/>
                    </a:cubicBezTo>
                    <a:cubicBezTo>
                      <a:pt x="9" y="110"/>
                      <a:pt x="8" y="109"/>
                      <a:pt x="7" y="109"/>
                    </a:cubicBezTo>
                    <a:cubicBezTo>
                      <a:pt x="7" y="109"/>
                      <a:pt x="6" y="108"/>
                      <a:pt x="6" y="108"/>
                    </a:cubicBezTo>
                    <a:cubicBezTo>
                      <a:pt x="4" y="105"/>
                      <a:pt x="5" y="104"/>
                      <a:pt x="5" y="102"/>
                    </a:cubicBezTo>
                    <a:cubicBezTo>
                      <a:pt x="5" y="101"/>
                      <a:pt x="5" y="100"/>
                      <a:pt x="6" y="100"/>
                    </a:cubicBezTo>
                    <a:cubicBezTo>
                      <a:pt x="6" y="98"/>
                      <a:pt x="7" y="97"/>
                      <a:pt x="8" y="96"/>
                    </a:cubicBezTo>
                    <a:cubicBezTo>
                      <a:pt x="9" y="94"/>
                      <a:pt x="11" y="94"/>
                      <a:pt x="12" y="93"/>
                    </a:cubicBezTo>
                    <a:cubicBezTo>
                      <a:pt x="14" y="92"/>
                      <a:pt x="13" y="92"/>
                      <a:pt x="15" y="92"/>
                    </a:cubicBezTo>
                    <a:cubicBezTo>
                      <a:pt x="16" y="91"/>
                      <a:pt x="18" y="90"/>
                      <a:pt x="19" y="89"/>
                    </a:cubicBezTo>
                    <a:cubicBezTo>
                      <a:pt x="20" y="89"/>
                      <a:pt x="20" y="88"/>
                      <a:pt x="21" y="88"/>
                    </a:cubicBezTo>
                    <a:cubicBezTo>
                      <a:pt x="21" y="87"/>
                      <a:pt x="22" y="87"/>
                      <a:pt x="22" y="87"/>
                    </a:cubicBezTo>
                    <a:cubicBezTo>
                      <a:pt x="23" y="86"/>
                      <a:pt x="23" y="86"/>
                      <a:pt x="24" y="86"/>
                    </a:cubicBezTo>
                    <a:cubicBezTo>
                      <a:pt x="24" y="86"/>
                      <a:pt x="24" y="86"/>
                      <a:pt x="24" y="86"/>
                    </a:cubicBezTo>
                    <a:cubicBezTo>
                      <a:pt x="24" y="85"/>
                      <a:pt x="24" y="85"/>
                      <a:pt x="24" y="84"/>
                    </a:cubicBezTo>
                    <a:cubicBezTo>
                      <a:pt x="24" y="84"/>
                      <a:pt x="24" y="84"/>
                      <a:pt x="24" y="83"/>
                    </a:cubicBezTo>
                    <a:cubicBezTo>
                      <a:pt x="22" y="83"/>
                      <a:pt x="21" y="82"/>
                      <a:pt x="20" y="82"/>
                    </a:cubicBezTo>
                    <a:cubicBezTo>
                      <a:pt x="20" y="81"/>
                      <a:pt x="19" y="81"/>
                      <a:pt x="18" y="81"/>
                    </a:cubicBezTo>
                    <a:cubicBezTo>
                      <a:pt x="18" y="81"/>
                      <a:pt x="18" y="79"/>
                      <a:pt x="18" y="79"/>
                    </a:cubicBezTo>
                    <a:cubicBezTo>
                      <a:pt x="16" y="79"/>
                      <a:pt x="16" y="77"/>
                      <a:pt x="15" y="77"/>
                    </a:cubicBezTo>
                    <a:cubicBezTo>
                      <a:pt x="14" y="77"/>
                      <a:pt x="14" y="77"/>
                      <a:pt x="13" y="76"/>
                    </a:cubicBezTo>
                    <a:cubicBezTo>
                      <a:pt x="13" y="76"/>
                      <a:pt x="12" y="76"/>
                      <a:pt x="11" y="76"/>
                    </a:cubicBezTo>
                    <a:cubicBezTo>
                      <a:pt x="11" y="76"/>
                      <a:pt x="10" y="76"/>
                      <a:pt x="9" y="76"/>
                    </a:cubicBezTo>
                    <a:cubicBezTo>
                      <a:pt x="7" y="75"/>
                      <a:pt x="8" y="75"/>
                      <a:pt x="7" y="74"/>
                    </a:cubicBezTo>
                    <a:cubicBezTo>
                      <a:pt x="6" y="74"/>
                      <a:pt x="6" y="73"/>
                      <a:pt x="6" y="72"/>
                    </a:cubicBezTo>
                    <a:cubicBezTo>
                      <a:pt x="6" y="71"/>
                      <a:pt x="6" y="70"/>
                      <a:pt x="6" y="69"/>
                    </a:cubicBezTo>
                    <a:cubicBezTo>
                      <a:pt x="6" y="68"/>
                      <a:pt x="6" y="68"/>
                      <a:pt x="6" y="68"/>
                    </a:cubicBezTo>
                    <a:cubicBezTo>
                      <a:pt x="6" y="66"/>
                      <a:pt x="8" y="64"/>
                      <a:pt x="8" y="63"/>
                    </a:cubicBezTo>
                    <a:cubicBezTo>
                      <a:pt x="8" y="63"/>
                      <a:pt x="9" y="62"/>
                      <a:pt x="9" y="62"/>
                    </a:cubicBezTo>
                    <a:cubicBezTo>
                      <a:pt x="9" y="62"/>
                      <a:pt x="9" y="62"/>
                      <a:pt x="9" y="62"/>
                    </a:cubicBezTo>
                    <a:cubicBezTo>
                      <a:pt x="9" y="61"/>
                      <a:pt x="10" y="61"/>
                      <a:pt x="10" y="60"/>
                    </a:cubicBezTo>
                    <a:cubicBezTo>
                      <a:pt x="11" y="59"/>
                      <a:pt x="11" y="58"/>
                      <a:pt x="12" y="58"/>
                    </a:cubicBezTo>
                    <a:cubicBezTo>
                      <a:pt x="13" y="57"/>
                      <a:pt x="13" y="57"/>
                      <a:pt x="14" y="57"/>
                    </a:cubicBezTo>
                    <a:cubicBezTo>
                      <a:pt x="16" y="57"/>
                      <a:pt x="17" y="57"/>
                      <a:pt x="18" y="57"/>
                    </a:cubicBezTo>
                    <a:cubicBezTo>
                      <a:pt x="19" y="56"/>
                      <a:pt x="20" y="56"/>
                      <a:pt x="21" y="56"/>
                    </a:cubicBezTo>
                    <a:cubicBezTo>
                      <a:pt x="21" y="55"/>
                      <a:pt x="20" y="54"/>
                      <a:pt x="21" y="54"/>
                    </a:cubicBezTo>
                    <a:cubicBezTo>
                      <a:pt x="21" y="53"/>
                      <a:pt x="20" y="53"/>
                      <a:pt x="21" y="52"/>
                    </a:cubicBezTo>
                    <a:cubicBezTo>
                      <a:pt x="20" y="51"/>
                      <a:pt x="20" y="51"/>
                      <a:pt x="20" y="50"/>
                    </a:cubicBezTo>
                    <a:cubicBezTo>
                      <a:pt x="20" y="49"/>
                      <a:pt x="20" y="46"/>
                      <a:pt x="2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1" name="Freeform 9"/>
              <p:cNvSpPr/>
              <p:nvPr/>
            </p:nvSpPr>
            <p:spPr bwMode="auto">
              <a:xfrm>
                <a:off x="5576888" y="2940050"/>
                <a:ext cx="255588" cy="192088"/>
              </a:xfrm>
              <a:custGeom>
                <a:avLst/>
                <a:gdLst>
                  <a:gd name="T0" fmla="*/ 11 w 68"/>
                  <a:gd name="T1" fmla="*/ 42 h 51"/>
                  <a:gd name="T2" fmla="*/ 16 w 68"/>
                  <a:gd name="T3" fmla="*/ 36 h 51"/>
                  <a:gd name="T4" fmla="*/ 21 w 68"/>
                  <a:gd name="T5" fmla="*/ 30 h 51"/>
                  <a:gd name="T6" fmla="*/ 22 w 68"/>
                  <a:gd name="T7" fmla="*/ 28 h 51"/>
                  <a:gd name="T8" fmla="*/ 23 w 68"/>
                  <a:gd name="T9" fmla="*/ 26 h 51"/>
                  <a:gd name="T10" fmla="*/ 20 w 68"/>
                  <a:gd name="T11" fmla="*/ 26 h 51"/>
                  <a:gd name="T12" fmla="*/ 17 w 68"/>
                  <a:gd name="T13" fmla="*/ 27 h 51"/>
                  <a:gd name="T14" fmla="*/ 15 w 68"/>
                  <a:gd name="T15" fmla="*/ 28 h 51"/>
                  <a:gd name="T16" fmla="*/ 10 w 68"/>
                  <a:gd name="T17" fmla="*/ 30 h 51"/>
                  <a:gd name="T18" fmla="*/ 6 w 68"/>
                  <a:gd name="T19" fmla="*/ 32 h 51"/>
                  <a:gd name="T20" fmla="*/ 2 w 68"/>
                  <a:gd name="T21" fmla="*/ 27 h 51"/>
                  <a:gd name="T22" fmla="*/ 1 w 68"/>
                  <a:gd name="T23" fmla="*/ 22 h 51"/>
                  <a:gd name="T24" fmla="*/ 0 w 68"/>
                  <a:gd name="T25" fmla="*/ 17 h 51"/>
                  <a:gd name="T26" fmla="*/ 4 w 68"/>
                  <a:gd name="T27" fmla="*/ 11 h 51"/>
                  <a:gd name="T28" fmla="*/ 5 w 68"/>
                  <a:gd name="T29" fmla="*/ 10 h 51"/>
                  <a:gd name="T30" fmla="*/ 7 w 68"/>
                  <a:gd name="T31" fmla="*/ 9 h 51"/>
                  <a:gd name="T32" fmla="*/ 15 w 68"/>
                  <a:gd name="T33" fmla="*/ 6 h 51"/>
                  <a:gd name="T34" fmla="*/ 29 w 68"/>
                  <a:gd name="T35" fmla="*/ 2 h 51"/>
                  <a:gd name="T36" fmla="*/ 35 w 68"/>
                  <a:gd name="T37" fmla="*/ 2 h 51"/>
                  <a:gd name="T38" fmla="*/ 44 w 68"/>
                  <a:gd name="T39" fmla="*/ 1 h 51"/>
                  <a:gd name="T40" fmla="*/ 57 w 68"/>
                  <a:gd name="T41" fmla="*/ 1 h 51"/>
                  <a:gd name="T42" fmla="*/ 59 w 68"/>
                  <a:gd name="T43" fmla="*/ 3 h 51"/>
                  <a:gd name="T44" fmla="*/ 60 w 68"/>
                  <a:gd name="T45" fmla="*/ 3 h 51"/>
                  <a:gd name="T46" fmla="*/ 64 w 68"/>
                  <a:gd name="T47" fmla="*/ 4 h 51"/>
                  <a:gd name="T48" fmla="*/ 68 w 68"/>
                  <a:gd name="T49" fmla="*/ 10 h 51"/>
                  <a:gd name="T50" fmla="*/ 68 w 68"/>
                  <a:gd name="T51" fmla="*/ 16 h 51"/>
                  <a:gd name="T52" fmla="*/ 66 w 68"/>
                  <a:gd name="T53" fmla="*/ 20 h 51"/>
                  <a:gd name="T54" fmla="*/ 64 w 68"/>
                  <a:gd name="T55" fmla="*/ 24 h 51"/>
                  <a:gd name="T56" fmla="*/ 61 w 68"/>
                  <a:gd name="T57" fmla="*/ 26 h 51"/>
                  <a:gd name="T58" fmla="*/ 56 w 68"/>
                  <a:gd name="T59" fmla="*/ 26 h 51"/>
                  <a:gd name="T60" fmla="*/ 53 w 68"/>
                  <a:gd name="T61" fmla="*/ 27 h 51"/>
                  <a:gd name="T62" fmla="*/ 46 w 68"/>
                  <a:gd name="T63" fmla="*/ 28 h 51"/>
                  <a:gd name="T64" fmla="*/ 43 w 68"/>
                  <a:gd name="T65" fmla="*/ 31 h 51"/>
                  <a:gd name="T66" fmla="*/ 37 w 68"/>
                  <a:gd name="T67" fmla="*/ 35 h 51"/>
                  <a:gd name="T68" fmla="*/ 31 w 68"/>
                  <a:gd name="T69" fmla="*/ 39 h 51"/>
                  <a:gd name="T70" fmla="*/ 28 w 68"/>
                  <a:gd name="T71" fmla="*/ 43 h 51"/>
                  <a:gd name="T72" fmla="*/ 23 w 68"/>
                  <a:gd name="T73" fmla="*/ 46 h 51"/>
                  <a:gd name="T74" fmla="*/ 21 w 68"/>
                  <a:gd name="T75" fmla="*/ 48 h 51"/>
                  <a:gd name="T76" fmla="*/ 17 w 68"/>
                  <a:gd name="T77" fmla="*/ 50 h 51"/>
                  <a:gd name="T78" fmla="*/ 11 w 68"/>
                  <a:gd name="T79" fmla="*/ 49 h 51"/>
                  <a:gd name="T80" fmla="*/ 10 w 68"/>
                  <a:gd name="T81"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51">
                    <a:moveTo>
                      <a:pt x="10" y="44"/>
                    </a:moveTo>
                    <a:cubicBezTo>
                      <a:pt x="11" y="43"/>
                      <a:pt x="10" y="43"/>
                      <a:pt x="11" y="42"/>
                    </a:cubicBezTo>
                    <a:cubicBezTo>
                      <a:pt x="13" y="40"/>
                      <a:pt x="13" y="39"/>
                      <a:pt x="13" y="39"/>
                    </a:cubicBezTo>
                    <a:cubicBezTo>
                      <a:pt x="15" y="38"/>
                      <a:pt x="15" y="37"/>
                      <a:pt x="16" y="36"/>
                    </a:cubicBezTo>
                    <a:cubicBezTo>
                      <a:pt x="17" y="35"/>
                      <a:pt x="18" y="34"/>
                      <a:pt x="20" y="32"/>
                    </a:cubicBezTo>
                    <a:cubicBezTo>
                      <a:pt x="20" y="31"/>
                      <a:pt x="21" y="30"/>
                      <a:pt x="21" y="30"/>
                    </a:cubicBezTo>
                    <a:cubicBezTo>
                      <a:pt x="21" y="29"/>
                      <a:pt x="21" y="29"/>
                      <a:pt x="21" y="29"/>
                    </a:cubicBezTo>
                    <a:cubicBezTo>
                      <a:pt x="22" y="29"/>
                      <a:pt x="22" y="28"/>
                      <a:pt x="22" y="28"/>
                    </a:cubicBezTo>
                    <a:cubicBezTo>
                      <a:pt x="22" y="28"/>
                      <a:pt x="22" y="28"/>
                      <a:pt x="22" y="28"/>
                    </a:cubicBezTo>
                    <a:cubicBezTo>
                      <a:pt x="23" y="27"/>
                      <a:pt x="23" y="27"/>
                      <a:pt x="23" y="26"/>
                    </a:cubicBezTo>
                    <a:cubicBezTo>
                      <a:pt x="24" y="25"/>
                      <a:pt x="25" y="25"/>
                      <a:pt x="25" y="25"/>
                    </a:cubicBezTo>
                    <a:cubicBezTo>
                      <a:pt x="24" y="25"/>
                      <a:pt x="21" y="25"/>
                      <a:pt x="20" y="26"/>
                    </a:cubicBezTo>
                    <a:cubicBezTo>
                      <a:pt x="20" y="26"/>
                      <a:pt x="20" y="26"/>
                      <a:pt x="19" y="26"/>
                    </a:cubicBezTo>
                    <a:cubicBezTo>
                      <a:pt x="18" y="27"/>
                      <a:pt x="18" y="27"/>
                      <a:pt x="17" y="27"/>
                    </a:cubicBezTo>
                    <a:cubicBezTo>
                      <a:pt x="16" y="27"/>
                      <a:pt x="16" y="27"/>
                      <a:pt x="16" y="27"/>
                    </a:cubicBezTo>
                    <a:cubicBezTo>
                      <a:pt x="15" y="27"/>
                      <a:pt x="15" y="28"/>
                      <a:pt x="15" y="28"/>
                    </a:cubicBezTo>
                    <a:cubicBezTo>
                      <a:pt x="14" y="28"/>
                      <a:pt x="13" y="29"/>
                      <a:pt x="12" y="29"/>
                    </a:cubicBezTo>
                    <a:cubicBezTo>
                      <a:pt x="12" y="30"/>
                      <a:pt x="10" y="30"/>
                      <a:pt x="10" y="30"/>
                    </a:cubicBezTo>
                    <a:cubicBezTo>
                      <a:pt x="9" y="31"/>
                      <a:pt x="9" y="31"/>
                      <a:pt x="8" y="32"/>
                    </a:cubicBezTo>
                    <a:cubicBezTo>
                      <a:pt x="7" y="32"/>
                      <a:pt x="6" y="32"/>
                      <a:pt x="6" y="32"/>
                    </a:cubicBezTo>
                    <a:cubicBezTo>
                      <a:pt x="4" y="31"/>
                      <a:pt x="5" y="31"/>
                      <a:pt x="4" y="31"/>
                    </a:cubicBezTo>
                    <a:cubicBezTo>
                      <a:pt x="3" y="29"/>
                      <a:pt x="3" y="28"/>
                      <a:pt x="2" y="27"/>
                    </a:cubicBezTo>
                    <a:cubicBezTo>
                      <a:pt x="2" y="27"/>
                      <a:pt x="2" y="26"/>
                      <a:pt x="2" y="25"/>
                    </a:cubicBezTo>
                    <a:cubicBezTo>
                      <a:pt x="1" y="24"/>
                      <a:pt x="1" y="23"/>
                      <a:pt x="1" y="22"/>
                    </a:cubicBezTo>
                    <a:cubicBezTo>
                      <a:pt x="1" y="22"/>
                      <a:pt x="0" y="21"/>
                      <a:pt x="0" y="20"/>
                    </a:cubicBezTo>
                    <a:cubicBezTo>
                      <a:pt x="0" y="19"/>
                      <a:pt x="0" y="18"/>
                      <a:pt x="0" y="17"/>
                    </a:cubicBezTo>
                    <a:cubicBezTo>
                      <a:pt x="1" y="17"/>
                      <a:pt x="1" y="16"/>
                      <a:pt x="1" y="16"/>
                    </a:cubicBezTo>
                    <a:cubicBezTo>
                      <a:pt x="1" y="14"/>
                      <a:pt x="3" y="13"/>
                      <a:pt x="4" y="11"/>
                    </a:cubicBezTo>
                    <a:cubicBezTo>
                      <a:pt x="4" y="11"/>
                      <a:pt x="4" y="11"/>
                      <a:pt x="4" y="11"/>
                    </a:cubicBezTo>
                    <a:cubicBezTo>
                      <a:pt x="4" y="10"/>
                      <a:pt x="5" y="10"/>
                      <a:pt x="5" y="10"/>
                    </a:cubicBezTo>
                    <a:cubicBezTo>
                      <a:pt x="6" y="10"/>
                      <a:pt x="6" y="10"/>
                      <a:pt x="6" y="9"/>
                    </a:cubicBezTo>
                    <a:cubicBezTo>
                      <a:pt x="7" y="9"/>
                      <a:pt x="7" y="10"/>
                      <a:pt x="7" y="9"/>
                    </a:cubicBezTo>
                    <a:cubicBezTo>
                      <a:pt x="9" y="9"/>
                      <a:pt x="11" y="7"/>
                      <a:pt x="14" y="7"/>
                    </a:cubicBezTo>
                    <a:cubicBezTo>
                      <a:pt x="14" y="6"/>
                      <a:pt x="15" y="6"/>
                      <a:pt x="15" y="6"/>
                    </a:cubicBezTo>
                    <a:cubicBezTo>
                      <a:pt x="16" y="6"/>
                      <a:pt x="17" y="5"/>
                      <a:pt x="18" y="5"/>
                    </a:cubicBezTo>
                    <a:cubicBezTo>
                      <a:pt x="21" y="3"/>
                      <a:pt x="25" y="2"/>
                      <a:pt x="29" y="2"/>
                    </a:cubicBezTo>
                    <a:cubicBezTo>
                      <a:pt x="30" y="2"/>
                      <a:pt x="31" y="2"/>
                      <a:pt x="31" y="2"/>
                    </a:cubicBezTo>
                    <a:cubicBezTo>
                      <a:pt x="33" y="2"/>
                      <a:pt x="34" y="2"/>
                      <a:pt x="35" y="2"/>
                    </a:cubicBezTo>
                    <a:cubicBezTo>
                      <a:pt x="36" y="2"/>
                      <a:pt x="36" y="1"/>
                      <a:pt x="37" y="1"/>
                    </a:cubicBezTo>
                    <a:cubicBezTo>
                      <a:pt x="39" y="1"/>
                      <a:pt x="42" y="1"/>
                      <a:pt x="44" y="1"/>
                    </a:cubicBezTo>
                    <a:cubicBezTo>
                      <a:pt x="45" y="0"/>
                      <a:pt x="51" y="0"/>
                      <a:pt x="54" y="0"/>
                    </a:cubicBezTo>
                    <a:cubicBezTo>
                      <a:pt x="55" y="0"/>
                      <a:pt x="56" y="0"/>
                      <a:pt x="57" y="1"/>
                    </a:cubicBezTo>
                    <a:cubicBezTo>
                      <a:pt x="57" y="1"/>
                      <a:pt x="58" y="2"/>
                      <a:pt x="59" y="2"/>
                    </a:cubicBezTo>
                    <a:cubicBezTo>
                      <a:pt x="59" y="3"/>
                      <a:pt x="59" y="3"/>
                      <a:pt x="59" y="3"/>
                    </a:cubicBezTo>
                    <a:cubicBezTo>
                      <a:pt x="59" y="3"/>
                      <a:pt x="59" y="3"/>
                      <a:pt x="59" y="3"/>
                    </a:cubicBezTo>
                    <a:cubicBezTo>
                      <a:pt x="59" y="3"/>
                      <a:pt x="60" y="3"/>
                      <a:pt x="60" y="3"/>
                    </a:cubicBezTo>
                    <a:cubicBezTo>
                      <a:pt x="60" y="3"/>
                      <a:pt x="60" y="3"/>
                      <a:pt x="60" y="3"/>
                    </a:cubicBezTo>
                    <a:cubicBezTo>
                      <a:pt x="61" y="3"/>
                      <a:pt x="62" y="4"/>
                      <a:pt x="64" y="4"/>
                    </a:cubicBezTo>
                    <a:cubicBezTo>
                      <a:pt x="64" y="5"/>
                      <a:pt x="65" y="5"/>
                      <a:pt x="65" y="5"/>
                    </a:cubicBezTo>
                    <a:cubicBezTo>
                      <a:pt x="66" y="7"/>
                      <a:pt x="67" y="9"/>
                      <a:pt x="68" y="10"/>
                    </a:cubicBezTo>
                    <a:cubicBezTo>
                      <a:pt x="68" y="11"/>
                      <a:pt x="68" y="12"/>
                      <a:pt x="68" y="12"/>
                    </a:cubicBezTo>
                    <a:cubicBezTo>
                      <a:pt x="68" y="14"/>
                      <a:pt x="68" y="15"/>
                      <a:pt x="68" y="16"/>
                    </a:cubicBezTo>
                    <a:cubicBezTo>
                      <a:pt x="68" y="17"/>
                      <a:pt x="68" y="17"/>
                      <a:pt x="68" y="18"/>
                    </a:cubicBezTo>
                    <a:cubicBezTo>
                      <a:pt x="68" y="18"/>
                      <a:pt x="67" y="19"/>
                      <a:pt x="66" y="20"/>
                    </a:cubicBezTo>
                    <a:cubicBezTo>
                      <a:pt x="66" y="21"/>
                      <a:pt x="65" y="21"/>
                      <a:pt x="65" y="22"/>
                    </a:cubicBezTo>
                    <a:cubicBezTo>
                      <a:pt x="64" y="23"/>
                      <a:pt x="64" y="23"/>
                      <a:pt x="64" y="24"/>
                    </a:cubicBezTo>
                    <a:cubicBezTo>
                      <a:pt x="63" y="24"/>
                      <a:pt x="63" y="25"/>
                      <a:pt x="63" y="25"/>
                    </a:cubicBezTo>
                    <a:cubicBezTo>
                      <a:pt x="62" y="26"/>
                      <a:pt x="61" y="26"/>
                      <a:pt x="61" y="26"/>
                    </a:cubicBezTo>
                    <a:cubicBezTo>
                      <a:pt x="59" y="26"/>
                      <a:pt x="59" y="26"/>
                      <a:pt x="58" y="26"/>
                    </a:cubicBezTo>
                    <a:cubicBezTo>
                      <a:pt x="57" y="26"/>
                      <a:pt x="57" y="26"/>
                      <a:pt x="56" y="26"/>
                    </a:cubicBezTo>
                    <a:cubicBezTo>
                      <a:pt x="56" y="26"/>
                      <a:pt x="55" y="26"/>
                      <a:pt x="55" y="26"/>
                    </a:cubicBezTo>
                    <a:cubicBezTo>
                      <a:pt x="54" y="26"/>
                      <a:pt x="53" y="26"/>
                      <a:pt x="53" y="27"/>
                    </a:cubicBezTo>
                    <a:cubicBezTo>
                      <a:pt x="52" y="27"/>
                      <a:pt x="51" y="27"/>
                      <a:pt x="49" y="27"/>
                    </a:cubicBezTo>
                    <a:cubicBezTo>
                      <a:pt x="48" y="27"/>
                      <a:pt x="47" y="28"/>
                      <a:pt x="46" y="28"/>
                    </a:cubicBezTo>
                    <a:cubicBezTo>
                      <a:pt x="46" y="29"/>
                      <a:pt x="45" y="29"/>
                      <a:pt x="45" y="29"/>
                    </a:cubicBezTo>
                    <a:cubicBezTo>
                      <a:pt x="44" y="30"/>
                      <a:pt x="44" y="30"/>
                      <a:pt x="43" y="31"/>
                    </a:cubicBezTo>
                    <a:cubicBezTo>
                      <a:pt x="42" y="31"/>
                      <a:pt x="42" y="31"/>
                      <a:pt x="41" y="32"/>
                    </a:cubicBezTo>
                    <a:cubicBezTo>
                      <a:pt x="41" y="33"/>
                      <a:pt x="38" y="34"/>
                      <a:pt x="37" y="35"/>
                    </a:cubicBezTo>
                    <a:cubicBezTo>
                      <a:pt x="36" y="35"/>
                      <a:pt x="36" y="36"/>
                      <a:pt x="34" y="37"/>
                    </a:cubicBezTo>
                    <a:cubicBezTo>
                      <a:pt x="33" y="38"/>
                      <a:pt x="32" y="39"/>
                      <a:pt x="31" y="39"/>
                    </a:cubicBezTo>
                    <a:cubicBezTo>
                      <a:pt x="31" y="40"/>
                      <a:pt x="30" y="40"/>
                      <a:pt x="29" y="41"/>
                    </a:cubicBezTo>
                    <a:cubicBezTo>
                      <a:pt x="29" y="41"/>
                      <a:pt x="28" y="43"/>
                      <a:pt x="28" y="43"/>
                    </a:cubicBezTo>
                    <a:cubicBezTo>
                      <a:pt x="27" y="43"/>
                      <a:pt x="25" y="44"/>
                      <a:pt x="25" y="44"/>
                    </a:cubicBezTo>
                    <a:cubicBezTo>
                      <a:pt x="24" y="45"/>
                      <a:pt x="24" y="45"/>
                      <a:pt x="23" y="46"/>
                    </a:cubicBezTo>
                    <a:cubicBezTo>
                      <a:pt x="23" y="46"/>
                      <a:pt x="22" y="47"/>
                      <a:pt x="22" y="47"/>
                    </a:cubicBezTo>
                    <a:cubicBezTo>
                      <a:pt x="22" y="47"/>
                      <a:pt x="21" y="47"/>
                      <a:pt x="21" y="48"/>
                    </a:cubicBezTo>
                    <a:cubicBezTo>
                      <a:pt x="20" y="48"/>
                      <a:pt x="19" y="49"/>
                      <a:pt x="19" y="49"/>
                    </a:cubicBezTo>
                    <a:cubicBezTo>
                      <a:pt x="17" y="50"/>
                      <a:pt x="17" y="50"/>
                      <a:pt x="17" y="50"/>
                    </a:cubicBezTo>
                    <a:cubicBezTo>
                      <a:pt x="16" y="51"/>
                      <a:pt x="16" y="51"/>
                      <a:pt x="14" y="50"/>
                    </a:cubicBezTo>
                    <a:cubicBezTo>
                      <a:pt x="13" y="50"/>
                      <a:pt x="12" y="50"/>
                      <a:pt x="11" y="49"/>
                    </a:cubicBezTo>
                    <a:cubicBezTo>
                      <a:pt x="11" y="49"/>
                      <a:pt x="11" y="48"/>
                      <a:pt x="10" y="48"/>
                    </a:cubicBezTo>
                    <a:cubicBezTo>
                      <a:pt x="9" y="47"/>
                      <a:pt x="9" y="45"/>
                      <a:pt x="10" y="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2" name="Freeform 10"/>
              <p:cNvSpPr/>
              <p:nvPr/>
            </p:nvSpPr>
            <p:spPr bwMode="auto">
              <a:xfrm>
                <a:off x="5456238" y="2997200"/>
                <a:ext cx="120650" cy="109538"/>
              </a:xfrm>
              <a:custGeom>
                <a:avLst/>
                <a:gdLst>
                  <a:gd name="T0" fmla="*/ 13 w 32"/>
                  <a:gd name="T1" fmla="*/ 29 h 29"/>
                  <a:gd name="T2" fmla="*/ 10 w 32"/>
                  <a:gd name="T3" fmla="*/ 28 h 29"/>
                  <a:gd name="T4" fmla="*/ 4 w 32"/>
                  <a:gd name="T5" fmla="*/ 25 h 29"/>
                  <a:gd name="T6" fmla="*/ 3 w 32"/>
                  <a:gd name="T7" fmla="*/ 23 h 29"/>
                  <a:gd name="T8" fmla="*/ 1 w 32"/>
                  <a:gd name="T9" fmla="*/ 19 h 29"/>
                  <a:gd name="T10" fmla="*/ 1 w 32"/>
                  <a:gd name="T11" fmla="*/ 19 h 29"/>
                  <a:gd name="T12" fmla="*/ 0 w 32"/>
                  <a:gd name="T13" fmla="*/ 12 h 29"/>
                  <a:gd name="T14" fmla="*/ 1 w 32"/>
                  <a:gd name="T15" fmla="*/ 10 h 29"/>
                  <a:gd name="T16" fmla="*/ 1 w 32"/>
                  <a:gd name="T17" fmla="*/ 9 h 29"/>
                  <a:gd name="T18" fmla="*/ 2 w 32"/>
                  <a:gd name="T19" fmla="*/ 6 h 29"/>
                  <a:gd name="T20" fmla="*/ 9 w 32"/>
                  <a:gd name="T21" fmla="*/ 1 h 29"/>
                  <a:gd name="T22" fmla="*/ 10 w 32"/>
                  <a:gd name="T23" fmla="*/ 0 h 29"/>
                  <a:gd name="T24" fmla="*/ 11 w 32"/>
                  <a:gd name="T25" fmla="*/ 0 h 29"/>
                  <a:gd name="T26" fmla="*/ 14 w 32"/>
                  <a:gd name="T27" fmla="*/ 0 h 29"/>
                  <a:gd name="T28" fmla="*/ 15 w 32"/>
                  <a:gd name="T29" fmla="*/ 0 h 29"/>
                  <a:gd name="T30" fmla="*/ 20 w 32"/>
                  <a:gd name="T31" fmla="*/ 2 h 29"/>
                  <a:gd name="T32" fmla="*/ 25 w 32"/>
                  <a:gd name="T33" fmla="*/ 7 h 29"/>
                  <a:gd name="T34" fmla="*/ 27 w 32"/>
                  <a:gd name="T35" fmla="*/ 9 h 29"/>
                  <a:gd name="T36" fmla="*/ 27 w 32"/>
                  <a:gd name="T37" fmla="*/ 9 h 29"/>
                  <a:gd name="T38" fmla="*/ 29 w 32"/>
                  <a:gd name="T39" fmla="*/ 12 h 29"/>
                  <a:gd name="T40" fmla="*/ 30 w 32"/>
                  <a:gd name="T41" fmla="*/ 13 h 29"/>
                  <a:gd name="T42" fmla="*/ 32 w 32"/>
                  <a:gd name="T43" fmla="*/ 17 h 29"/>
                  <a:gd name="T44" fmla="*/ 32 w 32"/>
                  <a:gd name="T45" fmla="*/ 19 h 29"/>
                  <a:gd name="T46" fmla="*/ 29 w 32"/>
                  <a:gd name="T47" fmla="*/ 23 h 29"/>
                  <a:gd name="T48" fmla="*/ 20 w 32"/>
                  <a:gd name="T49" fmla="*/ 28 h 29"/>
                  <a:gd name="T50" fmla="*/ 16 w 32"/>
                  <a:gd name="T51" fmla="*/ 29 h 29"/>
                  <a:gd name="T52" fmla="*/ 13 w 32"/>
                  <a:gd name="T53"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9">
                    <a:moveTo>
                      <a:pt x="13" y="29"/>
                    </a:moveTo>
                    <a:cubicBezTo>
                      <a:pt x="11" y="29"/>
                      <a:pt x="10" y="29"/>
                      <a:pt x="10" y="28"/>
                    </a:cubicBezTo>
                    <a:cubicBezTo>
                      <a:pt x="8" y="27"/>
                      <a:pt x="6" y="26"/>
                      <a:pt x="4" y="25"/>
                    </a:cubicBezTo>
                    <a:cubicBezTo>
                      <a:pt x="4" y="25"/>
                      <a:pt x="3" y="24"/>
                      <a:pt x="3" y="23"/>
                    </a:cubicBezTo>
                    <a:cubicBezTo>
                      <a:pt x="2" y="22"/>
                      <a:pt x="1" y="20"/>
                      <a:pt x="1" y="19"/>
                    </a:cubicBezTo>
                    <a:cubicBezTo>
                      <a:pt x="1" y="19"/>
                      <a:pt x="1" y="19"/>
                      <a:pt x="1" y="19"/>
                    </a:cubicBezTo>
                    <a:cubicBezTo>
                      <a:pt x="1" y="17"/>
                      <a:pt x="0" y="13"/>
                      <a:pt x="0" y="12"/>
                    </a:cubicBezTo>
                    <a:cubicBezTo>
                      <a:pt x="0" y="11"/>
                      <a:pt x="0" y="10"/>
                      <a:pt x="1" y="10"/>
                    </a:cubicBezTo>
                    <a:cubicBezTo>
                      <a:pt x="1" y="10"/>
                      <a:pt x="1" y="9"/>
                      <a:pt x="1" y="9"/>
                    </a:cubicBezTo>
                    <a:cubicBezTo>
                      <a:pt x="1" y="8"/>
                      <a:pt x="2" y="7"/>
                      <a:pt x="2" y="6"/>
                    </a:cubicBezTo>
                    <a:cubicBezTo>
                      <a:pt x="4" y="3"/>
                      <a:pt x="6" y="3"/>
                      <a:pt x="9" y="1"/>
                    </a:cubicBezTo>
                    <a:cubicBezTo>
                      <a:pt x="9" y="1"/>
                      <a:pt x="10" y="0"/>
                      <a:pt x="10" y="0"/>
                    </a:cubicBezTo>
                    <a:cubicBezTo>
                      <a:pt x="10" y="0"/>
                      <a:pt x="10" y="0"/>
                      <a:pt x="11" y="0"/>
                    </a:cubicBezTo>
                    <a:cubicBezTo>
                      <a:pt x="12" y="0"/>
                      <a:pt x="13" y="0"/>
                      <a:pt x="14" y="0"/>
                    </a:cubicBezTo>
                    <a:cubicBezTo>
                      <a:pt x="15" y="0"/>
                      <a:pt x="15" y="0"/>
                      <a:pt x="15" y="0"/>
                    </a:cubicBezTo>
                    <a:cubicBezTo>
                      <a:pt x="17" y="0"/>
                      <a:pt x="18" y="1"/>
                      <a:pt x="20" y="2"/>
                    </a:cubicBezTo>
                    <a:cubicBezTo>
                      <a:pt x="22" y="4"/>
                      <a:pt x="23" y="5"/>
                      <a:pt x="25" y="7"/>
                    </a:cubicBezTo>
                    <a:cubicBezTo>
                      <a:pt x="25" y="7"/>
                      <a:pt x="26" y="8"/>
                      <a:pt x="27" y="9"/>
                    </a:cubicBezTo>
                    <a:cubicBezTo>
                      <a:pt x="27" y="9"/>
                      <a:pt x="27" y="9"/>
                      <a:pt x="27" y="9"/>
                    </a:cubicBezTo>
                    <a:cubicBezTo>
                      <a:pt x="28" y="10"/>
                      <a:pt x="28" y="11"/>
                      <a:pt x="29" y="12"/>
                    </a:cubicBezTo>
                    <a:cubicBezTo>
                      <a:pt x="29" y="13"/>
                      <a:pt x="29" y="13"/>
                      <a:pt x="30" y="13"/>
                    </a:cubicBezTo>
                    <a:cubicBezTo>
                      <a:pt x="30" y="14"/>
                      <a:pt x="31" y="14"/>
                      <a:pt x="32" y="17"/>
                    </a:cubicBezTo>
                    <a:cubicBezTo>
                      <a:pt x="31" y="17"/>
                      <a:pt x="32" y="18"/>
                      <a:pt x="32" y="19"/>
                    </a:cubicBezTo>
                    <a:cubicBezTo>
                      <a:pt x="31" y="19"/>
                      <a:pt x="32" y="22"/>
                      <a:pt x="29" y="23"/>
                    </a:cubicBezTo>
                    <a:cubicBezTo>
                      <a:pt x="26" y="23"/>
                      <a:pt x="22" y="27"/>
                      <a:pt x="20" y="28"/>
                    </a:cubicBezTo>
                    <a:cubicBezTo>
                      <a:pt x="18" y="29"/>
                      <a:pt x="17" y="29"/>
                      <a:pt x="16" y="29"/>
                    </a:cubicBezTo>
                    <a:cubicBezTo>
                      <a:pt x="15" y="29"/>
                      <a:pt x="14" y="29"/>
                      <a:pt x="13"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3" name="Freeform 11"/>
              <p:cNvSpPr/>
              <p:nvPr/>
            </p:nvSpPr>
            <p:spPr bwMode="auto">
              <a:xfrm>
                <a:off x="3522663" y="2879725"/>
                <a:ext cx="282575" cy="101600"/>
              </a:xfrm>
              <a:custGeom>
                <a:avLst/>
                <a:gdLst>
                  <a:gd name="T0" fmla="*/ 44 w 75"/>
                  <a:gd name="T1" fmla="*/ 27 h 27"/>
                  <a:gd name="T2" fmla="*/ 41 w 75"/>
                  <a:gd name="T3" fmla="*/ 27 h 27"/>
                  <a:gd name="T4" fmla="*/ 39 w 75"/>
                  <a:gd name="T5" fmla="*/ 26 h 27"/>
                  <a:gd name="T6" fmla="*/ 36 w 75"/>
                  <a:gd name="T7" fmla="*/ 26 h 27"/>
                  <a:gd name="T8" fmla="*/ 35 w 75"/>
                  <a:gd name="T9" fmla="*/ 25 h 27"/>
                  <a:gd name="T10" fmla="*/ 33 w 75"/>
                  <a:gd name="T11" fmla="*/ 25 h 27"/>
                  <a:gd name="T12" fmla="*/ 30 w 75"/>
                  <a:gd name="T13" fmla="*/ 25 h 27"/>
                  <a:gd name="T14" fmla="*/ 25 w 75"/>
                  <a:gd name="T15" fmla="*/ 26 h 27"/>
                  <a:gd name="T16" fmla="*/ 17 w 75"/>
                  <a:gd name="T17" fmla="*/ 26 h 27"/>
                  <a:gd name="T18" fmla="*/ 15 w 75"/>
                  <a:gd name="T19" fmla="*/ 27 h 27"/>
                  <a:gd name="T20" fmla="*/ 12 w 75"/>
                  <a:gd name="T21" fmla="*/ 26 h 27"/>
                  <a:gd name="T22" fmla="*/ 9 w 75"/>
                  <a:gd name="T23" fmla="*/ 25 h 27"/>
                  <a:gd name="T24" fmla="*/ 5 w 75"/>
                  <a:gd name="T25" fmla="*/ 24 h 27"/>
                  <a:gd name="T26" fmla="*/ 5 w 75"/>
                  <a:gd name="T27" fmla="*/ 24 h 27"/>
                  <a:gd name="T28" fmla="*/ 3 w 75"/>
                  <a:gd name="T29" fmla="*/ 23 h 27"/>
                  <a:gd name="T30" fmla="*/ 1 w 75"/>
                  <a:gd name="T31" fmla="*/ 21 h 27"/>
                  <a:gd name="T32" fmla="*/ 0 w 75"/>
                  <a:gd name="T33" fmla="*/ 18 h 27"/>
                  <a:gd name="T34" fmla="*/ 0 w 75"/>
                  <a:gd name="T35" fmla="*/ 16 h 27"/>
                  <a:gd name="T36" fmla="*/ 1 w 75"/>
                  <a:gd name="T37" fmla="*/ 14 h 27"/>
                  <a:gd name="T38" fmla="*/ 5 w 75"/>
                  <a:gd name="T39" fmla="*/ 10 h 27"/>
                  <a:gd name="T40" fmla="*/ 6 w 75"/>
                  <a:gd name="T41" fmla="*/ 9 h 27"/>
                  <a:gd name="T42" fmla="*/ 6 w 75"/>
                  <a:gd name="T43" fmla="*/ 9 h 27"/>
                  <a:gd name="T44" fmla="*/ 11 w 75"/>
                  <a:gd name="T45" fmla="*/ 7 h 27"/>
                  <a:gd name="T46" fmla="*/ 11 w 75"/>
                  <a:gd name="T47" fmla="*/ 7 h 27"/>
                  <a:gd name="T48" fmla="*/ 14 w 75"/>
                  <a:gd name="T49" fmla="*/ 6 h 27"/>
                  <a:gd name="T50" fmla="*/ 16 w 75"/>
                  <a:gd name="T51" fmla="*/ 5 h 27"/>
                  <a:gd name="T52" fmla="*/ 18 w 75"/>
                  <a:gd name="T53" fmla="*/ 5 h 27"/>
                  <a:gd name="T54" fmla="*/ 21 w 75"/>
                  <a:gd name="T55" fmla="*/ 4 h 27"/>
                  <a:gd name="T56" fmla="*/ 23 w 75"/>
                  <a:gd name="T57" fmla="*/ 4 h 27"/>
                  <a:gd name="T58" fmla="*/ 25 w 75"/>
                  <a:gd name="T59" fmla="*/ 3 h 27"/>
                  <a:gd name="T60" fmla="*/ 26 w 75"/>
                  <a:gd name="T61" fmla="*/ 3 h 27"/>
                  <a:gd name="T62" fmla="*/ 35 w 75"/>
                  <a:gd name="T63" fmla="*/ 3 h 27"/>
                  <a:gd name="T64" fmla="*/ 35 w 75"/>
                  <a:gd name="T65" fmla="*/ 3 h 27"/>
                  <a:gd name="T66" fmla="*/ 44 w 75"/>
                  <a:gd name="T67" fmla="*/ 2 h 27"/>
                  <a:gd name="T68" fmla="*/ 48 w 75"/>
                  <a:gd name="T69" fmla="*/ 1 h 27"/>
                  <a:gd name="T70" fmla="*/ 60 w 75"/>
                  <a:gd name="T71" fmla="*/ 0 h 27"/>
                  <a:gd name="T72" fmla="*/ 62 w 75"/>
                  <a:gd name="T73" fmla="*/ 1 h 27"/>
                  <a:gd name="T74" fmla="*/ 64 w 75"/>
                  <a:gd name="T75" fmla="*/ 1 h 27"/>
                  <a:gd name="T76" fmla="*/ 65 w 75"/>
                  <a:gd name="T77" fmla="*/ 1 h 27"/>
                  <a:gd name="T78" fmla="*/ 66 w 75"/>
                  <a:gd name="T79" fmla="*/ 1 h 27"/>
                  <a:gd name="T80" fmla="*/ 69 w 75"/>
                  <a:gd name="T81" fmla="*/ 2 h 27"/>
                  <a:gd name="T82" fmla="*/ 72 w 75"/>
                  <a:gd name="T83" fmla="*/ 4 h 27"/>
                  <a:gd name="T84" fmla="*/ 74 w 75"/>
                  <a:gd name="T85" fmla="*/ 6 h 27"/>
                  <a:gd name="T86" fmla="*/ 74 w 75"/>
                  <a:gd name="T87" fmla="*/ 9 h 27"/>
                  <a:gd name="T88" fmla="*/ 75 w 75"/>
                  <a:gd name="T89" fmla="*/ 12 h 27"/>
                  <a:gd name="T90" fmla="*/ 74 w 75"/>
                  <a:gd name="T91" fmla="*/ 14 h 27"/>
                  <a:gd name="T92" fmla="*/ 74 w 75"/>
                  <a:gd name="T93" fmla="*/ 15 h 27"/>
                  <a:gd name="T94" fmla="*/ 74 w 75"/>
                  <a:gd name="T95" fmla="*/ 16 h 27"/>
                  <a:gd name="T96" fmla="*/ 73 w 75"/>
                  <a:gd name="T97" fmla="*/ 17 h 27"/>
                  <a:gd name="T98" fmla="*/ 71 w 75"/>
                  <a:gd name="T99" fmla="*/ 19 h 27"/>
                  <a:gd name="T100" fmla="*/ 69 w 75"/>
                  <a:gd name="T101" fmla="*/ 21 h 27"/>
                  <a:gd name="T102" fmla="*/ 63 w 75"/>
                  <a:gd name="T103" fmla="*/ 22 h 27"/>
                  <a:gd name="T104" fmla="*/ 62 w 75"/>
                  <a:gd name="T105" fmla="*/ 23 h 27"/>
                  <a:gd name="T106" fmla="*/ 58 w 75"/>
                  <a:gd name="T107" fmla="*/ 24 h 27"/>
                  <a:gd name="T108" fmla="*/ 55 w 75"/>
                  <a:gd name="T109" fmla="*/ 25 h 27"/>
                  <a:gd name="T110" fmla="*/ 53 w 75"/>
                  <a:gd name="T111" fmla="*/ 26 h 27"/>
                  <a:gd name="T112" fmla="*/ 52 w 75"/>
                  <a:gd name="T113" fmla="*/ 26 h 27"/>
                  <a:gd name="T114" fmla="*/ 47 w 75"/>
                  <a:gd name="T115" fmla="*/ 27 h 27"/>
                  <a:gd name="T116" fmla="*/ 44 w 75"/>
                  <a:gd name="T1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5" h="27">
                    <a:moveTo>
                      <a:pt x="44" y="27"/>
                    </a:moveTo>
                    <a:cubicBezTo>
                      <a:pt x="43" y="27"/>
                      <a:pt x="42" y="27"/>
                      <a:pt x="41" y="27"/>
                    </a:cubicBezTo>
                    <a:cubicBezTo>
                      <a:pt x="40" y="27"/>
                      <a:pt x="40" y="26"/>
                      <a:pt x="39" y="26"/>
                    </a:cubicBezTo>
                    <a:cubicBezTo>
                      <a:pt x="38" y="26"/>
                      <a:pt x="37" y="26"/>
                      <a:pt x="36" y="26"/>
                    </a:cubicBezTo>
                    <a:cubicBezTo>
                      <a:pt x="36" y="26"/>
                      <a:pt x="35" y="26"/>
                      <a:pt x="35" y="25"/>
                    </a:cubicBezTo>
                    <a:cubicBezTo>
                      <a:pt x="34" y="25"/>
                      <a:pt x="34" y="25"/>
                      <a:pt x="33" y="25"/>
                    </a:cubicBezTo>
                    <a:cubicBezTo>
                      <a:pt x="33" y="25"/>
                      <a:pt x="31" y="25"/>
                      <a:pt x="30" y="25"/>
                    </a:cubicBezTo>
                    <a:cubicBezTo>
                      <a:pt x="28" y="25"/>
                      <a:pt x="27" y="25"/>
                      <a:pt x="25" y="26"/>
                    </a:cubicBezTo>
                    <a:cubicBezTo>
                      <a:pt x="22" y="26"/>
                      <a:pt x="21" y="26"/>
                      <a:pt x="17" y="26"/>
                    </a:cubicBezTo>
                    <a:cubicBezTo>
                      <a:pt x="16" y="27"/>
                      <a:pt x="15" y="27"/>
                      <a:pt x="15" y="27"/>
                    </a:cubicBezTo>
                    <a:cubicBezTo>
                      <a:pt x="14" y="27"/>
                      <a:pt x="13" y="26"/>
                      <a:pt x="12" y="26"/>
                    </a:cubicBezTo>
                    <a:cubicBezTo>
                      <a:pt x="11" y="26"/>
                      <a:pt x="10" y="25"/>
                      <a:pt x="9" y="25"/>
                    </a:cubicBezTo>
                    <a:cubicBezTo>
                      <a:pt x="8" y="25"/>
                      <a:pt x="6" y="25"/>
                      <a:pt x="5" y="24"/>
                    </a:cubicBezTo>
                    <a:cubicBezTo>
                      <a:pt x="5" y="24"/>
                      <a:pt x="5" y="24"/>
                      <a:pt x="5" y="24"/>
                    </a:cubicBezTo>
                    <a:cubicBezTo>
                      <a:pt x="4" y="23"/>
                      <a:pt x="3" y="23"/>
                      <a:pt x="3" y="23"/>
                    </a:cubicBezTo>
                    <a:cubicBezTo>
                      <a:pt x="2" y="21"/>
                      <a:pt x="2" y="22"/>
                      <a:pt x="1" y="21"/>
                    </a:cubicBezTo>
                    <a:cubicBezTo>
                      <a:pt x="1" y="20"/>
                      <a:pt x="0" y="19"/>
                      <a:pt x="0" y="18"/>
                    </a:cubicBezTo>
                    <a:cubicBezTo>
                      <a:pt x="0" y="17"/>
                      <a:pt x="0" y="17"/>
                      <a:pt x="0" y="16"/>
                    </a:cubicBezTo>
                    <a:cubicBezTo>
                      <a:pt x="1" y="15"/>
                      <a:pt x="1" y="14"/>
                      <a:pt x="1" y="14"/>
                    </a:cubicBezTo>
                    <a:cubicBezTo>
                      <a:pt x="2" y="12"/>
                      <a:pt x="4" y="11"/>
                      <a:pt x="5" y="10"/>
                    </a:cubicBezTo>
                    <a:cubicBezTo>
                      <a:pt x="5" y="10"/>
                      <a:pt x="6" y="9"/>
                      <a:pt x="6" y="9"/>
                    </a:cubicBezTo>
                    <a:cubicBezTo>
                      <a:pt x="6" y="9"/>
                      <a:pt x="6" y="9"/>
                      <a:pt x="6" y="9"/>
                    </a:cubicBezTo>
                    <a:cubicBezTo>
                      <a:pt x="8" y="8"/>
                      <a:pt x="9" y="8"/>
                      <a:pt x="11" y="7"/>
                    </a:cubicBezTo>
                    <a:cubicBezTo>
                      <a:pt x="11" y="7"/>
                      <a:pt x="11" y="7"/>
                      <a:pt x="11" y="7"/>
                    </a:cubicBezTo>
                    <a:cubicBezTo>
                      <a:pt x="12" y="7"/>
                      <a:pt x="13" y="6"/>
                      <a:pt x="14" y="6"/>
                    </a:cubicBezTo>
                    <a:cubicBezTo>
                      <a:pt x="14" y="6"/>
                      <a:pt x="15" y="6"/>
                      <a:pt x="16" y="5"/>
                    </a:cubicBezTo>
                    <a:cubicBezTo>
                      <a:pt x="16" y="5"/>
                      <a:pt x="17" y="5"/>
                      <a:pt x="18" y="5"/>
                    </a:cubicBezTo>
                    <a:cubicBezTo>
                      <a:pt x="19" y="5"/>
                      <a:pt x="20" y="4"/>
                      <a:pt x="21" y="4"/>
                    </a:cubicBezTo>
                    <a:cubicBezTo>
                      <a:pt x="22" y="4"/>
                      <a:pt x="23" y="4"/>
                      <a:pt x="23" y="4"/>
                    </a:cubicBezTo>
                    <a:cubicBezTo>
                      <a:pt x="24" y="3"/>
                      <a:pt x="25" y="3"/>
                      <a:pt x="25" y="3"/>
                    </a:cubicBezTo>
                    <a:cubicBezTo>
                      <a:pt x="25" y="3"/>
                      <a:pt x="26" y="3"/>
                      <a:pt x="26" y="3"/>
                    </a:cubicBezTo>
                    <a:cubicBezTo>
                      <a:pt x="29" y="3"/>
                      <a:pt x="32" y="3"/>
                      <a:pt x="35" y="3"/>
                    </a:cubicBezTo>
                    <a:cubicBezTo>
                      <a:pt x="35" y="3"/>
                      <a:pt x="35" y="3"/>
                      <a:pt x="35" y="3"/>
                    </a:cubicBezTo>
                    <a:cubicBezTo>
                      <a:pt x="38" y="2"/>
                      <a:pt x="41" y="2"/>
                      <a:pt x="44" y="2"/>
                    </a:cubicBezTo>
                    <a:cubicBezTo>
                      <a:pt x="45" y="2"/>
                      <a:pt x="46" y="1"/>
                      <a:pt x="48" y="1"/>
                    </a:cubicBezTo>
                    <a:cubicBezTo>
                      <a:pt x="48" y="0"/>
                      <a:pt x="58" y="0"/>
                      <a:pt x="60" y="0"/>
                    </a:cubicBezTo>
                    <a:cubicBezTo>
                      <a:pt x="61" y="0"/>
                      <a:pt x="62" y="0"/>
                      <a:pt x="62" y="1"/>
                    </a:cubicBezTo>
                    <a:cubicBezTo>
                      <a:pt x="63" y="1"/>
                      <a:pt x="64" y="1"/>
                      <a:pt x="64" y="1"/>
                    </a:cubicBezTo>
                    <a:cubicBezTo>
                      <a:pt x="64" y="1"/>
                      <a:pt x="65" y="1"/>
                      <a:pt x="65" y="1"/>
                    </a:cubicBezTo>
                    <a:cubicBezTo>
                      <a:pt x="65" y="1"/>
                      <a:pt x="66" y="1"/>
                      <a:pt x="66" y="1"/>
                    </a:cubicBezTo>
                    <a:cubicBezTo>
                      <a:pt x="67" y="1"/>
                      <a:pt x="68" y="2"/>
                      <a:pt x="69" y="2"/>
                    </a:cubicBezTo>
                    <a:cubicBezTo>
                      <a:pt x="70" y="3"/>
                      <a:pt x="71" y="3"/>
                      <a:pt x="72" y="4"/>
                    </a:cubicBezTo>
                    <a:cubicBezTo>
                      <a:pt x="72" y="5"/>
                      <a:pt x="73" y="5"/>
                      <a:pt x="74" y="6"/>
                    </a:cubicBezTo>
                    <a:cubicBezTo>
                      <a:pt x="74" y="7"/>
                      <a:pt x="74" y="8"/>
                      <a:pt x="74" y="9"/>
                    </a:cubicBezTo>
                    <a:cubicBezTo>
                      <a:pt x="74" y="10"/>
                      <a:pt x="74" y="11"/>
                      <a:pt x="75" y="12"/>
                    </a:cubicBezTo>
                    <a:cubicBezTo>
                      <a:pt x="74" y="13"/>
                      <a:pt x="74" y="13"/>
                      <a:pt x="74" y="14"/>
                    </a:cubicBezTo>
                    <a:cubicBezTo>
                      <a:pt x="74" y="14"/>
                      <a:pt x="74" y="14"/>
                      <a:pt x="74" y="15"/>
                    </a:cubicBezTo>
                    <a:cubicBezTo>
                      <a:pt x="74" y="15"/>
                      <a:pt x="74" y="15"/>
                      <a:pt x="74" y="16"/>
                    </a:cubicBezTo>
                    <a:cubicBezTo>
                      <a:pt x="74" y="16"/>
                      <a:pt x="73" y="17"/>
                      <a:pt x="73" y="17"/>
                    </a:cubicBezTo>
                    <a:cubicBezTo>
                      <a:pt x="73" y="18"/>
                      <a:pt x="72" y="19"/>
                      <a:pt x="71" y="19"/>
                    </a:cubicBezTo>
                    <a:cubicBezTo>
                      <a:pt x="71" y="20"/>
                      <a:pt x="70" y="20"/>
                      <a:pt x="69" y="21"/>
                    </a:cubicBezTo>
                    <a:cubicBezTo>
                      <a:pt x="68" y="21"/>
                      <a:pt x="65" y="22"/>
                      <a:pt x="63" y="22"/>
                    </a:cubicBezTo>
                    <a:cubicBezTo>
                      <a:pt x="63" y="23"/>
                      <a:pt x="62" y="23"/>
                      <a:pt x="62" y="23"/>
                    </a:cubicBezTo>
                    <a:cubicBezTo>
                      <a:pt x="60" y="23"/>
                      <a:pt x="59" y="24"/>
                      <a:pt x="58" y="24"/>
                    </a:cubicBezTo>
                    <a:cubicBezTo>
                      <a:pt x="57" y="24"/>
                      <a:pt x="57" y="25"/>
                      <a:pt x="55" y="25"/>
                    </a:cubicBezTo>
                    <a:cubicBezTo>
                      <a:pt x="54" y="25"/>
                      <a:pt x="54" y="26"/>
                      <a:pt x="53" y="26"/>
                    </a:cubicBezTo>
                    <a:cubicBezTo>
                      <a:pt x="52" y="26"/>
                      <a:pt x="52" y="26"/>
                      <a:pt x="52" y="26"/>
                    </a:cubicBezTo>
                    <a:cubicBezTo>
                      <a:pt x="50" y="26"/>
                      <a:pt x="49" y="27"/>
                      <a:pt x="47" y="27"/>
                    </a:cubicBezTo>
                    <a:cubicBezTo>
                      <a:pt x="46" y="27"/>
                      <a:pt x="45" y="27"/>
                      <a:pt x="44"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4" name="Freeform 12"/>
              <p:cNvSpPr/>
              <p:nvPr/>
            </p:nvSpPr>
            <p:spPr bwMode="auto">
              <a:xfrm>
                <a:off x="5097463" y="3309938"/>
                <a:ext cx="161925" cy="173038"/>
              </a:xfrm>
              <a:custGeom>
                <a:avLst/>
                <a:gdLst>
                  <a:gd name="T0" fmla="*/ 29 w 43"/>
                  <a:gd name="T1" fmla="*/ 46 h 46"/>
                  <a:gd name="T2" fmla="*/ 27 w 43"/>
                  <a:gd name="T3" fmla="*/ 45 h 46"/>
                  <a:gd name="T4" fmla="*/ 26 w 43"/>
                  <a:gd name="T5" fmla="*/ 44 h 46"/>
                  <a:gd name="T6" fmla="*/ 24 w 43"/>
                  <a:gd name="T7" fmla="*/ 40 h 46"/>
                  <a:gd name="T8" fmla="*/ 21 w 43"/>
                  <a:gd name="T9" fmla="*/ 35 h 46"/>
                  <a:gd name="T10" fmla="*/ 19 w 43"/>
                  <a:gd name="T11" fmla="*/ 31 h 46"/>
                  <a:gd name="T12" fmla="*/ 16 w 43"/>
                  <a:gd name="T13" fmla="*/ 26 h 46"/>
                  <a:gd name="T14" fmla="*/ 11 w 43"/>
                  <a:gd name="T15" fmla="*/ 21 h 46"/>
                  <a:gd name="T16" fmla="*/ 9 w 43"/>
                  <a:gd name="T17" fmla="*/ 20 h 46"/>
                  <a:gd name="T18" fmla="*/ 8 w 43"/>
                  <a:gd name="T19" fmla="*/ 18 h 46"/>
                  <a:gd name="T20" fmla="*/ 7 w 43"/>
                  <a:gd name="T21" fmla="*/ 18 h 46"/>
                  <a:gd name="T22" fmla="*/ 5 w 43"/>
                  <a:gd name="T23" fmla="*/ 17 h 46"/>
                  <a:gd name="T24" fmla="*/ 5 w 43"/>
                  <a:gd name="T25" fmla="*/ 16 h 46"/>
                  <a:gd name="T26" fmla="*/ 3 w 43"/>
                  <a:gd name="T27" fmla="*/ 14 h 46"/>
                  <a:gd name="T28" fmla="*/ 3 w 43"/>
                  <a:gd name="T29" fmla="*/ 14 h 46"/>
                  <a:gd name="T30" fmla="*/ 1 w 43"/>
                  <a:gd name="T31" fmla="*/ 12 h 46"/>
                  <a:gd name="T32" fmla="*/ 0 w 43"/>
                  <a:gd name="T33" fmla="*/ 10 h 46"/>
                  <a:gd name="T34" fmla="*/ 0 w 43"/>
                  <a:gd name="T35" fmla="*/ 9 h 46"/>
                  <a:gd name="T36" fmla="*/ 0 w 43"/>
                  <a:gd name="T37" fmla="*/ 6 h 46"/>
                  <a:gd name="T38" fmla="*/ 2 w 43"/>
                  <a:gd name="T39" fmla="*/ 3 h 46"/>
                  <a:gd name="T40" fmla="*/ 3 w 43"/>
                  <a:gd name="T41" fmla="*/ 1 h 46"/>
                  <a:gd name="T42" fmla="*/ 7 w 43"/>
                  <a:gd name="T43" fmla="*/ 0 h 46"/>
                  <a:gd name="T44" fmla="*/ 10 w 43"/>
                  <a:gd name="T45" fmla="*/ 0 h 46"/>
                  <a:gd name="T46" fmla="*/ 13 w 43"/>
                  <a:gd name="T47" fmla="*/ 1 h 46"/>
                  <a:gd name="T48" fmla="*/ 15 w 43"/>
                  <a:gd name="T49" fmla="*/ 2 h 46"/>
                  <a:gd name="T50" fmla="*/ 18 w 43"/>
                  <a:gd name="T51" fmla="*/ 3 h 46"/>
                  <a:gd name="T52" fmla="*/ 21 w 43"/>
                  <a:gd name="T53" fmla="*/ 3 h 46"/>
                  <a:gd name="T54" fmla="*/ 24 w 43"/>
                  <a:gd name="T55" fmla="*/ 4 h 46"/>
                  <a:gd name="T56" fmla="*/ 28 w 43"/>
                  <a:gd name="T57" fmla="*/ 4 h 46"/>
                  <a:gd name="T58" fmla="*/ 31 w 43"/>
                  <a:gd name="T59" fmla="*/ 5 h 46"/>
                  <a:gd name="T60" fmla="*/ 33 w 43"/>
                  <a:gd name="T61" fmla="*/ 7 h 46"/>
                  <a:gd name="T62" fmla="*/ 34 w 43"/>
                  <a:gd name="T63" fmla="*/ 7 h 46"/>
                  <a:gd name="T64" fmla="*/ 37 w 43"/>
                  <a:gd name="T65" fmla="*/ 8 h 46"/>
                  <a:gd name="T66" fmla="*/ 39 w 43"/>
                  <a:gd name="T67" fmla="*/ 9 h 46"/>
                  <a:gd name="T68" fmla="*/ 40 w 43"/>
                  <a:gd name="T69" fmla="*/ 11 h 46"/>
                  <a:gd name="T70" fmla="*/ 42 w 43"/>
                  <a:gd name="T71" fmla="*/ 13 h 46"/>
                  <a:gd name="T72" fmla="*/ 43 w 43"/>
                  <a:gd name="T73" fmla="*/ 16 h 46"/>
                  <a:gd name="T74" fmla="*/ 43 w 43"/>
                  <a:gd name="T75" fmla="*/ 19 h 46"/>
                  <a:gd name="T76" fmla="*/ 43 w 43"/>
                  <a:gd name="T77" fmla="*/ 22 h 46"/>
                  <a:gd name="T78" fmla="*/ 42 w 43"/>
                  <a:gd name="T79" fmla="*/ 25 h 46"/>
                  <a:gd name="T80" fmla="*/ 43 w 43"/>
                  <a:gd name="T81" fmla="*/ 28 h 46"/>
                  <a:gd name="T82" fmla="*/ 43 w 43"/>
                  <a:gd name="T83" fmla="*/ 30 h 46"/>
                  <a:gd name="T84" fmla="*/ 42 w 43"/>
                  <a:gd name="T85" fmla="*/ 35 h 46"/>
                  <a:gd name="T86" fmla="*/ 41 w 43"/>
                  <a:gd name="T87" fmla="*/ 38 h 46"/>
                  <a:gd name="T88" fmla="*/ 39 w 43"/>
                  <a:gd name="T89" fmla="*/ 40 h 46"/>
                  <a:gd name="T90" fmla="*/ 35 w 43"/>
                  <a:gd name="T91" fmla="*/ 45 h 46"/>
                  <a:gd name="T92" fmla="*/ 33 w 43"/>
                  <a:gd name="T93" fmla="*/ 46 h 46"/>
                  <a:gd name="T94" fmla="*/ 31 w 43"/>
                  <a:gd name="T95" fmla="*/ 46 h 46"/>
                  <a:gd name="T96" fmla="*/ 29 w 43"/>
                  <a:gd name="T9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46">
                    <a:moveTo>
                      <a:pt x="29" y="46"/>
                    </a:moveTo>
                    <a:cubicBezTo>
                      <a:pt x="28" y="46"/>
                      <a:pt x="29" y="46"/>
                      <a:pt x="27" y="45"/>
                    </a:cubicBezTo>
                    <a:cubicBezTo>
                      <a:pt x="27" y="45"/>
                      <a:pt x="26" y="44"/>
                      <a:pt x="26" y="44"/>
                    </a:cubicBezTo>
                    <a:cubicBezTo>
                      <a:pt x="25" y="43"/>
                      <a:pt x="24" y="41"/>
                      <a:pt x="24" y="40"/>
                    </a:cubicBezTo>
                    <a:cubicBezTo>
                      <a:pt x="23" y="38"/>
                      <a:pt x="22" y="37"/>
                      <a:pt x="21" y="35"/>
                    </a:cubicBezTo>
                    <a:cubicBezTo>
                      <a:pt x="21" y="34"/>
                      <a:pt x="19" y="31"/>
                      <a:pt x="19" y="31"/>
                    </a:cubicBezTo>
                    <a:cubicBezTo>
                      <a:pt x="18" y="29"/>
                      <a:pt x="17" y="27"/>
                      <a:pt x="16" y="26"/>
                    </a:cubicBezTo>
                    <a:cubicBezTo>
                      <a:pt x="14" y="24"/>
                      <a:pt x="13" y="22"/>
                      <a:pt x="11" y="21"/>
                    </a:cubicBezTo>
                    <a:cubicBezTo>
                      <a:pt x="10" y="20"/>
                      <a:pt x="10" y="20"/>
                      <a:pt x="9" y="20"/>
                    </a:cubicBezTo>
                    <a:cubicBezTo>
                      <a:pt x="9" y="19"/>
                      <a:pt x="8" y="19"/>
                      <a:pt x="8" y="18"/>
                    </a:cubicBezTo>
                    <a:cubicBezTo>
                      <a:pt x="7" y="18"/>
                      <a:pt x="7" y="18"/>
                      <a:pt x="7" y="18"/>
                    </a:cubicBezTo>
                    <a:cubicBezTo>
                      <a:pt x="6" y="17"/>
                      <a:pt x="5" y="17"/>
                      <a:pt x="5" y="17"/>
                    </a:cubicBezTo>
                    <a:cubicBezTo>
                      <a:pt x="5" y="16"/>
                      <a:pt x="5" y="16"/>
                      <a:pt x="5" y="16"/>
                    </a:cubicBezTo>
                    <a:cubicBezTo>
                      <a:pt x="5" y="16"/>
                      <a:pt x="3" y="15"/>
                      <a:pt x="3" y="14"/>
                    </a:cubicBezTo>
                    <a:cubicBezTo>
                      <a:pt x="3" y="14"/>
                      <a:pt x="3" y="14"/>
                      <a:pt x="3" y="14"/>
                    </a:cubicBezTo>
                    <a:cubicBezTo>
                      <a:pt x="2" y="13"/>
                      <a:pt x="1" y="13"/>
                      <a:pt x="1" y="12"/>
                    </a:cubicBezTo>
                    <a:cubicBezTo>
                      <a:pt x="0" y="11"/>
                      <a:pt x="1" y="11"/>
                      <a:pt x="0" y="10"/>
                    </a:cubicBezTo>
                    <a:cubicBezTo>
                      <a:pt x="0" y="10"/>
                      <a:pt x="0" y="9"/>
                      <a:pt x="0" y="9"/>
                    </a:cubicBezTo>
                    <a:cubicBezTo>
                      <a:pt x="0" y="8"/>
                      <a:pt x="0" y="7"/>
                      <a:pt x="0" y="6"/>
                    </a:cubicBezTo>
                    <a:cubicBezTo>
                      <a:pt x="0" y="6"/>
                      <a:pt x="1" y="4"/>
                      <a:pt x="2" y="3"/>
                    </a:cubicBezTo>
                    <a:cubicBezTo>
                      <a:pt x="2" y="2"/>
                      <a:pt x="2" y="2"/>
                      <a:pt x="3" y="1"/>
                    </a:cubicBezTo>
                    <a:cubicBezTo>
                      <a:pt x="3" y="1"/>
                      <a:pt x="5" y="0"/>
                      <a:pt x="7" y="0"/>
                    </a:cubicBezTo>
                    <a:cubicBezTo>
                      <a:pt x="8" y="0"/>
                      <a:pt x="9" y="0"/>
                      <a:pt x="10" y="0"/>
                    </a:cubicBezTo>
                    <a:cubicBezTo>
                      <a:pt x="11" y="0"/>
                      <a:pt x="12" y="1"/>
                      <a:pt x="13" y="1"/>
                    </a:cubicBezTo>
                    <a:cubicBezTo>
                      <a:pt x="14" y="1"/>
                      <a:pt x="14" y="1"/>
                      <a:pt x="15" y="2"/>
                    </a:cubicBezTo>
                    <a:cubicBezTo>
                      <a:pt x="16" y="2"/>
                      <a:pt x="18" y="3"/>
                      <a:pt x="18" y="3"/>
                    </a:cubicBezTo>
                    <a:cubicBezTo>
                      <a:pt x="19" y="3"/>
                      <a:pt x="20" y="3"/>
                      <a:pt x="21" y="3"/>
                    </a:cubicBezTo>
                    <a:cubicBezTo>
                      <a:pt x="22" y="3"/>
                      <a:pt x="23" y="3"/>
                      <a:pt x="24" y="4"/>
                    </a:cubicBezTo>
                    <a:cubicBezTo>
                      <a:pt x="26" y="4"/>
                      <a:pt x="26" y="4"/>
                      <a:pt x="28" y="4"/>
                    </a:cubicBezTo>
                    <a:cubicBezTo>
                      <a:pt x="28" y="4"/>
                      <a:pt x="30" y="5"/>
                      <a:pt x="31" y="5"/>
                    </a:cubicBezTo>
                    <a:cubicBezTo>
                      <a:pt x="32" y="6"/>
                      <a:pt x="33" y="6"/>
                      <a:pt x="33" y="7"/>
                    </a:cubicBezTo>
                    <a:cubicBezTo>
                      <a:pt x="34" y="7"/>
                      <a:pt x="34" y="7"/>
                      <a:pt x="34" y="7"/>
                    </a:cubicBezTo>
                    <a:cubicBezTo>
                      <a:pt x="35" y="7"/>
                      <a:pt x="36" y="8"/>
                      <a:pt x="37" y="8"/>
                    </a:cubicBezTo>
                    <a:cubicBezTo>
                      <a:pt x="37" y="9"/>
                      <a:pt x="38" y="9"/>
                      <a:pt x="39" y="9"/>
                    </a:cubicBezTo>
                    <a:cubicBezTo>
                      <a:pt x="40" y="10"/>
                      <a:pt x="39" y="10"/>
                      <a:pt x="40" y="11"/>
                    </a:cubicBezTo>
                    <a:cubicBezTo>
                      <a:pt x="42" y="11"/>
                      <a:pt x="42" y="12"/>
                      <a:pt x="42" y="13"/>
                    </a:cubicBezTo>
                    <a:cubicBezTo>
                      <a:pt x="43" y="14"/>
                      <a:pt x="43" y="15"/>
                      <a:pt x="43" y="16"/>
                    </a:cubicBezTo>
                    <a:cubicBezTo>
                      <a:pt x="43" y="17"/>
                      <a:pt x="43" y="18"/>
                      <a:pt x="43" y="19"/>
                    </a:cubicBezTo>
                    <a:cubicBezTo>
                      <a:pt x="43" y="19"/>
                      <a:pt x="43" y="21"/>
                      <a:pt x="43" y="22"/>
                    </a:cubicBezTo>
                    <a:cubicBezTo>
                      <a:pt x="42" y="23"/>
                      <a:pt x="43" y="24"/>
                      <a:pt x="42" y="25"/>
                    </a:cubicBezTo>
                    <a:cubicBezTo>
                      <a:pt x="42" y="26"/>
                      <a:pt x="42" y="28"/>
                      <a:pt x="43" y="28"/>
                    </a:cubicBezTo>
                    <a:cubicBezTo>
                      <a:pt x="43" y="28"/>
                      <a:pt x="43" y="30"/>
                      <a:pt x="43" y="30"/>
                    </a:cubicBezTo>
                    <a:cubicBezTo>
                      <a:pt x="43" y="32"/>
                      <a:pt x="42" y="34"/>
                      <a:pt x="42" y="35"/>
                    </a:cubicBezTo>
                    <a:cubicBezTo>
                      <a:pt x="42" y="37"/>
                      <a:pt x="41" y="37"/>
                      <a:pt x="41" y="38"/>
                    </a:cubicBezTo>
                    <a:cubicBezTo>
                      <a:pt x="40" y="38"/>
                      <a:pt x="41" y="38"/>
                      <a:pt x="39" y="40"/>
                    </a:cubicBezTo>
                    <a:cubicBezTo>
                      <a:pt x="39" y="40"/>
                      <a:pt x="36" y="44"/>
                      <a:pt x="35" y="45"/>
                    </a:cubicBezTo>
                    <a:cubicBezTo>
                      <a:pt x="35" y="45"/>
                      <a:pt x="33" y="46"/>
                      <a:pt x="33" y="46"/>
                    </a:cubicBezTo>
                    <a:cubicBezTo>
                      <a:pt x="33" y="46"/>
                      <a:pt x="32" y="46"/>
                      <a:pt x="31" y="46"/>
                    </a:cubicBezTo>
                    <a:cubicBezTo>
                      <a:pt x="31" y="46"/>
                      <a:pt x="30" y="46"/>
                      <a:pt x="29"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5" name="Freeform 13"/>
              <p:cNvSpPr/>
              <p:nvPr/>
            </p:nvSpPr>
            <p:spPr bwMode="auto">
              <a:xfrm>
                <a:off x="4908551" y="3041650"/>
                <a:ext cx="325438" cy="395288"/>
              </a:xfrm>
              <a:custGeom>
                <a:avLst/>
                <a:gdLst>
                  <a:gd name="T0" fmla="*/ 6 w 86"/>
                  <a:gd name="T1" fmla="*/ 104 h 105"/>
                  <a:gd name="T2" fmla="*/ 2 w 86"/>
                  <a:gd name="T3" fmla="*/ 99 h 105"/>
                  <a:gd name="T4" fmla="*/ 2 w 86"/>
                  <a:gd name="T5" fmla="*/ 88 h 105"/>
                  <a:gd name="T6" fmla="*/ 8 w 86"/>
                  <a:gd name="T7" fmla="*/ 78 h 105"/>
                  <a:gd name="T8" fmla="*/ 15 w 86"/>
                  <a:gd name="T9" fmla="*/ 65 h 105"/>
                  <a:gd name="T10" fmla="*/ 16 w 86"/>
                  <a:gd name="T11" fmla="*/ 59 h 105"/>
                  <a:gd name="T12" fmla="*/ 13 w 86"/>
                  <a:gd name="T13" fmla="*/ 58 h 105"/>
                  <a:gd name="T14" fmla="*/ 7 w 86"/>
                  <a:gd name="T15" fmla="*/ 55 h 105"/>
                  <a:gd name="T16" fmla="*/ 3 w 86"/>
                  <a:gd name="T17" fmla="*/ 49 h 105"/>
                  <a:gd name="T18" fmla="*/ 4 w 86"/>
                  <a:gd name="T19" fmla="*/ 39 h 105"/>
                  <a:gd name="T20" fmla="*/ 9 w 86"/>
                  <a:gd name="T21" fmla="*/ 35 h 105"/>
                  <a:gd name="T22" fmla="*/ 13 w 86"/>
                  <a:gd name="T23" fmla="*/ 33 h 105"/>
                  <a:gd name="T24" fmla="*/ 26 w 86"/>
                  <a:gd name="T25" fmla="*/ 32 h 105"/>
                  <a:gd name="T26" fmla="*/ 28 w 86"/>
                  <a:gd name="T27" fmla="*/ 28 h 105"/>
                  <a:gd name="T28" fmla="*/ 27 w 86"/>
                  <a:gd name="T29" fmla="*/ 25 h 105"/>
                  <a:gd name="T30" fmla="*/ 24 w 86"/>
                  <a:gd name="T31" fmla="*/ 19 h 105"/>
                  <a:gd name="T32" fmla="*/ 28 w 86"/>
                  <a:gd name="T33" fmla="*/ 6 h 105"/>
                  <a:gd name="T34" fmla="*/ 32 w 86"/>
                  <a:gd name="T35" fmla="*/ 1 h 105"/>
                  <a:gd name="T36" fmla="*/ 40 w 86"/>
                  <a:gd name="T37" fmla="*/ 0 h 105"/>
                  <a:gd name="T38" fmla="*/ 44 w 86"/>
                  <a:gd name="T39" fmla="*/ 2 h 105"/>
                  <a:gd name="T40" fmla="*/ 51 w 86"/>
                  <a:gd name="T41" fmla="*/ 12 h 105"/>
                  <a:gd name="T42" fmla="*/ 52 w 86"/>
                  <a:gd name="T43" fmla="*/ 22 h 105"/>
                  <a:gd name="T44" fmla="*/ 55 w 86"/>
                  <a:gd name="T45" fmla="*/ 26 h 105"/>
                  <a:gd name="T46" fmla="*/ 58 w 86"/>
                  <a:gd name="T47" fmla="*/ 25 h 105"/>
                  <a:gd name="T48" fmla="*/ 61 w 86"/>
                  <a:gd name="T49" fmla="*/ 22 h 105"/>
                  <a:gd name="T50" fmla="*/ 64 w 86"/>
                  <a:gd name="T51" fmla="*/ 20 h 105"/>
                  <a:gd name="T52" fmla="*/ 67 w 86"/>
                  <a:gd name="T53" fmla="*/ 19 h 105"/>
                  <a:gd name="T54" fmla="*/ 71 w 86"/>
                  <a:gd name="T55" fmla="*/ 20 h 105"/>
                  <a:gd name="T56" fmla="*/ 74 w 86"/>
                  <a:gd name="T57" fmla="*/ 22 h 105"/>
                  <a:gd name="T58" fmla="*/ 76 w 86"/>
                  <a:gd name="T59" fmla="*/ 24 h 105"/>
                  <a:gd name="T60" fmla="*/ 78 w 86"/>
                  <a:gd name="T61" fmla="*/ 26 h 105"/>
                  <a:gd name="T62" fmla="*/ 82 w 86"/>
                  <a:gd name="T63" fmla="*/ 28 h 105"/>
                  <a:gd name="T64" fmla="*/ 86 w 86"/>
                  <a:gd name="T65" fmla="*/ 33 h 105"/>
                  <a:gd name="T66" fmla="*/ 85 w 86"/>
                  <a:gd name="T67" fmla="*/ 35 h 105"/>
                  <a:gd name="T68" fmla="*/ 85 w 86"/>
                  <a:gd name="T69" fmla="*/ 37 h 105"/>
                  <a:gd name="T70" fmla="*/ 85 w 86"/>
                  <a:gd name="T71" fmla="*/ 38 h 105"/>
                  <a:gd name="T72" fmla="*/ 84 w 86"/>
                  <a:gd name="T73" fmla="*/ 39 h 105"/>
                  <a:gd name="T74" fmla="*/ 80 w 86"/>
                  <a:gd name="T75" fmla="*/ 41 h 105"/>
                  <a:gd name="T76" fmla="*/ 78 w 86"/>
                  <a:gd name="T77" fmla="*/ 43 h 105"/>
                  <a:gd name="T78" fmla="*/ 76 w 86"/>
                  <a:gd name="T79" fmla="*/ 44 h 105"/>
                  <a:gd name="T80" fmla="*/ 70 w 86"/>
                  <a:gd name="T81" fmla="*/ 47 h 105"/>
                  <a:gd name="T82" fmla="*/ 66 w 86"/>
                  <a:gd name="T83" fmla="*/ 49 h 105"/>
                  <a:gd name="T84" fmla="*/ 51 w 86"/>
                  <a:gd name="T85" fmla="*/ 54 h 105"/>
                  <a:gd name="T86" fmla="*/ 46 w 86"/>
                  <a:gd name="T87" fmla="*/ 56 h 105"/>
                  <a:gd name="T88" fmla="*/ 41 w 86"/>
                  <a:gd name="T89" fmla="*/ 59 h 105"/>
                  <a:gd name="T90" fmla="*/ 37 w 86"/>
                  <a:gd name="T91" fmla="*/ 64 h 105"/>
                  <a:gd name="T92" fmla="*/ 36 w 86"/>
                  <a:gd name="T93" fmla="*/ 67 h 105"/>
                  <a:gd name="T94" fmla="*/ 35 w 86"/>
                  <a:gd name="T95" fmla="*/ 68 h 105"/>
                  <a:gd name="T96" fmla="*/ 32 w 86"/>
                  <a:gd name="T97" fmla="*/ 72 h 105"/>
                  <a:gd name="T98" fmla="*/ 29 w 86"/>
                  <a:gd name="T99" fmla="*/ 79 h 105"/>
                  <a:gd name="T100" fmla="*/ 25 w 86"/>
                  <a:gd name="T101" fmla="*/ 88 h 105"/>
                  <a:gd name="T102" fmla="*/ 19 w 86"/>
                  <a:gd name="T103" fmla="*/ 100 h 105"/>
                  <a:gd name="T104" fmla="*/ 12 w 86"/>
                  <a:gd name="T105" fmla="*/ 10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05">
                    <a:moveTo>
                      <a:pt x="9" y="105"/>
                    </a:moveTo>
                    <a:cubicBezTo>
                      <a:pt x="8" y="105"/>
                      <a:pt x="6" y="104"/>
                      <a:pt x="6" y="104"/>
                    </a:cubicBezTo>
                    <a:cubicBezTo>
                      <a:pt x="5" y="103"/>
                      <a:pt x="4" y="102"/>
                      <a:pt x="4" y="102"/>
                    </a:cubicBezTo>
                    <a:cubicBezTo>
                      <a:pt x="3" y="100"/>
                      <a:pt x="2" y="100"/>
                      <a:pt x="2" y="99"/>
                    </a:cubicBezTo>
                    <a:cubicBezTo>
                      <a:pt x="1" y="98"/>
                      <a:pt x="0" y="96"/>
                      <a:pt x="0" y="96"/>
                    </a:cubicBezTo>
                    <a:cubicBezTo>
                      <a:pt x="0" y="92"/>
                      <a:pt x="1" y="90"/>
                      <a:pt x="2" y="88"/>
                    </a:cubicBezTo>
                    <a:cubicBezTo>
                      <a:pt x="3" y="86"/>
                      <a:pt x="4" y="84"/>
                      <a:pt x="6" y="83"/>
                    </a:cubicBezTo>
                    <a:cubicBezTo>
                      <a:pt x="6" y="81"/>
                      <a:pt x="7" y="79"/>
                      <a:pt x="8" y="78"/>
                    </a:cubicBezTo>
                    <a:cubicBezTo>
                      <a:pt x="8" y="77"/>
                      <a:pt x="8" y="77"/>
                      <a:pt x="9" y="77"/>
                    </a:cubicBezTo>
                    <a:cubicBezTo>
                      <a:pt x="9" y="72"/>
                      <a:pt x="13" y="69"/>
                      <a:pt x="15" y="65"/>
                    </a:cubicBezTo>
                    <a:cubicBezTo>
                      <a:pt x="16" y="63"/>
                      <a:pt x="17" y="62"/>
                      <a:pt x="17" y="60"/>
                    </a:cubicBezTo>
                    <a:cubicBezTo>
                      <a:pt x="17" y="60"/>
                      <a:pt x="16" y="59"/>
                      <a:pt x="16" y="59"/>
                    </a:cubicBezTo>
                    <a:cubicBezTo>
                      <a:pt x="16" y="59"/>
                      <a:pt x="15" y="59"/>
                      <a:pt x="15" y="58"/>
                    </a:cubicBezTo>
                    <a:cubicBezTo>
                      <a:pt x="14" y="58"/>
                      <a:pt x="14" y="58"/>
                      <a:pt x="13" y="58"/>
                    </a:cubicBezTo>
                    <a:cubicBezTo>
                      <a:pt x="13" y="57"/>
                      <a:pt x="12" y="57"/>
                      <a:pt x="12" y="57"/>
                    </a:cubicBezTo>
                    <a:cubicBezTo>
                      <a:pt x="10" y="56"/>
                      <a:pt x="9" y="55"/>
                      <a:pt x="7" y="55"/>
                    </a:cubicBezTo>
                    <a:cubicBezTo>
                      <a:pt x="5" y="53"/>
                      <a:pt x="3" y="51"/>
                      <a:pt x="3" y="50"/>
                    </a:cubicBezTo>
                    <a:cubicBezTo>
                      <a:pt x="3" y="50"/>
                      <a:pt x="3" y="49"/>
                      <a:pt x="3" y="49"/>
                    </a:cubicBezTo>
                    <a:cubicBezTo>
                      <a:pt x="3" y="46"/>
                      <a:pt x="3" y="43"/>
                      <a:pt x="4" y="41"/>
                    </a:cubicBezTo>
                    <a:cubicBezTo>
                      <a:pt x="4" y="40"/>
                      <a:pt x="4" y="39"/>
                      <a:pt x="4" y="39"/>
                    </a:cubicBezTo>
                    <a:cubicBezTo>
                      <a:pt x="5" y="38"/>
                      <a:pt x="5" y="37"/>
                      <a:pt x="6" y="36"/>
                    </a:cubicBezTo>
                    <a:cubicBezTo>
                      <a:pt x="7" y="36"/>
                      <a:pt x="7" y="35"/>
                      <a:pt x="9" y="35"/>
                    </a:cubicBezTo>
                    <a:cubicBezTo>
                      <a:pt x="9" y="34"/>
                      <a:pt x="10" y="34"/>
                      <a:pt x="12" y="34"/>
                    </a:cubicBezTo>
                    <a:cubicBezTo>
                      <a:pt x="12" y="34"/>
                      <a:pt x="12" y="33"/>
                      <a:pt x="13" y="33"/>
                    </a:cubicBezTo>
                    <a:cubicBezTo>
                      <a:pt x="13" y="33"/>
                      <a:pt x="14" y="33"/>
                      <a:pt x="14" y="33"/>
                    </a:cubicBezTo>
                    <a:cubicBezTo>
                      <a:pt x="15" y="32"/>
                      <a:pt x="24" y="32"/>
                      <a:pt x="26" y="32"/>
                    </a:cubicBezTo>
                    <a:cubicBezTo>
                      <a:pt x="26" y="32"/>
                      <a:pt x="27" y="32"/>
                      <a:pt x="27" y="31"/>
                    </a:cubicBezTo>
                    <a:cubicBezTo>
                      <a:pt x="27" y="30"/>
                      <a:pt x="27" y="29"/>
                      <a:pt x="28" y="28"/>
                    </a:cubicBezTo>
                    <a:cubicBezTo>
                      <a:pt x="27" y="28"/>
                      <a:pt x="27" y="28"/>
                      <a:pt x="27" y="28"/>
                    </a:cubicBezTo>
                    <a:cubicBezTo>
                      <a:pt x="27" y="27"/>
                      <a:pt x="27" y="26"/>
                      <a:pt x="27" y="25"/>
                    </a:cubicBezTo>
                    <a:cubicBezTo>
                      <a:pt x="27" y="24"/>
                      <a:pt x="27" y="23"/>
                      <a:pt x="27" y="22"/>
                    </a:cubicBezTo>
                    <a:cubicBezTo>
                      <a:pt x="25" y="21"/>
                      <a:pt x="25" y="19"/>
                      <a:pt x="24" y="19"/>
                    </a:cubicBezTo>
                    <a:cubicBezTo>
                      <a:pt x="24" y="17"/>
                      <a:pt x="24" y="16"/>
                      <a:pt x="24" y="14"/>
                    </a:cubicBezTo>
                    <a:cubicBezTo>
                      <a:pt x="25" y="10"/>
                      <a:pt x="26" y="8"/>
                      <a:pt x="28" y="6"/>
                    </a:cubicBezTo>
                    <a:cubicBezTo>
                      <a:pt x="28" y="5"/>
                      <a:pt x="29" y="4"/>
                      <a:pt x="30" y="3"/>
                    </a:cubicBezTo>
                    <a:cubicBezTo>
                      <a:pt x="30" y="3"/>
                      <a:pt x="31" y="2"/>
                      <a:pt x="32" y="1"/>
                    </a:cubicBezTo>
                    <a:cubicBezTo>
                      <a:pt x="32" y="1"/>
                      <a:pt x="33" y="0"/>
                      <a:pt x="35" y="0"/>
                    </a:cubicBezTo>
                    <a:cubicBezTo>
                      <a:pt x="36" y="0"/>
                      <a:pt x="38" y="0"/>
                      <a:pt x="40" y="0"/>
                    </a:cubicBezTo>
                    <a:cubicBezTo>
                      <a:pt x="40" y="0"/>
                      <a:pt x="41" y="1"/>
                      <a:pt x="42" y="1"/>
                    </a:cubicBezTo>
                    <a:cubicBezTo>
                      <a:pt x="42" y="1"/>
                      <a:pt x="43" y="2"/>
                      <a:pt x="44" y="2"/>
                    </a:cubicBezTo>
                    <a:cubicBezTo>
                      <a:pt x="44" y="2"/>
                      <a:pt x="46" y="5"/>
                      <a:pt x="46" y="5"/>
                    </a:cubicBezTo>
                    <a:cubicBezTo>
                      <a:pt x="48" y="7"/>
                      <a:pt x="49" y="8"/>
                      <a:pt x="51" y="12"/>
                    </a:cubicBezTo>
                    <a:cubicBezTo>
                      <a:pt x="51" y="13"/>
                      <a:pt x="51" y="14"/>
                      <a:pt x="52" y="15"/>
                    </a:cubicBezTo>
                    <a:cubicBezTo>
                      <a:pt x="52" y="17"/>
                      <a:pt x="52" y="20"/>
                      <a:pt x="52" y="22"/>
                    </a:cubicBezTo>
                    <a:cubicBezTo>
                      <a:pt x="52" y="23"/>
                      <a:pt x="52" y="25"/>
                      <a:pt x="52" y="27"/>
                    </a:cubicBezTo>
                    <a:cubicBezTo>
                      <a:pt x="53" y="27"/>
                      <a:pt x="53" y="26"/>
                      <a:pt x="55" y="26"/>
                    </a:cubicBezTo>
                    <a:cubicBezTo>
                      <a:pt x="55" y="26"/>
                      <a:pt x="55" y="25"/>
                      <a:pt x="56" y="25"/>
                    </a:cubicBezTo>
                    <a:cubicBezTo>
                      <a:pt x="57" y="25"/>
                      <a:pt x="57" y="25"/>
                      <a:pt x="58" y="25"/>
                    </a:cubicBezTo>
                    <a:cubicBezTo>
                      <a:pt x="58" y="24"/>
                      <a:pt x="59" y="24"/>
                      <a:pt x="59" y="24"/>
                    </a:cubicBezTo>
                    <a:cubicBezTo>
                      <a:pt x="60" y="24"/>
                      <a:pt x="60" y="23"/>
                      <a:pt x="61" y="22"/>
                    </a:cubicBezTo>
                    <a:cubicBezTo>
                      <a:pt x="62" y="22"/>
                      <a:pt x="63" y="21"/>
                      <a:pt x="63" y="21"/>
                    </a:cubicBezTo>
                    <a:cubicBezTo>
                      <a:pt x="63" y="21"/>
                      <a:pt x="64" y="21"/>
                      <a:pt x="64" y="20"/>
                    </a:cubicBezTo>
                    <a:cubicBezTo>
                      <a:pt x="65" y="20"/>
                      <a:pt x="65" y="20"/>
                      <a:pt x="65" y="20"/>
                    </a:cubicBezTo>
                    <a:cubicBezTo>
                      <a:pt x="66" y="20"/>
                      <a:pt x="65" y="19"/>
                      <a:pt x="67" y="19"/>
                    </a:cubicBezTo>
                    <a:cubicBezTo>
                      <a:pt x="68" y="19"/>
                      <a:pt x="69" y="19"/>
                      <a:pt x="70" y="19"/>
                    </a:cubicBezTo>
                    <a:cubicBezTo>
                      <a:pt x="70" y="19"/>
                      <a:pt x="71" y="19"/>
                      <a:pt x="71" y="20"/>
                    </a:cubicBezTo>
                    <a:cubicBezTo>
                      <a:pt x="72" y="20"/>
                      <a:pt x="72" y="20"/>
                      <a:pt x="73" y="20"/>
                    </a:cubicBezTo>
                    <a:cubicBezTo>
                      <a:pt x="73" y="21"/>
                      <a:pt x="73" y="21"/>
                      <a:pt x="74" y="22"/>
                    </a:cubicBezTo>
                    <a:cubicBezTo>
                      <a:pt x="74" y="22"/>
                      <a:pt x="75" y="23"/>
                      <a:pt x="75" y="23"/>
                    </a:cubicBezTo>
                    <a:cubicBezTo>
                      <a:pt x="76" y="24"/>
                      <a:pt x="76" y="24"/>
                      <a:pt x="76" y="24"/>
                    </a:cubicBezTo>
                    <a:cubicBezTo>
                      <a:pt x="76" y="25"/>
                      <a:pt x="76" y="25"/>
                      <a:pt x="77" y="25"/>
                    </a:cubicBezTo>
                    <a:cubicBezTo>
                      <a:pt x="77" y="26"/>
                      <a:pt x="77" y="26"/>
                      <a:pt x="78" y="26"/>
                    </a:cubicBezTo>
                    <a:cubicBezTo>
                      <a:pt x="78" y="26"/>
                      <a:pt x="79" y="27"/>
                      <a:pt x="79" y="27"/>
                    </a:cubicBezTo>
                    <a:cubicBezTo>
                      <a:pt x="80" y="27"/>
                      <a:pt x="81" y="28"/>
                      <a:pt x="82" y="28"/>
                    </a:cubicBezTo>
                    <a:cubicBezTo>
                      <a:pt x="82" y="29"/>
                      <a:pt x="83" y="29"/>
                      <a:pt x="84" y="30"/>
                    </a:cubicBezTo>
                    <a:cubicBezTo>
                      <a:pt x="85" y="31"/>
                      <a:pt x="85" y="32"/>
                      <a:pt x="86" y="33"/>
                    </a:cubicBezTo>
                    <a:cubicBezTo>
                      <a:pt x="86" y="33"/>
                      <a:pt x="86" y="33"/>
                      <a:pt x="86" y="34"/>
                    </a:cubicBezTo>
                    <a:cubicBezTo>
                      <a:pt x="85" y="34"/>
                      <a:pt x="86" y="34"/>
                      <a:pt x="85" y="35"/>
                    </a:cubicBezTo>
                    <a:cubicBezTo>
                      <a:pt x="85" y="35"/>
                      <a:pt x="85" y="36"/>
                      <a:pt x="85" y="36"/>
                    </a:cubicBezTo>
                    <a:cubicBezTo>
                      <a:pt x="85" y="36"/>
                      <a:pt x="85" y="36"/>
                      <a:pt x="85" y="37"/>
                    </a:cubicBezTo>
                    <a:cubicBezTo>
                      <a:pt x="85" y="37"/>
                      <a:pt x="85" y="37"/>
                      <a:pt x="85" y="37"/>
                    </a:cubicBezTo>
                    <a:cubicBezTo>
                      <a:pt x="85" y="38"/>
                      <a:pt x="85" y="38"/>
                      <a:pt x="85" y="38"/>
                    </a:cubicBezTo>
                    <a:cubicBezTo>
                      <a:pt x="84" y="38"/>
                      <a:pt x="84" y="38"/>
                      <a:pt x="84" y="39"/>
                    </a:cubicBezTo>
                    <a:cubicBezTo>
                      <a:pt x="84" y="39"/>
                      <a:pt x="84" y="39"/>
                      <a:pt x="84" y="39"/>
                    </a:cubicBezTo>
                    <a:cubicBezTo>
                      <a:pt x="83" y="40"/>
                      <a:pt x="83" y="40"/>
                      <a:pt x="82" y="40"/>
                    </a:cubicBezTo>
                    <a:cubicBezTo>
                      <a:pt x="81" y="41"/>
                      <a:pt x="81" y="41"/>
                      <a:pt x="80" y="41"/>
                    </a:cubicBezTo>
                    <a:cubicBezTo>
                      <a:pt x="80" y="41"/>
                      <a:pt x="80" y="42"/>
                      <a:pt x="80" y="42"/>
                    </a:cubicBezTo>
                    <a:cubicBezTo>
                      <a:pt x="79" y="42"/>
                      <a:pt x="79" y="43"/>
                      <a:pt x="78" y="43"/>
                    </a:cubicBezTo>
                    <a:cubicBezTo>
                      <a:pt x="78" y="43"/>
                      <a:pt x="77" y="43"/>
                      <a:pt x="77" y="43"/>
                    </a:cubicBezTo>
                    <a:cubicBezTo>
                      <a:pt x="77" y="43"/>
                      <a:pt x="76" y="44"/>
                      <a:pt x="76" y="44"/>
                    </a:cubicBezTo>
                    <a:cubicBezTo>
                      <a:pt x="75" y="45"/>
                      <a:pt x="74" y="45"/>
                      <a:pt x="73" y="46"/>
                    </a:cubicBezTo>
                    <a:cubicBezTo>
                      <a:pt x="71" y="46"/>
                      <a:pt x="71" y="46"/>
                      <a:pt x="70" y="47"/>
                    </a:cubicBezTo>
                    <a:cubicBezTo>
                      <a:pt x="69" y="47"/>
                      <a:pt x="69" y="47"/>
                      <a:pt x="69" y="48"/>
                    </a:cubicBezTo>
                    <a:cubicBezTo>
                      <a:pt x="68" y="48"/>
                      <a:pt x="66" y="48"/>
                      <a:pt x="66" y="49"/>
                    </a:cubicBezTo>
                    <a:cubicBezTo>
                      <a:pt x="64" y="50"/>
                      <a:pt x="61" y="51"/>
                      <a:pt x="58" y="52"/>
                    </a:cubicBezTo>
                    <a:cubicBezTo>
                      <a:pt x="56" y="53"/>
                      <a:pt x="53" y="53"/>
                      <a:pt x="51" y="54"/>
                    </a:cubicBezTo>
                    <a:cubicBezTo>
                      <a:pt x="50" y="54"/>
                      <a:pt x="48" y="55"/>
                      <a:pt x="47" y="56"/>
                    </a:cubicBezTo>
                    <a:cubicBezTo>
                      <a:pt x="46" y="56"/>
                      <a:pt x="46" y="56"/>
                      <a:pt x="46" y="56"/>
                    </a:cubicBezTo>
                    <a:cubicBezTo>
                      <a:pt x="45" y="56"/>
                      <a:pt x="44" y="57"/>
                      <a:pt x="44" y="57"/>
                    </a:cubicBezTo>
                    <a:cubicBezTo>
                      <a:pt x="43" y="58"/>
                      <a:pt x="42" y="58"/>
                      <a:pt x="41" y="59"/>
                    </a:cubicBezTo>
                    <a:cubicBezTo>
                      <a:pt x="41" y="59"/>
                      <a:pt x="40" y="61"/>
                      <a:pt x="39" y="61"/>
                    </a:cubicBezTo>
                    <a:cubicBezTo>
                      <a:pt x="39" y="62"/>
                      <a:pt x="38" y="63"/>
                      <a:pt x="37" y="64"/>
                    </a:cubicBezTo>
                    <a:cubicBezTo>
                      <a:pt x="37" y="64"/>
                      <a:pt x="37" y="65"/>
                      <a:pt x="36" y="65"/>
                    </a:cubicBezTo>
                    <a:cubicBezTo>
                      <a:pt x="36" y="66"/>
                      <a:pt x="36" y="66"/>
                      <a:pt x="36" y="67"/>
                    </a:cubicBezTo>
                    <a:cubicBezTo>
                      <a:pt x="35" y="67"/>
                      <a:pt x="35" y="67"/>
                      <a:pt x="35" y="67"/>
                    </a:cubicBezTo>
                    <a:cubicBezTo>
                      <a:pt x="35" y="67"/>
                      <a:pt x="35" y="68"/>
                      <a:pt x="35" y="68"/>
                    </a:cubicBezTo>
                    <a:cubicBezTo>
                      <a:pt x="34" y="68"/>
                      <a:pt x="34" y="69"/>
                      <a:pt x="34" y="69"/>
                    </a:cubicBezTo>
                    <a:cubicBezTo>
                      <a:pt x="33" y="70"/>
                      <a:pt x="33" y="70"/>
                      <a:pt x="32" y="72"/>
                    </a:cubicBezTo>
                    <a:cubicBezTo>
                      <a:pt x="31" y="74"/>
                      <a:pt x="30" y="76"/>
                      <a:pt x="29" y="78"/>
                    </a:cubicBezTo>
                    <a:cubicBezTo>
                      <a:pt x="29" y="79"/>
                      <a:pt x="29" y="79"/>
                      <a:pt x="29" y="79"/>
                    </a:cubicBezTo>
                    <a:cubicBezTo>
                      <a:pt x="28" y="80"/>
                      <a:pt x="26" y="85"/>
                      <a:pt x="26" y="86"/>
                    </a:cubicBezTo>
                    <a:cubicBezTo>
                      <a:pt x="25" y="87"/>
                      <a:pt x="25" y="87"/>
                      <a:pt x="25" y="88"/>
                    </a:cubicBezTo>
                    <a:cubicBezTo>
                      <a:pt x="25" y="89"/>
                      <a:pt x="23" y="93"/>
                      <a:pt x="22" y="94"/>
                    </a:cubicBezTo>
                    <a:cubicBezTo>
                      <a:pt x="20" y="96"/>
                      <a:pt x="20" y="97"/>
                      <a:pt x="19" y="100"/>
                    </a:cubicBezTo>
                    <a:cubicBezTo>
                      <a:pt x="17" y="101"/>
                      <a:pt x="17" y="101"/>
                      <a:pt x="16" y="103"/>
                    </a:cubicBezTo>
                    <a:cubicBezTo>
                      <a:pt x="15" y="103"/>
                      <a:pt x="13" y="104"/>
                      <a:pt x="12" y="104"/>
                    </a:cubicBezTo>
                    <a:cubicBezTo>
                      <a:pt x="10" y="104"/>
                      <a:pt x="11" y="105"/>
                      <a:pt x="9"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36" name="Freeform 14"/>
              <p:cNvSpPr>
                <a:spLocks noEditPoints="1"/>
              </p:cNvSpPr>
              <p:nvPr/>
            </p:nvSpPr>
            <p:spPr bwMode="auto">
              <a:xfrm>
                <a:off x="3297238" y="3686175"/>
                <a:ext cx="2543175" cy="158750"/>
              </a:xfrm>
              <a:custGeom>
                <a:avLst/>
                <a:gdLst>
                  <a:gd name="T0" fmla="*/ 22 w 675"/>
                  <a:gd name="T1" fmla="*/ 17 h 42"/>
                  <a:gd name="T2" fmla="*/ 1 w 675"/>
                  <a:gd name="T3" fmla="*/ 2 h 42"/>
                  <a:gd name="T4" fmla="*/ 0 w 675"/>
                  <a:gd name="T5" fmla="*/ 41 h 42"/>
                  <a:gd name="T6" fmla="*/ 26 w 675"/>
                  <a:gd name="T7" fmla="*/ 32 h 42"/>
                  <a:gd name="T8" fmla="*/ 36 w 675"/>
                  <a:gd name="T9" fmla="*/ 36 h 42"/>
                  <a:gd name="T10" fmla="*/ 65 w 675"/>
                  <a:gd name="T11" fmla="*/ 41 h 42"/>
                  <a:gd name="T12" fmla="*/ 65 w 675"/>
                  <a:gd name="T13" fmla="*/ 1 h 42"/>
                  <a:gd name="T14" fmla="*/ 47 w 675"/>
                  <a:gd name="T15" fmla="*/ 40 h 42"/>
                  <a:gd name="T16" fmla="*/ 78 w 675"/>
                  <a:gd name="T17" fmla="*/ 30 h 42"/>
                  <a:gd name="T18" fmla="*/ 78 w 675"/>
                  <a:gd name="T19" fmla="*/ 37 h 42"/>
                  <a:gd name="T20" fmla="*/ 97 w 675"/>
                  <a:gd name="T21" fmla="*/ 40 h 42"/>
                  <a:gd name="T22" fmla="*/ 82 w 675"/>
                  <a:gd name="T23" fmla="*/ 26 h 42"/>
                  <a:gd name="T24" fmla="*/ 122 w 675"/>
                  <a:gd name="T25" fmla="*/ 3 h 42"/>
                  <a:gd name="T26" fmla="*/ 131 w 675"/>
                  <a:gd name="T27" fmla="*/ 40 h 42"/>
                  <a:gd name="T28" fmla="*/ 157 w 675"/>
                  <a:gd name="T29" fmla="*/ 7 h 42"/>
                  <a:gd name="T30" fmla="*/ 168 w 675"/>
                  <a:gd name="T31" fmla="*/ 40 h 42"/>
                  <a:gd name="T32" fmla="*/ 209 w 675"/>
                  <a:gd name="T33" fmla="*/ 31 h 42"/>
                  <a:gd name="T34" fmla="*/ 194 w 675"/>
                  <a:gd name="T35" fmla="*/ 22 h 42"/>
                  <a:gd name="T36" fmla="*/ 194 w 675"/>
                  <a:gd name="T37" fmla="*/ 19 h 42"/>
                  <a:gd name="T38" fmla="*/ 206 w 675"/>
                  <a:gd name="T39" fmla="*/ 10 h 42"/>
                  <a:gd name="T40" fmla="*/ 178 w 675"/>
                  <a:gd name="T41" fmla="*/ 39 h 42"/>
                  <a:gd name="T42" fmla="*/ 241 w 675"/>
                  <a:gd name="T43" fmla="*/ 2 h 42"/>
                  <a:gd name="T44" fmla="*/ 213 w 675"/>
                  <a:gd name="T45" fmla="*/ 2 h 42"/>
                  <a:gd name="T46" fmla="*/ 228 w 675"/>
                  <a:gd name="T47" fmla="*/ 40 h 42"/>
                  <a:gd name="T48" fmla="*/ 250 w 675"/>
                  <a:gd name="T49" fmla="*/ 10 h 42"/>
                  <a:gd name="T50" fmla="*/ 320 w 675"/>
                  <a:gd name="T51" fmla="*/ 4 h 42"/>
                  <a:gd name="T52" fmla="*/ 300 w 675"/>
                  <a:gd name="T53" fmla="*/ 3 h 42"/>
                  <a:gd name="T54" fmla="*/ 293 w 675"/>
                  <a:gd name="T55" fmla="*/ 27 h 42"/>
                  <a:gd name="T56" fmla="*/ 376 w 675"/>
                  <a:gd name="T57" fmla="*/ 1 h 42"/>
                  <a:gd name="T58" fmla="*/ 344 w 675"/>
                  <a:gd name="T59" fmla="*/ 1 h 42"/>
                  <a:gd name="T60" fmla="*/ 334 w 675"/>
                  <a:gd name="T61" fmla="*/ 41 h 42"/>
                  <a:gd name="T62" fmla="*/ 369 w 675"/>
                  <a:gd name="T63" fmla="*/ 41 h 42"/>
                  <a:gd name="T64" fmla="*/ 399 w 675"/>
                  <a:gd name="T65" fmla="*/ 41 h 42"/>
                  <a:gd name="T66" fmla="*/ 399 w 675"/>
                  <a:gd name="T67" fmla="*/ 1 h 42"/>
                  <a:gd name="T68" fmla="*/ 381 w 675"/>
                  <a:gd name="T69" fmla="*/ 40 h 42"/>
                  <a:gd name="T70" fmla="*/ 436 w 675"/>
                  <a:gd name="T71" fmla="*/ 9 h 42"/>
                  <a:gd name="T72" fmla="*/ 404 w 675"/>
                  <a:gd name="T73" fmla="*/ 1 h 42"/>
                  <a:gd name="T74" fmla="*/ 442 w 675"/>
                  <a:gd name="T75" fmla="*/ 3 h 42"/>
                  <a:gd name="T76" fmla="*/ 463 w 675"/>
                  <a:gd name="T77" fmla="*/ 39 h 42"/>
                  <a:gd name="T78" fmla="*/ 479 w 675"/>
                  <a:gd name="T79" fmla="*/ 13 h 42"/>
                  <a:gd name="T80" fmla="*/ 472 w 675"/>
                  <a:gd name="T81" fmla="*/ 3 h 42"/>
                  <a:gd name="T82" fmla="*/ 454 w 675"/>
                  <a:gd name="T83" fmla="*/ 3 h 42"/>
                  <a:gd name="T84" fmla="*/ 485 w 675"/>
                  <a:gd name="T85" fmla="*/ 31 h 42"/>
                  <a:gd name="T86" fmla="*/ 490 w 675"/>
                  <a:gd name="T87" fmla="*/ 2 h 42"/>
                  <a:gd name="T88" fmla="*/ 507 w 675"/>
                  <a:gd name="T89" fmla="*/ 41 h 42"/>
                  <a:gd name="T90" fmla="*/ 529 w 675"/>
                  <a:gd name="T91" fmla="*/ 41 h 42"/>
                  <a:gd name="T92" fmla="*/ 559 w 675"/>
                  <a:gd name="T93" fmla="*/ 0 h 42"/>
                  <a:gd name="T94" fmla="*/ 554 w 675"/>
                  <a:gd name="T95" fmla="*/ 28 h 42"/>
                  <a:gd name="T96" fmla="*/ 540 w 675"/>
                  <a:gd name="T97" fmla="*/ 40 h 42"/>
                  <a:gd name="T98" fmla="*/ 559 w 675"/>
                  <a:gd name="T99" fmla="*/ 13 h 42"/>
                  <a:gd name="T100" fmla="*/ 582 w 675"/>
                  <a:gd name="T101" fmla="*/ 35 h 42"/>
                  <a:gd name="T102" fmla="*/ 575 w 675"/>
                  <a:gd name="T103" fmla="*/ 3 h 42"/>
                  <a:gd name="T104" fmla="*/ 615 w 675"/>
                  <a:gd name="T105" fmla="*/ 39 h 42"/>
                  <a:gd name="T106" fmla="*/ 628 w 675"/>
                  <a:gd name="T107" fmla="*/ 1 h 42"/>
                  <a:gd name="T108" fmla="*/ 608 w 675"/>
                  <a:gd name="T109" fmla="*/ 34 h 42"/>
                  <a:gd name="T110" fmla="*/ 661 w 675"/>
                  <a:gd name="T111" fmla="*/ 1 h 42"/>
                  <a:gd name="T112" fmla="*/ 650 w 675"/>
                  <a:gd name="T113" fmla="*/ 2 h 42"/>
                  <a:gd name="T114" fmla="*/ 651 w 675"/>
                  <a:gd name="T115" fmla="*/ 23 h 42"/>
                  <a:gd name="T116" fmla="*/ 659 w 675"/>
                  <a:gd name="T117" fmla="*/ 3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75" h="42">
                    <a:moveTo>
                      <a:pt x="42" y="1"/>
                    </a:moveTo>
                    <a:cubicBezTo>
                      <a:pt x="27" y="1"/>
                      <a:pt x="27" y="1"/>
                      <a:pt x="27" y="1"/>
                    </a:cubicBezTo>
                    <a:cubicBezTo>
                      <a:pt x="27" y="2"/>
                      <a:pt x="27" y="2"/>
                      <a:pt x="27" y="2"/>
                    </a:cubicBezTo>
                    <a:cubicBezTo>
                      <a:pt x="28" y="2"/>
                      <a:pt x="28" y="2"/>
                      <a:pt x="28" y="2"/>
                    </a:cubicBezTo>
                    <a:cubicBezTo>
                      <a:pt x="31" y="3"/>
                      <a:pt x="32" y="3"/>
                      <a:pt x="32" y="4"/>
                    </a:cubicBezTo>
                    <a:cubicBezTo>
                      <a:pt x="32" y="5"/>
                      <a:pt x="31" y="7"/>
                      <a:pt x="29" y="8"/>
                    </a:cubicBezTo>
                    <a:cubicBezTo>
                      <a:pt x="22" y="17"/>
                      <a:pt x="22" y="17"/>
                      <a:pt x="22" y="17"/>
                    </a:cubicBezTo>
                    <a:cubicBezTo>
                      <a:pt x="20" y="13"/>
                      <a:pt x="20" y="13"/>
                      <a:pt x="20" y="13"/>
                    </a:cubicBezTo>
                    <a:cubicBezTo>
                      <a:pt x="16" y="8"/>
                      <a:pt x="14" y="5"/>
                      <a:pt x="15" y="4"/>
                    </a:cubicBezTo>
                    <a:cubicBezTo>
                      <a:pt x="14" y="3"/>
                      <a:pt x="16" y="2"/>
                      <a:pt x="19" y="2"/>
                    </a:cubicBezTo>
                    <a:cubicBezTo>
                      <a:pt x="19" y="2"/>
                      <a:pt x="19" y="2"/>
                      <a:pt x="19" y="2"/>
                    </a:cubicBezTo>
                    <a:cubicBezTo>
                      <a:pt x="19" y="1"/>
                      <a:pt x="19" y="1"/>
                      <a:pt x="19" y="1"/>
                    </a:cubicBezTo>
                    <a:cubicBezTo>
                      <a:pt x="1" y="1"/>
                      <a:pt x="1" y="1"/>
                      <a:pt x="1" y="1"/>
                    </a:cubicBezTo>
                    <a:cubicBezTo>
                      <a:pt x="1" y="2"/>
                      <a:pt x="1" y="2"/>
                      <a:pt x="1" y="2"/>
                    </a:cubicBezTo>
                    <a:cubicBezTo>
                      <a:pt x="3" y="2"/>
                      <a:pt x="5" y="3"/>
                      <a:pt x="6" y="4"/>
                    </a:cubicBezTo>
                    <a:cubicBezTo>
                      <a:pt x="7" y="5"/>
                      <a:pt x="9" y="8"/>
                      <a:pt x="12" y="12"/>
                    </a:cubicBezTo>
                    <a:cubicBezTo>
                      <a:pt x="19" y="22"/>
                      <a:pt x="19" y="22"/>
                      <a:pt x="19" y="22"/>
                    </a:cubicBezTo>
                    <a:cubicBezTo>
                      <a:pt x="9" y="33"/>
                      <a:pt x="9" y="33"/>
                      <a:pt x="9" y="33"/>
                    </a:cubicBezTo>
                    <a:cubicBezTo>
                      <a:pt x="6" y="37"/>
                      <a:pt x="5" y="39"/>
                      <a:pt x="4" y="39"/>
                    </a:cubicBezTo>
                    <a:cubicBezTo>
                      <a:pt x="3" y="40"/>
                      <a:pt x="2" y="40"/>
                      <a:pt x="0" y="40"/>
                    </a:cubicBezTo>
                    <a:cubicBezTo>
                      <a:pt x="0" y="41"/>
                      <a:pt x="0" y="41"/>
                      <a:pt x="0" y="41"/>
                    </a:cubicBezTo>
                    <a:cubicBezTo>
                      <a:pt x="14" y="41"/>
                      <a:pt x="14" y="41"/>
                      <a:pt x="14" y="41"/>
                    </a:cubicBezTo>
                    <a:cubicBezTo>
                      <a:pt x="14" y="40"/>
                      <a:pt x="14" y="40"/>
                      <a:pt x="14" y="40"/>
                    </a:cubicBezTo>
                    <a:cubicBezTo>
                      <a:pt x="11" y="40"/>
                      <a:pt x="10" y="39"/>
                      <a:pt x="10" y="38"/>
                    </a:cubicBezTo>
                    <a:cubicBezTo>
                      <a:pt x="10" y="37"/>
                      <a:pt x="11" y="36"/>
                      <a:pt x="12" y="33"/>
                    </a:cubicBezTo>
                    <a:cubicBezTo>
                      <a:pt x="13" y="33"/>
                      <a:pt x="13" y="33"/>
                      <a:pt x="13" y="33"/>
                    </a:cubicBezTo>
                    <a:cubicBezTo>
                      <a:pt x="20" y="24"/>
                      <a:pt x="20" y="24"/>
                      <a:pt x="20" y="24"/>
                    </a:cubicBezTo>
                    <a:cubicBezTo>
                      <a:pt x="26" y="32"/>
                      <a:pt x="26" y="32"/>
                      <a:pt x="26" y="32"/>
                    </a:cubicBezTo>
                    <a:cubicBezTo>
                      <a:pt x="28" y="35"/>
                      <a:pt x="29" y="37"/>
                      <a:pt x="29" y="38"/>
                    </a:cubicBezTo>
                    <a:cubicBezTo>
                      <a:pt x="29" y="39"/>
                      <a:pt x="28" y="40"/>
                      <a:pt x="25" y="40"/>
                    </a:cubicBezTo>
                    <a:cubicBezTo>
                      <a:pt x="25" y="40"/>
                      <a:pt x="25" y="40"/>
                      <a:pt x="24" y="40"/>
                    </a:cubicBezTo>
                    <a:cubicBezTo>
                      <a:pt x="24" y="41"/>
                      <a:pt x="24" y="41"/>
                      <a:pt x="24" y="41"/>
                    </a:cubicBezTo>
                    <a:cubicBezTo>
                      <a:pt x="42" y="41"/>
                      <a:pt x="42" y="41"/>
                      <a:pt x="42" y="41"/>
                    </a:cubicBezTo>
                    <a:cubicBezTo>
                      <a:pt x="42" y="40"/>
                      <a:pt x="42" y="40"/>
                      <a:pt x="42" y="40"/>
                    </a:cubicBezTo>
                    <a:cubicBezTo>
                      <a:pt x="40" y="40"/>
                      <a:pt x="38" y="39"/>
                      <a:pt x="36" y="36"/>
                    </a:cubicBezTo>
                    <a:cubicBezTo>
                      <a:pt x="24" y="19"/>
                      <a:pt x="24" y="19"/>
                      <a:pt x="24" y="19"/>
                    </a:cubicBezTo>
                    <a:cubicBezTo>
                      <a:pt x="33" y="8"/>
                      <a:pt x="33" y="8"/>
                      <a:pt x="33" y="8"/>
                    </a:cubicBezTo>
                    <a:cubicBezTo>
                      <a:pt x="35" y="6"/>
                      <a:pt x="36" y="4"/>
                      <a:pt x="37" y="3"/>
                    </a:cubicBezTo>
                    <a:cubicBezTo>
                      <a:pt x="38" y="3"/>
                      <a:pt x="40" y="2"/>
                      <a:pt x="42" y="2"/>
                    </a:cubicBezTo>
                    <a:cubicBezTo>
                      <a:pt x="42" y="1"/>
                      <a:pt x="42" y="1"/>
                      <a:pt x="42" y="1"/>
                    </a:cubicBezTo>
                    <a:close/>
                    <a:moveTo>
                      <a:pt x="47" y="41"/>
                    </a:moveTo>
                    <a:cubicBezTo>
                      <a:pt x="65" y="41"/>
                      <a:pt x="65" y="41"/>
                      <a:pt x="65" y="41"/>
                    </a:cubicBezTo>
                    <a:cubicBezTo>
                      <a:pt x="65" y="40"/>
                      <a:pt x="65" y="40"/>
                      <a:pt x="65" y="40"/>
                    </a:cubicBezTo>
                    <a:cubicBezTo>
                      <a:pt x="63" y="40"/>
                      <a:pt x="61" y="40"/>
                      <a:pt x="61" y="39"/>
                    </a:cubicBezTo>
                    <a:cubicBezTo>
                      <a:pt x="60" y="38"/>
                      <a:pt x="60" y="37"/>
                      <a:pt x="60" y="35"/>
                    </a:cubicBezTo>
                    <a:cubicBezTo>
                      <a:pt x="60" y="8"/>
                      <a:pt x="60" y="8"/>
                      <a:pt x="60" y="8"/>
                    </a:cubicBezTo>
                    <a:cubicBezTo>
                      <a:pt x="60" y="5"/>
                      <a:pt x="60" y="4"/>
                      <a:pt x="61" y="3"/>
                    </a:cubicBezTo>
                    <a:cubicBezTo>
                      <a:pt x="61" y="3"/>
                      <a:pt x="63" y="2"/>
                      <a:pt x="65" y="2"/>
                    </a:cubicBezTo>
                    <a:cubicBezTo>
                      <a:pt x="65" y="1"/>
                      <a:pt x="65" y="1"/>
                      <a:pt x="65" y="1"/>
                    </a:cubicBezTo>
                    <a:cubicBezTo>
                      <a:pt x="47" y="1"/>
                      <a:pt x="47" y="1"/>
                      <a:pt x="47" y="1"/>
                    </a:cubicBezTo>
                    <a:cubicBezTo>
                      <a:pt x="47" y="2"/>
                      <a:pt x="47" y="2"/>
                      <a:pt x="47" y="2"/>
                    </a:cubicBezTo>
                    <a:cubicBezTo>
                      <a:pt x="50" y="2"/>
                      <a:pt x="52" y="3"/>
                      <a:pt x="52" y="3"/>
                    </a:cubicBezTo>
                    <a:cubicBezTo>
                      <a:pt x="53" y="4"/>
                      <a:pt x="53" y="5"/>
                      <a:pt x="53" y="8"/>
                    </a:cubicBezTo>
                    <a:cubicBezTo>
                      <a:pt x="53" y="35"/>
                      <a:pt x="53" y="35"/>
                      <a:pt x="53" y="35"/>
                    </a:cubicBezTo>
                    <a:cubicBezTo>
                      <a:pt x="53" y="37"/>
                      <a:pt x="53" y="38"/>
                      <a:pt x="52" y="39"/>
                    </a:cubicBezTo>
                    <a:cubicBezTo>
                      <a:pt x="51" y="40"/>
                      <a:pt x="50" y="40"/>
                      <a:pt x="47" y="40"/>
                    </a:cubicBezTo>
                    <a:cubicBezTo>
                      <a:pt x="47" y="41"/>
                      <a:pt x="47" y="41"/>
                      <a:pt x="47" y="41"/>
                    </a:cubicBezTo>
                    <a:close/>
                    <a:moveTo>
                      <a:pt x="112" y="40"/>
                    </a:moveTo>
                    <a:cubicBezTo>
                      <a:pt x="111" y="40"/>
                      <a:pt x="110" y="40"/>
                      <a:pt x="109" y="39"/>
                    </a:cubicBezTo>
                    <a:cubicBezTo>
                      <a:pt x="109" y="38"/>
                      <a:pt x="108" y="37"/>
                      <a:pt x="107" y="35"/>
                    </a:cubicBezTo>
                    <a:cubicBezTo>
                      <a:pt x="92" y="0"/>
                      <a:pt x="92" y="0"/>
                      <a:pt x="92" y="0"/>
                    </a:cubicBezTo>
                    <a:cubicBezTo>
                      <a:pt x="90" y="0"/>
                      <a:pt x="90" y="0"/>
                      <a:pt x="90" y="0"/>
                    </a:cubicBezTo>
                    <a:cubicBezTo>
                      <a:pt x="78" y="30"/>
                      <a:pt x="78" y="30"/>
                      <a:pt x="78" y="30"/>
                    </a:cubicBezTo>
                    <a:cubicBezTo>
                      <a:pt x="78" y="30"/>
                      <a:pt x="78" y="31"/>
                      <a:pt x="77" y="31"/>
                    </a:cubicBezTo>
                    <a:cubicBezTo>
                      <a:pt x="76" y="35"/>
                      <a:pt x="74" y="38"/>
                      <a:pt x="73" y="39"/>
                    </a:cubicBezTo>
                    <a:cubicBezTo>
                      <a:pt x="72" y="40"/>
                      <a:pt x="71" y="40"/>
                      <a:pt x="70" y="40"/>
                    </a:cubicBezTo>
                    <a:cubicBezTo>
                      <a:pt x="70" y="41"/>
                      <a:pt x="70" y="41"/>
                      <a:pt x="70" y="41"/>
                    </a:cubicBezTo>
                    <a:cubicBezTo>
                      <a:pt x="82" y="41"/>
                      <a:pt x="82" y="41"/>
                      <a:pt x="82" y="41"/>
                    </a:cubicBezTo>
                    <a:cubicBezTo>
                      <a:pt x="82" y="40"/>
                      <a:pt x="82" y="40"/>
                      <a:pt x="82" y="40"/>
                    </a:cubicBezTo>
                    <a:cubicBezTo>
                      <a:pt x="80" y="40"/>
                      <a:pt x="78" y="39"/>
                      <a:pt x="78" y="37"/>
                    </a:cubicBezTo>
                    <a:cubicBezTo>
                      <a:pt x="78" y="37"/>
                      <a:pt x="78" y="36"/>
                      <a:pt x="79" y="35"/>
                    </a:cubicBezTo>
                    <a:cubicBezTo>
                      <a:pt x="82" y="28"/>
                      <a:pt x="82" y="28"/>
                      <a:pt x="82" y="28"/>
                    </a:cubicBezTo>
                    <a:cubicBezTo>
                      <a:pt x="97" y="28"/>
                      <a:pt x="97" y="28"/>
                      <a:pt x="97" y="28"/>
                    </a:cubicBezTo>
                    <a:cubicBezTo>
                      <a:pt x="100" y="34"/>
                      <a:pt x="100" y="34"/>
                      <a:pt x="100" y="34"/>
                    </a:cubicBezTo>
                    <a:cubicBezTo>
                      <a:pt x="100" y="34"/>
                      <a:pt x="100" y="34"/>
                      <a:pt x="100" y="35"/>
                    </a:cubicBezTo>
                    <a:cubicBezTo>
                      <a:pt x="101" y="36"/>
                      <a:pt x="101" y="37"/>
                      <a:pt x="101" y="38"/>
                    </a:cubicBezTo>
                    <a:cubicBezTo>
                      <a:pt x="101" y="39"/>
                      <a:pt x="100" y="40"/>
                      <a:pt x="97" y="40"/>
                    </a:cubicBezTo>
                    <a:cubicBezTo>
                      <a:pt x="97" y="41"/>
                      <a:pt x="97" y="41"/>
                      <a:pt x="97" y="41"/>
                    </a:cubicBezTo>
                    <a:cubicBezTo>
                      <a:pt x="112" y="41"/>
                      <a:pt x="112" y="41"/>
                      <a:pt x="112" y="41"/>
                    </a:cubicBezTo>
                    <a:cubicBezTo>
                      <a:pt x="112" y="40"/>
                      <a:pt x="112" y="40"/>
                      <a:pt x="112" y="40"/>
                    </a:cubicBezTo>
                    <a:close/>
                    <a:moveTo>
                      <a:pt x="82" y="26"/>
                    </a:moveTo>
                    <a:cubicBezTo>
                      <a:pt x="90" y="9"/>
                      <a:pt x="90" y="9"/>
                      <a:pt x="90" y="9"/>
                    </a:cubicBezTo>
                    <a:cubicBezTo>
                      <a:pt x="96" y="26"/>
                      <a:pt x="96" y="26"/>
                      <a:pt x="96" y="26"/>
                    </a:cubicBezTo>
                    <a:cubicBezTo>
                      <a:pt x="82" y="26"/>
                      <a:pt x="82" y="26"/>
                      <a:pt x="82" y="26"/>
                    </a:cubicBezTo>
                    <a:close/>
                    <a:moveTo>
                      <a:pt x="168" y="1"/>
                    </a:moveTo>
                    <a:cubicBezTo>
                      <a:pt x="156" y="1"/>
                      <a:pt x="156" y="1"/>
                      <a:pt x="156" y="1"/>
                    </a:cubicBezTo>
                    <a:cubicBezTo>
                      <a:pt x="143" y="32"/>
                      <a:pt x="143" y="32"/>
                      <a:pt x="143" y="32"/>
                    </a:cubicBezTo>
                    <a:cubicBezTo>
                      <a:pt x="129" y="1"/>
                      <a:pt x="129" y="1"/>
                      <a:pt x="129" y="1"/>
                    </a:cubicBezTo>
                    <a:cubicBezTo>
                      <a:pt x="117" y="1"/>
                      <a:pt x="117" y="1"/>
                      <a:pt x="117" y="1"/>
                    </a:cubicBezTo>
                    <a:cubicBezTo>
                      <a:pt x="117" y="2"/>
                      <a:pt x="117" y="2"/>
                      <a:pt x="117" y="2"/>
                    </a:cubicBezTo>
                    <a:cubicBezTo>
                      <a:pt x="119" y="2"/>
                      <a:pt x="121" y="3"/>
                      <a:pt x="122" y="3"/>
                    </a:cubicBezTo>
                    <a:cubicBezTo>
                      <a:pt x="122" y="4"/>
                      <a:pt x="123" y="5"/>
                      <a:pt x="123" y="8"/>
                    </a:cubicBezTo>
                    <a:cubicBezTo>
                      <a:pt x="123" y="32"/>
                      <a:pt x="123" y="32"/>
                      <a:pt x="123" y="32"/>
                    </a:cubicBezTo>
                    <a:cubicBezTo>
                      <a:pt x="123" y="35"/>
                      <a:pt x="122" y="37"/>
                      <a:pt x="121" y="38"/>
                    </a:cubicBezTo>
                    <a:cubicBezTo>
                      <a:pt x="121" y="39"/>
                      <a:pt x="119" y="40"/>
                      <a:pt x="117" y="40"/>
                    </a:cubicBezTo>
                    <a:cubicBezTo>
                      <a:pt x="117" y="41"/>
                      <a:pt x="117" y="41"/>
                      <a:pt x="117" y="41"/>
                    </a:cubicBezTo>
                    <a:cubicBezTo>
                      <a:pt x="131" y="41"/>
                      <a:pt x="131" y="41"/>
                      <a:pt x="131" y="41"/>
                    </a:cubicBezTo>
                    <a:cubicBezTo>
                      <a:pt x="131" y="40"/>
                      <a:pt x="131" y="40"/>
                      <a:pt x="131" y="40"/>
                    </a:cubicBezTo>
                    <a:cubicBezTo>
                      <a:pt x="129" y="40"/>
                      <a:pt x="127" y="39"/>
                      <a:pt x="126" y="38"/>
                    </a:cubicBezTo>
                    <a:cubicBezTo>
                      <a:pt x="126" y="37"/>
                      <a:pt x="125" y="35"/>
                      <a:pt x="125" y="32"/>
                    </a:cubicBezTo>
                    <a:cubicBezTo>
                      <a:pt x="125" y="8"/>
                      <a:pt x="125" y="8"/>
                      <a:pt x="125" y="8"/>
                    </a:cubicBezTo>
                    <a:cubicBezTo>
                      <a:pt x="125" y="8"/>
                      <a:pt x="125" y="8"/>
                      <a:pt x="125" y="8"/>
                    </a:cubicBezTo>
                    <a:cubicBezTo>
                      <a:pt x="140" y="41"/>
                      <a:pt x="140" y="41"/>
                      <a:pt x="140" y="41"/>
                    </a:cubicBezTo>
                    <a:cubicBezTo>
                      <a:pt x="141" y="41"/>
                      <a:pt x="141" y="41"/>
                      <a:pt x="141" y="41"/>
                    </a:cubicBezTo>
                    <a:cubicBezTo>
                      <a:pt x="157" y="7"/>
                      <a:pt x="157" y="7"/>
                      <a:pt x="157" y="7"/>
                    </a:cubicBezTo>
                    <a:cubicBezTo>
                      <a:pt x="157" y="7"/>
                      <a:pt x="157" y="7"/>
                      <a:pt x="157" y="7"/>
                    </a:cubicBezTo>
                    <a:cubicBezTo>
                      <a:pt x="157" y="34"/>
                      <a:pt x="157" y="34"/>
                      <a:pt x="157" y="34"/>
                    </a:cubicBezTo>
                    <a:cubicBezTo>
                      <a:pt x="157" y="36"/>
                      <a:pt x="157" y="38"/>
                      <a:pt x="156" y="39"/>
                    </a:cubicBezTo>
                    <a:cubicBezTo>
                      <a:pt x="155" y="39"/>
                      <a:pt x="154" y="40"/>
                      <a:pt x="151" y="40"/>
                    </a:cubicBezTo>
                    <a:cubicBezTo>
                      <a:pt x="151" y="41"/>
                      <a:pt x="151" y="41"/>
                      <a:pt x="151" y="41"/>
                    </a:cubicBezTo>
                    <a:cubicBezTo>
                      <a:pt x="168" y="41"/>
                      <a:pt x="168" y="41"/>
                      <a:pt x="168" y="41"/>
                    </a:cubicBezTo>
                    <a:cubicBezTo>
                      <a:pt x="168" y="40"/>
                      <a:pt x="168" y="40"/>
                      <a:pt x="168" y="40"/>
                    </a:cubicBezTo>
                    <a:cubicBezTo>
                      <a:pt x="166" y="40"/>
                      <a:pt x="165" y="39"/>
                      <a:pt x="164" y="39"/>
                    </a:cubicBezTo>
                    <a:cubicBezTo>
                      <a:pt x="163" y="38"/>
                      <a:pt x="163" y="37"/>
                      <a:pt x="163" y="35"/>
                    </a:cubicBezTo>
                    <a:cubicBezTo>
                      <a:pt x="163" y="8"/>
                      <a:pt x="163" y="8"/>
                      <a:pt x="163" y="8"/>
                    </a:cubicBezTo>
                    <a:cubicBezTo>
                      <a:pt x="163" y="6"/>
                      <a:pt x="163" y="4"/>
                      <a:pt x="164" y="3"/>
                    </a:cubicBezTo>
                    <a:cubicBezTo>
                      <a:pt x="165" y="3"/>
                      <a:pt x="166" y="2"/>
                      <a:pt x="168" y="2"/>
                    </a:cubicBezTo>
                    <a:cubicBezTo>
                      <a:pt x="168" y="1"/>
                      <a:pt x="168" y="1"/>
                      <a:pt x="168" y="1"/>
                    </a:cubicBezTo>
                    <a:close/>
                    <a:moveTo>
                      <a:pt x="209" y="31"/>
                    </a:moveTo>
                    <a:cubicBezTo>
                      <a:pt x="207" y="31"/>
                      <a:pt x="207" y="31"/>
                      <a:pt x="207" y="31"/>
                    </a:cubicBezTo>
                    <a:cubicBezTo>
                      <a:pt x="206" y="34"/>
                      <a:pt x="204" y="36"/>
                      <a:pt x="203" y="37"/>
                    </a:cubicBezTo>
                    <a:cubicBezTo>
                      <a:pt x="201" y="38"/>
                      <a:pt x="198" y="39"/>
                      <a:pt x="194" y="39"/>
                    </a:cubicBezTo>
                    <a:cubicBezTo>
                      <a:pt x="189" y="39"/>
                      <a:pt x="186" y="39"/>
                      <a:pt x="186" y="39"/>
                    </a:cubicBezTo>
                    <a:cubicBezTo>
                      <a:pt x="185" y="38"/>
                      <a:pt x="185" y="38"/>
                      <a:pt x="185" y="36"/>
                    </a:cubicBezTo>
                    <a:cubicBezTo>
                      <a:pt x="185" y="21"/>
                      <a:pt x="185" y="21"/>
                      <a:pt x="185" y="21"/>
                    </a:cubicBezTo>
                    <a:cubicBezTo>
                      <a:pt x="194" y="22"/>
                      <a:pt x="194" y="22"/>
                      <a:pt x="194" y="22"/>
                    </a:cubicBezTo>
                    <a:cubicBezTo>
                      <a:pt x="197" y="22"/>
                      <a:pt x="198" y="22"/>
                      <a:pt x="199" y="23"/>
                    </a:cubicBezTo>
                    <a:cubicBezTo>
                      <a:pt x="200" y="23"/>
                      <a:pt x="201" y="25"/>
                      <a:pt x="201" y="27"/>
                    </a:cubicBezTo>
                    <a:cubicBezTo>
                      <a:pt x="202" y="27"/>
                      <a:pt x="202" y="27"/>
                      <a:pt x="202" y="27"/>
                    </a:cubicBezTo>
                    <a:cubicBezTo>
                      <a:pt x="202" y="13"/>
                      <a:pt x="202" y="13"/>
                      <a:pt x="202" y="13"/>
                    </a:cubicBezTo>
                    <a:cubicBezTo>
                      <a:pt x="201" y="13"/>
                      <a:pt x="201" y="13"/>
                      <a:pt x="201" y="13"/>
                    </a:cubicBezTo>
                    <a:cubicBezTo>
                      <a:pt x="201" y="16"/>
                      <a:pt x="200" y="17"/>
                      <a:pt x="199" y="18"/>
                    </a:cubicBezTo>
                    <a:cubicBezTo>
                      <a:pt x="198" y="19"/>
                      <a:pt x="197" y="19"/>
                      <a:pt x="194" y="19"/>
                    </a:cubicBezTo>
                    <a:cubicBezTo>
                      <a:pt x="185" y="19"/>
                      <a:pt x="185" y="19"/>
                      <a:pt x="185" y="19"/>
                    </a:cubicBezTo>
                    <a:cubicBezTo>
                      <a:pt x="185" y="5"/>
                      <a:pt x="185" y="5"/>
                      <a:pt x="185" y="5"/>
                    </a:cubicBezTo>
                    <a:cubicBezTo>
                      <a:pt x="185" y="4"/>
                      <a:pt x="186" y="3"/>
                      <a:pt x="187" y="3"/>
                    </a:cubicBezTo>
                    <a:cubicBezTo>
                      <a:pt x="195" y="3"/>
                      <a:pt x="195" y="3"/>
                      <a:pt x="195" y="3"/>
                    </a:cubicBezTo>
                    <a:cubicBezTo>
                      <a:pt x="199" y="3"/>
                      <a:pt x="201" y="4"/>
                      <a:pt x="202" y="5"/>
                    </a:cubicBezTo>
                    <a:cubicBezTo>
                      <a:pt x="203" y="5"/>
                      <a:pt x="204" y="7"/>
                      <a:pt x="204" y="10"/>
                    </a:cubicBezTo>
                    <a:cubicBezTo>
                      <a:pt x="206" y="10"/>
                      <a:pt x="206" y="10"/>
                      <a:pt x="206" y="10"/>
                    </a:cubicBezTo>
                    <a:cubicBezTo>
                      <a:pt x="206" y="1"/>
                      <a:pt x="206" y="1"/>
                      <a:pt x="206" y="1"/>
                    </a:cubicBezTo>
                    <a:cubicBezTo>
                      <a:pt x="173" y="1"/>
                      <a:pt x="173" y="1"/>
                      <a:pt x="173" y="1"/>
                    </a:cubicBezTo>
                    <a:cubicBezTo>
                      <a:pt x="173" y="2"/>
                      <a:pt x="173" y="2"/>
                      <a:pt x="173" y="2"/>
                    </a:cubicBezTo>
                    <a:cubicBezTo>
                      <a:pt x="176" y="2"/>
                      <a:pt x="177" y="3"/>
                      <a:pt x="178" y="3"/>
                    </a:cubicBezTo>
                    <a:cubicBezTo>
                      <a:pt x="178" y="4"/>
                      <a:pt x="179" y="6"/>
                      <a:pt x="179" y="8"/>
                    </a:cubicBezTo>
                    <a:cubicBezTo>
                      <a:pt x="179" y="35"/>
                      <a:pt x="179" y="35"/>
                      <a:pt x="179" y="35"/>
                    </a:cubicBezTo>
                    <a:cubicBezTo>
                      <a:pt x="179" y="37"/>
                      <a:pt x="178" y="38"/>
                      <a:pt x="178" y="39"/>
                    </a:cubicBezTo>
                    <a:cubicBezTo>
                      <a:pt x="177" y="39"/>
                      <a:pt x="176" y="40"/>
                      <a:pt x="173" y="40"/>
                    </a:cubicBezTo>
                    <a:cubicBezTo>
                      <a:pt x="173" y="41"/>
                      <a:pt x="173" y="41"/>
                      <a:pt x="173" y="41"/>
                    </a:cubicBezTo>
                    <a:cubicBezTo>
                      <a:pt x="206" y="41"/>
                      <a:pt x="206" y="41"/>
                      <a:pt x="206" y="41"/>
                    </a:cubicBezTo>
                    <a:cubicBezTo>
                      <a:pt x="209" y="31"/>
                      <a:pt x="209" y="31"/>
                      <a:pt x="209" y="31"/>
                    </a:cubicBezTo>
                    <a:close/>
                    <a:moveTo>
                      <a:pt x="255" y="1"/>
                    </a:moveTo>
                    <a:cubicBezTo>
                      <a:pt x="241" y="1"/>
                      <a:pt x="241" y="1"/>
                      <a:pt x="241" y="1"/>
                    </a:cubicBezTo>
                    <a:cubicBezTo>
                      <a:pt x="241" y="2"/>
                      <a:pt x="241" y="2"/>
                      <a:pt x="241" y="2"/>
                    </a:cubicBezTo>
                    <a:cubicBezTo>
                      <a:pt x="244" y="2"/>
                      <a:pt x="245" y="3"/>
                      <a:pt x="246" y="4"/>
                    </a:cubicBezTo>
                    <a:cubicBezTo>
                      <a:pt x="247" y="5"/>
                      <a:pt x="247" y="7"/>
                      <a:pt x="247" y="10"/>
                    </a:cubicBezTo>
                    <a:cubicBezTo>
                      <a:pt x="247" y="30"/>
                      <a:pt x="247" y="30"/>
                      <a:pt x="247" y="30"/>
                    </a:cubicBezTo>
                    <a:cubicBezTo>
                      <a:pt x="247" y="30"/>
                      <a:pt x="247" y="30"/>
                      <a:pt x="247" y="30"/>
                    </a:cubicBezTo>
                    <a:cubicBezTo>
                      <a:pt x="224" y="1"/>
                      <a:pt x="224" y="1"/>
                      <a:pt x="224" y="1"/>
                    </a:cubicBezTo>
                    <a:cubicBezTo>
                      <a:pt x="213" y="1"/>
                      <a:pt x="213" y="1"/>
                      <a:pt x="213" y="1"/>
                    </a:cubicBezTo>
                    <a:cubicBezTo>
                      <a:pt x="213" y="2"/>
                      <a:pt x="213" y="2"/>
                      <a:pt x="213" y="2"/>
                    </a:cubicBezTo>
                    <a:cubicBezTo>
                      <a:pt x="215" y="2"/>
                      <a:pt x="217" y="3"/>
                      <a:pt x="219" y="5"/>
                    </a:cubicBezTo>
                    <a:cubicBezTo>
                      <a:pt x="219" y="32"/>
                      <a:pt x="219" y="32"/>
                      <a:pt x="219" y="32"/>
                    </a:cubicBezTo>
                    <a:cubicBezTo>
                      <a:pt x="219" y="35"/>
                      <a:pt x="219" y="37"/>
                      <a:pt x="218" y="38"/>
                    </a:cubicBezTo>
                    <a:cubicBezTo>
                      <a:pt x="217" y="39"/>
                      <a:pt x="216" y="40"/>
                      <a:pt x="213" y="40"/>
                    </a:cubicBezTo>
                    <a:cubicBezTo>
                      <a:pt x="213" y="41"/>
                      <a:pt x="213" y="41"/>
                      <a:pt x="213" y="41"/>
                    </a:cubicBezTo>
                    <a:cubicBezTo>
                      <a:pt x="228" y="41"/>
                      <a:pt x="228" y="41"/>
                      <a:pt x="228" y="41"/>
                    </a:cubicBezTo>
                    <a:cubicBezTo>
                      <a:pt x="228" y="40"/>
                      <a:pt x="228" y="40"/>
                      <a:pt x="228" y="40"/>
                    </a:cubicBezTo>
                    <a:cubicBezTo>
                      <a:pt x="225" y="40"/>
                      <a:pt x="224" y="39"/>
                      <a:pt x="223" y="38"/>
                    </a:cubicBezTo>
                    <a:cubicBezTo>
                      <a:pt x="222" y="37"/>
                      <a:pt x="222" y="35"/>
                      <a:pt x="222" y="32"/>
                    </a:cubicBezTo>
                    <a:cubicBezTo>
                      <a:pt x="222" y="9"/>
                      <a:pt x="222" y="9"/>
                      <a:pt x="222" y="9"/>
                    </a:cubicBezTo>
                    <a:cubicBezTo>
                      <a:pt x="222" y="9"/>
                      <a:pt x="222" y="9"/>
                      <a:pt x="222" y="9"/>
                    </a:cubicBezTo>
                    <a:cubicBezTo>
                      <a:pt x="249" y="41"/>
                      <a:pt x="249" y="41"/>
                      <a:pt x="249" y="41"/>
                    </a:cubicBezTo>
                    <a:cubicBezTo>
                      <a:pt x="250" y="41"/>
                      <a:pt x="250" y="41"/>
                      <a:pt x="250" y="41"/>
                    </a:cubicBezTo>
                    <a:cubicBezTo>
                      <a:pt x="250" y="10"/>
                      <a:pt x="250" y="10"/>
                      <a:pt x="250" y="10"/>
                    </a:cubicBezTo>
                    <a:cubicBezTo>
                      <a:pt x="250" y="7"/>
                      <a:pt x="250" y="5"/>
                      <a:pt x="251" y="4"/>
                    </a:cubicBezTo>
                    <a:cubicBezTo>
                      <a:pt x="251" y="3"/>
                      <a:pt x="253" y="2"/>
                      <a:pt x="255" y="2"/>
                    </a:cubicBezTo>
                    <a:cubicBezTo>
                      <a:pt x="255" y="1"/>
                      <a:pt x="255" y="1"/>
                      <a:pt x="255" y="1"/>
                    </a:cubicBezTo>
                    <a:close/>
                    <a:moveTo>
                      <a:pt x="329" y="1"/>
                    </a:moveTo>
                    <a:cubicBezTo>
                      <a:pt x="315" y="1"/>
                      <a:pt x="315" y="1"/>
                      <a:pt x="315" y="1"/>
                    </a:cubicBezTo>
                    <a:cubicBezTo>
                      <a:pt x="315" y="2"/>
                      <a:pt x="315" y="2"/>
                      <a:pt x="315" y="2"/>
                    </a:cubicBezTo>
                    <a:cubicBezTo>
                      <a:pt x="317" y="2"/>
                      <a:pt x="319" y="3"/>
                      <a:pt x="320" y="4"/>
                    </a:cubicBezTo>
                    <a:cubicBezTo>
                      <a:pt x="320" y="5"/>
                      <a:pt x="321" y="7"/>
                      <a:pt x="321" y="10"/>
                    </a:cubicBezTo>
                    <a:cubicBezTo>
                      <a:pt x="321" y="26"/>
                      <a:pt x="321" y="26"/>
                      <a:pt x="321" y="26"/>
                    </a:cubicBezTo>
                    <a:cubicBezTo>
                      <a:pt x="321" y="31"/>
                      <a:pt x="320" y="33"/>
                      <a:pt x="319" y="35"/>
                    </a:cubicBezTo>
                    <a:cubicBezTo>
                      <a:pt x="317" y="38"/>
                      <a:pt x="314" y="39"/>
                      <a:pt x="309" y="39"/>
                    </a:cubicBezTo>
                    <a:cubicBezTo>
                      <a:pt x="302" y="39"/>
                      <a:pt x="299" y="35"/>
                      <a:pt x="299" y="27"/>
                    </a:cubicBezTo>
                    <a:cubicBezTo>
                      <a:pt x="299" y="8"/>
                      <a:pt x="299" y="8"/>
                      <a:pt x="299" y="8"/>
                    </a:cubicBezTo>
                    <a:cubicBezTo>
                      <a:pt x="299" y="5"/>
                      <a:pt x="299" y="4"/>
                      <a:pt x="300" y="3"/>
                    </a:cubicBezTo>
                    <a:cubicBezTo>
                      <a:pt x="301" y="3"/>
                      <a:pt x="302" y="2"/>
                      <a:pt x="304" y="2"/>
                    </a:cubicBezTo>
                    <a:cubicBezTo>
                      <a:pt x="304" y="1"/>
                      <a:pt x="304" y="1"/>
                      <a:pt x="304" y="1"/>
                    </a:cubicBezTo>
                    <a:cubicBezTo>
                      <a:pt x="287" y="1"/>
                      <a:pt x="287" y="1"/>
                      <a:pt x="287" y="1"/>
                    </a:cubicBezTo>
                    <a:cubicBezTo>
                      <a:pt x="287" y="2"/>
                      <a:pt x="287" y="2"/>
                      <a:pt x="287" y="2"/>
                    </a:cubicBezTo>
                    <a:cubicBezTo>
                      <a:pt x="290" y="2"/>
                      <a:pt x="291" y="3"/>
                      <a:pt x="292" y="3"/>
                    </a:cubicBezTo>
                    <a:cubicBezTo>
                      <a:pt x="293" y="4"/>
                      <a:pt x="293" y="5"/>
                      <a:pt x="293" y="8"/>
                    </a:cubicBezTo>
                    <a:cubicBezTo>
                      <a:pt x="293" y="27"/>
                      <a:pt x="293" y="27"/>
                      <a:pt x="293" y="27"/>
                    </a:cubicBezTo>
                    <a:cubicBezTo>
                      <a:pt x="293" y="37"/>
                      <a:pt x="298" y="42"/>
                      <a:pt x="308" y="42"/>
                    </a:cubicBezTo>
                    <a:cubicBezTo>
                      <a:pt x="318" y="42"/>
                      <a:pt x="324" y="36"/>
                      <a:pt x="323" y="26"/>
                    </a:cubicBezTo>
                    <a:cubicBezTo>
                      <a:pt x="323" y="10"/>
                      <a:pt x="323" y="10"/>
                      <a:pt x="323" y="10"/>
                    </a:cubicBezTo>
                    <a:cubicBezTo>
                      <a:pt x="323" y="7"/>
                      <a:pt x="324" y="5"/>
                      <a:pt x="325" y="4"/>
                    </a:cubicBezTo>
                    <a:cubicBezTo>
                      <a:pt x="325" y="3"/>
                      <a:pt x="327" y="2"/>
                      <a:pt x="329" y="2"/>
                    </a:cubicBezTo>
                    <a:cubicBezTo>
                      <a:pt x="329" y="1"/>
                      <a:pt x="329" y="1"/>
                      <a:pt x="329" y="1"/>
                    </a:cubicBezTo>
                    <a:close/>
                    <a:moveTo>
                      <a:pt x="376" y="1"/>
                    </a:moveTo>
                    <a:cubicBezTo>
                      <a:pt x="362" y="1"/>
                      <a:pt x="362" y="1"/>
                      <a:pt x="362" y="1"/>
                    </a:cubicBezTo>
                    <a:cubicBezTo>
                      <a:pt x="362" y="2"/>
                      <a:pt x="362" y="2"/>
                      <a:pt x="362" y="2"/>
                    </a:cubicBezTo>
                    <a:cubicBezTo>
                      <a:pt x="364" y="2"/>
                      <a:pt x="366" y="3"/>
                      <a:pt x="366" y="4"/>
                    </a:cubicBezTo>
                    <a:cubicBezTo>
                      <a:pt x="367" y="5"/>
                      <a:pt x="367" y="7"/>
                      <a:pt x="367" y="10"/>
                    </a:cubicBezTo>
                    <a:cubicBezTo>
                      <a:pt x="367" y="30"/>
                      <a:pt x="367" y="30"/>
                      <a:pt x="367" y="30"/>
                    </a:cubicBezTo>
                    <a:cubicBezTo>
                      <a:pt x="367" y="30"/>
                      <a:pt x="367" y="30"/>
                      <a:pt x="367" y="30"/>
                    </a:cubicBezTo>
                    <a:cubicBezTo>
                      <a:pt x="344" y="1"/>
                      <a:pt x="344" y="1"/>
                      <a:pt x="344" y="1"/>
                    </a:cubicBezTo>
                    <a:cubicBezTo>
                      <a:pt x="334" y="1"/>
                      <a:pt x="334" y="1"/>
                      <a:pt x="334" y="1"/>
                    </a:cubicBezTo>
                    <a:cubicBezTo>
                      <a:pt x="334" y="2"/>
                      <a:pt x="334" y="2"/>
                      <a:pt x="334" y="2"/>
                    </a:cubicBezTo>
                    <a:cubicBezTo>
                      <a:pt x="336" y="2"/>
                      <a:pt x="338" y="3"/>
                      <a:pt x="340" y="5"/>
                    </a:cubicBezTo>
                    <a:cubicBezTo>
                      <a:pt x="340" y="32"/>
                      <a:pt x="340" y="32"/>
                      <a:pt x="340" y="32"/>
                    </a:cubicBezTo>
                    <a:cubicBezTo>
                      <a:pt x="340" y="35"/>
                      <a:pt x="339" y="37"/>
                      <a:pt x="338" y="38"/>
                    </a:cubicBezTo>
                    <a:cubicBezTo>
                      <a:pt x="338" y="39"/>
                      <a:pt x="336" y="40"/>
                      <a:pt x="334" y="40"/>
                    </a:cubicBezTo>
                    <a:cubicBezTo>
                      <a:pt x="334" y="41"/>
                      <a:pt x="334" y="41"/>
                      <a:pt x="334" y="41"/>
                    </a:cubicBezTo>
                    <a:cubicBezTo>
                      <a:pt x="348" y="41"/>
                      <a:pt x="348" y="41"/>
                      <a:pt x="348" y="41"/>
                    </a:cubicBezTo>
                    <a:cubicBezTo>
                      <a:pt x="348" y="40"/>
                      <a:pt x="348" y="40"/>
                      <a:pt x="348" y="40"/>
                    </a:cubicBezTo>
                    <a:cubicBezTo>
                      <a:pt x="346" y="40"/>
                      <a:pt x="344" y="39"/>
                      <a:pt x="343" y="38"/>
                    </a:cubicBezTo>
                    <a:cubicBezTo>
                      <a:pt x="343" y="37"/>
                      <a:pt x="342" y="35"/>
                      <a:pt x="342" y="32"/>
                    </a:cubicBezTo>
                    <a:cubicBezTo>
                      <a:pt x="342" y="9"/>
                      <a:pt x="342" y="9"/>
                      <a:pt x="342" y="9"/>
                    </a:cubicBezTo>
                    <a:cubicBezTo>
                      <a:pt x="342" y="9"/>
                      <a:pt x="342" y="9"/>
                      <a:pt x="342" y="9"/>
                    </a:cubicBezTo>
                    <a:cubicBezTo>
                      <a:pt x="369" y="41"/>
                      <a:pt x="369" y="41"/>
                      <a:pt x="369" y="41"/>
                    </a:cubicBezTo>
                    <a:cubicBezTo>
                      <a:pt x="370" y="41"/>
                      <a:pt x="370" y="41"/>
                      <a:pt x="370" y="41"/>
                    </a:cubicBezTo>
                    <a:cubicBezTo>
                      <a:pt x="370" y="10"/>
                      <a:pt x="370" y="10"/>
                      <a:pt x="370" y="10"/>
                    </a:cubicBezTo>
                    <a:cubicBezTo>
                      <a:pt x="370" y="7"/>
                      <a:pt x="371" y="5"/>
                      <a:pt x="371" y="4"/>
                    </a:cubicBezTo>
                    <a:cubicBezTo>
                      <a:pt x="372" y="3"/>
                      <a:pt x="373" y="2"/>
                      <a:pt x="376" y="2"/>
                    </a:cubicBezTo>
                    <a:cubicBezTo>
                      <a:pt x="376" y="1"/>
                      <a:pt x="376" y="1"/>
                      <a:pt x="376" y="1"/>
                    </a:cubicBezTo>
                    <a:close/>
                    <a:moveTo>
                      <a:pt x="381" y="41"/>
                    </a:moveTo>
                    <a:cubicBezTo>
                      <a:pt x="399" y="41"/>
                      <a:pt x="399" y="41"/>
                      <a:pt x="399" y="41"/>
                    </a:cubicBezTo>
                    <a:cubicBezTo>
                      <a:pt x="399" y="40"/>
                      <a:pt x="399" y="40"/>
                      <a:pt x="399" y="40"/>
                    </a:cubicBezTo>
                    <a:cubicBezTo>
                      <a:pt x="396" y="40"/>
                      <a:pt x="395" y="40"/>
                      <a:pt x="394" y="39"/>
                    </a:cubicBezTo>
                    <a:cubicBezTo>
                      <a:pt x="393" y="38"/>
                      <a:pt x="393" y="37"/>
                      <a:pt x="393" y="35"/>
                    </a:cubicBezTo>
                    <a:cubicBezTo>
                      <a:pt x="393" y="8"/>
                      <a:pt x="393" y="8"/>
                      <a:pt x="393" y="8"/>
                    </a:cubicBezTo>
                    <a:cubicBezTo>
                      <a:pt x="393" y="5"/>
                      <a:pt x="393" y="4"/>
                      <a:pt x="394" y="3"/>
                    </a:cubicBezTo>
                    <a:cubicBezTo>
                      <a:pt x="395" y="3"/>
                      <a:pt x="396" y="2"/>
                      <a:pt x="399" y="2"/>
                    </a:cubicBezTo>
                    <a:cubicBezTo>
                      <a:pt x="399" y="1"/>
                      <a:pt x="399" y="1"/>
                      <a:pt x="399" y="1"/>
                    </a:cubicBezTo>
                    <a:cubicBezTo>
                      <a:pt x="381" y="1"/>
                      <a:pt x="381" y="1"/>
                      <a:pt x="381" y="1"/>
                    </a:cubicBezTo>
                    <a:cubicBezTo>
                      <a:pt x="381" y="2"/>
                      <a:pt x="381" y="2"/>
                      <a:pt x="381" y="2"/>
                    </a:cubicBezTo>
                    <a:cubicBezTo>
                      <a:pt x="383" y="2"/>
                      <a:pt x="385" y="3"/>
                      <a:pt x="385" y="3"/>
                    </a:cubicBezTo>
                    <a:cubicBezTo>
                      <a:pt x="386" y="4"/>
                      <a:pt x="386" y="5"/>
                      <a:pt x="386" y="8"/>
                    </a:cubicBezTo>
                    <a:cubicBezTo>
                      <a:pt x="386" y="35"/>
                      <a:pt x="386" y="35"/>
                      <a:pt x="386" y="35"/>
                    </a:cubicBezTo>
                    <a:cubicBezTo>
                      <a:pt x="386" y="37"/>
                      <a:pt x="386" y="38"/>
                      <a:pt x="385" y="39"/>
                    </a:cubicBezTo>
                    <a:cubicBezTo>
                      <a:pt x="385" y="40"/>
                      <a:pt x="383" y="40"/>
                      <a:pt x="381" y="40"/>
                    </a:cubicBezTo>
                    <a:cubicBezTo>
                      <a:pt x="381" y="41"/>
                      <a:pt x="381" y="41"/>
                      <a:pt x="381" y="41"/>
                    </a:cubicBezTo>
                    <a:close/>
                    <a:moveTo>
                      <a:pt x="445" y="1"/>
                    </a:moveTo>
                    <a:cubicBezTo>
                      <a:pt x="433" y="1"/>
                      <a:pt x="433" y="1"/>
                      <a:pt x="433" y="1"/>
                    </a:cubicBezTo>
                    <a:cubicBezTo>
                      <a:pt x="433" y="2"/>
                      <a:pt x="433" y="2"/>
                      <a:pt x="433" y="2"/>
                    </a:cubicBezTo>
                    <a:cubicBezTo>
                      <a:pt x="436" y="2"/>
                      <a:pt x="437" y="3"/>
                      <a:pt x="437" y="5"/>
                    </a:cubicBezTo>
                    <a:cubicBezTo>
                      <a:pt x="437" y="6"/>
                      <a:pt x="437" y="7"/>
                      <a:pt x="436" y="8"/>
                    </a:cubicBezTo>
                    <a:cubicBezTo>
                      <a:pt x="436" y="9"/>
                      <a:pt x="436" y="9"/>
                      <a:pt x="436" y="9"/>
                    </a:cubicBezTo>
                    <a:cubicBezTo>
                      <a:pt x="427" y="32"/>
                      <a:pt x="427" y="32"/>
                      <a:pt x="427" y="32"/>
                    </a:cubicBezTo>
                    <a:cubicBezTo>
                      <a:pt x="418" y="11"/>
                      <a:pt x="418" y="11"/>
                      <a:pt x="418" y="11"/>
                    </a:cubicBezTo>
                    <a:cubicBezTo>
                      <a:pt x="417" y="10"/>
                      <a:pt x="417" y="9"/>
                      <a:pt x="416" y="8"/>
                    </a:cubicBezTo>
                    <a:cubicBezTo>
                      <a:pt x="416" y="6"/>
                      <a:pt x="415" y="5"/>
                      <a:pt x="415" y="5"/>
                    </a:cubicBezTo>
                    <a:cubicBezTo>
                      <a:pt x="415" y="3"/>
                      <a:pt x="416" y="2"/>
                      <a:pt x="420" y="2"/>
                    </a:cubicBezTo>
                    <a:cubicBezTo>
                      <a:pt x="420" y="1"/>
                      <a:pt x="420" y="1"/>
                      <a:pt x="420" y="1"/>
                    </a:cubicBezTo>
                    <a:cubicBezTo>
                      <a:pt x="404" y="1"/>
                      <a:pt x="404" y="1"/>
                      <a:pt x="404" y="1"/>
                    </a:cubicBezTo>
                    <a:cubicBezTo>
                      <a:pt x="404" y="2"/>
                      <a:pt x="404" y="2"/>
                      <a:pt x="404" y="2"/>
                    </a:cubicBezTo>
                    <a:cubicBezTo>
                      <a:pt x="405" y="2"/>
                      <a:pt x="406" y="3"/>
                      <a:pt x="407" y="4"/>
                    </a:cubicBezTo>
                    <a:cubicBezTo>
                      <a:pt x="408" y="4"/>
                      <a:pt x="409" y="6"/>
                      <a:pt x="410" y="9"/>
                    </a:cubicBezTo>
                    <a:cubicBezTo>
                      <a:pt x="425" y="41"/>
                      <a:pt x="425" y="41"/>
                      <a:pt x="425" y="41"/>
                    </a:cubicBezTo>
                    <a:cubicBezTo>
                      <a:pt x="426" y="41"/>
                      <a:pt x="426" y="41"/>
                      <a:pt x="426" y="41"/>
                    </a:cubicBezTo>
                    <a:cubicBezTo>
                      <a:pt x="439" y="8"/>
                      <a:pt x="439" y="8"/>
                      <a:pt x="439" y="8"/>
                    </a:cubicBezTo>
                    <a:cubicBezTo>
                      <a:pt x="440" y="5"/>
                      <a:pt x="441" y="4"/>
                      <a:pt x="442" y="3"/>
                    </a:cubicBezTo>
                    <a:cubicBezTo>
                      <a:pt x="442" y="3"/>
                      <a:pt x="443" y="2"/>
                      <a:pt x="445" y="2"/>
                    </a:cubicBezTo>
                    <a:cubicBezTo>
                      <a:pt x="445" y="1"/>
                      <a:pt x="445" y="1"/>
                      <a:pt x="445" y="1"/>
                    </a:cubicBezTo>
                    <a:close/>
                    <a:moveTo>
                      <a:pt x="485" y="31"/>
                    </a:moveTo>
                    <a:cubicBezTo>
                      <a:pt x="484" y="31"/>
                      <a:pt x="484" y="31"/>
                      <a:pt x="484" y="31"/>
                    </a:cubicBezTo>
                    <a:cubicBezTo>
                      <a:pt x="482" y="34"/>
                      <a:pt x="481" y="36"/>
                      <a:pt x="479" y="37"/>
                    </a:cubicBezTo>
                    <a:cubicBezTo>
                      <a:pt x="477" y="38"/>
                      <a:pt x="474" y="39"/>
                      <a:pt x="471" y="39"/>
                    </a:cubicBezTo>
                    <a:cubicBezTo>
                      <a:pt x="466" y="39"/>
                      <a:pt x="463" y="39"/>
                      <a:pt x="463" y="39"/>
                    </a:cubicBezTo>
                    <a:cubicBezTo>
                      <a:pt x="462" y="38"/>
                      <a:pt x="461" y="38"/>
                      <a:pt x="461" y="36"/>
                    </a:cubicBezTo>
                    <a:cubicBezTo>
                      <a:pt x="461" y="21"/>
                      <a:pt x="461" y="21"/>
                      <a:pt x="461" y="21"/>
                    </a:cubicBezTo>
                    <a:cubicBezTo>
                      <a:pt x="471" y="22"/>
                      <a:pt x="471" y="22"/>
                      <a:pt x="471" y="22"/>
                    </a:cubicBezTo>
                    <a:cubicBezTo>
                      <a:pt x="473" y="22"/>
                      <a:pt x="475" y="22"/>
                      <a:pt x="476" y="23"/>
                    </a:cubicBezTo>
                    <a:cubicBezTo>
                      <a:pt x="477" y="23"/>
                      <a:pt x="477" y="25"/>
                      <a:pt x="477" y="27"/>
                    </a:cubicBezTo>
                    <a:cubicBezTo>
                      <a:pt x="479" y="27"/>
                      <a:pt x="479" y="27"/>
                      <a:pt x="479" y="27"/>
                    </a:cubicBezTo>
                    <a:cubicBezTo>
                      <a:pt x="479" y="13"/>
                      <a:pt x="479" y="13"/>
                      <a:pt x="479" y="13"/>
                    </a:cubicBezTo>
                    <a:cubicBezTo>
                      <a:pt x="477" y="13"/>
                      <a:pt x="477" y="13"/>
                      <a:pt x="477" y="13"/>
                    </a:cubicBezTo>
                    <a:cubicBezTo>
                      <a:pt x="477" y="16"/>
                      <a:pt x="477" y="17"/>
                      <a:pt x="476" y="18"/>
                    </a:cubicBezTo>
                    <a:cubicBezTo>
                      <a:pt x="475" y="19"/>
                      <a:pt x="473" y="19"/>
                      <a:pt x="471" y="19"/>
                    </a:cubicBezTo>
                    <a:cubicBezTo>
                      <a:pt x="461" y="19"/>
                      <a:pt x="461" y="19"/>
                      <a:pt x="461" y="19"/>
                    </a:cubicBezTo>
                    <a:cubicBezTo>
                      <a:pt x="461" y="5"/>
                      <a:pt x="461" y="5"/>
                      <a:pt x="461" y="5"/>
                    </a:cubicBezTo>
                    <a:cubicBezTo>
                      <a:pt x="461" y="4"/>
                      <a:pt x="462" y="3"/>
                      <a:pt x="463" y="3"/>
                    </a:cubicBezTo>
                    <a:cubicBezTo>
                      <a:pt x="472" y="3"/>
                      <a:pt x="472" y="3"/>
                      <a:pt x="472" y="3"/>
                    </a:cubicBezTo>
                    <a:cubicBezTo>
                      <a:pt x="475" y="3"/>
                      <a:pt x="477" y="4"/>
                      <a:pt x="478" y="5"/>
                    </a:cubicBezTo>
                    <a:cubicBezTo>
                      <a:pt x="480" y="5"/>
                      <a:pt x="480" y="7"/>
                      <a:pt x="481" y="10"/>
                    </a:cubicBezTo>
                    <a:cubicBezTo>
                      <a:pt x="482" y="10"/>
                      <a:pt x="482" y="10"/>
                      <a:pt x="482" y="10"/>
                    </a:cubicBezTo>
                    <a:cubicBezTo>
                      <a:pt x="482" y="1"/>
                      <a:pt x="482" y="1"/>
                      <a:pt x="482" y="1"/>
                    </a:cubicBezTo>
                    <a:cubicBezTo>
                      <a:pt x="450" y="1"/>
                      <a:pt x="450" y="1"/>
                      <a:pt x="450" y="1"/>
                    </a:cubicBezTo>
                    <a:cubicBezTo>
                      <a:pt x="450" y="2"/>
                      <a:pt x="450" y="2"/>
                      <a:pt x="450" y="2"/>
                    </a:cubicBezTo>
                    <a:cubicBezTo>
                      <a:pt x="452" y="2"/>
                      <a:pt x="454" y="3"/>
                      <a:pt x="454" y="3"/>
                    </a:cubicBezTo>
                    <a:cubicBezTo>
                      <a:pt x="455" y="4"/>
                      <a:pt x="455" y="6"/>
                      <a:pt x="455" y="8"/>
                    </a:cubicBezTo>
                    <a:cubicBezTo>
                      <a:pt x="455" y="35"/>
                      <a:pt x="455" y="35"/>
                      <a:pt x="455" y="35"/>
                    </a:cubicBezTo>
                    <a:cubicBezTo>
                      <a:pt x="455" y="37"/>
                      <a:pt x="455" y="38"/>
                      <a:pt x="454" y="39"/>
                    </a:cubicBezTo>
                    <a:cubicBezTo>
                      <a:pt x="454" y="39"/>
                      <a:pt x="452" y="40"/>
                      <a:pt x="450" y="40"/>
                    </a:cubicBezTo>
                    <a:cubicBezTo>
                      <a:pt x="450" y="41"/>
                      <a:pt x="450" y="41"/>
                      <a:pt x="450" y="41"/>
                    </a:cubicBezTo>
                    <a:cubicBezTo>
                      <a:pt x="483" y="41"/>
                      <a:pt x="483" y="41"/>
                      <a:pt x="483" y="41"/>
                    </a:cubicBezTo>
                    <a:cubicBezTo>
                      <a:pt x="485" y="31"/>
                      <a:pt x="485" y="31"/>
                      <a:pt x="485" y="31"/>
                    </a:cubicBezTo>
                    <a:close/>
                    <a:moveTo>
                      <a:pt x="529" y="40"/>
                    </a:moveTo>
                    <a:cubicBezTo>
                      <a:pt x="527" y="40"/>
                      <a:pt x="525" y="39"/>
                      <a:pt x="524" y="37"/>
                    </a:cubicBezTo>
                    <a:cubicBezTo>
                      <a:pt x="511" y="22"/>
                      <a:pt x="511" y="22"/>
                      <a:pt x="511" y="22"/>
                    </a:cubicBezTo>
                    <a:cubicBezTo>
                      <a:pt x="519" y="21"/>
                      <a:pt x="522" y="17"/>
                      <a:pt x="522" y="12"/>
                    </a:cubicBezTo>
                    <a:cubicBezTo>
                      <a:pt x="522" y="5"/>
                      <a:pt x="517" y="1"/>
                      <a:pt x="507" y="1"/>
                    </a:cubicBezTo>
                    <a:cubicBezTo>
                      <a:pt x="490" y="1"/>
                      <a:pt x="490" y="1"/>
                      <a:pt x="490" y="1"/>
                    </a:cubicBezTo>
                    <a:cubicBezTo>
                      <a:pt x="490" y="2"/>
                      <a:pt x="490" y="2"/>
                      <a:pt x="490" y="2"/>
                    </a:cubicBezTo>
                    <a:cubicBezTo>
                      <a:pt x="493" y="2"/>
                      <a:pt x="494" y="3"/>
                      <a:pt x="494" y="3"/>
                    </a:cubicBezTo>
                    <a:cubicBezTo>
                      <a:pt x="495" y="4"/>
                      <a:pt x="495" y="5"/>
                      <a:pt x="495" y="8"/>
                    </a:cubicBezTo>
                    <a:cubicBezTo>
                      <a:pt x="495" y="34"/>
                      <a:pt x="495" y="34"/>
                      <a:pt x="495" y="34"/>
                    </a:cubicBezTo>
                    <a:cubicBezTo>
                      <a:pt x="495" y="37"/>
                      <a:pt x="495" y="38"/>
                      <a:pt x="494" y="39"/>
                    </a:cubicBezTo>
                    <a:cubicBezTo>
                      <a:pt x="494" y="39"/>
                      <a:pt x="493" y="40"/>
                      <a:pt x="490" y="40"/>
                    </a:cubicBezTo>
                    <a:cubicBezTo>
                      <a:pt x="490" y="41"/>
                      <a:pt x="490" y="41"/>
                      <a:pt x="490" y="41"/>
                    </a:cubicBezTo>
                    <a:cubicBezTo>
                      <a:pt x="507" y="41"/>
                      <a:pt x="507" y="41"/>
                      <a:pt x="507" y="41"/>
                    </a:cubicBezTo>
                    <a:cubicBezTo>
                      <a:pt x="507" y="40"/>
                      <a:pt x="507" y="40"/>
                      <a:pt x="507" y="40"/>
                    </a:cubicBezTo>
                    <a:cubicBezTo>
                      <a:pt x="505" y="40"/>
                      <a:pt x="503" y="39"/>
                      <a:pt x="502" y="39"/>
                    </a:cubicBezTo>
                    <a:cubicBezTo>
                      <a:pt x="502" y="38"/>
                      <a:pt x="502" y="37"/>
                      <a:pt x="502" y="35"/>
                    </a:cubicBezTo>
                    <a:cubicBezTo>
                      <a:pt x="502" y="23"/>
                      <a:pt x="502" y="23"/>
                      <a:pt x="502" y="23"/>
                    </a:cubicBezTo>
                    <a:cubicBezTo>
                      <a:pt x="505" y="23"/>
                      <a:pt x="505" y="23"/>
                      <a:pt x="505" y="23"/>
                    </a:cubicBezTo>
                    <a:cubicBezTo>
                      <a:pt x="519" y="41"/>
                      <a:pt x="519" y="41"/>
                      <a:pt x="519" y="41"/>
                    </a:cubicBezTo>
                    <a:cubicBezTo>
                      <a:pt x="529" y="41"/>
                      <a:pt x="529" y="41"/>
                      <a:pt x="529" y="41"/>
                    </a:cubicBezTo>
                    <a:cubicBezTo>
                      <a:pt x="529" y="40"/>
                      <a:pt x="529" y="40"/>
                      <a:pt x="529" y="40"/>
                    </a:cubicBezTo>
                    <a:close/>
                    <a:moveTo>
                      <a:pt x="502" y="5"/>
                    </a:moveTo>
                    <a:cubicBezTo>
                      <a:pt x="501" y="4"/>
                      <a:pt x="502" y="3"/>
                      <a:pt x="505" y="3"/>
                    </a:cubicBezTo>
                    <a:cubicBezTo>
                      <a:pt x="512" y="3"/>
                      <a:pt x="516" y="6"/>
                      <a:pt x="516" y="12"/>
                    </a:cubicBezTo>
                    <a:cubicBezTo>
                      <a:pt x="516" y="18"/>
                      <a:pt x="511" y="21"/>
                      <a:pt x="502" y="20"/>
                    </a:cubicBezTo>
                    <a:cubicBezTo>
                      <a:pt x="502" y="5"/>
                      <a:pt x="502" y="5"/>
                      <a:pt x="502" y="5"/>
                    </a:cubicBezTo>
                    <a:close/>
                    <a:moveTo>
                      <a:pt x="559" y="0"/>
                    </a:moveTo>
                    <a:cubicBezTo>
                      <a:pt x="558" y="0"/>
                      <a:pt x="558" y="0"/>
                      <a:pt x="558" y="0"/>
                    </a:cubicBezTo>
                    <a:cubicBezTo>
                      <a:pt x="558" y="2"/>
                      <a:pt x="557" y="2"/>
                      <a:pt x="556" y="2"/>
                    </a:cubicBezTo>
                    <a:cubicBezTo>
                      <a:pt x="556" y="2"/>
                      <a:pt x="555" y="2"/>
                      <a:pt x="554" y="2"/>
                    </a:cubicBezTo>
                    <a:cubicBezTo>
                      <a:pt x="551" y="1"/>
                      <a:pt x="549" y="0"/>
                      <a:pt x="548" y="0"/>
                    </a:cubicBezTo>
                    <a:cubicBezTo>
                      <a:pt x="541" y="1"/>
                      <a:pt x="537" y="4"/>
                      <a:pt x="537" y="10"/>
                    </a:cubicBezTo>
                    <a:cubicBezTo>
                      <a:pt x="536" y="15"/>
                      <a:pt x="540" y="19"/>
                      <a:pt x="546" y="23"/>
                    </a:cubicBezTo>
                    <a:cubicBezTo>
                      <a:pt x="550" y="25"/>
                      <a:pt x="553" y="27"/>
                      <a:pt x="554" y="28"/>
                    </a:cubicBezTo>
                    <a:cubicBezTo>
                      <a:pt x="556" y="29"/>
                      <a:pt x="556" y="31"/>
                      <a:pt x="556" y="33"/>
                    </a:cubicBezTo>
                    <a:cubicBezTo>
                      <a:pt x="556" y="37"/>
                      <a:pt x="553" y="40"/>
                      <a:pt x="549" y="40"/>
                    </a:cubicBezTo>
                    <a:cubicBezTo>
                      <a:pt x="543" y="40"/>
                      <a:pt x="539" y="36"/>
                      <a:pt x="536" y="29"/>
                    </a:cubicBezTo>
                    <a:cubicBezTo>
                      <a:pt x="535" y="29"/>
                      <a:pt x="535" y="29"/>
                      <a:pt x="535" y="29"/>
                    </a:cubicBezTo>
                    <a:cubicBezTo>
                      <a:pt x="537" y="41"/>
                      <a:pt x="537" y="41"/>
                      <a:pt x="537" y="41"/>
                    </a:cubicBezTo>
                    <a:cubicBezTo>
                      <a:pt x="538" y="41"/>
                      <a:pt x="538" y="41"/>
                      <a:pt x="538" y="41"/>
                    </a:cubicBezTo>
                    <a:cubicBezTo>
                      <a:pt x="538" y="41"/>
                      <a:pt x="539" y="40"/>
                      <a:pt x="540" y="40"/>
                    </a:cubicBezTo>
                    <a:cubicBezTo>
                      <a:pt x="540" y="40"/>
                      <a:pt x="541" y="40"/>
                      <a:pt x="543" y="41"/>
                    </a:cubicBezTo>
                    <a:cubicBezTo>
                      <a:pt x="545" y="41"/>
                      <a:pt x="548" y="42"/>
                      <a:pt x="549" y="42"/>
                    </a:cubicBezTo>
                    <a:cubicBezTo>
                      <a:pt x="557" y="41"/>
                      <a:pt x="561" y="38"/>
                      <a:pt x="562" y="31"/>
                    </a:cubicBezTo>
                    <a:cubicBezTo>
                      <a:pt x="561" y="25"/>
                      <a:pt x="557" y="20"/>
                      <a:pt x="551" y="18"/>
                    </a:cubicBezTo>
                    <a:cubicBezTo>
                      <a:pt x="546" y="15"/>
                      <a:pt x="543" y="12"/>
                      <a:pt x="542" y="8"/>
                    </a:cubicBezTo>
                    <a:cubicBezTo>
                      <a:pt x="542" y="5"/>
                      <a:pt x="544" y="3"/>
                      <a:pt x="548" y="3"/>
                    </a:cubicBezTo>
                    <a:cubicBezTo>
                      <a:pt x="554" y="3"/>
                      <a:pt x="558" y="6"/>
                      <a:pt x="559" y="13"/>
                    </a:cubicBezTo>
                    <a:cubicBezTo>
                      <a:pt x="561" y="13"/>
                      <a:pt x="561" y="13"/>
                      <a:pt x="561" y="13"/>
                    </a:cubicBezTo>
                    <a:cubicBezTo>
                      <a:pt x="559" y="0"/>
                      <a:pt x="559" y="0"/>
                      <a:pt x="559" y="0"/>
                    </a:cubicBezTo>
                    <a:close/>
                    <a:moveTo>
                      <a:pt x="570" y="41"/>
                    </a:moveTo>
                    <a:cubicBezTo>
                      <a:pt x="588" y="41"/>
                      <a:pt x="588" y="41"/>
                      <a:pt x="588" y="41"/>
                    </a:cubicBezTo>
                    <a:cubicBezTo>
                      <a:pt x="588" y="40"/>
                      <a:pt x="588" y="40"/>
                      <a:pt x="588" y="40"/>
                    </a:cubicBezTo>
                    <a:cubicBezTo>
                      <a:pt x="586" y="40"/>
                      <a:pt x="584" y="40"/>
                      <a:pt x="583" y="39"/>
                    </a:cubicBezTo>
                    <a:cubicBezTo>
                      <a:pt x="583" y="38"/>
                      <a:pt x="582" y="37"/>
                      <a:pt x="582" y="35"/>
                    </a:cubicBezTo>
                    <a:cubicBezTo>
                      <a:pt x="582" y="8"/>
                      <a:pt x="582" y="8"/>
                      <a:pt x="582" y="8"/>
                    </a:cubicBezTo>
                    <a:cubicBezTo>
                      <a:pt x="582" y="5"/>
                      <a:pt x="583" y="4"/>
                      <a:pt x="583" y="3"/>
                    </a:cubicBezTo>
                    <a:cubicBezTo>
                      <a:pt x="584" y="3"/>
                      <a:pt x="586" y="2"/>
                      <a:pt x="588" y="2"/>
                    </a:cubicBezTo>
                    <a:cubicBezTo>
                      <a:pt x="588" y="1"/>
                      <a:pt x="588" y="1"/>
                      <a:pt x="588" y="1"/>
                    </a:cubicBezTo>
                    <a:cubicBezTo>
                      <a:pt x="570" y="1"/>
                      <a:pt x="570" y="1"/>
                      <a:pt x="570" y="1"/>
                    </a:cubicBezTo>
                    <a:cubicBezTo>
                      <a:pt x="570" y="2"/>
                      <a:pt x="570" y="2"/>
                      <a:pt x="570" y="2"/>
                    </a:cubicBezTo>
                    <a:cubicBezTo>
                      <a:pt x="573" y="2"/>
                      <a:pt x="574" y="3"/>
                      <a:pt x="575" y="3"/>
                    </a:cubicBezTo>
                    <a:cubicBezTo>
                      <a:pt x="576" y="4"/>
                      <a:pt x="576" y="5"/>
                      <a:pt x="576" y="8"/>
                    </a:cubicBezTo>
                    <a:cubicBezTo>
                      <a:pt x="576" y="35"/>
                      <a:pt x="576" y="35"/>
                      <a:pt x="576" y="35"/>
                    </a:cubicBezTo>
                    <a:cubicBezTo>
                      <a:pt x="576" y="37"/>
                      <a:pt x="576" y="38"/>
                      <a:pt x="575" y="39"/>
                    </a:cubicBezTo>
                    <a:cubicBezTo>
                      <a:pt x="574" y="40"/>
                      <a:pt x="573" y="40"/>
                      <a:pt x="570" y="40"/>
                    </a:cubicBezTo>
                    <a:cubicBezTo>
                      <a:pt x="570" y="41"/>
                      <a:pt x="570" y="41"/>
                      <a:pt x="570" y="41"/>
                    </a:cubicBezTo>
                    <a:close/>
                    <a:moveTo>
                      <a:pt x="620" y="40"/>
                    </a:moveTo>
                    <a:cubicBezTo>
                      <a:pt x="617" y="40"/>
                      <a:pt x="615" y="39"/>
                      <a:pt x="615" y="39"/>
                    </a:cubicBezTo>
                    <a:cubicBezTo>
                      <a:pt x="614" y="38"/>
                      <a:pt x="614" y="37"/>
                      <a:pt x="614" y="35"/>
                    </a:cubicBezTo>
                    <a:cubicBezTo>
                      <a:pt x="614" y="4"/>
                      <a:pt x="614" y="4"/>
                      <a:pt x="614" y="4"/>
                    </a:cubicBezTo>
                    <a:cubicBezTo>
                      <a:pt x="617" y="4"/>
                      <a:pt x="617" y="4"/>
                      <a:pt x="617" y="4"/>
                    </a:cubicBezTo>
                    <a:cubicBezTo>
                      <a:pt x="621" y="4"/>
                      <a:pt x="623" y="4"/>
                      <a:pt x="624" y="5"/>
                    </a:cubicBezTo>
                    <a:cubicBezTo>
                      <a:pt x="625" y="6"/>
                      <a:pt x="626" y="8"/>
                      <a:pt x="627" y="11"/>
                    </a:cubicBezTo>
                    <a:cubicBezTo>
                      <a:pt x="628" y="11"/>
                      <a:pt x="628" y="11"/>
                      <a:pt x="628" y="11"/>
                    </a:cubicBezTo>
                    <a:cubicBezTo>
                      <a:pt x="628" y="1"/>
                      <a:pt x="628" y="1"/>
                      <a:pt x="628" y="1"/>
                    </a:cubicBezTo>
                    <a:cubicBezTo>
                      <a:pt x="594" y="1"/>
                      <a:pt x="594" y="1"/>
                      <a:pt x="594" y="1"/>
                    </a:cubicBezTo>
                    <a:cubicBezTo>
                      <a:pt x="593" y="11"/>
                      <a:pt x="593" y="11"/>
                      <a:pt x="593" y="11"/>
                    </a:cubicBezTo>
                    <a:cubicBezTo>
                      <a:pt x="595" y="11"/>
                      <a:pt x="595" y="11"/>
                      <a:pt x="595" y="11"/>
                    </a:cubicBezTo>
                    <a:cubicBezTo>
                      <a:pt x="595" y="8"/>
                      <a:pt x="596" y="6"/>
                      <a:pt x="597" y="5"/>
                    </a:cubicBezTo>
                    <a:cubicBezTo>
                      <a:pt x="599" y="4"/>
                      <a:pt x="601" y="4"/>
                      <a:pt x="604" y="4"/>
                    </a:cubicBezTo>
                    <a:cubicBezTo>
                      <a:pt x="608" y="4"/>
                      <a:pt x="608" y="4"/>
                      <a:pt x="608" y="4"/>
                    </a:cubicBezTo>
                    <a:cubicBezTo>
                      <a:pt x="608" y="34"/>
                      <a:pt x="608" y="34"/>
                      <a:pt x="608" y="34"/>
                    </a:cubicBezTo>
                    <a:cubicBezTo>
                      <a:pt x="608" y="37"/>
                      <a:pt x="607" y="38"/>
                      <a:pt x="607" y="39"/>
                    </a:cubicBezTo>
                    <a:cubicBezTo>
                      <a:pt x="606" y="39"/>
                      <a:pt x="604" y="40"/>
                      <a:pt x="602" y="40"/>
                    </a:cubicBezTo>
                    <a:cubicBezTo>
                      <a:pt x="602" y="41"/>
                      <a:pt x="602" y="41"/>
                      <a:pt x="602" y="41"/>
                    </a:cubicBezTo>
                    <a:cubicBezTo>
                      <a:pt x="620" y="41"/>
                      <a:pt x="620" y="41"/>
                      <a:pt x="620" y="41"/>
                    </a:cubicBezTo>
                    <a:cubicBezTo>
                      <a:pt x="620" y="40"/>
                      <a:pt x="620" y="40"/>
                      <a:pt x="620" y="40"/>
                    </a:cubicBezTo>
                    <a:close/>
                    <a:moveTo>
                      <a:pt x="675" y="1"/>
                    </a:moveTo>
                    <a:cubicBezTo>
                      <a:pt x="661" y="1"/>
                      <a:pt x="661" y="1"/>
                      <a:pt x="661" y="1"/>
                    </a:cubicBezTo>
                    <a:cubicBezTo>
                      <a:pt x="661" y="2"/>
                      <a:pt x="661" y="2"/>
                      <a:pt x="661" y="2"/>
                    </a:cubicBezTo>
                    <a:cubicBezTo>
                      <a:pt x="664" y="2"/>
                      <a:pt x="666" y="3"/>
                      <a:pt x="666" y="4"/>
                    </a:cubicBezTo>
                    <a:cubicBezTo>
                      <a:pt x="666" y="5"/>
                      <a:pt x="665" y="6"/>
                      <a:pt x="665" y="6"/>
                    </a:cubicBezTo>
                    <a:cubicBezTo>
                      <a:pt x="656" y="20"/>
                      <a:pt x="656" y="20"/>
                      <a:pt x="656" y="20"/>
                    </a:cubicBezTo>
                    <a:cubicBezTo>
                      <a:pt x="647" y="7"/>
                      <a:pt x="647" y="7"/>
                      <a:pt x="647" y="7"/>
                    </a:cubicBezTo>
                    <a:cubicBezTo>
                      <a:pt x="646" y="6"/>
                      <a:pt x="646" y="5"/>
                      <a:pt x="646" y="4"/>
                    </a:cubicBezTo>
                    <a:cubicBezTo>
                      <a:pt x="646" y="3"/>
                      <a:pt x="647" y="2"/>
                      <a:pt x="650" y="2"/>
                    </a:cubicBezTo>
                    <a:cubicBezTo>
                      <a:pt x="650" y="2"/>
                      <a:pt x="650" y="2"/>
                      <a:pt x="650" y="2"/>
                    </a:cubicBezTo>
                    <a:cubicBezTo>
                      <a:pt x="650" y="1"/>
                      <a:pt x="650" y="1"/>
                      <a:pt x="650" y="1"/>
                    </a:cubicBezTo>
                    <a:cubicBezTo>
                      <a:pt x="634" y="1"/>
                      <a:pt x="634" y="1"/>
                      <a:pt x="634" y="1"/>
                    </a:cubicBezTo>
                    <a:cubicBezTo>
                      <a:pt x="634" y="2"/>
                      <a:pt x="634" y="2"/>
                      <a:pt x="634" y="2"/>
                    </a:cubicBezTo>
                    <a:cubicBezTo>
                      <a:pt x="635" y="2"/>
                      <a:pt x="636" y="3"/>
                      <a:pt x="637" y="4"/>
                    </a:cubicBezTo>
                    <a:cubicBezTo>
                      <a:pt x="638" y="5"/>
                      <a:pt x="640" y="8"/>
                      <a:pt x="643" y="12"/>
                    </a:cubicBezTo>
                    <a:cubicBezTo>
                      <a:pt x="651" y="23"/>
                      <a:pt x="651" y="23"/>
                      <a:pt x="651" y="23"/>
                    </a:cubicBezTo>
                    <a:cubicBezTo>
                      <a:pt x="651" y="34"/>
                      <a:pt x="651" y="34"/>
                      <a:pt x="651" y="34"/>
                    </a:cubicBezTo>
                    <a:cubicBezTo>
                      <a:pt x="651" y="37"/>
                      <a:pt x="651" y="38"/>
                      <a:pt x="650" y="39"/>
                    </a:cubicBezTo>
                    <a:cubicBezTo>
                      <a:pt x="650" y="40"/>
                      <a:pt x="648" y="40"/>
                      <a:pt x="645" y="40"/>
                    </a:cubicBezTo>
                    <a:cubicBezTo>
                      <a:pt x="645" y="41"/>
                      <a:pt x="645" y="41"/>
                      <a:pt x="645" y="41"/>
                    </a:cubicBezTo>
                    <a:cubicBezTo>
                      <a:pt x="664" y="41"/>
                      <a:pt x="664" y="41"/>
                      <a:pt x="664" y="41"/>
                    </a:cubicBezTo>
                    <a:cubicBezTo>
                      <a:pt x="664" y="40"/>
                      <a:pt x="664" y="40"/>
                      <a:pt x="664" y="40"/>
                    </a:cubicBezTo>
                    <a:cubicBezTo>
                      <a:pt x="661" y="40"/>
                      <a:pt x="659" y="40"/>
                      <a:pt x="659" y="39"/>
                    </a:cubicBezTo>
                    <a:cubicBezTo>
                      <a:pt x="658" y="38"/>
                      <a:pt x="657" y="37"/>
                      <a:pt x="657" y="35"/>
                    </a:cubicBezTo>
                    <a:cubicBezTo>
                      <a:pt x="657" y="23"/>
                      <a:pt x="657" y="23"/>
                      <a:pt x="657" y="23"/>
                    </a:cubicBezTo>
                    <a:cubicBezTo>
                      <a:pt x="666" y="9"/>
                      <a:pt x="666" y="9"/>
                      <a:pt x="666" y="9"/>
                    </a:cubicBezTo>
                    <a:cubicBezTo>
                      <a:pt x="669" y="4"/>
                      <a:pt x="672" y="2"/>
                      <a:pt x="675" y="2"/>
                    </a:cubicBezTo>
                    <a:cubicBezTo>
                      <a:pt x="675" y="1"/>
                      <a:pt x="675" y="1"/>
                      <a:pt x="67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nvGrpSpPr>
            <p:cNvPr id="10" name="组合 9"/>
            <p:cNvGrpSpPr/>
            <p:nvPr/>
          </p:nvGrpSpPr>
          <p:grpSpPr>
            <a:xfrm>
              <a:off x="3763962" y="0"/>
              <a:ext cx="1069105" cy="1067923"/>
              <a:chOff x="3851276" y="1292225"/>
              <a:chExt cx="1435100" cy="1433513"/>
            </a:xfrm>
            <a:grpFill/>
          </p:grpSpPr>
          <p:sp>
            <p:nvSpPr>
              <p:cNvPr id="11"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2"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19"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0"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1"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2"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3"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4"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5"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sp>
            <p:nvSpPr>
              <p:cNvPr id="26"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grpSp>
    </p:spTree>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2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E3F9CDB-1F21-4789-A81E-8FEA25CE194B}" type="slidenum">
              <a:rPr lang="zh-CN" altLang="en-US" smtClean="0"/>
              <a:t>‹#›</a:t>
            </a:fld>
            <a:endParaRPr lang="zh-CN" altLang="en-US"/>
          </a:p>
        </p:txBody>
      </p:sp>
      <p:sp>
        <p:nvSpPr>
          <p:cNvPr id="7" name="矩形 6"/>
          <p:cNvSpPr/>
          <p:nvPr userDrawn="1"/>
        </p:nvSpPr>
        <p:spPr>
          <a:xfrm>
            <a:off x="6001081" y="3302108"/>
            <a:ext cx="775136" cy="230832"/>
          </a:xfrm>
          <a:prstGeom prst="rect">
            <a:avLst/>
          </a:prstGeom>
        </p:spPr>
        <p:txBody>
          <a:bodyPr wrap="square">
            <a:spAutoFit/>
          </a:bodyPr>
          <a:lstStyle/>
          <a:p>
            <a:pPr lvl="0"/>
            <a:r>
              <a:rPr lang="en-US" altLang="zh-CN" sz="100" dirty="0">
                <a:solidFill>
                  <a:schemeClr val="bg1">
                    <a:lumMod val="95000"/>
                  </a:schemeClr>
                </a:solidFill>
              </a:rPr>
              <a:t>PPT</a:t>
            </a:r>
            <a:r>
              <a:rPr lang="zh-CN" altLang="en-US" sz="100" dirty="0">
                <a:solidFill>
                  <a:schemeClr val="bg1">
                    <a:lumMod val="95000"/>
                  </a:schemeClr>
                </a:solidFill>
              </a:rPr>
              <a:t>模板下载：</a:t>
            </a:r>
            <a:r>
              <a:rPr lang="en-US" altLang="zh-CN" sz="100" dirty="0">
                <a:solidFill>
                  <a:schemeClr val="bg1">
                    <a:lumMod val="95000"/>
                  </a:schemeClr>
                </a:solidFill>
              </a:rPr>
              <a:t>www.1ppt.com/moban/     </a:t>
            </a:r>
            <a:r>
              <a:rPr lang="zh-CN" altLang="en-US" sz="100" dirty="0">
                <a:solidFill>
                  <a:schemeClr val="bg1">
                    <a:lumMod val="95000"/>
                  </a:schemeClr>
                </a:solidFill>
              </a:rPr>
              <a:t>行业</a:t>
            </a:r>
            <a:r>
              <a:rPr lang="en-US" altLang="zh-CN" sz="100" dirty="0">
                <a:solidFill>
                  <a:schemeClr val="bg1">
                    <a:lumMod val="95000"/>
                  </a:schemeClr>
                </a:solidFill>
              </a:rPr>
              <a:t>PPT</a:t>
            </a:r>
            <a:r>
              <a:rPr lang="zh-CN" altLang="en-US" sz="100" dirty="0">
                <a:solidFill>
                  <a:schemeClr val="bg1">
                    <a:lumMod val="95000"/>
                  </a:schemeClr>
                </a:solidFill>
              </a:rPr>
              <a:t>模板：</a:t>
            </a:r>
            <a:r>
              <a:rPr lang="en-US" altLang="zh-CN" sz="100" dirty="0">
                <a:solidFill>
                  <a:schemeClr val="bg1">
                    <a:lumMod val="95000"/>
                  </a:schemeClr>
                </a:solidFill>
              </a:rPr>
              <a:t>www.1ppt.com/hangye/ </a:t>
            </a:r>
          </a:p>
          <a:p>
            <a:pPr lvl="0"/>
            <a:r>
              <a:rPr lang="zh-CN" altLang="en-US" sz="100" dirty="0">
                <a:solidFill>
                  <a:schemeClr val="bg1">
                    <a:lumMod val="95000"/>
                  </a:schemeClr>
                </a:solidFill>
              </a:rPr>
              <a:t>节日</a:t>
            </a:r>
            <a:r>
              <a:rPr lang="en-US" altLang="zh-CN" sz="100" dirty="0">
                <a:solidFill>
                  <a:schemeClr val="bg1">
                    <a:lumMod val="95000"/>
                  </a:schemeClr>
                </a:solidFill>
              </a:rPr>
              <a:t>PPT</a:t>
            </a:r>
            <a:r>
              <a:rPr lang="zh-CN" altLang="en-US" sz="100" dirty="0">
                <a:solidFill>
                  <a:schemeClr val="bg1">
                    <a:lumMod val="95000"/>
                  </a:schemeClr>
                </a:solidFill>
              </a:rPr>
              <a:t>模板：</a:t>
            </a:r>
            <a:r>
              <a:rPr lang="en-US" altLang="zh-CN" sz="100" dirty="0">
                <a:solidFill>
                  <a:schemeClr val="bg1">
                    <a:lumMod val="95000"/>
                  </a:schemeClr>
                </a:solidFill>
              </a:rPr>
              <a:t>www.1ppt.com/jieri/           PPT</a:t>
            </a:r>
            <a:r>
              <a:rPr lang="zh-CN" altLang="en-US" sz="100" dirty="0">
                <a:solidFill>
                  <a:schemeClr val="bg1">
                    <a:lumMod val="95000"/>
                  </a:schemeClr>
                </a:solidFill>
              </a:rPr>
              <a:t>素材下载：</a:t>
            </a:r>
            <a:r>
              <a:rPr lang="en-US" altLang="zh-CN" sz="100" dirty="0">
                <a:solidFill>
                  <a:schemeClr val="bg1">
                    <a:lumMod val="95000"/>
                  </a:schemeClr>
                </a:solidFill>
              </a:rPr>
              <a:t>www.1ppt.com/sucai/</a:t>
            </a:r>
          </a:p>
          <a:p>
            <a:pPr lvl="0"/>
            <a:r>
              <a:rPr lang="en-US" altLang="zh-CN" sz="100" dirty="0">
                <a:solidFill>
                  <a:schemeClr val="bg1">
                    <a:lumMod val="95000"/>
                  </a:schemeClr>
                </a:solidFill>
              </a:rPr>
              <a:t>PPT</a:t>
            </a:r>
            <a:r>
              <a:rPr lang="zh-CN" altLang="en-US" sz="100" dirty="0">
                <a:solidFill>
                  <a:schemeClr val="bg1">
                    <a:lumMod val="95000"/>
                  </a:schemeClr>
                </a:solidFill>
              </a:rPr>
              <a:t>背景图片：</a:t>
            </a:r>
            <a:r>
              <a:rPr lang="en-US" altLang="zh-CN" sz="100" dirty="0">
                <a:solidFill>
                  <a:schemeClr val="bg1">
                    <a:lumMod val="95000"/>
                  </a:schemeClr>
                </a:solidFill>
              </a:rPr>
              <a:t>www.1ppt.com/beijing/      PPT</a:t>
            </a:r>
            <a:r>
              <a:rPr lang="zh-CN" altLang="en-US" sz="100" dirty="0">
                <a:solidFill>
                  <a:schemeClr val="bg1">
                    <a:lumMod val="95000"/>
                  </a:schemeClr>
                </a:solidFill>
              </a:rPr>
              <a:t>图表下载：</a:t>
            </a:r>
            <a:r>
              <a:rPr lang="en-US" altLang="zh-CN" sz="100" dirty="0">
                <a:solidFill>
                  <a:schemeClr val="bg1">
                    <a:lumMod val="95000"/>
                  </a:schemeClr>
                </a:solidFill>
              </a:rPr>
              <a:t>www.1ppt.com/tubiao/      </a:t>
            </a:r>
          </a:p>
          <a:p>
            <a:pPr lvl="0"/>
            <a:r>
              <a:rPr lang="zh-CN" altLang="en-US" sz="100" dirty="0">
                <a:solidFill>
                  <a:schemeClr val="bg1">
                    <a:lumMod val="95000"/>
                  </a:schemeClr>
                </a:solidFill>
              </a:rPr>
              <a:t>优秀</a:t>
            </a:r>
            <a:r>
              <a:rPr lang="en-US" altLang="zh-CN" sz="100" dirty="0">
                <a:solidFill>
                  <a:schemeClr val="bg1">
                    <a:lumMod val="95000"/>
                  </a:schemeClr>
                </a:solidFill>
              </a:rPr>
              <a:t>PPT</a:t>
            </a:r>
            <a:r>
              <a:rPr lang="zh-CN" altLang="en-US" sz="100" dirty="0">
                <a:solidFill>
                  <a:schemeClr val="bg1">
                    <a:lumMod val="95000"/>
                  </a:schemeClr>
                </a:solidFill>
              </a:rPr>
              <a:t>下载：</a:t>
            </a:r>
            <a:r>
              <a:rPr lang="en-US" altLang="zh-CN" sz="100" dirty="0">
                <a:solidFill>
                  <a:schemeClr val="bg1">
                    <a:lumMod val="95000"/>
                  </a:schemeClr>
                </a:solidFill>
              </a:rPr>
              <a:t>www.1ppt.com/xiazai/        PPT</a:t>
            </a:r>
            <a:r>
              <a:rPr lang="zh-CN" altLang="en-US" sz="100" dirty="0">
                <a:solidFill>
                  <a:schemeClr val="bg1">
                    <a:lumMod val="95000"/>
                  </a:schemeClr>
                </a:solidFill>
              </a:rPr>
              <a:t>教程： </a:t>
            </a:r>
            <a:r>
              <a:rPr lang="en-US" altLang="zh-CN" sz="100" dirty="0">
                <a:solidFill>
                  <a:schemeClr val="bg1">
                    <a:lumMod val="95000"/>
                  </a:schemeClr>
                </a:solidFill>
              </a:rPr>
              <a:t>www.1ppt.com/powerpoint/      </a:t>
            </a:r>
          </a:p>
          <a:p>
            <a:pPr lvl="0"/>
            <a:r>
              <a:rPr lang="en-US" altLang="zh-CN" sz="100" dirty="0">
                <a:solidFill>
                  <a:schemeClr val="bg1">
                    <a:lumMod val="95000"/>
                  </a:schemeClr>
                </a:solidFill>
              </a:rPr>
              <a:t>Word</a:t>
            </a:r>
            <a:r>
              <a:rPr lang="zh-CN" altLang="en-US" sz="100" dirty="0">
                <a:solidFill>
                  <a:schemeClr val="bg1">
                    <a:lumMod val="95000"/>
                  </a:schemeClr>
                </a:solidFill>
              </a:rPr>
              <a:t>教程： </a:t>
            </a:r>
            <a:r>
              <a:rPr lang="en-US" altLang="zh-CN" sz="100" dirty="0">
                <a:solidFill>
                  <a:schemeClr val="bg1">
                    <a:lumMod val="95000"/>
                  </a:schemeClr>
                </a:solidFill>
              </a:rPr>
              <a:t>www.1ppt.com/word/              Excel</a:t>
            </a:r>
            <a:r>
              <a:rPr lang="zh-CN" altLang="en-US" sz="100" dirty="0">
                <a:solidFill>
                  <a:schemeClr val="bg1">
                    <a:lumMod val="95000"/>
                  </a:schemeClr>
                </a:solidFill>
              </a:rPr>
              <a:t>教程：</a:t>
            </a:r>
            <a:r>
              <a:rPr lang="en-US" altLang="zh-CN" sz="100" dirty="0">
                <a:solidFill>
                  <a:schemeClr val="bg1">
                    <a:lumMod val="95000"/>
                  </a:schemeClr>
                </a:solidFill>
              </a:rPr>
              <a:t>www.1ppt.com/excel/  </a:t>
            </a:r>
          </a:p>
          <a:p>
            <a:pPr lvl="0"/>
            <a:r>
              <a:rPr lang="zh-CN" altLang="en-US" sz="100" dirty="0">
                <a:solidFill>
                  <a:schemeClr val="bg1">
                    <a:lumMod val="95000"/>
                  </a:schemeClr>
                </a:solidFill>
              </a:rPr>
              <a:t>资料下载：</a:t>
            </a:r>
            <a:r>
              <a:rPr lang="en-US" altLang="zh-CN" sz="100" dirty="0">
                <a:solidFill>
                  <a:schemeClr val="bg1">
                    <a:lumMod val="95000"/>
                  </a:schemeClr>
                </a:solidFill>
              </a:rPr>
              <a:t>www.1ppt.com/ziliao/                PPT</a:t>
            </a:r>
            <a:r>
              <a:rPr lang="zh-CN" altLang="en-US" sz="100" dirty="0">
                <a:solidFill>
                  <a:schemeClr val="bg1">
                    <a:lumMod val="95000"/>
                  </a:schemeClr>
                </a:solidFill>
              </a:rPr>
              <a:t>课件下载：</a:t>
            </a:r>
            <a:r>
              <a:rPr lang="en-US" altLang="zh-CN" sz="100" dirty="0">
                <a:solidFill>
                  <a:schemeClr val="bg1">
                    <a:lumMod val="95000"/>
                  </a:schemeClr>
                </a:solidFill>
              </a:rPr>
              <a:t>www.1ppt.com/kejian/ </a:t>
            </a:r>
          </a:p>
          <a:p>
            <a:pPr lvl="0"/>
            <a:r>
              <a:rPr lang="zh-CN" altLang="en-US" sz="100" dirty="0">
                <a:solidFill>
                  <a:schemeClr val="bg1">
                    <a:lumMod val="95000"/>
                  </a:schemeClr>
                </a:solidFill>
              </a:rPr>
              <a:t>范文下载：</a:t>
            </a:r>
            <a:r>
              <a:rPr lang="en-US" altLang="zh-CN" sz="100" dirty="0">
                <a:solidFill>
                  <a:schemeClr val="bg1">
                    <a:lumMod val="95000"/>
                  </a:schemeClr>
                </a:solidFill>
              </a:rPr>
              <a:t>www.1ppt.com/fanwen/             </a:t>
            </a:r>
            <a:r>
              <a:rPr lang="zh-CN" altLang="en-US" sz="100" dirty="0">
                <a:solidFill>
                  <a:schemeClr val="bg1">
                    <a:lumMod val="95000"/>
                  </a:schemeClr>
                </a:solidFill>
              </a:rPr>
              <a:t>试卷下载：</a:t>
            </a:r>
            <a:r>
              <a:rPr lang="en-US" altLang="zh-CN" sz="100" dirty="0">
                <a:solidFill>
                  <a:schemeClr val="bg1">
                    <a:lumMod val="95000"/>
                  </a:schemeClr>
                </a:solidFill>
              </a:rPr>
              <a:t>www.1ppt.com/shiti/  </a:t>
            </a:r>
          </a:p>
          <a:p>
            <a:pPr lvl="0"/>
            <a:r>
              <a:rPr lang="zh-CN" altLang="en-US" sz="100" dirty="0">
                <a:solidFill>
                  <a:schemeClr val="bg1">
                    <a:lumMod val="95000"/>
                  </a:schemeClr>
                </a:solidFill>
              </a:rPr>
              <a:t>教案下载：</a:t>
            </a:r>
            <a:r>
              <a:rPr lang="en-US" altLang="zh-CN" sz="100" dirty="0">
                <a:solidFill>
                  <a:schemeClr val="bg1">
                    <a:lumMod val="95000"/>
                  </a:schemeClr>
                </a:solidFill>
              </a:rPr>
              <a:t>www.1ppt.com/jiaoan/        PPT</a:t>
            </a:r>
            <a:r>
              <a:rPr lang="zh-CN" altLang="en-US" sz="100" dirty="0">
                <a:solidFill>
                  <a:schemeClr val="bg1">
                    <a:lumMod val="95000"/>
                  </a:schemeClr>
                </a:solidFill>
              </a:rPr>
              <a:t>论坛：</a:t>
            </a:r>
            <a:r>
              <a:rPr lang="en-US" altLang="zh-CN" sz="100" dirty="0">
                <a:solidFill>
                  <a:schemeClr val="bg1">
                    <a:lumMod val="95000"/>
                  </a:schemeClr>
                </a:solidFill>
              </a:rPr>
              <a:t>www.1ppt.cn</a:t>
            </a:r>
          </a:p>
          <a:p>
            <a:pPr lvl="0"/>
            <a:r>
              <a:rPr lang="en-US" altLang="zh-CN" sz="100" dirty="0">
                <a:solidFill>
                  <a:schemeClr val="bg1">
                    <a:lumMod val="95000"/>
                  </a:schemeClr>
                </a:solidFill>
              </a:rPr>
              <a:t> </a:t>
            </a:r>
            <a:endParaRPr lang="zh-CN" altLang="en-US" sz="100" dirty="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wipe dir="r"/>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EF2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669989D-4831-4E99-B76E-9A53CB0F3A88}" type="datetimeFigureOut">
              <a:rPr lang="zh-CN" altLang="en-US" smtClean="0"/>
              <a:t>2018/8/24</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E3F9CDB-1F21-4789-A81E-8FEA25CE194B}" type="slidenum">
              <a:rPr lang="zh-CN" altLang="en-US" smtClean="0"/>
              <a:t>‹#›</a:t>
            </a:fld>
            <a:endParaRPr lang="zh-CN" altLang="en-US"/>
          </a:p>
        </p:txBody>
      </p:sp>
      <p:sp>
        <p:nvSpPr>
          <p:cNvPr id="7" name="矩形 6"/>
          <p:cNvSpPr/>
          <p:nvPr userDrawn="1"/>
        </p:nvSpPr>
        <p:spPr>
          <a:xfrm>
            <a:off x="6001081" y="3302108"/>
            <a:ext cx="775136" cy="230832"/>
          </a:xfrm>
          <a:prstGeom prst="rect">
            <a:avLst/>
          </a:prstGeom>
        </p:spPr>
        <p:txBody>
          <a:bodyPr wrap="square">
            <a:spAutoFit/>
          </a:bodyPr>
          <a:lstStyle/>
          <a:p>
            <a:pPr lvl="0"/>
            <a:r>
              <a:rPr lang="en-US" altLang="zh-CN" sz="100" dirty="0">
                <a:solidFill>
                  <a:schemeClr val="bg1">
                    <a:lumMod val="95000"/>
                  </a:schemeClr>
                </a:solidFill>
              </a:rPr>
              <a:t>PPT</a:t>
            </a:r>
            <a:r>
              <a:rPr lang="zh-CN" altLang="en-US" sz="100" dirty="0">
                <a:solidFill>
                  <a:schemeClr val="bg1">
                    <a:lumMod val="95000"/>
                  </a:schemeClr>
                </a:solidFill>
              </a:rPr>
              <a:t>模板下载：</a:t>
            </a:r>
            <a:r>
              <a:rPr lang="en-US" altLang="zh-CN" sz="100" dirty="0">
                <a:solidFill>
                  <a:schemeClr val="bg1">
                    <a:lumMod val="95000"/>
                  </a:schemeClr>
                </a:solidFill>
              </a:rPr>
              <a:t>www.1ppt.com/moban/     </a:t>
            </a:r>
            <a:r>
              <a:rPr lang="zh-CN" altLang="en-US" sz="100" dirty="0">
                <a:solidFill>
                  <a:schemeClr val="bg1">
                    <a:lumMod val="95000"/>
                  </a:schemeClr>
                </a:solidFill>
              </a:rPr>
              <a:t>行业</a:t>
            </a:r>
            <a:r>
              <a:rPr lang="en-US" altLang="zh-CN" sz="100" dirty="0">
                <a:solidFill>
                  <a:schemeClr val="bg1">
                    <a:lumMod val="95000"/>
                  </a:schemeClr>
                </a:solidFill>
              </a:rPr>
              <a:t>PPT</a:t>
            </a:r>
            <a:r>
              <a:rPr lang="zh-CN" altLang="en-US" sz="100" dirty="0">
                <a:solidFill>
                  <a:schemeClr val="bg1">
                    <a:lumMod val="95000"/>
                  </a:schemeClr>
                </a:solidFill>
              </a:rPr>
              <a:t>模板：</a:t>
            </a:r>
            <a:r>
              <a:rPr lang="en-US" altLang="zh-CN" sz="100" dirty="0">
                <a:solidFill>
                  <a:schemeClr val="bg1">
                    <a:lumMod val="95000"/>
                  </a:schemeClr>
                </a:solidFill>
              </a:rPr>
              <a:t>www.1ppt.com/hangye/ </a:t>
            </a:r>
          </a:p>
          <a:p>
            <a:pPr lvl="0"/>
            <a:r>
              <a:rPr lang="zh-CN" altLang="en-US" sz="100" dirty="0">
                <a:solidFill>
                  <a:schemeClr val="bg1">
                    <a:lumMod val="95000"/>
                  </a:schemeClr>
                </a:solidFill>
              </a:rPr>
              <a:t>节日</a:t>
            </a:r>
            <a:r>
              <a:rPr lang="en-US" altLang="zh-CN" sz="100" dirty="0">
                <a:solidFill>
                  <a:schemeClr val="bg1">
                    <a:lumMod val="95000"/>
                  </a:schemeClr>
                </a:solidFill>
              </a:rPr>
              <a:t>PPT</a:t>
            </a:r>
            <a:r>
              <a:rPr lang="zh-CN" altLang="en-US" sz="100" dirty="0">
                <a:solidFill>
                  <a:schemeClr val="bg1">
                    <a:lumMod val="95000"/>
                  </a:schemeClr>
                </a:solidFill>
              </a:rPr>
              <a:t>模板：</a:t>
            </a:r>
            <a:r>
              <a:rPr lang="en-US" altLang="zh-CN" sz="100" dirty="0">
                <a:solidFill>
                  <a:schemeClr val="bg1">
                    <a:lumMod val="95000"/>
                  </a:schemeClr>
                </a:solidFill>
              </a:rPr>
              <a:t>www.1ppt.com/jieri/           PPT</a:t>
            </a:r>
            <a:r>
              <a:rPr lang="zh-CN" altLang="en-US" sz="100" dirty="0">
                <a:solidFill>
                  <a:schemeClr val="bg1">
                    <a:lumMod val="95000"/>
                  </a:schemeClr>
                </a:solidFill>
              </a:rPr>
              <a:t>素材下载：</a:t>
            </a:r>
            <a:r>
              <a:rPr lang="en-US" altLang="zh-CN" sz="100" dirty="0">
                <a:solidFill>
                  <a:schemeClr val="bg1">
                    <a:lumMod val="95000"/>
                  </a:schemeClr>
                </a:solidFill>
              </a:rPr>
              <a:t>www.1ppt.com/sucai/</a:t>
            </a:r>
          </a:p>
          <a:p>
            <a:pPr lvl="0"/>
            <a:r>
              <a:rPr lang="en-US" altLang="zh-CN" sz="100" dirty="0">
                <a:solidFill>
                  <a:schemeClr val="bg1">
                    <a:lumMod val="95000"/>
                  </a:schemeClr>
                </a:solidFill>
              </a:rPr>
              <a:t>PPT</a:t>
            </a:r>
            <a:r>
              <a:rPr lang="zh-CN" altLang="en-US" sz="100" dirty="0">
                <a:solidFill>
                  <a:schemeClr val="bg1">
                    <a:lumMod val="95000"/>
                  </a:schemeClr>
                </a:solidFill>
              </a:rPr>
              <a:t>背景图片：</a:t>
            </a:r>
            <a:r>
              <a:rPr lang="en-US" altLang="zh-CN" sz="100" dirty="0">
                <a:solidFill>
                  <a:schemeClr val="bg1">
                    <a:lumMod val="95000"/>
                  </a:schemeClr>
                </a:solidFill>
              </a:rPr>
              <a:t>www.1ppt.com/beijing/      PPT</a:t>
            </a:r>
            <a:r>
              <a:rPr lang="zh-CN" altLang="en-US" sz="100" dirty="0">
                <a:solidFill>
                  <a:schemeClr val="bg1">
                    <a:lumMod val="95000"/>
                  </a:schemeClr>
                </a:solidFill>
              </a:rPr>
              <a:t>图表下载：</a:t>
            </a:r>
            <a:r>
              <a:rPr lang="en-US" altLang="zh-CN" sz="100" dirty="0">
                <a:solidFill>
                  <a:schemeClr val="bg1">
                    <a:lumMod val="95000"/>
                  </a:schemeClr>
                </a:solidFill>
              </a:rPr>
              <a:t>www.1ppt.com/tubiao/      </a:t>
            </a:r>
          </a:p>
          <a:p>
            <a:pPr lvl="0"/>
            <a:r>
              <a:rPr lang="zh-CN" altLang="en-US" sz="100" dirty="0">
                <a:solidFill>
                  <a:schemeClr val="bg1">
                    <a:lumMod val="95000"/>
                  </a:schemeClr>
                </a:solidFill>
              </a:rPr>
              <a:t>优秀</a:t>
            </a:r>
            <a:r>
              <a:rPr lang="en-US" altLang="zh-CN" sz="100" dirty="0">
                <a:solidFill>
                  <a:schemeClr val="bg1">
                    <a:lumMod val="95000"/>
                  </a:schemeClr>
                </a:solidFill>
              </a:rPr>
              <a:t>PPT</a:t>
            </a:r>
            <a:r>
              <a:rPr lang="zh-CN" altLang="en-US" sz="100" dirty="0">
                <a:solidFill>
                  <a:schemeClr val="bg1">
                    <a:lumMod val="95000"/>
                  </a:schemeClr>
                </a:solidFill>
              </a:rPr>
              <a:t>下载：</a:t>
            </a:r>
            <a:r>
              <a:rPr lang="en-US" altLang="zh-CN" sz="100" dirty="0">
                <a:solidFill>
                  <a:schemeClr val="bg1">
                    <a:lumMod val="95000"/>
                  </a:schemeClr>
                </a:solidFill>
              </a:rPr>
              <a:t>www.1ppt.com/xiazai/        PPT</a:t>
            </a:r>
            <a:r>
              <a:rPr lang="zh-CN" altLang="en-US" sz="100" dirty="0">
                <a:solidFill>
                  <a:schemeClr val="bg1">
                    <a:lumMod val="95000"/>
                  </a:schemeClr>
                </a:solidFill>
              </a:rPr>
              <a:t>教程： </a:t>
            </a:r>
            <a:r>
              <a:rPr lang="en-US" altLang="zh-CN" sz="100" dirty="0">
                <a:solidFill>
                  <a:schemeClr val="bg1">
                    <a:lumMod val="95000"/>
                  </a:schemeClr>
                </a:solidFill>
              </a:rPr>
              <a:t>www.1ppt.com/powerpoint/      </a:t>
            </a:r>
          </a:p>
          <a:p>
            <a:pPr lvl="0"/>
            <a:r>
              <a:rPr lang="en-US" altLang="zh-CN" sz="100" dirty="0">
                <a:solidFill>
                  <a:schemeClr val="bg1">
                    <a:lumMod val="95000"/>
                  </a:schemeClr>
                </a:solidFill>
              </a:rPr>
              <a:t>Word</a:t>
            </a:r>
            <a:r>
              <a:rPr lang="zh-CN" altLang="en-US" sz="100" dirty="0">
                <a:solidFill>
                  <a:schemeClr val="bg1">
                    <a:lumMod val="95000"/>
                  </a:schemeClr>
                </a:solidFill>
              </a:rPr>
              <a:t>教程： </a:t>
            </a:r>
            <a:r>
              <a:rPr lang="en-US" altLang="zh-CN" sz="100" dirty="0">
                <a:solidFill>
                  <a:schemeClr val="bg1">
                    <a:lumMod val="95000"/>
                  </a:schemeClr>
                </a:solidFill>
              </a:rPr>
              <a:t>www.1ppt.com/word/              Excel</a:t>
            </a:r>
            <a:r>
              <a:rPr lang="zh-CN" altLang="en-US" sz="100" dirty="0">
                <a:solidFill>
                  <a:schemeClr val="bg1">
                    <a:lumMod val="95000"/>
                  </a:schemeClr>
                </a:solidFill>
              </a:rPr>
              <a:t>教程：</a:t>
            </a:r>
            <a:r>
              <a:rPr lang="en-US" altLang="zh-CN" sz="100" dirty="0">
                <a:solidFill>
                  <a:schemeClr val="bg1">
                    <a:lumMod val="95000"/>
                  </a:schemeClr>
                </a:solidFill>
              </a:rPr>
              <a:t>www.1ppt.com/excel/  </a:t>
            </a:r>
          </a:p>
          <a:p>
            <a:pPr lvl="0"/>
            <a:r>
              <a:rPr lang="zh-CN" altLang="en-US" sz="100" dirty="0">
                <a:solidFill>
                  <a:schemeClr val="bg1">
                    <a:lumMod val="95000"/>
                  </a:schemeClr>
                </a:solidFill>
              </a:rPr>
              <a:t>资料下载：</a:t>
            </a:r>
            <a:r>
              <a:rPr lang="en-US" altLang="zh-CN" sz="100" dirty="0">
                <a:solidFill>
                  <a:schemeClr val="bg1">
                    <a:lumMod val="95000"/>
                  </a:schemeClr>
                </a:solidFill>
              </a:rPr>
              <a:t>www.1ppt.com/ziliao/                PPT</a:t>
            </a:r>
            <a:r>
              <a:rPr lang="zh-CN" altLang="en-US" sz="100" dirty="0">
                <a:solidFill>
                  <a:schemeClr val="bg1">
                    <a:lumMod val="95000"/>
                  </a:schemeClr>
                </a:solidFill>
              </a:rPr>
              <a:t>课件下载：</a:t>
            </a:r>
            <a:r>
              <a:rPr lang="en-US" altLang="zh-CN" sz="100" dirty="0">
                <a:solidFill>
                  <a:schemeClr val="bg1">
                    <a:lumMod val="95000"/>
                  </a:schemeClr>
                </a:solidFill>
              </a:rPr>
              <a:t>www.1ppt.com/kejian/ </a:t>
            </a:r>
          </a:p>
          <a:p>
            <a:pPr lvl="0"/>
            <a:r>
              <a:rPr lang="zh-CN" altLang="en-US" sz="100" dirty="0">
                <a:solidFill>
                  <a:schemeClr val="bg1">
                    <a:lumMod val="95000"/>
                  </a:schemeClr>
                </a:solidFill>
              </a:rPr>
              <a:t>范文下载：</a:t>
            </a:r>
            <a:r>
              <a:rPr lang="en-US" altLang="zh-CN" sz="100" dirty="0">
                <a:solidFill>
                  <a:schemeClr val="bg1">
                    <a:lumMod val="95000"/>
                  </a:schemeClr>
                </a:solidFill>
              </a:rPr>
              <a:t>www.1ppt.com/fanwen/             </a:t>
            </a:r>
            <a:r>
              <a:rPr lang="zh-CN" altLang="en-US" sz="100" dirty="0">
                <a:solidFill>
                  <a:schemeClr val="bg1">
                    <a:lumMod val="95000"/>
                  </a:schemeClr>
                </a:solidFill>
              </a:rPr>
              <a:t>试卷下载：</a:t>
            </a:r>
            <a:r>
              <a:rPr lang="en-US" altLang="zh-CN" sz="100" dirty="0">
                <a:solidFill>
                  <a:schemeClr val="bg1">
                    <a:lumMod val="95000"/>
                  </a:schemeClr>
                </a:solidFill>
              </a:rPr>
              <a:t>www.1ppt.com/shiti/  </a:t>
            </a:r>
          </a:p>
          <a:p>
            <a:pPr lvl="0"/>
            <a:r>
              <a:rPr lang="zh-CN" altLang="en-US" sz="100" dirty="0">
                <a:solidFill>
                  <a:schemeClr val="bg1">
                    <a:lumMod val="95000"/>
                  </a:schemeClr>
                </a:solidFill>
              </a:rPr>
              <a:t>教案下载：</a:t>
            </a:r>
            <a:r>
              <a:rPr lang="en-US" altLang="zh-CN" sz="100" dirty="0">
                <a:solidFill>
                  <a:schemeClr val="bg1">
                    <a:lumMod val="95000"/>
                  </a:schemeClr>
                </a:solidFill>
              </a:rPr>
              <a:t>www.1ppt.com/jiaoan/        PPT</a:t>
            </a:r>
            <a:r>
              <a:rPr lang="zh-CN" altLang="en-US" sz="100" dirty="0">
                <a:solidFill>
                  <a:schemeClr val="bg1">
                    <a:lumMod val="95000"/>
                  </a:schemeClr>
                </a:solidFill>
              </a:rPr>
              <a:t>论坛：</a:t>
            </a:r>
            <a:r>
              <a:rPr lang="en-US" altLang="zh-CN" sz="100" dirty="0">
                <a:solidFill>
                  <a:schemeClr val="bg1">
                    <a:lumMod val="95000"/>
                  </a:schemeClr>
                </a:solidFill>
              </a:rPr>
              <a:t>www.1ppt.cn</a:t>
            </a:r>
          </a:p>
          <a:p>
            <a:pPr lvl="0"/>
            <a:r>
              <a:rPr lang="en-US" altLang="zh-CN" sz="100" dirty="0">
                <a:solidFill>
                  <a:schemeClr val="bg1">
                    <a:lumMod val="95000"/>
                  </a:schemeClr>
                </a:solidFill>
              </a:rPr>
              <a:t> </a:t>
            </a:r>
            <a:endParaRPr lang="zh-CN" altLang="en-US" sz="100" dirty="0">
              <a:solidFill>
                <a:schemeClr val="bg1">
                  <a:lumMod val="95000"/>
                </a:schemeClr>
              </a:solidFill>
            </a:endParaRPr>
          </a:p>
        </p:txBody>
      </p:sp>
      <p:pic>
        <p:nvPicPr>
          <p:cNvPr id="8" name="图片 7" descr="DeeCamp角标"/>
          <p:cNvPicPr>
            <a:picLocks noChangeAspect="1"/>
          </p:cNvPicPr>
          <p:nvPr userDrawn="1"/>
        </p:nvPicPr>
        <p:blipFill>
          <a:blip r:embed="rId14"/>
          <a:stretch>
            <a:fillRect/>
          </a:stretch>
        </p:blipFill>
        <p:spPr>
          <a:xfrm>
            <a:off x="3259455" y="1270"/>
            <a:ext cx="5865495" cy="3299460"/>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slow">
    <p:wipe dir="r"/>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jpeg"/><Relationship Id="rId7" Type="http://schemas.openxmlformats.org/officeDocument/2006/relationships/diagramLayout" Target="../diagrams/layout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9.png"/><Relationship Id="rId10" Type="http://schemas.microsoft.com/office/2007/relationships/diagramDrawing" Target="../diagrams/drawing1.xml"/><Relationship Id="rId4" Type="http://schemas.openxmlformats.org/officeDocument/2006/relationships/image" Target="../media/image8.png"/><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jpeg"/><Relationship Id="rId7" Type="http://schemas.openxmlformats.org/officeDocument/2006/relationships/diagramQuickStyle" Target="../diagrams/quickStyle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1.png"/><Relationship Id="rId9" Type="http://schemas.microsoft.com/office/2007/relationships/diagramDrawing" Target="../diagrams/drawing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2.jpeg"/><Relationship Id="rId7" Type="http://schemas.openxmlformats.org/officeDocument/2006/relationships/slide" Target="slide1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13.xml"/><Relationship Id="rId4" Type="http://schemas.openxmlformats.org/officeDocument/2006/relationships/image" Target="../media/image14.png"/><Relationship Id="rId9" Type="http://schemas.openxmlformats.org/officeDocument/2006/relationships/slide" Target="slide20.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slide" Target="slide1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jpe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jpe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pic>
        <p:nvPicPr>
          <p:cNvPr id="4" name="图片 3" descr="DeeCamp角标"/>
          <p:cNvPicPr>
            <a:picLocks noChangeAspect="1"/>
          </p:cNvPicPr>
          <p:nvPr/>
        </p:nvPicPr>
        <p:blipFill>
          <a:blip r:embed="rId5"/>
          <a:stretch>
            <a:fillRect/>
          </a:stretch>
        </p:blipFill>
        <p:spPr>
          <a:xfrm>
            <a:off x="3259455" y="1270"/>
            <a:ext cx="5865495" cy="3299460"/>
          </a:xfrm>
          <a:prstGeom prst="rect">
            <a:avLst/>
          </a:prstGeom>
        </p:spPr>
      </p:pic>
      <p:sp>
        <p:nvSpPr>
          <p:cNvPr id="31" name="矩形 30"/>
          <p:cNvSpPr/>
          <p:nvPr/>
        </p:nvSpPr>
        <p:spPr bwMode="auto">
          <a:xfrm>
            <a:off x="2684863" y="2140067"/>
            <a:ext cx="3775393" cy="523220"/>
          </a:xfrm>
          <a:prstGeom prst="rect">
            <a:avLst/>
          </a:prstGeom>
        </p:spPr>
        <p:txBody>
          <a:bodyPr wrap="none">
            <a:spAutoFit/>
          </a:bodyPr>
          <a:lstStyle/>
          <a:p>
            <a:pPr algn="ctr">
              <a:defRPr/>
            </a:pPr>
            <a:r>
              <a:rPr lang="zh-CN" altLang="en-US" sz="2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知识图谱助力电影推荐</a:t>
            </a:r>
          </a:p>
        </p:txBody>
      </p:sp>
      <p:sp>
        <p:nvSpPr>
          <p:cNvPr id="32" name="矩形 31"/>
          <p:cNvSpPr/>
          <p:nvPr/>
        </p:nvSpPr>
        <p:spPr>
          <a:xfrm>
            <a:off x="2489105" y="2890411"/>
            <a:ext cx="4155479" cy="307777"/>
          </a:xfrm>
          <a:prstGeom prst="rect">
            <a:avLst/>
          </a:prstGeom>
        </p:spPr>
        <p:txBody>
          <a:bodyPr wrap="square">
            <a:spAutoFit/>
          </a:bodyPr>
          <a:lstStyle/>
          <a:p>
            <a:pPr algn="ctr"/>
            <a:r>
              <a:rPr lang="en-US" altLang="zh-CN" sz="1400" dirty="0">
                <a:solidFill>
                  <a:schemeClr val="accent1"/>
                </a:solidFill>
                <a:latin typeface="Arial" panose="020B0604020202020204"/>
              </a:rPr>
              <a:t>19</a:t>
            </a:r>
            <a:r>
              <a:rPr lang="zh-CN" altLang="en-US" sz="1400" dirty="0">
                <a:solidFill>
                  <a:schemeClr val="accent1"/>
                </a:solidFill>
                <a:latin typeface="Arial" panose="020B0604020202020204"/>
              </a:rPr>
              <a:t>组：</a:t>
            </a:r>
            <a:r>
              <a:rPr lang="en-US" altLang="zh-CN" sz="1400" dirty="0">
                <a:solidFill>
                  <a:schemeClr val="accent1"/>
                </a:solidFill>
                <a:latin typeface="Arial" panose="020B0604020202020204"/>
              </a:rPr>
              <a:t>NTFKG</a:t>
            </a:r>
            <a:endParaRPr lang="zh-CN" altLang="en-US" sz="1400" dirty="0">
              <a:solidFill>
                <a:schemeClr val="accent1"/>
              </a:solidFill>
              <a:latin typeface="Arial" panose="020B0604020202020204"/>
            </a:endParaRPr>
          </a:p>
        </p:txBody>
      </p:sp>
      <p:sp>
        <p:nvSpPr>
          <p:cNvPr id="38" name="矩形 37"/>
          <p:cNvSpPr/>
          <p:nvPr/>
        </p:nvSpPr>
        <p:spPr>
          <a:xfrm>
            <a:off x="2967803" y="3300604"/>
            <a:ext cx="3209513" cy="299313"/>
          </a:xfrm>
          <a:prstGeom prst="rect">
            <a:avLst/>
          </a:prstGeom>
        </p:spPr>
        <p:txBody>
          <a:bodyPr wrap="square">
            <a:spAutoFit/>
          </a:bodyPr>
          <a:lstStyle/>
          <a:p>
            <a:pPr lvl="0" algn="ctr">
              <a:lnSpc>
                <a:spcPct val="150000"/>
              </a:lnSpc>
            </a:pPr>
            <a:r>
              <a:rPr lang="en-US" altLang="zh-CN" sz="1000" dirty="0" err="1">
                <a:solidFill>
                  <a:schemeClr val="tx1">
                    <a:lumMod val="85000"/>
                    <a:lumOff val="15000"/>
                  </a:schemeClr>
                </a:solidFill>
              </a:rPr>
              <a:t>NineTeen</a:t>
            </a:r>
            <a:r>
              <a:rPr lang="en-US" altLang="zh-CN" sz="1000" dirty="0">
                <a:solidFill>
                  <a:schemeClr val="tx1">
                    <a:lumMod val="85000"/>
                    <a:lumOff val="15000"/>
                  </a:schemeClr>
                </a:solidFill>
              </a:rPr>
              <a:t> For Knowledge Graph</a:t>
            </a:r>
          </a:p>
        </p:txBody>
      </p:sp>
      <p:cxnSp>
        <p:nvCxnSpPr>
          <p:cNvPr id="40" name="直接连接符 39"/>
          <p:cNvCxnSpPr/>
          <p:nvPr/>
        </p:nvCxnSpPr>
        <p:spPr>
          <a:xfrm>
            <a:off x="4436216" y="3301008"/>
            <a:ext cx="2612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507553" y="4612193"/>
            <a:ext cx="25120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auto">
          <a:xfrm>
            <a:off x="8102621" y="4667204"/>
            <a:ext cx="800219" cy="276999"/>
          </a:xfrm>
          <a:prstGeom prst="rect">
            <a:avLst/>
          </a:prstGeom>
        </p:spPr>
        <p:txBody>
          <a:bodyPr wrap="none">
            <a:spAutoFit/>
          </a:bodyPr>
          <a:lstStyle/>
          <a:p>
            <a:pPr algn="r">
              <a:defRPr/>
            </a:pPr>
            <a:r>
              <a:rPr lang="zh-CN" altLang="en-US"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知识图谱</a:t>
            </a:r>
          </a:p>
        </p:txBody>
      </p:sp>
      <p:cxnSp>
        <p:nvCxnSpPr>
          <p:cNvPr id="47" name="直接连接符 46"/>
          <p:cNvCxnSpPr/>
          <p:nvPr/>
        </p:nvCxnSpPr>
        <p:spPr>
          <a:xfrm>
            <a:off x="398739" y="4612193"/>
            <a:ext cx="25120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菱形 1"/>
          <p:cNvSpPr/>
          <p:nvPr/>
        </p:nvSpPr>
        <p:spPr>
          <a:xfrm>
            <a:off x="2233142" y="286843"/>
            <a:ext cx="4667405" cy="4667405"/>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bwMode="auto">
          <a:xfrm>
            <a:off x="278388" y="4667204"/>
            <a:ext cx="947695" cy="276999"/>
          </a:xfrm>
          <a:prstGeom prst="rect">
            <a:avLst/>
          </a:prstGeom>
        </p:spPr>
        <p:txBody>
          <a:bodyPr wrap="none">
            <a:spAutoFit/>
          </a:bodyPr>
          <a:lstStyle/>
          <a:p>
            <a:pPr>
              <a:defRPr/>
            </a:pPr>
            <a:r>
              <a:rPr lang="en-US" altLang="zh-CN"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2018-8-22</a:t>
            </a:r>
            <a:endParaRPr lang="zh-CN" altLang="en-US"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descr="logo"/>
          <p:cNvPicPr>
            <a:picLocks noChangeAspect="1"/>
          </p:cNvPicPr>
          <p:nvPr/>
        </p:nvPicPr>
        <p:blipFill>
          <a:blip r:embed="rId6"/>
          <a:srcRect l="365" t="-3316" r="-547" b="31993"/>
          <a:stretch>
            <a:fillRect/>
          </a:stretch>
        </p:blipFill>
        <p:spPr>
          <a:xfrm>
            <a:off x="3700145" y="650875"/>
            <a:ext cx="1744980" cy="1283970"/>
          </a:xfrm>
          <a:prstGeom prst="rect">
            <a:avLst/>
          </a:prstGeom>
        </p:spPr>
      </p:pic>
      <p:pic>
        <p:nvPicPr>
          <p:cNvPr id="6" name="图片 5">
            <a:extLst>
              <a:ext uri="{FF2B5EF4-FFF2-40B4-BE49-F238E27FC236}">
                <a16:creationId xmlns:a16="http://schemas.microsoft.com/office/drawing/2014/main" id="{6FB2938A-8F92-4B7E-9337-8EB630ED719A}"/>
              </a:ext>
            </a:extLst>
          </p:cNvPr>
          <p:cNvPicPr>
            <a:picLocks noChangeAspect="1"/>
          </p:cNvPicPr>
          <p:nvPr/>
        </p:nvPicPr>
        <p:blipFill rotWithShape="1">
          <a:blip r:embed="rId7">
            <a:extLst>
              <a:ext uri="{28A0092B-C50C-407E-A947-70E740481C1C}">
                <a14:useLocalDpi xmlns:a14="http://schemas.microsoft.com/office/drawing/2010/main" val="0"/>
              </a:ext>
            </a:extLst>
          </a:blip>
          <a:srcRect r="60518"/>
          <a:stretch/>
        </p:blipFill>
        <p:spPr>
          <a:xfrm>
            <a:off x="256433" y="136901"/>
            <a:ext cx="504517" cy="466509"/>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cxnSp>
        <p:nvCxnSpPr>
          <p:cNvPr id="34" name="直接连接符 33"/>
          <p:cNvCxnSpPr/>
          <p:nvPr/>
        </p:nvCxnSpPr>
        <p:spPr>
          <a:xfrm>
            <a:off x="8507553" y="4592875"/>
            <a:ext cx="25120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auto">
          <a:xfrm>
            <a:off x="8102621" y="4647886"/>
            <a:ext cx="800219" cy="276999"/>
          </a:xfrm>
          <a:prstGeom prst="rect">
            <a:avLst/>
          </a:prstGeom>
        </p:spPr>
        <p:txBody>
          <a:bodyPr wrap="none">
            <a:spAutoFit/>
          </a:bodyPr>
          <a:lstStyle/>
          <a:p>
            <a:pPr algn="r">
              <a:defRPr/>
            </a:pPr>
            <a:r>
              <a:rPr lang="zh-CN" altLang="en-US"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知识图谱</a:t>
            </a:r>
          </a:p>
        </p:txBody>
      </p:sp>
      <p:cxnSp>
        <p:nvCxnSpPr>
          <p:cNvPr id="47" name="直接连接符 46"/>
          <p:cNvCxnSpPr/>
          <p:nvPr/>
        </p:nvCxnSpPr>
        <p:spPr>
          <a:xfrm>
            <a:off x="398739" y="4612193"/>
            <a:ext cx="25120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0" name="矩形 59"/>
          <p:cNvSpPr/>
          <p:nvPr/>
        </p:nvSpPr>
        <p:spPr bwMode="auto">
          <a:xfrm>
            <a:off x="1535206" y="1962591"/>
            <a:ext cx="1481496" cy="769441"/>
          </a:xfrm>
          <a:prstGeom prst="rect">
            <a:avLst/>
          </a:prstGeom>
        </p:spPr>
        <p:txBody>
          <a:bodyPr wrap="none">
            <a:spAutoFit/>
          </a:bodyPr>
          <a:lstStyle/>
          <a:p>
            <a:pPr algn="ctr">
              <a:defRPr/>
            </a:pPr>
            <a:r>
              <a:rPr lang="zh-CN" altLang="en-US" sz="4400" kern="10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目 录</a:t>
            </a:r>
          </a:p>
        </p:txBody>
      </p:sp>
      <p:sp>
        <p:nvSpPr>
          <p:cNvPr id="61" name="文本框 6"/>
          <p:cNvSpPr txBox="1">
            <a:spLocks noChangeArrowheads="1"/>
          </p:cNvSpPr>
          <p:nvPr/>
        </p:nvSpPr>
        <p:spPr bwMode="auto">
          <a:xfrm>
            <a:off x="5602159" y="1127809"/>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dirty="0">
                <a:solidFill>
                  <a:schemeClr val="accent1"/>
                </a:solidFill>
                <a:latin typeface="+mj-ea"/>
                <a:ea typeface="+mj-ea"/>
              </a:rPr>
              <a:t>项目介绍</a:t>
            </a:r>
          </a:p>
        </p:txBody>
      </p:sp>
      <p:sp>
        <p:nvSpPr>
          <p:cNvPr id="62" name="矩形 61"/>
          <p:cNvSpPr/>
          <p:nvPr/>
        </p:nvSpPr>
        <p:spPr>
          <a:xfrm>
            <a:off x="5602159" y="1411389"/>
            <a:ext cx="1152880"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85000"/>
                    <a:lumOff val="15000"/>
                  </a:schemeClr>
                </a:solidFill>
                <a:latin typeface="Calibri Light" panose="020F0302020204030204" pitchFamily="34" charset="0"/>
                <a:ea typeface="方正兰亭黑_GBK"/>
              </a:rPr>
              <a:t>Project Introduction</a:t>
            </a:r>
          </a:p>
        </p:txBody>
      </p:sp>
      <p:sp>
        <p:nvSpPr>
          <p:cNvPr id="63" name="椭圆 62"/>
          <p:cNvSpPr/>
          <p:nvPr/>
        </p:nvSpPr>
        <p:spPr>
          <a:xfrm>
            <a:off x="5161287" y="1133144"/>
            <a:ext cx="440872" cy="4408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j-lt"/>
              </a:rPr>
              <a:t>1</a:t>
            </a:r>
            <a:endParaRPr lang="zh-CN" altLang="en-US" sz="1600">
              <a:latin typeface="+mj-lt"/>
            </a:endParaRPr>
          </a:p>
        </p:txBody>
      </p:sp>
      <p:sp>
        <p:nvSpPr>
          <p:cNvPr id="64" name="文本框 6"/>
          <p:cNvSpPr txBox="1">
            <a:spLocks noChangeArrowheads="1"/>
          </p:cNvSpPr>
          <p:nvPr/>
        </p:nvSpPr>
        <p:spPr bwMode="auto">
          <a:xfrm>
            <a:off x="5602159" y="2085889"/>
            <a:ext cx="14157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dirty="0">
                <a:solidFill>
                  <a:schemeClr val="accent1"/>
                </a:solidFill>
                <a:latin typeface="+mj-ea"/>
                <a:ea typeface="+mj-ea"/>
              </a:rPr>
              <a:t>推荐模型构造</a:t>
            </a:r>
          </a:p>
        </p:txBody>
      </p:sp>
      <p:sp>
        <p:nvSpPr>
          <p:cNvPr id="65" name="矩形 64"/>
          <p:cNvSpPr/>
          <p:nvPr/>
        </p:nvSpPr>
        <p:spPr>
          <a:xfrm>
            <a:off x="5602159" y="2369469"/>
            <a:ext cx="1963999"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85000"/>
                    <a:lumOff val="15000"/>
                  </a:schemeClr>
                </a:solidFill>
                <a:latin typeface="Calibri Light" panose="020F0302020204030204" pitchFamily="34" charset="0"/>
                <a:ea typeface="方正兰亭黑_GBK"/>
              </a:rPr>
              <a:t>Recommendation Model Construction</a:t>
            </a:r>
          </a:p>
        </p:txBody>
      </p:sp>
      <p:sp>
        <p:nvSpPr>
          <p:cNvPr id="66" name="椭圆 65"/>
          <p:cNvSpPr/>
          <p:nvPr/>
        </p:nvSpPr>
        <p:spPr>
          <a:xfrm>
            <a:off x="5161287" y="2100703"/>
            <a:ext cx="440872" cy="4408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j-lt"/>
              </a:rPr>
              <a:t>2</a:t>
            </a:r>
            <a:endParaRPr lang="zh-CN" altLang="en-US" sz="1600">
              <a:latin typeface="+mj-lt"/>
            </a:endParaRPr>
          </a:p>
        </p:txBody>
      </p:sp>
      <p:sp>
        <p:nvSpPr>
          <p:cNvPr id="67" name="文本框 66"/>
          <p:cNvSpPr txBox="1">
            <a:spLocks noChangeArrowheads="1"/>
          </p:cNvSpPr>
          <p:nvPr/>
        </p:nvSpPr>
        <p:spPr bwMode="auto">
          <a:xfrm>
            <a:off x="5602159" y="3031380"/>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dirty="0">
                <a:solidFill>
                  <a:schemeClr val="accent1"/>
                </a:solidFill>
                <a:latin typeface="+mj-ea"/>
                <a:ea typeface="+mj-ea"/>
              </a:rPr>
              <a:t>可解释性及项目展示</a:t>
            </a:r>
          </a:p>
        </p:txBody>
      </p:sp>
      <p:sp>
        <p:nvSpPr>
          <p:cNvPr id="68" name="文本框 6"/>
          <p:cNvSpPr txBox="1">
            <a:spLocks noChangeArrowheads="1"/>
          </p:cNvSpPr>
          <p:nvPr/>
        </p:nvSpPr>
        <p:spPr bwMode="auto">
          <a:xfrm>
            <a:off x="5602159" y="4024646"/>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1600" dirty="0">
                <a:solidFill>
                  <a:schemeClr val="accent1"/>
                </a:solidFill>
                <a:latin typeface="+mj-ea"/>
                <a:ea typeface="+mj-ea"/>
              </a:rPr>
              <a:t>总结与致谢</a:t>
            </a:r>
          </a:p>
        </p:txBody>
      </p:sp>
      <p:sp>
        <p:nvSpPr>
          <p:cNvPr id="69" name="矩形 68"/>
          <p:cNvSpPr/>
          <p:nvPr/>
        </p:nvSpPr>
        <p:spPr>
          <a:xfrm>
            <a:off x="5602159" y="3314960"/>
            <a:ext cx="1757212"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85000"/>
                    <a:lumOff val="15000"/>
                  </a:schemeClr>
                </a:solidFill>
                <a:latin typeface="Calibri Light" panose="020F0302020204030204" pitchFamily="34" charset="0"/>
                <a:ea typeface="方正兰亭黑_GBK"/>
              </a:rPr>
              <a:t>Interpretability  and  presentation</a:t>
            </a:r>
          </a:p>
        </p:txBody>
      </p:sp>
      <p:sp>
        <p:nvSpPr>
          <p:cNvPr id="70" name="矩形 69"/>
          <p:cNvSpPr/>
          <p:nvPr/>
        </p:nvSpPr>
        <p:spPr>
          <a:xfrm>
            <a:off x="5602159" y="4308226"/>
            <a:ext cx="1146468" cy="230832"/>
          </a:xfrm>
          <a:prstGeom prst="rect">
            <a:avLst/>
          </a:prstGeom>
        </p:spPr>
        <p:txBody>
          <a:bodyPr wrap="none">
            <a:spAutoFit/>
          </a:bodyPr>
          <a:lstStyle/>
          <a:p>
            <a:pPr lvl="0" fontAlgn="base">
              <a:spcBef>
                <a:spcPct val="0"/>
              </a:spcBef>
              <a:spcAft>
                <a:spcPct val="0"/>
              </a:spcAft>
              <a:defRPr/>
            </a:pPr>
            <a:r>
              <a:rPr lang="en-US" altLang="zh-CN" sz="900" dirty="0">
                <a:solidFill>
                  <a:schemeClr val="tx1">
                    <a:lumMod val="85000"/>
                    <a:lumOff val="15000"/>
                  </a:schemeClr>
                </a:solidFill>
                <a:latin typeface="Calibri Light" panose="020F0302020204030204" pitchFamily="34" charset="0"/>
                <a:ea typeface="方正兰亭黑_GBK"/>
              </a:rPr>
              <a:t>Conclusion &amp; Thanks</a:t>
            </a:r>
          </a:p>
        </p:txBody>
      </p:sp>
      <p:sp>
        <p:nvSpPr>
          <p:cNvPr id="71" name="椭圆 70"/>
          <p:cNvSpPr/>
          <p:nvPr/>
        </p:nvSpPr>
        <p:spPr>
          <a:xfrm>
            <a:off x="5161287" y="3068262"/>
            <a:ext cx="440872" cy="4408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j-lt"/>
              </a:rPr>
              <a:t>3</a:t>
            </a:r>
            <a:endParaRPr lang="zh-CN" altLang="en-US" sz="1600">
              <a:latin typeface="+mj-lt"/>
            </a:endParaRPr>
          </a:p>
        </p:txBody>
      </p:sp>
      <p:sp>
        <p:nvSpPr>
          <p:cNvPr id="72" name="椭圆 71"/>
          <p:cNvSpPr/>
          <p:nvPr/>
        </p:nvSpPr>
        <p:spPr>
          <a:xfrm>
            <a:off x="5161287" y="4035821"/>
            <a:ext cx="440872" cy="4408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j-lt"/>
              </a:rPr>
              <a:t>4</a:t>
            </a:r>
            <a:endParaRPr lang="zh-CN" altLang="en-US" sz="1600">
              <a:latin typeface="+mj-lt"/>
            </a:endParaRPr>
          </a:p>
        </p:txBody>
      </p:sp>
      <p:sp>
        <p:nvSpPr>
          <p:cNvPr id="19" name="菱形 18"/>
          <p:cNvSpPr/>
          <p:nvPr/>
        </p:nvSpPr>
        <p:spPr>
          <a:xfrm>
            <a:off x="891272" y="1266456"/>
            <a:ext cx="2769365" cy="2769365"/>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bwMode="auto">
          <a:xfrm>
            <a:off x="1337236" y="2676631"/>
            <a:ext cx="1877437" cy="461665"/>
          </a:xfrm>
          <a:prstGeom prst="rect">
            <a:avLst/>
          </a:prstGeom>
        </p:spPr>
        <p:txBody>
          <a:bodyPr wrap="none">
            <a:spAutoFit/>
          </a:bodyPr>
          <a:lstStyle/>
          <a:p>
            <a:pPr algn="ctr">
              <a:defRPr/>
            </a:pPr>
            <a:r>
              <a:rPr lang="en-US" altLang="zh-CN" sz="2400" kern="100">
                <a:solidFill>
                  <a:schemeClr val="accent1"/>
                </a:solidFill>
                <a:latin typeface="+mj-lt"/>
                <a:ea typeface="微软雅黑" panose="020B0503020204020204" pitchFamily="34" charset="-122"/>
                <a:cs typeface="Times New Roman" panose="02020603050405020304" pitchFamily="18" charset="0"/>
              </a:rPr>
              <a:t>CONTENTS</a:t>
            </a:r>
            <a:endParaRPr lang="zh-CN" altLang="en-US" sz="2400" kern="100">
              <a:solidFill>
                <a:schemeClr val="accent1"/>
              </a:solidFill>
              <a:latin typeface="+mj-lt"/>
              <a:ea typeface="微软雅黑" panose="020B0503020204020204" pitchFamily="34" charset="-122"/>
              <a:cs typeface="Times New Roman" panose="02020603050405020304" pitchFamily="18" charset="0"/>
            </a:endParaRPr>
          </a:p>
        </p:txBody>
      </p:sp>
      <p:sp>
        <p:nvSpPr>
          <p:cNvPr id="21" name="矩形 20"/>
          <p:cNvSpPr/>
          <p:nvPr/>
        </p:nvSpPr>
        <p:spPr bwMode="auto">
          <a:xfrm>
            <a:off x="278388" y="4667204"/>
            <a:ext cx="947695" cy="276999"/>
          </a:xfrm>
          <a:prstGeom prst="rect">
            <a:avLst/>
          </a:prstGeom>
        </p:spPr>
        <p:txBody>
          <a:bodyPr wrap="none">
            <a:spAutoFit/>
          </a:bodyPr>
          <a:lstStyle/>
          <a:p>
            <a:pPr>
              <a:defRPr/>
            </a:pPr>
            <a:r>
              <a:rPr lang="en-US" altLang="zh-CN"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2018-8-22</a:t>
            </a:r>
            <a:endParaRPr lang="zh-CN" altLang="en-US" sz="120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nvSpPr>
        <p:spPr bwMode="auto">
          <a:xfrm>
            <a:off x="3476988" y="2094283"/>
            <a:ext cx="2190023" cy="523220"/>
          </a:xfrm>
          <a:prstGeom prst="rect">
            <a:avLst/>
          </a:prstGeom>
          <a:noFill/>
        </p:spPr>
        <p:txBody>
          <a:bodyPr wrap="none">
            <a:spAutoFit/>
          </a:bodyPr>
          <a:lstStyle/>
          <a:p>
            <a:pPr algn="ctr">
              <a:defRPr/>
            </a:pPr>
            <a:r>
              <a:rPr lang="en-US" altLang="zh-CN" sz="2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、项目介绍</a:t>
            </a:r>
          </a:p>
        </p:txBody>
      </p:sp>
      <p:sp>
        <p:nvSpPr>
          <p:cNvPr id="14" name="矩形 13"/>
          <p:cNvSpPr/>
          <p:nvPr/>
        </p:nvSpPr>
        <p:spPr>
          <a:xfrm>
            <a:off x="3898578" y="2617504"/>
            <a:ext cx="1346844" cy="253916"/>
          </a:xfrm>
          <a:prstGeom prst="rect">
            <a:avLst/>
          </a:prstGeom>
        </p:spPr>
        <p:txBody>
          <a:bodyPr wrap="none">
            <a:spAutoFit/>
          </a:bodyPr>
          <a:lstStyle/>
          <a:p>
            <a:pPr lvl="0" algn="ctr" fontAlgn="base">
              <a:spcBef>
                <a:spcPct val="0"/>
              </a:spcBef>
              <a:spcAft>
                <a:spcPct val="0"/>
              </a:spcAft>
              <a:defRPr/>
            </a:pPr>
            <a:r>
              <a:rPr lang="en-US" altLang="zh-CN" sz="1050" dirty="0">
                <a:solidFill>
                  <a:schemeClr val="accent1"/>
                </a:solidFill>
                <a:latin typeface="+mj-lt"/>
                <a:ea typeface="方正兰亭黑_GBK"/>
              </a:rPr>
              <a:t>Project Introduction</a:t>
            </a:r>
          </a:p>
        </p:txBody>
      </p:sp>
      <p:sp>
        <p:nvSpPr>
          <p:cNvPr id="15" name="矩形 14"/>
          <p:cNvSpPr/>
          <p:nvPr/>
        </p:nvSpPr>
        <p:spPr>
          <a:xfrm>
            <a:off x="2824381" y="2963755"/>
            <a:ext cx="3495238" cy="299313"/>
          </a:xfrm>
          <a:prstGeom prst="rect">
            <a:avLst/>
          </a:prstGeom>
        </p:spPr>
        <p:txBody>
          <a:bodyPr wrap="square">
            <a:spAutoFit/>
          </a:bodyPr>
          <a:lstStyle/>
          <a:p>
            <a:pPr lvl="0" algn="ctr">
              <a:lnSpc>
                <a:spcPct val="150000"/>
              </a:lnSpc>
            </a:pPr>
            <a:r>
              <a:rPr lang="en-US" altLang="zh-CN" sz="1000" dirty="0" err="1">
                <a:solidFill>
                  <a:schemeClr val="tx1">
                    <a:lumMod val="85000"/>
                    <a:lumOff val="15000"/>
                  </a:schemeClr>
                </a:solidFill>
              </a:rPr>
              <a:t>NineTeen</a:t>
            </a:r>
            <a:r>
              <a:rPr lang="en-US" altLang="zh-CN" sz="1000" dirty="0">
                <a:solidFill>
                  <a:schemeClr val="tx1">
                    <a:lumMod val="85000"/>
                    <a:lumOff val="15000"/>
                  </a:schemeClr>
                </a:solidFill>
              </a:rPr>
              <a:t> For Knowledge Graph</a:t>
            </a:r>
          </a:p>
        </p:txBody>
      </p:sp>
      <p:cxnSp>
        <p:nvCxnSpPr>
          <p:cNvPr id="16" name="直接连接符 15"/>
          <p:cNvCxnSpPr/>
          <p:nvPr/>
        </p:nvCxnSpPr>
        <p:spPr>
          <a:xfrm>
            <a:off x="4441372" y="2961888"/>
            <a:ext cx="2612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任意多边形 22"/>
          <p:cNvSpPr/>
          <p:nvPr/>
        </p:nvSpPr>
        <p:spPr>
          <a:xfrm>
            <a:off x="2496968" y="-465601"/>
            <a:ext cx="4171119" cy="2085559"/>
          </a:xfrm>
          <a:custGeom>
            <a:avLst/>
            <a:gdLst>
              <a:gd name="connsiteX0" fmla="*/ 0 w 3557939"/>
              <a:gd name="connsiteY0" fmla="*/ 0 h 1778969"/>
              <a:gd name="connsiteX1" fmla="*/ 3557939 w 3557939"/>
              <a:gd name="connsiteY1" fmla="*/ 0 h 1778969"/>
              <a:gd name="connsiteX2" fmla="*/ 1778970 w 3557939"/>
              <a:gd name="connsiteY2" fmla="*/ 1778969 h 1778969"/>
            </a:gdLst>
            <a:ahLst/>
            <a:cxnLst>
              <a:cxn ang="0">
                <a:pos x="connsiteX0" y="connsiteY0"/>
              </a:cxn>
              <a:cxn ang="0">
                <a:pos x="connsiteX1" y="connsiteY1"/>
              </a:cxn>
              <a:cxn ang="0">
                <a:pos x="connsiteX2" y="connsiteY2"/>
              </a:cxn>
            </a:cxnLst>
            <a:rect l="l" t="t" r="r" b="b"/>
            <a:pathLst>
              <a:path w="3557939" h="1778969">
                <a:moveTo>
                  <a:pt x="0" y="0"/>
                </a:moveTo>
                <a:lnTo>
                  <a:pt x="3557939" y="0"/>
                </a:lnTo>
                <a:lnTo>
                  <a:pt x="1778970" y="1778969"/>
                </a:lnTo>
                <a:close/>
              </a:path>
            </a:pathLst>
          </a:cu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菱形 24"/>
          <p:cNvSpPr/>
          <p:nvPr/>
        </p:nvSpPr>
        <p:spPr>
          <a:xfrm>
            <a:off x="2184101" y="229604"/>
            <a:ext cx="4775798" cy="4775798"/>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DeeCamp角标"/>
          <p:cNvPicPr>
            <a:picLocks noChangeAspect="1"/>
          </p:cNvPicPr>
          <p:nvPr/>
        </p:nvPicPr>
        <p:blipFill>
          <a:blip r:embed="rId3"/>
          <a:stretch>
            <a:fillRect/>
          </a:stretch>
        </p:blipFill>
        <p:spPr>
          <a:xfrm>
            <a:off x="3259455" y="1270"/>
            <a:ext cx="5865495" cy="3299460"/>
          </a:xfrm>
          <a:prstGeom prst="rect">
            <a:avLst/>
          </a:prstGeom>
        </p:spPr>
      </p:pic>
      <p:pic>
        <p:nvPicPr>
          <p:cNvPr id="5" name="图片 4" descr="logo"/>
          <p:cNvPicPr>
            <a:picLocks noChangeAspect="1"/>
          </p:cNvPicPr>
          <p:nvPr/>
        </p:nvPicPr>
        <p:blipFill>
          <a:blip r:embed="rId4"/>
          <a:srcRect l="365" t="-3316" r="-547" b="31993"/>
          <a:stretch>
            <a:fillRect/>
          </a:stretch>
        </p:blipFill>
        <p:spPr>
          <a:xfrm>
            <a:off x="4093210" y="548005"/>
            <a:ext cx="978612" cy="720005"/>
          </a:xfrm>
          <a:prstGeom prst="rect">
            <a:avLst/>
          </a:prstGeom>
        </p:spPr>
      </p:pic>
    </p:spTree>
  </p:cSld>
  <p:clrMapOvr>
    <a:masterClrMapping/>
  </p:clrMapOvr>
  <p:transition spd="slow">
    <p:push dir="r"/>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107996"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项目介绍</a:t>
            </a:r>
          </a:p>
        </p:txBody>
      </p:sp>
      <p:sp>
        <p:nvSpPr>
          <p:cNvPr id="5" name="矩形 4"/>
          <p:cNvSpPr/>
          <p:nvPr/>
        </p:nvSpPr>
        <p:spPr>
          <a:xfrm>
            <a:off x="90232" y="575233"/>
            <a:ext cx="1074333"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Project Introduction</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133324" y="2795166"/>
            <a:ext cx="18292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矩形 1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5164608" y="1656115"/>
            <a:ext cx="1005403" cy="338554"/>
          </a:xfrm>
          <a:prstGeom prst="rect">
            <a:avLst/>
          </a:prstGeom>
          <a:noFill/>
        </p:spPr>
        <p:txBody>
          <a:bodyPr wrap="none">
            <a:spAutoFit/>
          </a:bodyPr>
          <a:lstStyle/>
          <a:p>
            <a:pPr>
              <a:defRPr/>
            </a:pP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推荐电影</a:t>
            </a:r>
          </a:p>
        </p:txBody>
      </p:sp>
      <p:sp>
        <p:nvSpPr>
          <p:cNvPr id="13" name="矩形 12"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5164608" y="1994669"/>
            <a:ext cx="4144026" cy="617092"/>
          </a:xfrm>
          <a:prstGeom prst="rect">
            <a:avLst/>
          </a:prstGeom>
        </p:spPr>
        <p:txBody>
          <a:bodyPr wrap="square">
            <a:spAutoFit/>
          </a:bodyPr>
          <a:lstStyle/>
          <a:p>
            <a:pPr>
              <a:lnSpc>
                <a:spcPct val="150000"/>
              </a:lnSpc>
            </a:pPr>
            <a:r>
              <a:rPr lang="zh-CN" altLang="en-US" sz="1200" dirty="0">
                <a:solidFill>
                  <a:schemeClr val="tx1">
                    <a:lumMod val="85000"/>
                    <a:lumOff val="15000"/>
                  </a:schemeClr>
                </a:solidFill>
              </a:rPr>
              <a:t>给定电影的数据集和知识图谱的数据集，构建基于</a:t>
            </a:r>
            <a:r>
              <a:rPr lang="zh-CN" altLang="en-US" sz="1200" b="1" dirty="0">
                <a:solidFill>
                  <a:schemeClr val="tx1">
                    <a:lumMod val="85000"/>
                    <a:lumOff val="15000"/>
                  </a:schemeClr>
                </a:solidFill>
              </a:rPr>
              <a:t>知识图谱</a:t>
            </a:r>
            <a:r>
              <a:rPr lang="zh-CN" altLang="en-US" sz="1200" dirty="0">
                <a:solidFill>
                  <a:schemeClr val="tx1">
                    <a:lumMod val="85000"/>
                    <a:lumOff val="15000"/>
                  </a:schemeClr>
                </a:solidFill>
              </a:rPr>
              <a:t>的推荐算法，尽可能提高推荐效果。</a:t>
            </a:r>
          </a:p>
        </p:txBody>
      </p:sp>
      <p:cxnSp>
        <p:nvCxnSpPr>
          <p:cNvPr id="14" name="直接连接符 13"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CxnSpPr/>
          <p:nvPr/>
        </p:nvCxnSpPr>
        <p:spPr>
          <a:xfrm>
            <a:off x="5274853" y="2021564"/>
            <a:ext cx="1823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椭圆 14"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4572000" y="1834673"/>
            <a:ext cx="605528" cy="605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5164608" y="2842003"/>
            <a:ext cx="1415772" cy="338554"/>
          </a:xfrm>
          <a:prstGeom prst="rect">
            <a:avLst/>
          </a:prstGeom>
          <a:noFill/>
        </p:spPr>
        <p:txBody>
          <a:bodyPr wrap="none">
            <a:spAutoFit/>
          </a:bodyPr>
          <a:lstStyle/>
          <a:p>
            <a:pPr>
              <a:defRPr/>
            </a:pP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推荐理由生成</a:t>
            </a:r>
          </a:p>
        </p:txBody>
      </p:sp>
      <p:sp>
        <p:nvSpPr>
          <p:cNvPr id="19" name="矩形 18"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5164608" y="3180557"/>
            <a:ext cx="4144026" cy="617092"/>
          </a:xfrm>
          <a:prstGeom prst="rect">
            <a:avLst/>
          </a:prstGeom>
        </p:spPr>
        <p:txBody>
          <a:bodyPr wrap="square">
            <a:spAutoFit/>
          </a:bodyPr>
          <a:lstStyle/>
          <a:p>
            <a:pPr>
              <a:lnSpc>
                <a:spcPct val="150000"/>
              </a:lnSpc>
            </a:pPr>
            <a:r>
              <a:rPr lang="zh-CN" altLang="en-US" sz="1200" dirty="0">
                <a:solidFill>
                  <a:schemeClr val="tx1">
                    <a:lumMod val="85000"/>
                    <a:lumOff val="15000"/>
                  </a:schemeClr>
                </a:solidFill>
              </a:rPr>
              <a:t>对于每一个推荐的物品，找到用户可能对此物品感兴趣的点，然后基于此生成一句话的</a:t>
            </a:r>
            <a:r>
              <a:rPr lang="zh-CN" altLang="en-US" sz="1200" b="1" dirty="0">
                <a:solidFill>
                  <a:schemeClr val="tx1">
                    <a:lumMod val="85000"/>
                    <a:lumOff val="15000"/>
                  </a:schemeClr>
                </a:solidFill>
              </a:rPr>
              <a:t>推荐理由</a:t>
            </a:r>
            <a:r>
              <a:rPr lang="zh-CN" altLang="en-US" sz="1200" dirty="0">
                <a:solidFill>
                  <a:schemeClr val="tx1">
                    <a:lumMod val="85000"/>
                    <a:lumOff val="15000"/>
                  </a:schemeClr>
                </a:solidFill>
              </a:rPr>
              <a:t>。</a:t>
            </a:r>
            <a:endParaRPr lang="en-US" altLang="zh-CN" sz="1200" dirty="0">
              <a:solidFill>
                <a:schemeClr val="tx1">
                  <a:lumMod val="85000"/>
                  <a:lumOff val="15000"/>
                </a:schemeClr>
              </a:solidFill>
            </a:endParaRPr>
          </a:p>
        </p:txBody>
      </p:sp>
      <p:cxnSp>
        <p:nvCxnSpPr>
          <p:cNvPr id="21" name="直接连接符 20"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CxnSpPr/>
          <p:nvPr/>
        </p:nvCxnSpPr>
        <p:spPr>
          <a:xfrm>
            <a:off x="5274853" y="3207452"/>
            <a:ext cx="1823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椭圆 2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4572000" y="2965432"/>
            <a:ext cx="605528" cy="605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9"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a:spLocks noEditPoints="1"/>
          </p:cNvSpPr>
          <p:nvPr/>
        </p:nvSpPr>
        <p:spPr bwMode="auto">
          <a:xfrm>
            <a:off x="4686287" y="1980046"/>
            <a:ext cx="402040" cy="314782"/>
          </a:xfrm>
          <a:custGeom>
            <a:avLst/>
            <a:gdLst>
              <a:gd name="T0" fmla="*/ 234 w 285"/>
              <a:gd name="T1" fmla="*/ 84 h 223"/>
              <a:gd name="T2" fmla="*/ 225 w 285"/>
              <a:gd name="T3" fmla="*/ 84 h 223"/>
              <a:gd name="T4" fmla="*/ 207 w 285"/>
              <a:gd name="T5" fmla="*/ 79 h 223"/>
              <a:gd name="T6" fmla="*/ 207 w 285"/>
              <a:gd name="T7" fmla="*/ 99 h 223"/>
              <a:gd name="T8" fmla="*/ 207 w 285"/>
              <a:gd name="T9" fmla="*/ 79 h 223"/>
              <a:gd name="T10" fmla="*/ 224 w 285"/>
              <a:gd name="T11" fmla="*/ 73 h 223"/>
              <a:gd name="T12" fmla="*/ 224 w 285"/>
              <a:gd name="T13" fmla="*/ 60 h 223"/>
              <a:gd name="T14" fmla="*/ 282 w 285"/>
              <a:gd name="T15" fmla="*/ 88 h 223"/>
              <a:gd name="T16" fmla="*/ 270 w 285"/>
              <a:gd name="T17" fmla="*/ 85 h 223"/>
              <a:gd name="T18" fmla="*/ 147 w 285"/>
              <a:gd name="T19" fmla="*/ 96 h 223"/>
              <a:gd name="T20" fmla="*/ 211 w 285"/>
              <a:gd name="T21" fmla="*/ 26 h 223"/>
              <a:gd name="T22" fmla="*/ 220 w 285"/>
              <a:gd name="T23" fmla="*/ 17 h 223"/>
              <a:gd name="T24" fmla="*/ 282 w 285"/>
              <a:gd name="T25" fmla="*/ 88 h 223"/>
              <a:gd name="T26" fmla="*/ 224 w 285"/>
              <a:gd name="T27" fmla="*/ 39 h 223"/>
              <a:gd name="T28" fmla="*/ 161 w 285"/>
              <a:gd name="T29" fmla="*/ 101 h 223"/>
              <a:gd name="T30" fmla="*/ 261 w 285"/>
              <a:gd name="T31" fmla="*/ 76 h 223"/>
              <a:gd name="T32" fmla="*/ 113 w 285"/>
              <a:gd name="T33" fmla="*/ 153 h 223"/>
              <a:gd name="T34" fmla="*/ 113 w 285"/>
              <a:gd name="T35" fmla="*/ 132 h 223"/>
              <a:gd name="T36" fmla="*/ 83 w 285"/>
              <a:gd name="T37" fmla="*/ 126 h 223"/>
              <a:gd name="T38" fmla="*/ 83 w 285"/>
              <a:gd name="T39" fmla="*/ 147 h 223"/>
              <a:gd name="T40" fmla="*/ 83 w 285"/>
              <a:gd name="T41" fmla="*/ 126 h 223"/>
              <a:gd name="T42" fmla="*/ 104 w 285"/>
              <a:gd name="T43" fmla="*/ 111 h 223"/>
              <a:gd name="T44" fmla="*/ 104 w 285"/>
              <a:gd name="T45" fmla="*/ 126 h 223"/>
              <a:gd name="T46" fmla="*/ 190 w 285"/>
              <a:gd name="T47" fmla="*/ 187 h 223"/>
              <a:gd name="T48" fmla="*/ 27 w 285"/>
              <a:gd name="T49" fmla="*/ 223 h 223"/>
              <a:gd name="T50" fmla="*/ 71 w 285"/>
              <a:gd name="T51" fmla="*/ 75 h 223"/>
              <a:gd name="T52" fmla="*/ 69 w 285"/>
              <a:gd name="T53" fmla="*/ 36 h 223"/>
              <a:gd name="T54" fmla="*/ 69 w 285"/>
              <a:gd name="T55" fmla="*/ 23 h 223"/>
              <a:gd name="T56" fmla="*/ 73 w 285"/>
              <a:gd name="T57" fmla="*/ 0 h 223"/>
              <a:gd name="T58" fmla="*/ 117 w 285"/>
              <a:gd name="T59" fmla="*/ 23 h 223"/>
              <a:gd name="T60" fmla="*/ 134 w 285"/>
              <a:gd name="T61" fmla="*/ 30 h 223"/>
              <a:gd name="T62" fmla="*/ 125 w 285"/>
              <a:gd name="T63" fmla="*/ 36 h 223"/>
              <a:gd name="T64" fmla="*/ 190 w 285"/>
              <a:gd name="T65" fmla="*/ 187 h 223"/>
              <a:gd name="T66" fmla="*/ 114 w 285"/>
              <a:gd name="T67" fmla="*/ 82 h 223"/>
              <a:gd name="T68" fmla="*/ 84 w 285"/>
              <a:gd name="T69" fmla="*/ 79 h 223"/>
              <a:gd name="T70" fmla="*/ 37 w 285"/>
              <a:gd name="T71" fmla="*/ 160 h 223"/>
              <a:gd name="T72" fmla="*/ 36 w 285"/>
              <a:gd name="T73" fmla="*/ 16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5" h="223">
                <a:moveTo>
                  <a:pt x="229" y="79"/>
                </a:moveTo>
                <a:cubicBezTo>
                  <a:pt x="232" y="79"/>
                  <a:pt x="234" y="82"/>
                  <a:pt x="234" y="84"/>
                </a:cubicBezTo>
                <a:cubicBezTo>
                  <a:pt x="234" y="87"/>
                  <a:pt x="232" y="89"/>
                  <a:pt x="229" y="89"/>
                </a:cubicBezTo>
                <a:cubicBezTo>
                  <a:pt x="227" y="89"/>
                  <a:pt x="225" y="87"/>
                  <a:pt x="225" y="84"/>
                </a:cubicBezTo>
                <a:cubicBezTo>
                  <a:pt x="225" y="82"/>
                  <a:pt x="227" y="79"/>
                  <a:pt x="229" y="79"/>
                </a:cubicBezTo>
                <a:close/>
                <a:moveTo>
                  <a:pt x="207" y="79"/>
                </a:moveTo>
                <a:cubicBezTo>
                  <a:pt x="202" y="79"/>
                  <a:pt x="198" y="84"/>
                  <a:pt x="198" y="89"/>
                </a:cubicBezTo>
                <a:cubicBezTo>
                  <a:pt x="198" y="95"/>
                  <a:pt x="202" y="99"/>
                  <a:pt x="207" y="99"/>
                </a:cubicBezTo>
                <a:cubicBezTo>
                  <a:pt x="213" y="99"/>
                  <a:pt x="217" y="95"/>
                  <a:pt x="217" y="89"/>
                </a:cubicBezTo>
                <a:cubicBezTo>
                  <a:pt x="217" y="84"/>
                  <a:pt x="213" y="79"/>
                  <a:pt x="207" y="79"/>
                </a:cubicBezTo>
                <a:close/>
                <a:moveTo>
                  <a:pt x="217" y="66"/>
                </a:moveTo>
                <a:cubicBezTo>
                  <a:pt x="217" y="70"/>
                  <a:pt x="220" y="73"/>
                  <a:pt x="224" y="73"/>
                </a:cubicBezTo>
                <a:cubicBezTo>
                  <a:pt x="228" y="73"/>
                  <a:pt x="231" y="70"/>
                  <a:pt x="231" y="66"/>
                </a:cubicBezTo>
                <a:cubicBezTo>
                  <a:pt x="231" y="62"/>
                  <a:pt x="228" y="60"/>
                  <a:pt x="224" y="60"/>
                </a:cubicBezTo>
                <a:cubicBezTo>
                  <a:pt x="220" y="60"/>
                  <a:pt x="217" y="62"/>
                  <a:pt x="217" y="66"/>
                </a:cubicBezTo>
                <a:close/>
                <a:moveTo>
                  <a:pt x="282" y="88"/>
                </a:moveTo>
                <a:cubicBezTo>
                  <a:pt x="280" y="91"/>
                  <a:pt x="276" y="91"/>
                  <a:pt x="273" y="88"/>
                </a:cubicBezTo>
                <a:cubicBezTo>
                  <a:pt x="270" y="85"/>
                  <a:pt x="270" y="85"/>
                  <a:pt x="270" y="85"/>
                </a:cubicBezTo>
                <a:cubicBezTo>
                  <a:pt x="189" y="167"/>
                  <a:pt x="189" y="167"/>
                  <a:pt x="189" y="167"/>
                </a:cubicBezTo>
                <a:cubicBezTo>
                  <a:pt x="147" y="96"/>
                  <a:pt x="147" y="96"/>
                  <a:pt x="147" y="96"/>
                </a:cubicBezTo>
                <a:cubicBezTo>
                  <a:pt x="214" y="29"/>
                  <a:pt x="214" y="29"/>
                  <a:pt x="214" y="29"/>
                </a:cubicBezTo>
                <a:cubicBezTo>
                  <a:pt x="211" y="26"/>
                  <a:pt x="211" y="26"/>
                  <a:pt x="211" y="26"/>
                </a:cubicBezTo>
                <a:cubicBezTo>
                  <a:pt x="209" y="24"/>
                  <a:pt x="209" y="20"/>
                  <a:pt x="211" y="17"/>
                </a:cubicBezTo>
                <a:cubicBezTo>
                  <a:pt x="214" y="15"/>
                  <a:pt x="218" y="15"/>
                  <a:pt x="220" y="17"/>
                </a:cubicBezTo>
                <a:cubicBezTo>
                  <a:pt x="282" y="79"/>
                  <a:pt x="282" y="79"/>
                  <a:pt x="282" y="79"/>
                </a:cubicBezTo>
                <a:cubicBezTo>
                  <a:pt x="285" y="82"/>
                  <a:pt x="285" y="86"/>
                  <a:pt x="282" y="88"/>
                </a:cubicBezTo>
                <a:close/>
                <a:moveTo>
                  <a:pt x="261" y="76"/>
                </a:moveTo>
                <a:cubicBezTo>
                  <a:pt x="224" y="39"/>
                  <a:pt x="224" y="39"/>
                  <a:pt x="224" y="39"/>
                </a:cubicBezTo>
                <a:cubicBezTo>
                  <a:pt x="172" y="91"/>
                  <a:pt x="172" y="91"/>
                  <a:pt x="172" y="91"/>
                </a:cubicBezTo>
                <a:cubicBezTo>
                  <a:pt x="161" y="101"/>
                  <a:pt x="161" y="101"/>
                  <a:pt x="161" y="101"/>
                </a:cubicBezTo>
                <a:cubicBezTo>
                  <a:pt x="236" y="101"/>
                  <a:pt x="236" y="101"/>
                  <a:pt x="236" y="101"/>
                </a:cubicBezTo>
                <a:lnTo>
                  <a:pt x="261" y="76"/>
                </a:lnTo>
                <a:close/>
                <a:moveTo>
                  <a:pt x="102" y="142"/>
                </a:moveTo>
                <a:cubicBezTo>
                  <a:pt x="102" y="148"/>
                  <a:pt x="107" y="153"/>
                  <a:pt x="113" y="153"/>
                </a:cubicBezTo>
                <a:cubicBezTo>
                  <a:pt x="118" y="153"/>
                  <a:pt x="123" y="148"/>
                  <a:pt x="123" y="142"/>
                </a:cubicBezTo>
                <a:cubicBezTo>
                  <a:pt x="123" y="136"/>
                  <a:pt x="118" y="132"/>
                  <a:pt x="113" y="132"/>
                </a:cubicBezTo>
                <a:cubicBezTo>
                  <a:pt x="107" y="132"/>
                  <a:pt x="102" y="136"/>
                  <a:pt x="102" y="142"/>
                </a:cubicBezTo>
                <a:close/>
                <a:moveTo>
                  <a:pt x="83" y="126"/>
                </a:moveTo>
                <a:cubicBezTo>
                  <a:pt x="77" y="126"/>
                  <a:pt x="73" y="131"/>
                  <a:pt x="73" y="137"/>
                </a:cubicBezTo>
                <a:cubicBezTo>
                  <a:pt x="73" y="142"/>
                  <a:pt x="77" y="147"/>
                  <a:pt x="83" y="147"/>
                </a:cubicBezTo>
                <a:cubicBezTo>
                  <a:pt x="89" y="147"/>
                  <a:pt x="93" y="142"/>
                  <a:pt x="93" y="137"/>
                </a:cubicBezTo>
                <a:cubicBezTo>
                  <a:pt x="93" y="131"/>
                  <a:pt x="89" y="126"/>
                  <a:pt x="83" y="126"/>
                </a:cubicBezTo>
                <a:close/>
                <a:moveTo>
                  <a:pt x="112" y="119"/>
                </a:moveTo>
                <a:cubicBezTo>
                  <a:pt x="112" y="115"/>
                  <a:pt x="108" y="111"/>
                  <a:pt x="104" y="111"/>
                </a:cubicBezTo>
                <a:cubicBezTo>
                  <a:pt x="100" y="111"/>
                  <a:pt x="97" y="115"/>
                  <a:pt x="97" y="119"/>
                </a:cubicBezTo>
                <a:cubicBezTo>
                  <a:pt x="97" y="123"/>
                  <a:pt x="100" y="126"/>
                  <a:pt x="104" y="126"/>
                </a:cubicBezTo>
                <a:cubicBezTo>
                  <a:pt x="108" y="126"/>
                  <a:pt x="112" y="123"/>
                  <a:pt x="112" y="119"/>
                </a:cubicBezTo>
                <a:close/>
                <a:moveTo>
                  <a:pt x="190" y="187"/>
                </a:moveTo>
                <a:cubicBezTo>
                  <a:pt x="197" y="205"/>
                  <a:pt x="190" y="223"/>
                  <a:pt x="170" y="223"/>
                </a:cubicBezTo>
                <a:cubicBezTo>
                  <a:pt x="27" y="223"/>
                  <a:pt x="27" y="223"/>
                  <a:pt x="27" y="223"/>
                </a:cubicBezTo>
                <a:cubicBezTo>
                  <a:pt x="7" y="223"/>
                  <a:pt x="0" y="206"/>
                  <a:pt x="6" y="187"/>
                </a:cubicBezTo>
                <a:cubicBezTo>
                  <a:pt x="6" y="187"/>
                  <a:pt x="31" y="141"/>
                  <a:pt x="71" y="75"/>
                </a:cubicBezTo>
                <a:cubicBezTo>
                  <a:pt x="71" y="36"/>
                  <a:pt x="71" y="36"/>
                  <a:pt x="71" y="36"/>
                </a:cubicBezTo>
                <a:cubicBezTo>
                  <a:pt x="69" y="36"/>
                  <a:pt x="69" y="36"/>
                  <a:pt x="69" y="36"/>
                </a:cubicBezTo>
                <a:cubicBezTo>
                  <a:pt x="65" y="36"/>
                  <a:pt x="62" y="33"/>
                  <a:pt x="62" y="30"/>
                </a:cubicBezTo>
                <a:cubicBezTo>
                  <a:pt x="62" y="26"/>
                  <a:pt x="65" y="23"/>
                  <a:pt x="69" y="23"/>
                </a:cubicBezTo>
                <a:cubicBezTo>
                  <a:pt x="79" y="23"/>
                  <a:pt x="79" y="23"/>
                  <a:pt x="79" y="23"/>
                </a:cubicBezTo>
                <a:cubicBezTo>
                  <a:pt x="73" y="0"/>
                  <a:pt x="73" y="0"/>
                  <a:pt x="73" y="0"/>
                </a:cubicBezTo>
                <a:cubicBezTo>
                  <a:pt x="123" y="0"/>
                  <a:pt x="123" y="0"/>
                  <a:pt x="123" y="0"/>
                </a:cubicBezTo>
                <a:cubicBezTo>
                  <a:pt x="117" y="23"/>
                  <a:pt x="117" y="23"/>
                  <a:pt x="117" y="23"/>
                </a:cubicBezTo>
                <a:cubicBezTo>
                  <a:pt x="128" y="23"/>
                  <a:pt x="128" y="23"/>
                  <a:pt x="128" y="23"/>
                </a:cubicBezTo>
                <a:cubicBezTo>
                  <a:pt x="131" y="23"/>
                  <a:pt x="134" y="26"/>
                  <a:pt x="134" y="30"/>
                </a:cubicBezTo>
                <a:cubicBezTo>
                  <a:pt x="134" y="33"/>
                  <a:pt x="131" y="36"/>
                  <a:pt x="128" y="36"/>
                </a:cubicBezTo>
                <a:cubicBezTo>
                  <a:pt x="125" y="36"/>
                  <a:pt x="125" y="36"/>
                  <a:pt x="125" y="36"/>
                </a:cubicBezTo>
                <a:cubicBezTo>
                  <a:pt x="125" y="75"/>
                  <a:pt x="125" y="75"/>
                  <a:pt x="125" y="75"/>
                </a:cubicBezTo>
                <a:cubicBezTo>
                  <a:pt x="166" y="141"/>
                  <a:pt x="190" y="187"/>
                  <a:pt x="190" y="187"/>
                </a:cubicBezTo>
                <a:close/>
                <a:moveTo>
                  <a:pt x="160" y="162"/>
                </a:moveTo>
                <a:cubicBezTo>
                  <a:pt x="157" y="156"/>
                  <a:pt x="124" y="98"/>
                  <a:pt x="114" y="82"/>
                </a:cubicBezTo>
                <a:cubicBezTo>
                  <a:pt x="112" y="79"/>
                  <a:pt x="112" y="79"/>
                  <a:pt x="112" y="79"/>
                </a:cubicBezTo>
                <a:cubicBezTo>
                  <a:pt x="84" y="79"/>
                  <a:pt x="84" y="79"/>
                  <a:pt x="84" y="79"/>
                </a:cubicBezTo>
                <a:cubicBezTo>
                  <a:pt x="83" y="82"/>
                  <a:pt x="83" y="82"/>
                  <a:pt x="83" y="82"/>
                </a:cubicBezTo>
                <a:cubicBezTo>
                  <a:pt x="72" y="99"/>
                  <a:pt x="41" y="154"/>
                  <a:pt x="37" y="160"/>
                </a:cubicBezTo>
                <a:cubicBezTo>
                  <a:pt x="37" y="160"/>
                  <a:pt x="37" y="161"/>
                  <a:pt x="36" y="162"/>
                </a:cubicBezTo>
                <a:cubicBezTo>
                  <a:pt x="36" y="162"/>
                  <a:pt x="36" y="162"/>
                  <a:pt x="36" y="162"/>
                </a:cubicBezTo>
                <a:lnTo>
                  <a:pt x="160" y="162"/>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4" name="组合 23"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GrpSpPr/>
          <p:nvPr/>
        </p:nvGrpSpPr>
        <p:grpSpPr>
          <a:xfrm>
            <a:off x="4734091" y="3077370"/>
            <a:ext cx="281347" cy="381653"/>
            <a:chOff x="5680076" y="2749550"/>
            <a:chExt cx="547688" cy="742950"/>
          </a:xfrm>
          <a:solidFill>
            <a:schemeClr val="bg1"/>
          </a:solidFill>
        </p:grpSpPr>
        <p:sp>
          <p:nvSpPr>
            <p:cNvPr id="25" name="Freeform 13"/>
            <p:cNvSpPr/>
            <p:nvPr/>
          </p:nvSpPr>
          <p:spPr bwMode="auto">
            <a:xfrm>
              <a:off x="5680076" y="2749550"/>
              <a:ext cx="454025" cy="641350"/>
            </a:xfrm>
            <a:custGeom>
              <a:avLst/>
              <a:gdLst>
                <a:gd name="T0" fmla="*/ 158 w 165"/>
                <a:gd name="T1" fmla="*/ 195 h 233"/>
                <a:gd name="T2" fmla="*/ 158 w 165"/>
                <a:gd name="T3" fmla="*/ 189 h 233"/>
                <a:gd name="T4" fmla="*/ 70 w 165"/>
                <a:gd name="T5" fmla="*/ 189 h 233"/>
                <a:gd name="T6" fmla="*/ 70 w 165"/>
                <a:gd name="T7" fmla="*/ 195 h 233"/>
                <a:gd name="T8" fmla="*/ 68 w 165"/>
                <a:gd name="T9" fmla="*/ 195 h 233"/>
                <a:gd name="T10" fmla="*/ 18 w 165"/>
                <a:gd name="T11" fmla="*/ 120 h 233"/>
                <a:gd name="T12" fmla="*/ 94 w 165"/>
                <a:gd name="T13" fmla="*/ 39 h 233"/>
                <a:gd name="T14" fmla="*/ 94 w 165"/>
                <a:gd name="T15" fmla="*/ 120 h 233"/>
                <a:gd name="T16" fmla="*/ 70 w 165"/>
                <a:gd name="T17" fmla="*/ 120 h 233"/>
                <a:gd name="T18" fmla="*/ 70 w 165"/>
                <a:gd name="T19" fmla="*/ 127 h 233"/>
                <a:gd name="T20" fmla="*/ 76 w 165"/>
                <a:gd name="T21" fmla="*/ 127 h 233"/>
                <a:gd name="T22" fmla="*/ 75 w 165"/>
                <a:gd name="T23" fmla="*/ 131 h 233"/>
                <a:gd name="T24" fmla="*/ 75 w 165"/>
                <a:gd name="T25" fmla="*/ 150 h 233"/>
                <a:gd name="T26" fmla="*/ 86 w 165"/>
                <a:gd name="T27" fmla="*/ 161 h 233"/>
                <a:gd name="T28" fmla="*/ 97 w 165"/>
                <a:gd name="T29" fmla="*/ 150 h 233"/>
                <a:gd name="T30" fmla="*/ 97 w 165"/>
                <a:gd name="T31" fmla="*/ 131 h 233"/>
                <a:gd name="T32" fmla="*/ 96 w 165"/>
                <a:gd name="T33" fmla="*/ 127 h 233"/>
                <a:gd name="T34" fmla="*/ 104 w 165"/>
                <a:gd name="T35" fmla="*/ 127 h 233"/>
                <a:gd name="T36" fmla="*/ 103 w 165"/>
                <a:gd name="T37" fmla="*/ 131 h 233"/>
                <a:gd name="T38" fmla="*/ 103 w 165"/>
                <a:gd name="T39" fmla="*/ 163 h 233"/>
                <a:gd name="T40" fmla="*/ 114 w 165"/>
                <a:gd name="T41" fmla="*/ 174 h 233"/>
                <a:gd name="T42" fmla="*/ 125 w 165"/>
                <a:gd name="T43" fmla="*/ 163 h 233"/>
                <a:gd name="T44" fmla="*/ 125 w 165"/>
                <a:gd name="T45" fmla="*/ 131 h 233"/>
                <a:gd name="T46" fmla="*/ 124 w 165"/>
                <a:gd name="T47" fmla="*/ 127 h 233"/>
                <a:gd name="T48" fmla="*/ 132 w 165"/>
                <a:gd name="T49" fmla="*/ 127 h 233"/>
                <a:gd name="T50" fmla="*/ 131 w 165"/>
                <a:gd name="T51" fmla="*/ 131 h 233"/>
                <a:gd name="T52" fmla="*/ 131 w 165"/>
                <a:gd name="T53" fmla="*/ 150 h 233"/>
                <a:gd name="T54" fmla="*/ 142 w 165"/>
                <a:gd name="T55" fmla="*/ 161 h 233"/>
                <a:gd name="T56" fmla="*/ 153 w 165"/>
                <a:gd name="T57" fmla="*/ 150 h 233"/>
                <a:gd name="T58" fmla="*/ 153 w 165"/>
                <a:gd name="T59" fmla="*/ 131 h 233"/>
                <a:gd name="T60" fmla="*/ 152 w 165"/>
                <a:gd name="T61" fmla="*/ 127 h 233"/>
                <a:gd name="T62" fmla="*/ 158 w 165"/>
                <a:gd name="T63" fmla="*/ 127 h 233"/>
                <a:gd name="T64" fmla="*/ 158 w 165"/>
                <a:gd name="T65" fmla="*/ 120 h 233"/>
                <a:gd name="T66" fmla="*/ 134 w 165"/>
                <a:gd name="T67" fmla="*/ 120 h 233"/>
                <a:gd name="T68" fmla="*/ 134 w 165"/>
                <a:gd name="T69" fmla="*/ 18 h 233"/>
                <a:gd name="T70" fmla="*/ 142 w 165"/>
                <a:gd name="T71" fmla="*/ 18 h 233"/>
                <a:gd name="T72" fmla="*/ 142 w 165"/>
                <a:gd name="T73" fmla="*/ 0 h 233"/>
                <a:gd name="T74" fmla="*/ 86 w 165"/>
                <a:gd name="T75" fmla="*/ 0 h 233"/>
                <a:gd name="T76" fmla="*/ 86 w 165"/>
                <a:gd name="T77" fmla="*/ 18 h 233"/>
                <a:gd name="T78" fmla="*/ 94 w 165"/>
                <a:gd name="T79" fmla="*/ 18 h 233"/>
                <a:gd name="T80" fmla="*/ 94 w 165"/>
                <a:gd name="T81" fmla="*/ 20 h 233"/>
                <a:gd name="T82" fmla="*/ 0 w 165"/>
                <a:gd name="T83" fmla="*/ 120 h 233"/>
                <a:gd name="T84" fmla="*/ 63 w 165"/>
                <a:gd name="T85" fmla="*/ 213 h 233"/>
                <a:gd name="T86" fmla="*/ 63 w 165"/>
                <a:gd name="T87" fmla="*/ 233 h 233"/>
                <a:gd name="T88" fmla="*/ 165 w 165"/>
                <a:gd name="T89" fmla="*/ 233 h 233"/>
                <a:gd name="T90" fmla="*/ 165 w 165"/>
                <a:gd name="T91" fmla="*/ 195 h 233"/>
                <a:gd name="T92" fmla="*/ 158 w 165"/>
                <a:gd name="T93" fmla="*/ 19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5" h="233">
                  <a:moveTo>
                    <a:pt x="158" y="195"/>
                  </a:moveTo>
                  <a:cubicBezTo>
                    <a:pt x="158" y="189"/>
                    <a:pt x="158" y="189"/>
                    <a:pt x="158" y="189"/>
                  </a:cubicBezTo>
                  <a:cubicBezTo>
                    <a:pt x="70" y="189"/>
                    <a:pt x="70" y="189"/>
                    <a:pt x="70" y="189"/>
                  </a:cubicBezTo>
                  <a:cubicBezTo>
                    <a:pt x="70" y="195"/>
                    <a:pt x="70" y="195"/>
                    <a:pt x="70" y="195"/>
                  </a:cubicBezTo>
                  <a:cubicBezTo>
                    <a:pt x="68" y="195"/>
                    <a:pt x="68" y="195"/>
                    <a:pt x="68" y="195"/>
                  </a:cubicBezTo>
                  <a:cubicBezTo>
                    <a:pt x="38" y="183"/>
                    <a:pt x="18" y="154"/>
                    <a:pt x="18" y="120"/>
                  </a:cubicBezTo>
                  <a:cubicBezTo>
                    <a:pt x="18" y="77"/>
                    <a:pt x="51" y="42"/>
                    <a:pt x="94" y="39"/>
                  </a:cubicBezTo>
                  <a:cubicBezTo>
                    <a:pt x="94" y="120"/>
                    <a:pt x="94" y="120"/>
                    <a:pt x="94" y="120"/>
                  </a:cubicBezTo>
                  <a:cubicBezTo>
                    <a:pt x="70" y="120"/>
                    <a:pt x="70" y="120"/>
                    <a:pt x="70" y="120"/>
                  </a:cubicBezTo>
                  <a:cubicBezTo>
                    <a:pt x="70" y="127"/>
                    <a:pt x="70" y="127"/>
                    <a:pt x="70" y="127"/>
                  </a:cubicBezTo>
                  <a:cubicBezTo>
                    <a:pt x="76" y="127"/>
                    <a:pt x="76" y="127"/>
                    <a:pt x="76" y="127"/>
                  </a:cubicBezTo>
                  <a:cubicBezTo>
                    <a:pt x="75" y="128"/>
                    <a:pt x="75" y="130"/>
                    <a:pt x="75" y="131"/>
                  </a:cubicBezTo>
                  <a:cubicBezTo>
                    <a:pt x="75" y="150"/>
                    <a:pt x="75" y="150"/>
                    <a:pt x="75" y="150"/>
                  </a:cubicBezTo>
                  <a:cubicBezTo>
                    <a:pt x="75" y="156"/>
                    <a:pt x="80" y="161"/>
                    <a:pt x="86" y="161"/>
                  </a:cubicBezTo>
                  <a:cubicBezTo>
                    <a:pt x="92" y="161"/>
                    <a:pt x="97" y="156"/>
                    <a:pt x="97" y="150"/>
                  </a:cubicBezTo>
                  <a:cubicBezTo>
                    <a:pt x="97" y="131"/>
                    <a:pt x="97" y="131"/>
                    <a:pt x="97" y="131"/>
                  </a:cubicBezTo>
                  <a:cubicBezTo>
                    <a:pt x="97" y="130"/>
                    <a:pt x="96" y="128"/>
                    <a:pt x="96" y="127"/>
                  </a:cubicBezTo>
                  <a:cubicBezTo>
                    <a:pt x="104" y="127"/>
                    <a:pt x="104" y="127"/>
                    <a:pt x="104" y="127"/>
                  </a:cubicBezTo>
                  <a:cubicBezTo>
                    <a:pt x="103" y="128"/>
                    <a:pt x="103" y="130"/>
                    <a:pt x="103" y="131"/>
                  </a:cubicBezTo>
                  <a:cubicBezTo>
                    <a:pt x="103" y="163"/>
                    <a:pt x="103" y="163"/>
                    <a:pt x="103" y="163"/>
                  </a:cubicBezTo>
                  <a:cubicBezTo>
                    <a:pt x="103" y="169"/>
                    <a:pt x="108" y="174"/>
                    <a:pt x="114" y="174"/>
                  </a:cubicBezTo>
                  <a:cubicBezTo>
                    <a:pt x="120" y="174"/>
                    <a:pt x="125" y="169"/>
                    <a:pt x="125" y="163"/>
                  </a:cubicBezTo>
                  <a:cubicBezTo>
                    <a:pt x="125" y="131"/>
                    <a:pt x="125" y="131"/>
                    <a:pt x="125" y="131"/>
                  </a:cubicBezTo>
                  <a:cubicBezTo>
                    <a:pt x="125" y="130"/>
                    <a:pt x="125" y="128"/>
                    <a:pt x="124" y="127"/>
                  </a:cubicBezTo>
                  <a:cubicBezTo>
                    <a:pt x="132" y="127"/>
                    <a:pt x="132" y="127"/>
                    <a:pt x="132" y="127"/>
                  </a:cubicBezTo>
                  <a:cubicBezTo>
                    <a:pt x="131" y="128"/>
                    <a:pt x="131" y="130"/>
                    <a:pt x="131" y="131"/>
                  </a:cubicBezTo>
                  <a:cubicBezTo>
                    <a:pt x="131" y="150"/>
                    <a:pt x="131" y="150"/>
                    <a:pt x="131" y="150"/>
                  </a:cubicBezTo>
                  <a:cubicBezTo>
                    <a:pt x="131" y="156"/>
                    <a:pt x="136" y="161"/>
                    <a:pt x="142" y="161"/>
                  </a:cubicBezTo>
                  <a:cubicBezTo>
                    <a:pt x="148" y="161"/>
                    <a:pt x="153" y="156"/>
                    <a:pt x="153" y="150"/>
                  </a:cubicBezTo>
                  <a:cubicBezTo>
                    <a:pt x="153" y="131"/>
                    <a:pt x="153" y="131"/>
                    <a:pt x="153" y="131"/>
                  </a:cubicBezTo>
                  <a:cubicBezTo>
                    <a:pt x="153" y="130"/>
                    <a:pt x="153" y="128"/>
                    <a:pt x="152" y="127"/>
                  </a:cubicBezTo>
                  <a:cubicBezTo>
                    <a:pt x="158" y="127"/>
                    <a:pt x="158" y="127"/>
                    <a:pt x="158" y="127"/>
                  </a:cubicBezTo>
                  <a:cubicBezTo>
                    <a:pt x="158" y="120"/>
                    <a:pt x="158" y="120"/>
                    <a:pt x="158" y="120"/>
                  </a:cubicBezTo>
                  <a:cubicBezTo>
                    <a:pt x="134" y="120"/>
                    <a:pt x="134" y="120"/>
                    <a:pt x="134" y="120"/>
                  </a:cubicBezTo>
                  <a:cubicBezTo>
                    <a:pt x="134" y="18"/>
                    <a:pt x="134" y="18"/>
                    <a:pt x="134" y="18"/>
                  </a:cubicBezTo>
                  <a:cubicBezTo>
                    <a:pt x="142" y="18"/>
                    <a:pt x="142" y="18"/>
                    <a:pt x="142" y="18"/>
                  </a:cubicBezTo>
                  <a:cubicBezTo>
                    <a:pt x="142" y="0"/>
                    <a:pt x="142" y="0"/>
                    <a:pt x="142" y="0"/>
                  </a:cubicBezTo>
                  <a:cubicBezTo>
                    <a:pt x="86" y="0"/>
                    <a:pt x="86" y="0"/>
                    <a:pt x="86" y="0"/>
                  </a:cubicBezTo>
                  <a:cubicBezTo>
                    <a:pt x="86" y="18"/>
                    <a:pt x="86" y="18"/>
                    <a:pt x="86" y="18"/>
                  </a:cubicBezTo>
                  <a:cubicBezTo>
                    <a:pt x="94" y="18"/>
                    <a:pt x="94" y="18"/>
                    <a:pt x="94" y="18"/>
                  </a:cubicBezTo>
                  <a:cubicBezTo>
                    <a:pt x="94" y="20"/>
                    <a:pt x="94" y="20"/>
                    <a:pt x="94" y="20"/>
                  </a:cubicBezTo>
                  <a:cubicBezTo>
                    <a:pt x="41" y="24"/>
                    <a:pt x="0" y="67"/>
                    <a:pt x="0" y="120"/>
                  </a:cubicBezTo>
                  <a:cubicBezTo>
                    <a:pt x="0" y="162"/>
                    <a:pt x="26" y="198"/>
                    <a:pt x="63" y="213"/>
                  </a:cubicBezTo>
                  <a:cubicBezTo>
                    <a:pt x="63" y="233"/>
                    <a:pt x="63" y="233"/>
                    <a:pt x="63" y="233"/>
                  </a:cubicBezTo>
                  <a:cubicBezTo>
                    <a:pt x="165" y="233"/>
                    <a:pt x="165" y="233"/>
                    <a:pt x="165" y="233"/>
                  </a:cubicBezTo>
                  <a:cubicBezTo>
                    <a:pt x="165" y="195"/>
                    <a:pt x="165" y="195"/>
                    <a:pt x="165" y="195"/>
                  </a:cubicBezTo>
                  <a:lnTo>
                    <a:pt x="158" y="195"/>
                  </a:lnTo>
                  <a:close/>
                </a:path>
              </a:pathLst>
            </a:custGeom>
            <a:grpFill/>
            <a:ln>
              <a:noFill/>
            </a:ln>
          </p:spPr>
          <p:txBody>
            <a:bodyPr vert="horz" wrap="square" lIns="91440" tIns="45720" rIns="91440" bIns="45720" numCol="1" anchor="t" anchorCtr="0" compatLnSpc="1"/>
            <a:lstStyle/>
            <a:p>
              <a:endParaRPr lang="zh-CN" altLang="en-US"/>
            </a:p>
          </p:txBody>
        </p:sp>
        <p:sp>
          <p:nvSpPr>
            <p:cNvPr id="26" name="Freeform 14"/>
            <p:cNvSpPr>
              <a:spLocks noEditPoints="1"/>
            </p:cNvSpPr>
            <p:nvPr/>
          </p:nvSpPr>
          <p:spPr bwMode="auto">
            <a:xfrm>
              <a:off x="5761039" y="3413125"/>
              <a:ext cx="466725" cy="79375"/>
            </a:xfrm>
            <a:custGeom>
              <a:avLst/>
              <a:gdLst>
                <a:gd name="T0" fmla="*/ 0 w 294"/>
                <a:gd name="T1" fmla="*/ 0 h 50"/>
                <a:gd name="T2" fmla="*/ 0 w 294"/>
                <a:gd name="T3" fmla="*/ 50 h 50"/>
                <a:gd name="T4" fmla="*/ 294 w 294"/>
                <a:gd name="T5" fmla="*/ 50 h 50"/>
                <a:gd name="T6" fmla="*/ 294 w 294"/>
                <a:gd name="T7" fmla="*/ 0 h 50"/>
                <a:gd name="T8" fmla="*/ 0 w 294"/>
                <a:gd name="T9" fmla="*/ 0 h 50"/>
                <a:gd name="T10" fmla="*/ 282 w 294"/>
                <a:gd name="T11" fmla="*/ 38 h 50"/>
                <a:gd name="T12" fmla="*/ 10 w 294"/>
                <a:gd name="T13" fmla="*/ 38 h 50"/>
                <a:gd name="T14" fmla="*/ 10 w 294"/>
                <a:gd name="T15" fmla="*/ 12 h 50"/>
                <a:gd name="T16" fmla="*/ 282 w 294"/>
                <a:gd name="T17" fmla="*/ 12 h 50"/>
                <a:gd name="T18" fmla="*/ 282 w 294"/>
                <a:gd name="T19"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4" h="50">
                  <a:moveTo>
                    <a:pt x="0" y="0"/>
                  </a:moveTo>
                  <a:lnTo>
                    <a:pt x="0" y="50"/>
                  </a:lnTo>
                  <a:lnTo>
                    <a:pt x="294" y="50"/>
                  </a:lnTo>
                  <a:lnTo>
                    <a:pt x="294" y="0"/>
                  </a:lnTo>
                  <a:lnTo>
                    <a:pt x="0" y="0"/>
                  </a:lnTo>
                  <a:close/>
                  <a:moveTo>
                    <a:pt x="282" y="38"/>
                  </a:moveTo>
                  <a:lnTo>
                    <a:pt x="10" y="38"/>
                  </a:lnTo>
                  <a:lnTo>
                    <a:pt x="10" y="12"/>
                  </a:lnTo>
                  <a:lnTo>
                    <a:pt x="282" y="12"/>
                  </a:lnTo>
                  <a:lnTo>
                    <a:pt x="282" y="38"/>
                  </a:lnTo>
                  <a:close/>
                </a:path>
              </a:pathLst>
            </a:custGeom>
            <a:grpFill/>
            <a:ln>
              <a:noFill/>
            </a:ln>
          </p:spPr>
          <p:txBody>
            <a:bodyPr vert="horz" wrap="square" lIns="91440" tIns="45720" rIns="91440" bIns="45720" numCol="1" anchor="t" anchorCtr="0" compatLnSpc="1"/>
            <a:lstStyle/>
            <a:p>
              <a:endParaRPr lang="zh-CN" altLang="en-US"/>
            </a:p>
          </p:txBody>
        </p:sp>
      </p:grpSp>
      <p:pic>
        <p:nvPicPr>
          <p:cNvPr id="6" name="图片 5"/>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1678305"/>
            <a:ext cx="4686300" cy="2234565"/>
          </a:xfrm>
          <a:prstGeom prst="rect">
            <a:avLst/>
          </a:prstGeom>
        </p:spPr>
      </p:pic>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2492990"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为什么要用知识图谱？</a:t>
            </a:r>
          </a:p>
        </p:txBody>
      </p:sp>
      <p:sp>
        <p:nvSpPr>
          <p:cNvPr id="5" name="矩形 4"/>
          <p:cNvSpPr/>
          <p:nvPr/>
        </p:nvSpPr>
        <p:spPr>
          <a:xfrm>
            <a:off x="90232" y="575233"/>
            <a:ext cx="2077813"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Why</a:t>
            </a:r>
            <a:r>
              <a:rPr lang="zh-CN" altLang="en-US" sz="800" dirty="0">
                <a:solidFill>
                  <a:schemeClr val="accent1"/>
                </a:solidFill>
                <a:latin typeface="+mj-lt"/>
                <a:ea typeface="方正兰亭黑_GBK"/>
              </a:rPr>
              <a:t> </a:t>
            </a:r>
            <a:r>
              <a:rPr lang="en-US" altLang="zh-CN" sz="800" dirty="0">
                <a:solidFill>
                  <a:schemeClr val="accent1"/>
                </a:solidFill>
                <a:latin typeface="+mj-lt"/>
                <a:ea typeface="方正兰亭黑_GBK"/>
              </a:rPr>
              <a:t>the</a:t>
            </a:r>
            <a:r>
              <a:rPr lang="zh-CN" altLang="en-US" sz="800" dirty="0">
                <a:solidFill>
                  <a:schemeClr val="accent1"/>
                </a:solidFill>
                <a:latin typeface="+mj-lt"/>
                <a:ea typeface="方正兰亭黑_GBK"/>
              </a:rPr>
              <a:t> </a:t>
            </a:r>
            <a:r>
              <a:rPr lang="en-US" altLang="zh-CN" sz="800" dirty="0">
                <a:solidFill>
                  <a:schemeClr val="accent1"/>
                </a:solidFill>
                <a:latin typeface="+mj-lt"/>
                <a:ea typeface="方正兰亭黑_GBK"/>
              </a:rPr>
              <a:t>Knowledge Graph is necessary?</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797112" y="2415281"/>
            <a:ext cx="2361248" cy="954107"/>
          </a:xfrm>
          <a:prstGeom prst="rect">
            <a:avLst/>
          </a:prstGeom>
          <a:noFill/>
        </p:spPr>
        <p:txBody>
          <a:bodyPr wrap="square" lIns="91440" tIns="45720" rIns="91440" bIns="45720">
            <a:spAutoFit/>
          </a:bodyPr>
          <a:lstStyle/>
          <a:p>
            <a:pPr algn="ctr"/>
            <a:r>
              <a:rPr lang="zh-CN" altLang="en-US" sz="4000" dirty="0">
                <a:ln w="0"/>
                <a:solidFill>
                  <a:schemeClr val="accent1"/>
                </a:solidFill>
                <a:effectLst>
                  <a:outerShdw blurRad="38100" dist="25400" dir="5400000" algn="ctr" rotWithShape="0">
                    <a:srgbClr val="6E747A">
                      <a:alpha val="43000"/>
                    </a:srgbClr>
                  </a:outerShdw>
                </a:effectLst>
              </a:rPr>
              <a:t>传统模型</a:t>
            </a:r>
            <a:endParaRPr lang="en-US" altLang="zh-CN" sz="4000" dirty="0">
              <a:ln w="0"/>
              <a:solidFill>
                <a:schemeClr val="accent1"/>
              </a:solidFill>
              <a:effectLst>
                <a:outerShdw blurRad="38100" dist="25400" dir="5400000" algn="ctr" rotWithShape="0">
                  <a:srgbClr val="6E747A">
                    <a:alpha val="43000"/>
                  </a:srgbClr>
                </a:outerShdw>
              </a:effectLst>
            </a:endParaRPr>
          </a:p>
          <a:p>
            <a:pPr algn="ctr"/>
            <a:r>
              <a:rPr lang="en-US" altLang="zh-CN" sz="1600" dirty="0">
                <a:ln w="0"/>
                <a:solidFill>
                  <a:schemeClr val="accent1"/>
                </a:solidFill>
                <a:effectLst>
                  <a:outerShdw blurRad="38100" dist="25400" dir="5400000" algn="ctr" rotWithShape="0">
                    <a:srgbClr val="6E747A">
                      <a:alpha val="43000"/>
                    </a:srgbClr>
                  </a:outerShdw>
                </a:effectLst>
              </a:rPr>
              <a:t>(CF/FM/FFM/</a:t>
            </a:r>
            <a:r>
              <a:rPr lang="en-US" altLang="zh-CN" sz="1600" dirty="0" err="1">
                <a:ln w="0"/>
                <a:solidFill>
                  <a:schemeClr val="accent1"/>
                </a:solidFill>
                <a:effectLst>
                  <a:outerShdw blurRad="38100" dist="25400" dir="5400000" algn="ctr" rotWithShape="0">
                    <a:srgbClr val="6E747A">
                      <a:alpha val="43000"/>
                    </a:srgbClr>
                  </a:outerShdw>
                </a:effectLst>
              </a:rPr>
              <a:t>XGBoost</a:t>
            </a:r>
            <a:r>
              <a:rPr lang="en-US" altLang="zh-CN" sz="1600" dirty="0">
                <a:ln w="0"/>
                <a:solidFill>
                  <a:schemeClr val="accent1"/>
                </a:solidFill>
                <a:effectLst>
                  <a:outerShdw blurRad="38100" dist="25400" dir="5400000" algn="ctr" rotWithShape="0">
                    <a:srgbClr val="6E747A">
                      <a:alpha val="43000"/>
                    </a:srgbClr>
                  </a:outerShdw>
                </a:effectLst>
              </a:rPr>
              <a:t>)</a:t>
            </a:r>
            <a:endParaRPr lang="zh-CN" altLang="en-US" sz="1600" dirty="0">
              <a:ln w="0"/>
              <a:solidFill>
                <a:schemeClr val="accent1"/>
              </a:solidFill>
              <a:effectLst>
                <a:outerShdw blurRad="38100" dist="25400" dir="5400000" algn="ctr" rotWithShape="0">
                  <a:srgbClr val="6E747A">
                    <a:alpha val="43000"/>
                  </a:srgbClr>
                </a:outerShdw>
              </a:effectLst>
            </a:endParaRPr>
          </a:p>
        </p:txBody>
      </p:sp>
      <p:sp>
        <p:nvSpPr>
          <p:cNvPr id="28" name="矩形 27"/>
          <p:cNvSpPr/>
          <p:nvPr/>
        </p:nvSpPr>
        <p:spPr>
          <a:xfrm>
            <a:off x="4783296" y="1241801"/>
            <a:ext cx="2361248" cy="707886"/>
          </a:xfrm>
          <a:prstGeom prst="rect">
            <a:avLst/>
          </a:prstGeom>
          <a:noFill/>
        </p:spPr>
        <p:txBody>
          <a:bodyPr wrap="square" lIns="91440" tIns="45720" rIns="91440" bIns="45720">
            <a:spAutoFit/>
          </a:bodyPr>
          <a:lstStyle/>
          <a:p>
            <a:pPr algn="ctr"/>
            <a:r>
              <a:rPr lang="zh-CN" altLang="en-US" sz="4000" dirty="0">
                <a:ln w="0"/>
                <a:solidFill>
                  <a:schemeClr val="accent1"/>
                </a:solidFill>
                <a:effectLst>
                  <a:outerShdw blurRad="38100" dist="25400" dir="5400000" algn="ctr" rotWithShape="0">
                    <a:srgbClr val="6E747A">
                      <a:alpha val="43000"/>
                    </a:srgbClr>
                  </a:outerShdw>
                </a:effectLst>
              </a:rPr>
              <a:t>稀疏性</a:t>
            </a:r>
          </a:p>
        </p:txBody>
      </p:sp>
      <p:sp>
        <p:nvSpPr>
          <p:cNvPr id="29" name="矩形 28"/>
          <p:cNvSpPr/>
          <p:nvPr/>
        </p:nvSpPr>
        <p:spPr>
          <a:xfrm>
            <a:off x="4783296" y="3588761"/>
            <a:ext cx="2361248" cy="707886"/>
          </a:xfrm>
          <a:prstGeom prst="rect">
            <a:avLst/>
          </a:prstGeom>
          <a:noFill/>
        </p:spPr>
        <p:txBody>
          <a:bodyPr wrap="square" lIns="91440" tIns="45720" rIns="91440" bIns="45720">
            <a:spAutoFit/>
          </a:bodyPr>
          <a:lstStyle/>
          <a:p>
            <a:pPr algn="ctr"/>
            <a:r>
              <a:rPr lang="zh-CN" altLang="en-US" sz="4000" dirty="0">
                <a:ln w="0"/>
                <a:solidFill>
                  <a:schemeClr val="accent1"/>
                </a:solidFill>
                <a:effectLst>
                  <a:outerShdw blurRad="38100" dist="25400" dir="5400000" algn="ctr" rotWithShape="0">
                    <a:srgbClr val="6E747A">
                      <a:alpha val="43000"/>
                    </a:srgbClr>
                  </a:outerShdw>
                </a:effectLst>
              </a:rPr>
              <a:t>冷启动</a:t>
            </a:r>
          </a:p>
        </p:txBody>
      </p:sp>
      <p:sp>
        <p:nvSpPr>
          <p:cNvPr id="9" name="左大括号 8"/>
          <p:cNvSpPr/>
          <p:nvPr/>
        </p:nvSpPr>
        <p:spPr>
          <a:xfrm>
            <a:off x="4293006" y="1595744"/>
            <a:ext cx="609600" cy="234696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加号 9"/>
          <p:cNvSpPr/>
          <p:nvPr/>
        </p:nvSpPr>
        <p:spPr>
          <a:xfrm>
            <a:off x="2674100" y="2316633"/>
            <a:ext cx="630544" cy="630544"/>
          </a:xfrm>
          <a:prstGeom prst="math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377270" y="3111707"/>
            <a:ext cx="3397084" cy="954107"/>
          </a:xfrm>
          <a:prstGeom prst="rect">
            <a:avLst/>
          </a:prstGeom>
          <a:noFill/>
        </p:spPr>
        <p:txBody>
          <a:bodyPr wrap="none" lIns="91440" tIns="45720" rIns="91440" bIns="45720">
            <a:spAutoFit/>
          </a:bodyPr>
          <a:lstStyle/>
          <a:p>
            <a:pPr algn="ctr"/>
            <a:r>
              <a:rPr lang="zh-CN" altLang="en-US" sz="4000" dirty="0">
                <a:ln w="0"/>
                <a:solidFill>
                  <a:schemeClr val="accent1"/>
                </a:solidFill>
                <a:effectLst>
                  <a:outerShdw blurRad="38100" dist="25400" dir="5400000" algn="ctr" rotWithShape="0">
                    <a:srgbClr val="6E747A">
                      <a:alpha val="43000"/>
                    </a:srgbClr>
                  </a:outerShdw>
                </a:effectLst>
              </a:rPr>
              <a:t>知识图谱</a:t>
            </a:r>
            <a:endParaRPr lang="en-US" altLang="zh-CN" sz="4000" dirty="0">
              <a:ln w="0"/>
              <a:solidFill>
                <a:schemeClr val="accent1"/>
              </a:solidFill>
              <a:effectLst>
                <a:outerShdw blurRad="38100" dist="25400" dir="5400000" algn="ctr" rotWithShape="0">
                  <a:srgbClr val="6E747A">
                    <a:alpha val="43000"/>
                  </a:srgbClr>
                </a:outerShdw>
              </a:effectLst>
            </a:endParaRPr>
          </a:p>
          <a:p>
            <a:pPr algn="ctr"/>
            <a:r>
              <a:rPr lang="en-US" altLang="zh-CN" sz="1600" dirty="0">
                <a:ln w="0"/>
                <a:solidFill>
                  <a:srgbClr val="304371"/>
                </a:solidFill>
                <a:effectLst>
                  <a:outerShdw blurRad="38100" dist="25400" dir="5400000" algn="ctr" rotWithShape="0">
                    <a:srgbClr val="6E747A">
                      <a:alpha val="43000"/>
                    </a:srgbClr>
                  </a:outerShdw>
                </a:effectLst>
              </a:rPr>
              <a:t>(</a:t>
            </a:r>
            <a:r>
              <a:rPr lang="zh-CN" altLang="en-US" sz="1600" dirty="0">
                <a:ln w="0"/>
                <a:solidFill>
                  <a:srgbClr val="304371"/>
                </a:solidFill>
                <a:effectLst>
                  <a:outerShdw blurRad="38100" dist="25400" dir="5400000" algn="ctr" rotWithShape="0">
                    <a:srgbClr val="6E747A">
                      <a:alpha val="43000"/>
                    </a:srgbClr>
                  </a:outerShdw>
                </a:effectLst>
              </a:rPr>
              <a:t>跨领域沉淀知识</a:t>
            </a:r>
            <a:r>
              <a:rPr lang="en-US" altLang="zh-CN" sz="1600" dirty="0">
                <a:ln w="0"/>
                <a:solidFill>
                  <a:srgbClr val="304371"/>
                </a:solidFill>
                <a:effectLst>
                  <a:outerShdw blurRad="38100" dist="25400" dir="5400000" algn="ctr" rotWithShape="0">
                    <a:srgbClr val="6E747A">
                      <a:alpha val="43000"/>
                    </a:srgbClr>
                  </a:outerShdw>
                </a:effectLst>
              </a:rPr>
              <a:t>/</a:t>
            </a:r>
            <a:r>
              <a:rPr lang="zh-CN" altLang="en-US" sz="1600" dirty="0">
                <a:ln w="0"/>
                <a:solidFill>
                  <a:srgbClr val="304371"/>
                </a:solidFill>
                <a:effectLst>
                  <a:outerShdw blurRad="38100" dist="25400" dir="5400000" algn="ctr" rotWithShape="0">
                    <a:srgbClr val="6E747A">
                      <a:alpha val="43000"/>
                    </a:srgbClr>
                  </a:outerShdw>
                </a:effectLst>
              </a:rPr>
              <a:t>丰富的语义关联）</a:t>
            </a:r>
            <a:endParaRPr lang="zh-CN" altLang="en-US" sz="4000" b="0" cap="none" spc="0" dirty="0">
              <a:ln w="0"/>
              <a:solidFill>
                <a:schemeClr val="accent1"/>
              </a:solidFill>
              <a:effectLst>
                <a:outerShdw blurRad="38100" dist="25400" dir="5400000" algn="ctr" rotWithShape="0">
                  <a:srgbClr val="6E747A">
                    <a:alpha val="43000"/>
                  </a:srgbClr>
                </a:outerShdw>
              </a:effectLst>
            </a:endParaRPr>
          </a:p>
        </p:txBody>
      </p:sp>
      <p:sp>
        <p:nvSpPr>
          <p:cNvPr id="3" name="箭头: 燕尾形 2"/>
          <p:cNvSpPr/>
          <p:nvPr/>
        </p:nvSpPr>
        <p:spPr>
          <a:xfrm>
            <a:off x="4341762" y="2536681"/>
            <a:ext cx="1022888" cy="189461"/>
          </a:xfrm>
          <a:prstGeom prst="notched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618531" y="1141927"/>
            <a:ext cx="2361544" cy="2764924"/>
          </a:xfrm>
          <a:prstGeom prst="rect">
            <a:avLst/>
          </a:prstGeom>
          <a:noFill/>
        </p:spPr>
        <p:txBody>
          <a:bodyPr wrap="none" lIns="91440" tIns="45720" rIns="91440" bIns="45720">
            <a:spAutoFit/>
          </a:bodyPr>
          <a:lstStyle/>
          <a:p>
            <a:pPr algn="ctr">
              <a:lnSpc>
                <a:spcPct val="150000"/>
              </a:lnSpc>
            </a:pPr>
            <a:r>
              <a:rPr lang="en-US" altLang="zh-CN" sz="4000" b="0" cap="none" spc="0" dirty="0">
                <a:ln w="0"/>
                <a:solidFill>
                  <a:schemeClr val="accent1"/>
                </a:solidFill>
                <a:effectLst>
                  <a:outerShdw blurRad="38100" dist="25400" dir="5400000" algn="ctr" rotWithShape="0">
                    <a:srgbClr val="6E747A">
                      <a:alpha val="43000"/>
                    </a:srgbClr>
                  </a:outerShdw>
                </a:effectLst>
              </a:rPr>
              <a:t>·</a:t>
            </a:r>
            <a:r>
              <a:rPr lang="zh-CN" altLang="en-US" sz="4000" b="0" cap="none" spc="0" dirty="0">
                <a:ln w="0"/>
                <a:solidFill>
                  <a:schemeClr val="accent1"/>
                </a:solidFill>
                <a:effectLst>
                  <a:outerShdw blurRad="38100" dist="25400" dir="5400000" algn="ctr" rotWithShape="0">
                    <a:srgbClr val="6E747A">
                      <a:alpha val="43000"/>
                    </a:srgbClr>
                  </a:outerShdw>
                </a:effectLst>
              </a:rPr>
              <a:t>精确化</a:t>
            </a:r>
            <a:endParaRPr lang="en-US" altLang="zh-CN" sz="4000" b="0" cap="none" spc="0" dirty="0">
              <a:ln w="0"/>
              <a:solidFill>
                <a:schemeClr val="accent1"/>
              </a:solidFill>
              <a:effectLst>
                <a:outerShdw blurRad="38100" dist="25400" dir="5400000" algn="ctr" rotWithShape="0">
                  <a:srgbClr val="6E747A">
                    <a:alpha val="43000"/>
                  </a:srgbClr>
                </a:outerShdw>
              </a:effectLst>
            </a:endParaRPr>
          </a:p>
          <a:p>
            <a:pPr algn="ctr">
              <a:lnSpc>
                <a:spcPct val="150000"/>
              </a:lnSpc>
            </a:pPr>
            <a:r>
              <a:rPr lang="en-US" altLang="zh-CN" sz="4000" dirty="0">
                <a:ln w="0"/>
                <a:solidFill>
                  <a:schemeClr val="accent1"/>
                </a:solidFill>
                <a:effectLst>
                  <a:outerShdw blurRad="38100" dist="25400" dir="5400000" algn="ctr" rotWithShape="0">
                    <a:srgbClr val="6E747A">
                      <a:alpha val="43000"/>
                    </a:srgbClr>
                  </a:outerShdw>
                </a:effectLst>
              </a:rPr>
              <a:t>·</a:t>
            </a:r>
            <a:r>
              <a:rPr lang="zh-CN" altLang="en-US" sz="4000" dirty="0">
                <a:ln w="0"/>
                <a:solidFill>
                  <a:schemeClr val="accent1"/>
                </a:solidFill>
                <a:effectLst>
                  <a:outerShdw blurRad="38100" dist="25400" dir="5400000" algn="ctr" rotWithShape="0">
                    <a:srgbClr val="6E747A">
                      <a:alpha val="43000"/>
                    </a:srgbClr>
                  </a:outerShdw>
                </a:effectLst>
              </a:rPr>
              <a:t>多样性</a:t>
            </a:r>
            <a:endParaRPr lang="en-US" altLang="zh-CN" sz="4000" dirty="0">
              <a:ln w="0"/>
              <a:solidFill>
                <a:schemeClr val="accent1"/>
              </a:solidFill>
              <a:effectLst>
                <a:outerShdw blurRad="38100" dist="25400" dir="5400000" algn="ctr" rotWithShape="0">
                  <a:srgbClr val="6E747A">
                    <a:alpha val="43000"/>
                  </a:srgbClr>
                </a:outerShdw>
              </a:effectLst>
            </a:endParaRPr>
          </a:p>
          <a:p>
            <a:pPr algn="ctr">
              <a:lnSpc>
                <a:spcPct val="150000"/>
              </a:lnSpc>
            </a:pPr>
            <a:r>
              <a:rPr lang="en-US" altLang="zh-CN" sz="4000" b="0" cap="none" spc="0" dirty="0">
                <a:ln w="0"/>
                <a:solidFill>
                  <a:schemeClr val="accent1"/>
                </a:solidFill>
                <a:effectLst>
                  <a:outerShdw blurRad="38100" dist="25400" dir="5400000" algn="ctr" rotWithShape="0">
                    <a:srgbClr val="6E747A">
                      <a:alpha val="43000"/>
                    </a:srgbClr>
                  </a:outerShdw>
                </a:effectLst>
              </a:rPr>
              <a:t>·</a:t>
            </a:r>
            <a:r>
              <a:rPr lang="zh-CN" altLang="en-US" sz="4000" b="0" cap="none" spc="0" dirty="0">
                <a:ln w="0"/>
                <a:solidFill>
                  <a:schemeClr val="accent1"/>
                </a:solidFill>
                <a:effectLst>
                  <a:outerShdw blurRad="38100" dist="25400" dir="5400000" algn="ctr" rotWithShape="0">
                    <a:srgbClr val="6E747A">
                      <a:alpha val="43000"/>
                    </a:srgbClr>
                  </a:outerShdw>
                </a:effectLst>
              </a:rPr>
              <a:t>可解释性</a:t>
            </a:r>
            <a:endParaRPr lang="en-US" altLang="zh-CN" sz="4000" b="0" cap="none" spc="0" dirty="0">
              <a:ln w="0"/>
              <a:solidFill>
                <a:schemeClr val="accent1"/>
              </a:solidFill>
              <a:effectLst>
                <a:outerShdw blurRad="38100" dist="25400" dir="5400000" algn="ctr" rotWithShape="0">
                  <a:srgbClr val="6E747A">
                    <a:alpha val="43000"/>
                  </a:srgbClr>
                </a:outerShdw>
              </a:effectLst>
            </a:endParaRPr>
          </a:p>
        </p:txBody>
      </p:sp>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4406" y="1002677"/>
            <a:ext cx="1981200" cy="1371600"/>
          </a:xfrm>
          <a:prstGeom prst="rect">
            <a:avLst/>
          </a:prstGeom>
        </p:spPr>
      </p:pic>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30480" y="2631412"/>
            <a:ext cx="1603920" cy="2354228"/>
          </a:xfrm>
          <a:prstGeom prst="rect">
            <a:avLst/>
          </a:prstGeom>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par>
                          <p:cTn id="11" fill="hold">
                            <p:stCondLst>
                              <p:cond delay="500"/>
                            </p:stCondLst>
                            <p:childTnLst>
                              <p:par>
                                <p:cTn id="12" presetID="64" presetClass="path" presetSubtype="0" accel="50000" decel="50000" fill="hold" grpId="0" nodeType="afterEffect">
                                  <p:stCondLst>
                                    <p:cond delay="0"/>
                                  </p:stCondLst>
                                  <p:childTnLst>
                                    <p:animMotion origin="layout" path="M 0 0 L 0 -0.25 E" pathEditMode="relative" ptsTypes="">
                                      <p:cBhvr>
                                        <p:cTn id="13" dur="2000" fill="hold"/>
                                        <p:tgtEl>
                                          <p:spTgt spid="2"/>
                                        </p:tgtEl>
                                        <p:attrNameLst>
                                          <p:attrName>ppt_x</p:attrName>
                                          <p:attrName>ppt_y</p:attrName>
                                        </p:attrNameLst>
                                      </p:cBhvr>
                                    </p:animMotion>
                                  </p:childTnLst>
                                </p:cTn>
                              </p:par>
                              <p:par>
                                <p:cTn id="14" presetID="64" presetClass="path" presetSubtype="0" accel="50000" decel="50000" fill="hold" grpId="0" nodeType="withEffect">
                                  <p:stCondLst>
                                    <p:cond delay="0"/>
                                  </p:stCondLst>
                                  <p:childTnLst>
                                    <p:animMotion origin="layout" path="M 3.05556E-6 4.81481E-6 L 0.00104 -0.15649 " pathEditMode="relative" rAng="0" ptsTypes="AA">
                                      <p:cBhvr>
                                        <p:cTn id="15" dur="2000" fill="hold"/>
                                        <p:tgtEl>
                                          <p:spTgt spid="28"/>
                                        </p:tgtEl>
                                        <p:attrNameLst>
                                          <p:attrName>ppt_x</p:attrName>
                                          <p:attrName>ppt_y</p:attrName>
                                        </p:attrNameLst>
                                      </p:cBhvr>
                                      <p:rCtr x="52" y="-7840"/>
                                    </p:animMotion>
                                  </p:childTnLst>
                                </p:cTn>
                              </p:par>
                              <p:par>
                                <p:cTn id="16" presetID="64" presetClass="path" presetSubtype="0" accel="50000" decel="50000" fill="hold" grpId="0" nodeType="withEffect">
                                  <p:stCondLst>
                                    <p:cond delay="0"/>
                                  </p:stCondLst>
                                  <p:childTnLst>
                                    <p:animMotion origin="layout" path="M 3.05556E-6 3.33333E-6 L 3.05556E-6 -0.35988 " pathEditMode="relative" rAng="0" ptsTypes="AA">
                                      <p:cBhvr>
                                        <p:cTn id="17" dur="2000" fill="hold"/>
                                        <p:tgtEl>
                                          <p:spTgt spid="29"/>
                                        </p:tgtEl>
                                        <p:attrNameLst>
                                          <p:attrName>ppt_x</p:attrName>
                                          <p:attrName>ppt_y</p:attrName>
                                        </p:attrNameLst>
                                      </p:cBhvr>
                                      <p:rCtr x="0" y="-17994"/>
                                    </p:animMotion>
                                  </p:childTnLst>
                                </p:cTn>
                              </p:par>
                              <p:par>
                                <p:cTn id="18" presetID="64" presetClass="path" presetSubtype="0" accel="50000" decel="50000" fill="hold" grpId="0" nodeType="withEffect">
                                  <p:stCondLst>
                                    <p:cond delay="0"/>
                                  </p:stCondLst>
                                  <p:childTnLst>
                                    <p:animMotion origin="layout" path="M 0 0 L 0 -0.25 E" pathEditMode="relative" ptsTypes="">
                                      <p:cBhvr>
                                        <p:cTn id="19" dur="2000" fill="hold"/>
                                        <p:tgtEl>
                                          <p:spTgt spid="9"/>
                                        </p:tgtEl>
                                        <p:attrNameLst>
                                          <p:attrName>ppt_x</p:attrName>
                                          <p:attrName>ppt_y</p:attrName>
                                        </p:attrNameLst>
                                      </p:cBhvr>
                                    </p:animMotion>
                                  </p:childTnLst>
                                </p:cTn>
                              </p:par>
                              <p:par>
                                <p:cTn id="20" presetID="6" presetClass="emph" presetSubtype="0" fill="hold" grpId="1" nodeType="withEffect">
                                  <p:stCondLst>
                                    <p:cond delay="0"/>
                                  </p:stCondLst>
                                  <p:childTnLst>
                                    <p:animScale>
                                      <p:cBhvr>
                                        <p:cTn id="21" dur="2000" fill="hold"/>
                                        <p:tgtEl>
                                          <p:spTgt spid="9"/>
                                        </p:tgtEl>
                                      </p:cBhvr>
                                      <p:by x="100000" y="50000"/>
                                    </p:animScale>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1000"/>
                                        <p:tgtEl>
                                          <p:spTgt spid="30"/>
                                        </p:tgtEl>
                                      </p:cBhvr>
                                    </p:animEffect>
                                    <p:anim calcmode="lin" valueType="num">
                                      <p:cBhvr>
                                        <p:cTn id="26" dur="1000" fill="hold"/>
                                        <p:tgtEl>
                                          <p:spTgt spid="30"/>
                                        </p:tgtEl>
                                        <p:attrNameLst>
                                          <p:attrName>ppt_x</p:attrName>
                                        </p:attrNameLst>
                                      </p:cBhvr>
                                      <p:tavLst>
                                        <p:tav tm="0">
                                          <p:val>
                                            <p:strVal val="#ppt_x"/>
                                          </p:val>
                                        </p:tav>
                                        <p:tav tm="100000">
                                          <p:val>
                                            <p:strVal val="#ppt_x"/>
                                          </p:val>
                                        </p:tav>
                                      </p:tavLst>
                                    </p:anim>
                                    <p:anim calcmode="lin" valueType="num">
                                      <p:cBhvr>
                                        <p:cTn id="27" dur="1000" fill="hold"/>
                                        <p:tgtEl>
                                          <p:spTgt spid="3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1000"/>
                                        <p:tgtEl>
                                          <p:spTgt spid="10"/>
                                        </p:tgtEl>
                                      </p:cBhvr>
                                    </p:animEffect>
                                    <p:anim calcmode="lin" valueType="num">
                                      <p:cBhvr>
                                        <p:cTn id="31" dur="1000" fill="hold"/>
                                        <p:tgtEl>
                                          <p:spTgt spid="10"/>
                                        </p:tgtEl>
                                        <p:attrNameLst>
                                          <p:attrName>ppt_x</p:attrName>
                                        </p:attrNameLst>
                                      </p:cBhvr>
                                      <p:tavLst>
                                        <p:tav tm="0">
                                          <p:val>
                                            <p:strVal val="#ppt_x"/>
                                          </p:val>
                                        </p:tav>
                                        <p:tav tm="100000">
                                          <p:val>
                                            <p:strVal val="#ppt_x"/>
                                          </p:val>
                                        </p:tav>
                                      </p:tavLst>
                                    </p:anim>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childTnLst>
                          </p:cTn>
                        </p:par>
                        <p:par>
                          <p:cTn id="33" fill="hold">
                            <p:stCondLst>
                              <p:cond delay="3500"/>
                            </p:stCondLst>
                            <p:childTnLst>
                              <p:par>
                                <p:cTn id="34" presetID="22" presetClass="exit" presetSubtype="8" fill="hold" grpId="1" nodeType="afterEffect">
                                  <p:stCondLst>
                                    <p:cond delay="0"/>
                                  </p:stCondLst>
                                  <p:childTnLst>
                                    <p:animEffect transition="out" filter="wipe(left)">
                                      <p:cBhvr>
                                        <p:cTn id="35" dur="500"/>
                                        <p:tgtEl>
                                          <p:spTgt spid="28"/>
                                        </p:tgtEl>
                                      </p:cBhvr>
                                    </p:animEffect>
                                    <p:set>
                                      <p:cBhvr>
                                        <p:cTn id="36" dur="1" fill="hold">
                                          <p:stCondLst>
                                            <p:cond delay="499"/>
                                          </p:stCondLst>
                                        </p:cTn>
                                        <p:tgtEl>
                                          <p:spTgt spid="28"/>
                                        </p:tgtEl>
                                        <p:attrNameLst>
                                          <p:attrName>style.visibility</p:attrName>
                                        </p:attrNameLst>
                                      </p:cBhvr>
                                      <p:to>
                                        <p:strVal val="hidden"/>
                                      </p:to>
                                    </p:set>
                                  </p:childTnLst>
                                </p:cTn>
                              </p:par>
                              <p:par>
                                <p:cTn id="37" presetID="22" presetClass="exit" presetSubtype="8" fill="hold" grpId="1" nodeType="withEffect">
                                  <p:stCondLst>
                                    <p:cond delay="0"/>
                                  </p:stCondLst>
                                  <p:childTnLst>
                                    <p:animEffect transition="out" filter="wipe(left)">
                                      <p:cBhvr>
                                        <p:cTn id="38" dur="500"/>
                                        <p:tgtEl>
                                          <p:spTgt spid="29"/>
                                        </p:tgtEl>
                                      </p:cBhvr>
                                    </p:animEffect>
                                    <p:set>
                                      <p:cBhvr>
                                        <p:cTn id="39" dur="1" fill="hold">
                                          <p:stCondLst>
                                            <p:cond delay="499"/>
                                          </p:stCondLst>
                                        </p:cTn>
                                        <p:tgtEl>
                                          <p:spTgt spid="29"/>
                                        </p:tgtEl>
                                        <p:attrNameLst>
                                          <p:attrName>style.visibility</p:attrName>
                                        </p:attrNameLst>
                                      </p:cBhvr>
                                      <p:to>
                                        <p:strVal val="hidden"/>
                                      </p:to>
                                    </p:set>
                                  </p:childTnLst>
                                </p:cTn>
                              </p:par>
                              <p:par>
                                <p:cTn id="40" presetID="22" presetClass="exit" presetSubtype="8" fill="hold" grpId="2" nodeType="withEffect">
                                  <p:stCondLst>
                                    <p:cond delay="0"/>
                                  </p:stCondLst>
                                  <p:childTnLst>
                                    <p:animEffect transition="out" filter="wipe(left)">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left)">
                                      <p:cBhvr>
                                        <p:cTn id="46" dur="500"/>
                                        <p:tgtEl>
                                          <p:spTgt spid="3"/>
                                        </p:tgtEl>
                                      </p:cBhvr>
                                    </p:animEffect>
                                  </p:childTnLst>
                                </p:cTn>
                              </p:par>
                            </p:childTnLst>
                          </p:cTn>
                        </p:par>
                        <p:par>
                          <p:cTn id="47" fill="hold">
                            <p:stCondLst>
                              <p:cond delay="4500"/>
                            </p:stCondLst>
                            <p:childTnLst>
                              <p:par>
                                <p:cTn id="48" presetID="22" presetClass="entr" presetSubtype="8"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left)">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8" grpId="0"/>
      <p:bldP spid="28" grpId="1"/>
      <p:bldP spid="29" grpId="0"/>
      <p:bldP spid="29" grpId="1"/>
      <p:bldP spid="9" grpId="0" animBg="1"/>
      <p:bldP spid="9" grpId="1" animBg="1"/>
      <p:bldP spid="9" grpId="2" animBg="1"/>
      <p:bldP spid="10" grpId="0" animBg="1"/>
      <p:bldP spid="30" grpId="0"/>
      <p:bldP spid="3"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2492990"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为什么要用知识图谱？</a:t>
            </a:r>
          </a:p>
        </p:txBody>
      </p:sp>
      <p:sp>
        <p:nvSpPr>
          <p:cNvPr id="5" name="矩形 4"/>
          <p:cNvSpPr/>
          <p:nvPr/>
        </p:nvSpPr>
        <p:spPr>
          <a:xfrm>
            <a:off x="90232" y="575233"/>
            <a:ext cx="2077813"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Why</a:t>
            </a:r>
            <a:r>
              <a:rPr lang="zh-CN" altLang="en-US" sz="800" dirty="0">
                <a:solidFill>
                  <a:schemeClr val="accent1"/>
                </a:solidFill>
                <a:latin typeface="+mj-lt"/>
                <a:ea typeface="方正兰亭黑_GBK"/>
              </a:rPr>
              <a:t> </a:t>
            </a:r>
            <a:r>
              <a:rPr lang="en-US" altLang="zh-CN" sz="800" dirty="0">
                <a:solidFill>
                  <a:schemeClr val="accent1"/>
                </a:solidFill>
                <a:latin typeface="+mj-lt"/>
                <a:ea typeface="方正兰亭黑_GBK"/>
              </a:rPr>
              <a:t>the</a:t>
            </a:r>
            <a:r>
              <a:rPr lang="zh-CN" altLang="en-US" sz="800" dirty="0">
                <a:solidFill>
                  <a:schemeClr val="accent1"/>
                </a:solidFill>
                <a:latin typeface="+mj-lt"/>
                <a:ea typeface="方正兰亭黑_GBK"/>
              </a:rPr>
              <a:t> </a:t>
            </a:r>
            <a:r>
              <a:rPr lang="en-US" altLang="zh-CN" sz="800" dirty="0">
                <a:solidFill>
                  <a:schemeClr val="accent1"/>
                </a:solidFill>
                <a:latin typeface="+mj-lt"/>
                <a:ea typeface="方正兰亭黑_GBK"/>
              </a:rPr>
              <a:t>Knowledge Graph is necessary?</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8" name="Oval 6"/>
          <p:cNvSpPr>
            <a:spLocks noChangeAspect="1" noChangeArrowheads="1"/>
          </p:cNvSpPr>
          <p:nvPr/>
        </p:nvSpPr>
        <p:spPr bwMode="auto">
          <a:xfrm>
            <a:off x="3098582" y="2124847"/>
            <a:ext cx="1473418" cy="1473418"/>
          </a:xfrm>
          <a:prstGeom prst="ellipse">
            <a:avLst/>
          </a:prstGeom>
          <a:solidFill>
            <a:srgbClr val="007DA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49" name="Line 25"/>
          <p:cNvSpPr>
            <a:spLocks noChangeAspect="1" noChangeShapeType="1"/>
          </p:cNvSpPr>
          <p:nvPr/>
        </p:nvSpPr>
        <p:spPr bwMode="auto">
          <a:xfrm>
            <a:off x="3854571" y="3603025"/>
            <a:ext cx="321819" cy="328960"/>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0" name="Line 26"/>
          <p:cNvSpPr>
            <a:spLocks noChangeAspect="1" noChangeShapeType="1"/>
          </p:cNvSpPr>
          <p:nvPr/>
        </p:nvSpPr>
        <p:spPr bwMode="auto">
          <a:xfrm>
            <a:off x="2094087" y="1771369"/>
            <a:ext cx="1106849" cy="724807"/>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1" name="Line 28"/>
          <p:cNvSpPr>
            <a:spLocks noChangeAspect="1" noChangeShapeType="1"/>
          </p:cNvSpPr>
          <p:nvPr/>
        </p:nvSpPr>
        <p:spPr bwMode="auto">
          <a:xfrm flipH="1">
            <a:off x="4368483" y="1552379"/>
            <a:ext cx="734328" cy="799788"/>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2" name="Line 29"/>
          <p:cNvSpPr>
            <a:spLocks noChangeAspect="1" noChangeShapeType="1"/>
          </p:cNvSpPr>
          <p:nvPr/>
        </p:nvSpPr>
        <p:spPr bwMode="auto">
          <a:xfrm rot="1140000" flipH="1">
            <a:off x="4584616" y="2708977"/>
            <a:ext cx="1292514" cy="304681"/>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3" name="Line 31"/>
          <p:cNvSpPr>
            <a:spLocks noChangeAspect="1" noChangeShapeType="1"/>
          </p:cNvSpPr>
          <p:nvPr/>
        </p:nvSpPr>
        <p:spPr bwMode="auto">
          <a:xfrm rot="20160000" flipH="1">
            <a:off x="3682475" y="1667587"/>
            <a:ext cx="173763" cy="442740"/>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4" name="Line 32"/>
          <p:cNvSpPr>
            <a:spLocks noChangeAspect="1" noChangeShapeType="1"/>
          </p:cNvSpPr>
          <p:nvPr/>
        </p:nvSpPr>
        <p:spPr bwMode="auto">
          <a:xfrm flipH="1">
            <a:off x="2489220" y="3167426"/>
            <a:ext cx="678391" cy="302301"/>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5" name="TextBox 29"/>
          <p:cNvSpPr txBox="1">
            <a:spLocks noChangeAspect="1" noChangeArrowheads="1"/>
          </p:cNvSpPr>
          <p:nvPr/>
        </p:nvSpPr>
        <p:spPr bwMode="auto">
          <a:xfrm>
            <a:off x="3276392" y="2506650"/>
            <a:ext cx="1117560" cy="738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685165" fontAlgn="base">
              <a:spcBef>
                <a:spcPct val="0"/>
              </a:spcBef>
              <a:spcAft>
                <a:spcPct val="0"/>
              </a:spcAft>
              <a:buFontTx/>
              <a:buNone/>
            </a:pPr>
            <a:r>
              <a:rPr lang="zh-CN" altLang="zh-CN" sz="2100">
                <a:solidFill>
                  <a:srgbClr val="FFFFFF"/>
                </a:solidFill>
                <a:latin typeface="微软雅黑" panose="020B0503020204020204" pitchFamily="34" charset="-122"/>
              </a:rPr>
              <a:t>一出</a:t>
            </a:r>
          </a:p>
          <a:p>
            <a:pPr algn="ctr" defTabSz="685165" fontAlgn="base">
              <a:spcBef>
                <a:spcPct val="0"/>
              </a:spcBef>
              <a:spcAft>
                <a:spcPct val="0"/>
              </a:spcAft>
              <a:buFontTx/>
              <a:buNone/>
            </a:pPr>
            <a:r>
              <a:rPr lang="zh-CN" altLang="zh-CN" sz="2100">
                <a:solidFill>
                  <a:srgbClr val="FFFFFF"/>
                </a:solidFill>
                <a:latin typeface="微软雅黑" panose="020B0503020204020204" pitchFamily="34" charset="-122"/>
              </a:rPr>
              <a:t>好戏</a:t>
            </a:r>
          </a:p>
        </p:txBody>
      </p:sp>
      <p:grpSp>
        <p:nvGrpSpPr>
          <p:cNvPr id="156" name="组合 30"/>
          <p:cNvGrpSpPr>
            <a:grpSpLocks noChangeAspect="1"/>
          </p:cNvGrpSpPr>
          <p:nvPr/>
        </p:nvGrpSpPr>
        <p:grpSpPr bwMode="auto">
          <a:xfrm>
            <a:off x="5751686" y="2541165"/>
            <a:ext cx="967601" cy="967600"/>
            <a:chOff x="0" y="0"/>
            <a:chExt cx="1291004" cy="1291004"/>
          </a:xfrm>
        </p:grpSpPr>
        <p:sp>
          <p:nvSpPr>
            <p:cNvPr id="157" name="Oval 10"/>
            <p:cNvSpPr>
              <a:spLocks noChangeArrowheads="1"/>
            </p:cNvSpPr>
            <p:nvPr/>
          </p:nvSpPr>
          <p:spPr bwMode="auto">
            <a:xfrm>
              <a:off x="0" y="0"/>
              <a:ext cx="1291004" cy="1291004"/>
            </a:xfrm>
            <a:prstGeom prst="ellipse">
              <a:avLst/>
            </a:prstGeom>
            <a:solidFill>
              <a:srgbClr val="EA5F25"/>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58" name="TextBox 32"/>
            <p:cNvSpPr txBox="1">
              <a:spLocks noChangeArrowheads="1"/>
            </p:cNvSpPr>
            <p:nvPr/>
          </p:nvSpPr>
          <p:spPr bwMode="auto">
            <a:xfrm>
              <a:off x="21672" y="499913"/>
              <a:ext cx="1247886" cy="400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黄渤</a:t>
              </a:r>
            </a:p>
          </p:txBody>
        </p:sp>
      </p:grpSp>
      <p:grpSp>
        <p:nvGrpSpPr>
          <p:cNvPr id="159" name="组合 36"/>
          <p:cNvGrpSpPr>
            <a:grpSpLocks noChangeAspect="1"/>
          </p:cNvGrpSpPr>
          <p:nvPr/>
        </p:nvGrpSpPr>
        <p:grpSpPr bwMode="auto">
          <a:xfrm>
            <a:off x="1546613" y="3160286"/>
            <a:ext cx="989023" cy="989023"/>
            <a:chOff x="0" y="0"/>
            <a:chExt cx="1319218" cy="1319217"/>
          </a:xfrm>
        </p:grpSpPr>
        <p:sp>
          <p:nvSpPr>
            <p:cNvPr id="160" name="Oval 12"/>
            <p:cNvSpPr>
              <a:spLocks noChangeArrowheads="1"/>
            </p:cNvSpPr>
            <p:nvPr/>
          </p:nvSpPr>
          <p:spPr bwMode="auto">
            <a:xfrm>
              <a:off x="0" y="0"/>
              <a:ext cx="1319218" cy="1319217"/>
            </a:xfrm>
            <a:prstGeom prst="ellipse">
              <a:avLst/>
            </a:prstGeom>
            <a:solidFill>
              <a:srgbClr val="00A7D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61" name="TextBox 41"/>
            <p:cNvSpPr txBox="1">
              <a:spLocks noChangeArrowheads="1"/>
            </p:cNvSpPr>
            <p:nvPr/>
          </p:nvSpPr>
          <p:spPr bwMode="auto">
            <a:xfrm>
              <a:off x="36402" y="475439"/>
              <a:ext cx="1247885" cy="400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张艺兴</a:t>
              </a:r>
            </a:p>
          </p:txBody>
        </p:sp>
      </p:grpSp>
      <p:grpSp>
        <p:nvGrpSpPr>
          <p:cNvPr id="162" name="组合 45"/>
          <p:cNvGrpSpPr>
            <a:grpSpLocks noChangeAspect="1"/>
          </p:cNvGrpSpPr>
          <p:nvPr/>
        </p:nvGrpSpPr>
        <p:grpSpPr bwMode="auto">
          <a:xfrm>
            <a:off x="4951661" y="790677"/>
            <a:ext cx="850964" cy="852155"/>
            <a:chOff x="0" y="0"/>
            <a:chExt cx="1135282" cy="1136789"/>
          </a:xfrm>
        </p:grpSpPr>
        <p:sp>
          <p:nvSpPr>
            <p:cNvPr id="163" name="Oval 9"/>
            <p:cNvSpPr>
              <a:spLocks noChangeArrowheads="1"/>
            </p:cNvSpPr>
            <p:nvPr/>
          </p:nvSpPr>
          <p:spPr bwMode="auto">
            <a:xfrm>
              <a:off x="0" y="0"/>
              <a:ext cx="1135282" cy="1136789"/>
            </a:xfrm>
            <a:prstGeom prst="ellipse">
              <a:avLst/>
            </a:prstGeom>
            <a:solidFill>
              <a:srgbClr val="F2B5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64" name="TextBox 47"/>
            <p:cNvSpPr txBox="1">
              <a:spLocks noChangeArrowheads="1"/>
            </p:cNvSpPr>
            <p:nvPr/>
          </p:nvSpPr>
          <p:spPr bwMode="auto">
            <a:xfrm>
              <a:off x="69092" y="368850"/>
              <a:ext cx="998255" cy="400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王宝强</a:t>
              </a:r>
            </a:p>
          </p:txBody>
        </p:sp>
      </p:grpSp>
      <p:grpSp>
        <p:nvGrpSpPr>
          <p:cNvPr id="165" name="组合 48"/>
          <p:cNvGrpSpPr>
            <a:grpSpLocks noChangeAspect="1"/>
          </p:cNvGrpSpPr>
          <p:nvPr/>
        </p:nvGrpSpPr>
        <p:grpSpPr bwMode="auto">
          <a:xfrm>
            <a:off x="3412784" y="984673"/>
            <a:ext cx="667680" cy="667680"/>
            <a:chOff x="0" y="0"/>
            <a:chExt cx="891038" cy="889530"/>
          </a:xfrm>
        </p:grpSpPr>
        <p:sp>
          <p:nvSpPr>
            <p:cNvPr id="166" name="Oval 16"/>
            <p:cNvSpPr>
              <a:spLocks noChangeArrowheads="1"/>
            </p:cNvSpPr>
            <p:nvPr/>
          </p:nvSpPr>
          <p:spPr bwMode="auto">
            <a:xfrm>
              <a:off x="0" y="0"/>
              <a:ext cx="891038" cy="889530"/>
            </a:xfrm>
            <a:prstGeom prst="ellipse">
              <a:avLst/>
            </a:prstGeom>
            <a:solidFill>
              <a:srgbClr val="00A7D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67" name="TextBox 50"/>
            <p:cNvSpPr txBox="1">
              <a:spLocks noChangeArrowheads="1"/>
            </p:cNvSpPr>
            <p:nvPr/>
          </p:nvSpPr>
          <p:spPr bwMode="auto">
            <a:xfrm>
              <a:off x="43065" y="123597"/>
              <a:ext cx="808696" cy="676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于和伟</a:t>
              </a:r>
            </a:p>
          </p:txBody>
        </p:sp>
      </p:grpSp>
      <p:grpSp>
        <p:nvGrpSpPr>
          <p:cNvPr id="168" name="组合 57"/>
          <p:cNvGrpSpPr>
            <a:grpSpLocks noChangeAspect="1"/>
          </p:cNvGrpSpPr>
          <p:nvPr/>
        </p:nvGrpSpPr>
        <p:grpSpPr bwMode="auto">
          <a:xfrm>
            <a:off x="3910033" y="3931985"/>
            <a:ext cx="712906" cy="711716"/>
            <a:chOff x="0" y="0"/>
            <a:chExt cx="949594" cy="948508"/>
          </a:xfrm>
        </p:grpSpPr>
        <p:sp>
          <p:nvSpPr>
            <p:cNvPr id="169" name="Oval 11"/>
            <p:cNvSpPr>
              <a:spLocks noChangeArrowheads="1"/>
            </p:cNvSpPr>
            <p:nvPr/>
          </p:nvSpPr>
          <p:spPr bwMode="auto">
            <a:xfrm>
              <a:off x="0" y="0"/>
              <a:ext cx="949594" cy="948508"/>
            </a:xfrm>
            <a:prstGeom prst="ellipse">
              <a:avLst/>
            </a:prstGeom>
            <a:solidFill>
              <a:srgbClr val="00A7D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70" name="TextBox 59"/>
            <p:cNvSpPr txBox="1">
              <a:spLocks noChangeArrowheads="1"/>
            </p:cNvSpPr>
            <p:nvPr/>
          </p:nvSpPr>
          <p:spPr bwMode="auto">
            <a:xfrm>
              <a:off x="70721" y="290033"/>
              <a:ext cx="808696" cy="39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35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舒淇</a:t>
              </a:r>
            </a:p>
          </p:txBody>
        </p:sp>
      </p:grpSp>
      <p:grpSp>
        <p:nvGrpSpPr>
          <p:cNvPr id="171" name="组合 170"/>
          <p:cNvGrpSpPr>
            <a:grpSpLocks noChangeAspect="1"/>
          </p:cNvGrpSpPr>
          <p:nvPr/>
        </p:nvGrpSpPr>
        <p:grpSpPr>
          <a:xfrm>
            <a:off x="1282397" y="1067032"/>
            <a:ext cx="904522" cy="904522"/>
            <a:chOff x="3050" y="2338"/>
            <a:chExt cx="1900" cy="1900"/>
          </a:xfrm>
        </p:grpSpPr>
        <p:sp>
          <p:nvSpPr>
            <p:cNvPr id="172" name="Oval 15"/>
            <p:cNvSpPr>
              <a:spLocks noChangeArrowheads="1"/>
            </p:cNvSpPr>
            <p:nvPr/>
          </p:nvSpPr>
          <p:spPr bwMode="auto">
            <a:xfrm>
              <a:off x="3050" y="2338"/>
              <a:ext cx="1900" cy="1900"/>
            </a:xfrm>
            <a:prstGeom prst="ellipse">
              <a:avLst/>
            </a:prstGeom>
            <a:solidFill>
              <a:srgbClr val="F2B5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73" name="TextBox 62"/>
            <p:cNvSpPr txBox="1">
              <a:spLocks noChangeArrowheads="1"/>
            </p:cNvSpPr>
            <p:nvPr/>
          </p:nvSpPr>
          <p:spPr bwMode="auto">
            <a:xfrm>
              <a:off x="3234" y="2940"/>
              <a:ext cx="1533"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5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王迅</a:t>
              </a:r>
            </a:p>
          </p:txBody>
        </p:sp>
      </p:grpSp>
      <p:sp>
        <p:nvSpPr>
          <p:cNvPr id="174" name="Line 29"/>
          <p:cNvSpPr>
            <a:spLocks noChangeAspect="1" noChangeShapeType="1"/>
          </p:cNvSpPr>
          <p:nvPr/>
        </p:nvSpPr>
        <p:spPr bwMode="auto">
          <a:xfrm rot="20880000" flipH="1">
            <a:off x="6290115" y="1971554"/>
            <a:ext cx="412748" cy="569849"/>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75" name="Line 29"/>
          <p:cNvSpPr>
            <a:spLocks noChangeAspect="1" noChangeShapeType="1"/>
          </p:cNvSpPr>
          <p:nvPr/>
        </p:nvSpPr>
        <p:spPr bwMode="auto">
          <a:xfrm flipH="1">
            <a:off x="6702863" y="2724211"/>
            <a:ext cx="565088" cy="191854"/>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76" name="Line 29"/>
          <p:cNvSpPr>
            <a:spLocks noChangeAspect="1" noChangeShapeType="1"/>
          </p:cNvSpPr>
          <p:nvPr/>
        </p:nvSpPr>
        <p:spPr bwMode="auto">
          <a:xfrm flipH="1" flipV="1">
            <a:off x="6596700" y="3299296"/>
            <a:ext cx="541761" cy="468923"/>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77" name="Line 29"/>
          <p:cNvSpPr>
            <a:spLocks noChangeAspect="1" noChangeShapeType="1"/>
          </p:cNvSpPr>
          <p:nvPr/>
        </p:nvSpPr>
        <p:spPr bwMode="auto">
          <a:xfrm rot="2280000" flipH="1" flipV="1">
            <a:off x="5972104" y="3555895"/>
            <a:ext cx="351335" cy="577466"/>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grpSp>
        <p:nvGrpSpPr>
          <p:cNvPr id="178" name="组合 51"/>
          <p:cNvGrpSpPr>
            <a:grpSpLocks noChangeAspect="1"/>
          </p:cNvGrpSpPr>
          <p:nvPr/>
        </p:nvGrpSpPr>
        <p:grpSpPr bwMode="auto">
          <a:xfrm>
            <a:off x="7225343" y="2312891"/>
            <a:ext cx="701004" cy="701005"/>
            <a:chOff x="0" y="0"/>
            <a:chExt cx="934760" cy="936267"/>
          </a:xfrm>
        </p:grpSpPr>
        <p:sp>
          <p:nvSpPr>
            <p:cNvPr id="179" name="Oval 21"/>
            <p:cNvSpPr>
              <a:spLocks noChangeArrowheads="1"/>
            </p:cNvSpPr>
            <p:nvPr/>
          </p:nvSpPr>
          <p:spPr bwMode="auto">
            <a:xfrm>
              <a:off x="0" y="0"/>
              <a:ext cx="934760" cy="936267"/>
            </a:xfrm>
            <a:prstGeom prst="ellipse">
              <a:avLst/>
            </a:prstGeom>
            <a:solidFill>
              <a:srgbClr val="B7D72E"/>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165" fontAlgn="base">
                <a:spcBef>
                  <a:spcPct val="0"/>
                </a:spcBef>
                <a:spcAft>
                  <a:spcPct val="0"/>
                </a:spcAft>
                <a:buFontTx/>
                <a:buNone/>
              </a:pPr>
              <a:endParaRPr lang="zh-CN" altLang="en-US" sz="1350">
                <a:solidFill>
                  <a:srgbClr val="007DA7"/>
                </a:solidFill>
                <a:ea typeface="宋体" panose="02010600030101010101" pitchFamily="2" charset="-122"/>
              </a:endParaRPr>
            </a:p>
          </p:txBody>
        </p:sp>
        <p:sp>
          <p:nvSpPr>
            <p:cNvPr id="180" name="TextBox 53"/>
            <p:cNvSpPr txBox="1">
              <a:spLocks noChangeArrowheads="1"/>
            </p:cNvSpPr>
            <p:nvPr/>
          </p:nvSpPr>
          <p:spPr bwMode="auto">
            <a:xfrm>
              <a:off x="57120" y="159231"/>
              <a:ext cx="808696" cy="67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685165" fontAlgn="base">
                <a:spcBef>
                  <a:spcPct val="0"/>
                </a:spcBef>
                <a:spcAft>
                  <a:spcPct val="0"/>
                </a:spcAft>
                <a:buFontTx/>
                <a:buNone/>
              </a:pPr>
              <a:r>
                <a:rPr lang="zh-CN" altLang="en-US" sz="1350">
                  <a:solidFill>
                    <a:srgbClr val="FFFFFF"/>
                  </a:solidFill>
                  <a:latin typeface="微软雅黑" panose="020B0503020204020204" pitchFamily="34" charset="-122"/>
                </a:rPr>
                <a:t>记忆大师</a:t>
              </a:r>
            </a:p>
          </p:txBody>
        </p:sp>
      </p:grpSp>
      <p:grpSp>
        <p:nvGrpSpPr>
          <p:cNvPr id="181" name="组合 42"/>
          <p:cNvGrpSpPr>
            <a:grpSpLocks noChangeAspect="1"/>
          </p:cNvGrpSpPr>
          <p:nvPr/>
        </p:nvGrpSpPr>
        <p:grpSpPr bwMode="auto">
          <a:xfrm>
            <a:off x="6463879" y="1115590"/>
            <a:ext cx="977359" cy="1000211"/>
            <a:chOff x="0" y="0"/>
            <a:chExt cx="1105128" cy="1105127"/>
          </a:xfrm>
        </p:grpSpPr>
        <p:sp>
          <p:nvSpPr>
            <p:cNvPr id="182" name="Oval 14">
              <a:hlinkClick r:id="rId4" action="ppaction://hlinksldjump"/>
            </p:cNvPr>
            <p:cNvSpPr>
              <a:spLocks noChangeArrowheads="1"/>
            </p:cNvSpPr>
            <p:nvPr/>
          </p:nvSpPr>
          <p:spPr bwMode="auto">
            <a:xfrm>
              <a:off x="0" y="0"/>
              <a:ext cx="1105128" cy="1105127"/>
            </a:xfrm>
            <a:prstGeom prst="ellipse">
              <a:avLst/>
            </a:prstGeom>
            <a:solidFill>
              <a:srgbClr val="00A7D9"/>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83" name="TextBox 44"/>
            <p:cNvSpPr txBox="1">
              <a:spLocks noChangeArrowheads="1"/>
            </p:cNvSpPr>
            <p:nvPr/>
          </p:nvSpPr>
          <p:spPr bwMode="auto">
            <a:xfrm>
              <a:off x="109275" y="208822"/>
              <a:ext cx="886040" cy="713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685165" eaLnBrk="1" fontAlgn="base" latinLnBrk="0" hangingPunct="1">
                <a:lnSpc>
                  <a:spcPct val="100000"/>
                </a:lnSpc>
                <a:spcBef>
                  <a:spcPct val="0"/>
                </a:spcBef>
                <a:spcAft>
                  <a:spcPct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人在囧途</a:t>
              </a:r>
            </a:p>
          </p:txBody>
        </p:sp>
      </p:grpSp>
      <p:sp>
        <p:nvSpPr>
          <p:cNvPr id="184" name="Oval 15"/>
          <p:cNvSpPr>
            <a:spLocks noChangeAspect="1" noChangeArrowheads="1"/>
          </p:cNvSpPr>
          <p:nvPr/>
        </p:nvSpPr>
        <p:spPr bwMode="auto">
          <a:xfrm>
            <a:off x="5330845" y="4030530"/>
            <a:ext cx="904522" cy="904522"/>
          </a:xfrm>
          <a:prstGeom prst="ellipse">
            <a:avLst/>
          </a:prstGeom>
          <a:solidFill>
            <a:srgbClr val="F2B500"/>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685165"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85" name="TextBox 44"/>
          <p:cNvSpPr txBox="1">
            <a:spLocks noChangeAspect="1" noChangeArrowheads="1"/>
          </p:cNvSpPr>
          <p:nvPr/>
        </p:nvSpPr>
        <p:spPr bwMode="auto">
          <a:xfrm>
            <a:off x="5446053" y="4367584"/>
            <a:ext cx="674583" cy="50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685165" fontAlgn="base">
              <a:spcBef>
                <a:spcPct val="0"/>
              </a:spcBef>
              <a:spcAft>
                <a:spcPct val="0"/>
              </a:spcAft>
              <a:buFontTx/>
              <a:buNone/>
            </a:pPr>
            <a:r>
              <a:rPr lang="zh-CN" altLang="en-US" sz="1350">
                <a:solidFill>
                  <a:srgbClr val="FFFFFF"/>
                </a:solidFill>
                <a:latin typeface="微软雅黑" panose="020B0503020204020204" pitchFamily="34" charset="-122"/>
              </a:rPr>
              <a:t>寻龙诀</a:t>
            </a:r>
          </a:p>
        </p:txBody>
      </p:sp>
      <p:sp>
        <p:nvSpPr>
          <p:cNvPr id="186" name="Line 29"/>
          <p:cNvSpPr>
            <a:spLocks noChangeAspect="1" noChangeShapeType="1"/>
          </p:cNvSpPr>
          <p:nvPr/>
        </p:nvSpPr>
        <p:spPr bwMode="auto">
          <a:xfrm rot="18900000" flipH="1" flipV="1">
            <a:off x="4725292" y="4093371"/>
            <a:ext cx="449881" cy="625548"/>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sp>
        <p:nvSpPr>
          <p:cNvPr id="187" name="Line 29"/>
          <p:cNvSpPr>
            <a:spLocks noChangeAspect="1" noChangeShapeType="1"/>
          </p:cNvSpPr>
          <p:nvPr/>
        </p:nvSpPr>
        <p:spPr bwMode="auto">
          <a:xfrm rot="1260000" flipH="1">
            <a:off x="5786439" y="1313157"/>
            <a:ext cx="708859" cy="116160"/>
          </a:xfrm>
          <a:prstGeom prst="line">
            <a:avLst/>
          </a:prstGeom>
          <a:noFill/>
          <a:ln w="12700">
            <a:solidFill>
              <a:srgbClr val="777777"/>
            </a:solidFill>
            <a:round/>
          </a:ln>
          <a:extLst>
            <a:ext uri="{909E8E84-426E-40DD-AFC4-6F175D3DCCD1}">
              <a14:hiddenFill xmlns:a14="http://schemas.microsoft.com/office/drawing/2010/main">
                <a:noFill/>
              </a14:hiddenFill>
            </a:ext>
          </a:extLst>
        </p:spPr>
        <p:txBody>
          <a:bodyPr/>
          <a:lstStyle/>
          <a:p>
            <a:pPr marL="0" marR="0" lvl="0" indent="0" defTabSz="685165" eaLnBrk="0" fontAlgn="base" latinLnBrk="0" hangingPunct="0">
              <a:lnSpc>
                <a:spcPct val="100000"/>
              </a:lnSpc>
              <a:spcBef>
                <a:spcPct val="0"/>
              </a:spcBef>
              <a:spcAft>
                <a:spcPct val="0"/>
              </a:spcAft>
              <a:buClrTx/>
              <a:buSzTx/>
              <a:buFontTx/>
              <a:buNone/>
              <a:defRPr/>
            </a:pPr>
            <a:endParaRPr kumimoji="0" lang="zh-CN" altLang="en-US" sz="1350" b="0" i="0" u="none" strike="noStrike" kern="0" cap="none" spc="0" normalizeH="0" baseline="0" noProof="0">
              <a:ln>
                <a:noFill/>
              </a:ln>
              <a:solidFill>
                <a:srgbClr val="007DA7"/>
              </a:solidFill>
              <a:effectLst/>
              <a:uLnTx/>
              <a:uFillTx/>
              <a:latin typeface="Arial" panose="020B0604020202020204" pitchFamily="34" charset="0"/>
              <a:ea typeface="宋体" panose="02010600030101010101" pitchFamily="2" charset="-122"/>
            </a:endParaRPr>
          </a:p>
        </p:txBody>
      </p:sp>
      <p:grpSp>
        <p:nvGrpSpPr>
          <p:cNvPr id="188" name="组合 81"/>
          <p:cNvGrpSpPr>
            <a:grpSpLocks noChangeAspect="1"/>
          </p:cNvGrpSpPr>
          <p:nvPr/>
        </p:nvGrpSpPr>
        <p:grpSpPr bwMode="auto">
          <a:xfrm>
            <a:off x="7088950" y="3611594"/>
            <a:ext cx="606173" cy="598651"/>
            <a:chOff x="30485" y="0"/>
            <a:chExt cx="808696" cy="799156"/>
          </a:xfrm>
        </p:grpSpPr>
        <p:sp>
          <p:nvSpPr>
            <p:cNvPr id="189" name="Oval 36"/>
            <p:cNvSpPr>
              <a:spLocks noChangeArrowheads="1"/>
            </p:cNvSpPr>
            <p:nvPr/>
          </p:nvSpPr>
          <p:spPr bwMode="auto">
            <a:xfrm>
              <a:off x="30536" y="0"/>
              <a:ext cx="796704" cy="799156"/>
            </a:xfrm>
            <a:prstGeom prst="ellipse">
              <a:avLst/>
            </a:prstGeom>
            <a:solidFill>
              <a:srgbClr val="F0835D"/>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685165" fontAlgn="base">
                <a:spcBef>
                  <a:spcPct val="0"/>
                </a:spcBef>
                <a:spcAft>
                  <a:spcPct val="0"/>
                </a:spcAft>
                <a:buFontTx/>
                <a:buNone/>
              </a:pPr>
              <a:endParaRPr lang="zh-CN" altLang="en-US" sz="1350">
                <a:solidFill>
                  <a:srgbClr val="007DA7"/>
                </a:solidFill>
                <a:ea typeface="宋体" panose="02010600030101010101" pitchFamily="2" charset="-122"/>
              </a:endParaRPr>
            </a:p>
          </p:txBody>
        </p:sp>
        <p:sp>
          <p:nvSpPr>
            <p:cNvPr id="190" name="TextBox 83"/>
            <p:cNvSpPr txBox="1">
              <a:spLocks noChangeArrowheads="1"/>
            </p:cNvSpPr>
            <p:nvPr/>
          </p:nvSpPr>
          <p:spPr bwMode="auto">
            <a:xfrm>
              <a:off x="30485" y="76585"/>
              <a:ext cx="808696" cy="677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685165" fontAlgn="base">
                <a:spcAft>
                  <a:spcPct val="0"/>
                </a:spcAft>
                <a:buFontTx/>
                <a:buNone/>
              </a:pPr>
              <a:r>
                <a:rPr lang="zh-CN" altLang="en-US" sz="1350">
                  <a:solidFill>
                    <a:srgbClr val="FFFFFF"/>
                  </a:solidFill>
                  <a:latin typeface="微软雅黑" panose="020B0503020204020204" pitchFamily="34" charset="-122"/>
                </a:rPr>
                <a:t>亲爱的</a:t>
              </a:r>
            </a:p>
          </p:txBody>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wheel(1)">
                                      <p:cBhvr>
                                        <p:cTn id="7" dur="1000"/>
                                        <p:tgtEl>
                                          <p:spTgt spid="148"/>
                                        </p:tgtEl>
                                      </p:cBhvr>
                                    </p:animEffect>
                                  </p:childTnLst>
                                </p:cTn>
                              </p:par>
                              <p:par>
                                <p:cTn id="8" presetID="31" presetClass="entr" presetSubtype="0" fill="hold" grpId="0" nodeType="withEffect">
                                  <p:stCondLst>
                                    <p:cond delay="0"/>
                                  </p:stCondLst>
                                  <p:childTnLst>
                                    <p:set>
                                      <p:cBhvr>
                                        <p:cTn id="9" dur="1" fill="hold">
                                          <p:stCondLst>
                                            <p:cond delay="0"/>
                                          </p:stCondLst>
                                        </p:cTn>
                                        <p:tgtEl>
                                          <p:spTgt spid="155"/>
                                        </p:tgtEl>
                                        <p:attrNameLst>
                                          <p:attrName>style.visibility</p:attrName>
                                        </p:attrNameLst>
                                      </p:cBhvr>
                                      <p:to>
                                        <p:strVal val="visible"/>
                                      </p:to>
                                    </p:set>
                                    <p:anim calcmode="lin" valueType="num">
                                      <p:cBhvr>
                                        <p:cTn id="10" dur="500" fill="hold"/>
                                        <p:tgtEl>
                                          <p:spTgt spid="155"/>
                                        </p:tgtEl>
                                        <p:attrNameLst>
                                          <p:attrName>ppt_w</p:attrName>
                                        </p:attrNameLst>
                                      </p:cBhvr>
                                      <p:tavLst>
                                        <p:tav tm="0">
                                          <p:val>
                                            <p:fltVal val="0"/>
                                          </p:val>
                                        </p:tav>
                                        <p:tav tm="100000">
                                          <p:val>
                                            <p:strVal val="#ppt_w"/>
                                          </p:val>
                                        </p:tav>
                                      </p:tavLst>
                                    </p:anim>
                                    <p:anim calcmode="lin" valueType="num">
                                      <p:cBhvr>
                                        <p:cTn id="11" dur="500" fill="hold"/>
                                        <p:tgtEl>
                                          <p:spTgt spid="155"/>
                                        </p:tgtEl>
                                        <p:attrNameLst>
                                          <p:attrName>ppt_h</p:attrName>
                                        </p:attrNameLst>
                                      </p:cBhvr>
                                      <p:tavLst>
                                        <p:tav tm="0">
                                          <p:val>
                                            <p:fltVal val="0"/>
                                          </p:val>
                                        </p:tav>
                                        <p:tav tm="100000">
                                          <p:val>
                                            <p:strVal val="#ppt_h"/>
                                          </p:val>
                                        </p:tav>
                                      </p:tavLst>
                                    </p:anim>
                                    <p:anim calcmode="lin" valueType="num">
                                      <p:cBhvr>
                                        <p:cTn id="12" dur="500" fill="hold"/>
                                        <p:tgtEl>
                                          <p:spTgt spid="155"/>
                                        </p:tgtEl>
                                        <p:attrNameLst>
                                          <p:attrName>style.rotation</p:attrName>
                                        </p:attrNameLst>
                                      </p:cBhvr>
                                      <p:tavLst>
                                        <p:tav tm="0">
                                          <p:val>
                                            <p:fltVal val="90"/>
                                          </p:val>
                                        </p:tav>
                                        <p:tav tm="100000">
                                          <p:val>
                                            <p:fltVal val="0"/>
                                          </p:val>
                                        </p:tav>
                                      </p:tavLst>
                                    </p:anim>
                                    <p:animEffect transition="in" filter="fade">
                                      <p:cBhvr>
                                        <p:cTn id="13" dur="500"/>
                                        <p:tgtEl>
                                          <p:spTgt spid="155"/>
                                        </p:tgtEl>
                                      </p:cBhvr>
                                    </p:animEffect>
                                  </p:childTnLst>
                                </p:cTn>
                              </p:par>
                              <p:par>
                                <p:cTn id="14" presetID="22" presetClass="entr" presetSubtype="2" fill="hold" grpId="0" nodeType="withEffect">
                                  <p:stCondLst>
                                    <p:cond delay="200"/>
                                  </p:stCondLst>
                                  <p:childTnLst>
                                    <p:set>
                                      <p:cBhvr>
                                        <p:cTn id="15" dur="1" fill="hold">
                                          <p:stCondLst>
                                            <p:cond delay="0"/>
                                          </p:stCondLst>
                                        </p:cTn>
                                        <p:tgtEl>
                                          <p:spTgt spid="150"/>
                                        </p:tgtEl>
                                        <p:attrNameLst>
                                          <p:attrName>style.visibility</p:attrName>
                                        </p:attrNameLst>
                                      </p:cBhvr>
                                      <p:to>
                                        <p:strVal val="visible"/>
                                      </p:to>
                                    </p:set>
                                    <p:animEffect transition="in" filter="wipe(right)">
                                      <p:cBhvr>
                                        <p:cTn id="16" dur="500"/>
                                        <p:tgtEl>
                                          <p:spTgt spid="150"/>
                                        </p:tgtEl>
                                      </p:cBhvr>
                                    </p:animEffect>
                                  </p:childTnLst>
                                </p:cTn>
                              </p:par>
                              <p:par>
                                <p:cTn id="17" presetID="22" presetClass="entr" presetSubtype="2" fill="hold" grpId="0" nodeType="withEffect">
                                  <p:stCondLst>
                                    <p:cond delay="300"/>
                                  </p:stCondLst>
                                  <p:childTnLst>
                                    <p:set>
                                      <p:cBhvr>
                                        <p:cTn id="18" dur="1" fill="hold">
                                          <p:stCondLst>
                                            <p:cond delay="0"/>
                                          </p:stCondLst>
                                        </p:cTn>
                                        <p:tgtEl>
                                          <p:spTgt spid="154"/>
                                        </p:tgtEl>
                                        <p:attrNameLst>
                                          <p:attrName>style.visibility</p:attrName>
                                        </p:attrNameLst>
                                      </p:cBhvr>
                                      <p:to>
                                        <p:strVal val="visible"/>
                                      </p:to>
                                    </p:set>
                                    <p:animEffect transition="in" filter="wipe(right)">
                                      <p:cBhvr>
                                        <p:cTn id="19" dur="500"/>
                                        <p:tgtEl>
                                          <p:spTgt spid="154"/>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49"/>
                                        </p:tgtEl>
                                        <p:attrNameLst>
                                          <p:attrName>style.visibility</p:attrName>
                                        </p:attrNameLst>
                                      </p:cBhvr>
                                      <p:to>
                                        <p:strVal val="visible"/>
                                      </p:to>
                                    </p:set>
                                    <p:animEffect transition="in" filter="wipe(up)">
                                      <p:cBhvr>
                                        <p:cTn id="22" dur="500"/>
                                        <p:tgtEl>
                                          <p:spTgt spid="149"/>
                                        </p:tgtEl>
                                      </p:cBhvr>
                                    </p:animEffect>
                                  </p:childTnLst>
                                </p:cTn>
                              </p:par>
                              <p:par>
                                <p:cTn id="23" presetID="22" presetClass="entr" presetSubtype="8" fill="hold" grpId="0" nodeType="withEffect">
                                  <p:stCondLst>
                                    <p:cond delay="300"/>
                                  </p:stCondLst>
                                  <p:childTnLst>
                                    <p:set>
                                      <p:cBhvr>
                                        <p:cTn id="24" dur="1" fill="hold">
                                          <p:stCondLst>
                                            <p:cond delay="0"/>
                                          </p:stCondLst>
                                        </p:cTn>
                                        <p:tgtEl>
                                          <p:spTgt spid="152"/>
                                        </p:tgtEl>
                                        <p:attrNameLst>
                                          <p:attrName>style.visibility</p:attrName>
                                        </p:attrNameLst>
                                      </p:cBhvr>
                                      <p:to>
                                        <p:strVal val="visible"/>
                                      </p:to>
                                    </p:set>
                                    <p:animEffect transition="in" filter="wipe(left)">
                                      <p:cBhvr>
                                        <p:cTn id="25" dur="500"/>
                                        <p:tgtEl>
                                          <p:spTgt spid="152"/>
                                        </p:tgtEl>
                                      </p:cBhvr>
                                    </p:animEffect>
                                  </p:childTnLst>
                                </p:cTn>
                              </p:par>
                              <p:par>
                                <p:cTn id="26" presetID="22" presetClass="entr" presetSubtype="8" fill="hold" grpId="0" nodeType="withEffect">
                                  <p:stCondLst>
                                    <p:cond delay="300"/>
                                  </p:stCondLst>
                                  <p:childTnLst>
                                    <p:set>
                                      <p:cBhvr>
                                        <p:cTn id="27" dur="1" fill="hold">
                                          <p:stCondLst>
                                            <p:cond delay="0"/>
                                          </p:stCondLst>
                                        </p:cTn>
                                        <p:tgtEl>
                                          <p:spTgt spid="151"/>
                                        </p:tgtEl>
                                        <p:attrNameLst>
                                          <p:attrName>style.visibility</p:attrName>
                                        </p:attrNameLst>
                                      </p:cBhvr>
                                      <p:to>
                                        <p:strVal val="visible"/>
                                      </p:to>
                                    </p:set>
                                    <p:animEffect transition="in" filter="wipe(left)">
                                      <p:cBhvr>
                                        <p:cTn id="28" dur="500"/>
                                        <p:tgtEl>
                                          <p:spTgt spid="151"/>
                                        </p:tgtEl>
                                      </p:cBhvr>
                                    </p:animEffect>
                                  </p:childTnLst>
                                </p:cTn>
                              </p:par>
                              <p:par>
                                <p:cTn id="29" presetID="22" presetClass="entr" presetSubtype="4" fill="hold" grpId="0" nodeType="withEffect">
                                  <p:stCondLst>
                                    <p:cond delay="100"/>
                                  </p:stCondLst>
                                  <p:childTnLst>
                                    <p:set>
                                      <p:cBhvr>
                                        <p:cTn id="30" dur="1" fill="hold">
                                          <p:stCondLst>
                                            <p:cond delay="0"/>
                                          </p:stCondLst>
                                        </p:cTn>
                                        <p:tgtEl>
                                          <p:spTgt spid="153"/>
                                        </p:tgtEl>
                                        <p:attrNameLst>
                                          <p:attrName>style.visibility</p:attrName>
                                        </p:attrNameLst>
                                      </p:cBhvr>
                                      <p:to>
                                        <p:strVal val="visible"/>
                                      </p:to>
                                    </p:set>
                                    <p:animEffect transition="in" filter="wipe(down)">
                                      <p:cBhvr>
                                        <p:cTn id="31" dur="500"/>
                                        <p:tgtEl>
                                          <p:spTgt spid="153"/>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71"/>
                                        </p:tgtEl>
                                        <p:attrNameLst>
                                          <p:attrName>style.visibility</p:attrName>
                                        </p:attrNameLst>
                                      </p:cBhvr>
                                      <p:to>
                                        <p:strVal val="visible"/>
                                      </p:to>
                                    </p:set>
                                    <p:animEffect transition="in" filter="fade">
                                      <p:cBhvr>
                                        <p:cTn id="35" dur="500"/>
                                        <p:tgtEl>
                                          <p:spTgt spid="171"/>
                                        </p:tgtEl>
                                      </p:cBhvr>
                                    </p:animEffect>
                                  </p:childTnLst>
                                </p:cTn>
                              </p:par>
                              <p:par>
                                <p:cTn id="36" presetID="10" presetClass="entr" presetSubtype="0" fill="hold" nodeType="withEffect">
                                  <p:stCondLst>
                                    <p:cond delay="300"/>
                                  </p:stCondLst>
                                  <p:childTnLst>
                                    <p:set>
                                      <p:cBhvr>
                                        <p:cTn id="37" dur="1" fill="hold">
                                          <p:stCondLst>
                                            <p:cond delay="0"/>
                                          </p:stCondLst>
                                        </p:cTn>
                                        <p:tgtEl>
                                          <p:spTgt spid="159"/>
                                        </p:tgtEl>
                                        <p:attrNameLst>
                                          <p:attrName>style.visibility</p:attrName>
                                        </p:attrNameLst>
                                      </p:cBhvr>
                                      <p:to>
                                        <p:strVal val="visible"/>
                                      </p:to>
                                    </p:set>
                                    <p:anim calcmode="lin" valueType="num">
                                      <p:cBhvr>
                                        <p:cTn id="38" dur="500" fill="hold"/>
                                        <p:tgtEl>
                                          <p:spTgt spid="159"/>
                                        </p:tgtEl>
                                        <p:attrNameLst>
                                          <p:attrName>ppt_w</p:attrName>
                                        </p:attrNameLst>
                                      </p:cBhvr>
                                      <p:tavLst>
                                        <p:tav tm="0">
                                          <p:val>
                                            <p:fltVal val="0"/>
                                          </p:val>
                                        </p:tav>
                                        <p:tav tm="100000">
                                          <p:val>
                                            <p:strVal val="#ppt_w"/>
                                          </p:val>
                                        </p:tav>
                                      </p:tavLst>
                                    </p:anim>
                                    <p:anim calcmode="lin" valueType="num">
                                      <p:cBhvr>
                                        <p:cTn id="39" dur="500" fill="hold"/>
                                        <p:tgtEl>
                                          <p:spTgt spid="159"/>
                                        </p:tgtEl>
                                        <p:attrNameLst>
                                          <p:attrName>ppt_h</p:attrName>
                                        </p:attrNameLst>
                                      </p:cBhvr>
                                      <p:tavLst>
                                        <p:tav tm="0">
                                          <p:val>
                                            <p:fltVal val="0"/>
                                          </p:val>
                                        </p:tav>
                                        <p:tav tm="100000">
                                          <p:val>
                                            <p:strVal val="#ppt_h"/>
                                          </p:val>
                                        </p:tav>
                                      </p:tavLst>
                                    </p:anim>
                                    <p:animEffect transition="in" filter="fade">
                                      <p:cBhvr>
                                        <p:cTn id="40" dur="500"/>
                                        <p:tgtEl>
                                          <p:spTgt spid="159"/>
                                        </p:tgtEl>
                                      </p:cBhvr>
                                    </p:animEffect>
                                  </p:childTnLst>
                                </p:cTn>
                              </p:par>
                              <p:par>
                                <p:cTn id="41" presetID="10" presetClass="entr" presetSubtype="0" fill="hold" nodeType="withEffect">
                                  <p:stCondLst>
                                    <p:cond delay="0"/>
                                  </p:stCondLst>
                                  <p:childTnLst>
                                    <p:set>
                                      <p:cBhvr>
                                        <p:cTn id="42" dur="1" fill="hold">
                                          <p:stCondLst>
                                            <p:cond delay="0"/>
                                          </p:stCondLst>
                                        </p:cTn>
                                        <p:tgtEl>
                                          <p:spTgt spid="168"/>
                                        </p:tgtEl>
                                        <p:attrNameLst>
                                          <p:attrName>style.visibility</p:attrName>
                                        </p:attrNameLst>
                                      </p:cBhvr>
                                      <p:to>
                                        <p:strVal val="visible"/>
                                      </p:to>
                                    </p:set>
                                    <p:anim calcmode="lin" valueType="num">
                                      <p:cBhvr>
                                        <p:cTn id="43" dur="500" fill="hold"/>
                                        <p:tgtEl>
                                          <p:spTgt spid="168"/>
                                        </p:tgtEl>
                                        <p:attrNameLst>
                                          <p:attrName>ppt_w</p:attrName>
                                        </p:attrNameLst>
                                      </p:cBhvr>
                                      <p:tavLst>
                                        <p:tav tm="0">
                                          <p:val>
                                            <p:fltVal val="0"/>
                                          </p:val>
                                        </p:tav>
                                        <p:tav tm="100000">
                                          <p:val>
                                            <p:strVal val="#ppt_w"/>
                                          </p:val>
                                        </p:tav>
                                      </p:tavLst>
                                    </p:anim>
                                    <p:anim calcmode="lin" valueType="num">
                                      <p:cBhvr>
                                        <p:cTn id="44" dur="500" fill="hold"/>
                                        <p:tgtEl>
                                          <p:spTgt spid="168"/>
                                        </p:tgtEl>
                                        <p:attrNameLst>
                                          <p:attrName>ppt_h</p:attrName>
                                        </p:attrNameLst>
                                      </p:cBhvr>
                                      <p:tavLst>
                                        <p:tav tm="0">
                                          <p:val>
                                            <p:fltVal val="0"/>
                                          </p:val>
                                        </p:tav>
                                        <p:tav tm="100000">
                                          <p:val>
                                            <p:strVal val="#ppt_h"/>
                                          </p:val>
                                        </p:tav>
                                      </p:tavLst>
                                    </p:anim>
                                    <p:animEffect transition="in" filter="fade">
                                      <p:cBhvr>
                                        <p:cTn id="45" dur="500"/>
                                        <p:tgtEl>
                                          <p:spTgt spid="168"/>
                                        </p:tgtEl>
                                      </p:cBhvr>
                                    </p:animEffect>
                                  </p:childTnLst>
                                </p:cTn>
                              </p:par>
                              <p:par>
                                <p:cTn id="46" presetID="10" presetClass="entr" presetSubtype="0" fill="hold" nodeType="withEffect">
                                  <p:stCondLst>
                                    <p:cond delay="300"/>
                                  </p:stCondLst>
                                  <p:childTnLst>
                                    <p:set>
                                      <p:cBhvr>
                                        <p:cTn id="47" dur="1" fill="hold">
                                          <p:stCondLst>
                                            <p:cond delay="0"/>
                                          </p:stCondLst>
                                        </p:cTn>
                                        <p:tgtEl>
                                          <p:spTgt spid="156"/>
                                        </p:tgtEl>
                                        <p:attrNameLst>
                                          <p:attrName>style.visibility</p:attrName>
                                        </p:attrNameLst>
                                      </p:cBhvr>
                                      <p:to>
                                        <p:strVal val="visible"/>
                                      </p:to>
                                    </p:set>
                                    <p:anim calcmode="lin" valueType="num">
                                      <p:cBhvr>
                                        <p:cTn id="48" dur="500" fill="hold"/>
                                        <p:tgtEl>
                                          <p:spTgt spid="156"/>
                                        </p:tgtEl>
                                        <p:attrNameLst>
                                          <p:attrName>ppt_w</p:attrName>
                                        </p:attrNameLst>
                                      </p:cBhvr>
                                      <p:tavLst>
                                        <p:tav tm="0">
                                          <p:val>
                                            <p:fltVal val="0"/>
                                          </p:val>
                                        </p:tav>
                                        <p:tav tm="100000">
                                          <p:val>
                                            <p:strVal val="#ppt_w"/>
                                          </p:val>
                                        </p:tav>
                                      </p:tavLst>
                                    </p:anim>
                                    <p:anim calcmode="lin" valueType="num">
                                      <p:cBhvr>
                                        <p:cTn id="49" dur="500" fill="hold"/>
                                        <p:tgtEl>
                                          <p:spTgt spid="156"/>
                                        </p:tgtEl>
                                        <p:attrNameLst>
                                          <p:attrName>ppt_h</p:attrName>
                                        </p:attrNameLst>
                                      </p:cBhvr>
                                      <p:tavLst>
                                        <p:tav tm="0">
                                          <p:val>
                                            <p:fltVal val="0"/>
                                          </p:val>
                                        </p:tav>
                                        <p:tav tm="100000">
                                          <p:val>
                                            <p:strVal val="#ppt_h"/>
                                          </p:val>
                                        </p:tav>
                                      </p:tavLst>
                                    </p:anim>
                                    <p:animEffect transition="in" filter="fade">
                                      <p:cBhvr>
                                        <p:cTn id="50" dur="500"/>
                                        <p:tgtEl>
                                          <p:spTgt spid="156"/>
                                        </p:tgtEl>
                                      </p:cBhvr>
                                    </p:animEffect>
                                  </p:childTnLst>
                                </p:cTn>
                              </p:par>
                              <p:par>
                                <p:cTn id="51" presetID="10" presetClass="entr" presetSubtype="0" fill="hold" nodeType="withEffect">
                                  <p:stCondLst>
                                    <p:cond delay="300"/>
                                  </p:stCondLst>
                                  <p:childTnLst>
                                    <p:set>
                                      <p:cBhvr>
                                        <p:cTn id="52" dur="1" fill="hold">
                                          <p:stCondLst>
                                            <p:cond delay="0"/>
                                          </p:stCondLst>
                                        </p:cTn>
                                        <p:tgtEl>
                                          <p:spTgt spid="162"/>
                                        </p:tgtEl>
                                        <p:attrNameLst>
                                          <p:attrName>style.visibility</p:attrName>
                                        </p:attrNameLst>
                                      </p:cBhvr>
                                      <p:to>
                                        <p:strVal val="visible"/>
                                      </p:to>
                                    </p:set>
                                    <p:anim calcmode="lin" valueType="num">
                                      <p:cBhvr>
                                        <p:cTn id="53" dur="500" fill="hold"/>
                                        <p:tgtEl>
                                          <p:spTgt spid="162"/>
                                        </p:tgtEl>
                                        <p:attrNameLst>
                                          <p:attrName>ppt_w</p:attrName>
                                        </p:attrNameLst>
                                      </p:cBhvr>
                                      <p:tavLst>
                                        <p:tav tm="0">
                                          <p:val>
                                            <p:fltVal val="0"/>
                                          </p:val>
                                        </p:tav>
                                        <p:tav tm="100000">
                                          <p:val>
                                            <p:strVal val="#ppt_w"/>
                                          </p:val>
                                        </p:tav>
                                      </p:tavLst>
                                    </p:anim>
                                    <p:anim calcmode="lin" valueType="num">
                                      <p:cBhvr>
                                        <p:cTn id="54" dur="500" fill="hold"/>
                                        <p:tgtEl>
                                          <p:spTgt spid="162"/>
                                        </p:tgtEl>
                                        <p:attrNameLst>
                                          <p:attrName>ppt_h</p:attrName>
                                        </p:attrNameLst>
                                      </p:cBhvr>
                                      <p:tavLst>
                                        <p:tav tm="0">
                                          <p:val>
                                            <p:fltVal val="0"/>
                                          </p:val>
                                        </p:tav>
                                        <p:tav tm="100000">
                                          <p:val>
                                            <p:strVal val="#ppt_h"/>
                                          </p:val>
                                        </p:tav>
                                      </p:tavLst>
                                    </p:anim>
                                    <p:animEffect transition="in" filter="fade">
                                      <p:cBhvr>
                                        <p:cTn id="55" dur="500"/>
                                        <p:tgtEl>
                                          <p:spTgt spid="162"/>
                                        </p:tgtEl>
                                      </p:cBhvr>
                                    </p:animEffect>
                                  </p:childTnLst>
                                </p:cTn>
                              </p:par>
                              <p:par>
                                <p:cTn id="56" presetID="10" presetClass="entr" presetSubtype="0" fill="hold" nodeType="withEffect">
                                  <p:stCondLst>
                                    <p:cond delay="100"/>
                                  </p:stCondLst>
                                  <p:childTnLst>
                                    <p:set>
                                      <p:cBhvr>
                                        <p:cTn id="57" dur="1" fill="hold">
                                          <p:stCondLst>
                                            <p:cond delay="0"/>
                                          </p:stCondLst>
                                        </p:cTn>
                                        <p:tgtEl>
                                          <p:spTgt spid="165"/>
                                        </p:tgtEl>
                                        <p:attrNameLst>
                                          <p:attrName>style.visibility</p:attrName>
                                        </p:attrNameLst>
                                      </p:cBhvr>
                                      <p:to>
                                        <p:strVal val="visible"/>
                                      </p:to>
                                    </p:set>
                                    <p:anim calcmode="lin" valueType="num">
                                      <p:cBhvr>
                                        <p:cTn id="58" dur="500" fill="hold"/>
                                        <p:tgtEl>
                                          <p:spTgt spid="165"/>
                                        </p:tgtEl>
                                        <p:attrNameLst>
                                          <p:attrName>ppt_w</p:attrName>
                                        </p:attrNameLst>
                                      </p:cBhvr>
                                      <p:tavLst>
                                        <p:tav tm="0">
                                          <p:val>
                                            <p:fltVal val="0"/>
                                          </p:val>
                                        </p:tav>
                                        <p:tav tm="100000">
                                          <p:val>
                                            <p:strVal val="#ppt_w"/>
                                          </p:val>
                                        </p:tav>
                                      </p:tavLst>
                                    </p:anim>
                                    <p:anim calcmode="lin" valueType="num">
                                      <p:cBhvr>
                                        <p:cTn id="59" dur="500" fill="hold"/>
                                        <p:tgtEl>
                                          <p:spTgt spid="165"/>
                                        </p:tgtEl>
                                        <p:attrNameLst>
                                          <p:attrName>ppt_h</p:attrName>
                                        </p:attrNameLst>
                                      </p:cBhvr>
                                      <p:tavLst>
                                        <p:tav tm="0">
                                          <p:val>
                                            <p:fltVal val="0"/>
                                          </p:val>
                                        </p:tav>
                                        <p:tav tm="100000">
                                          <p:val>
                                            <p:strVal val="#ppt_h"/>
                                          </p:val>
                                        </p:tav>
                                      </p:tavLst>
                                    </p:anim>
                                    <p:animEffect transition="in" filter="fade">
                                      <p:cBhvr>
                                        <p:cTn id="60" dur="500"/>
                                        <p:tgtEl>
                                          <p:spTgt spid="165"/>
                                        </p:tgtEl>
                                      </p:cBhvr>
                                    </p:animEffect>
                                  </p:childTnLst>
                                </p:cTn>
                              </p:par>
                            </p:childTnLst>
                          </p:cTn>
                        </p:par>
                        <p:par>
                          <p:cTn id="61" fill="hold">
                            <p:stCondLst>
                              <p:cond delay="1500"/>
                            </p:stCondLst>
                            <p:childTnLst>
                              <p:par>
                                <p:cTn id="62" presetID="22" presetClass="entr" presetSubtype="4" fill="hold" nodeType="afterEffect">
                                  <p:stCondLst>
                                    <p:cond delay="0"/>
                                  </p:stCondLst>
                                  <p:childTnLst>
                                    <p:set>
                                      <p:cBhvr>
                                        <p:cTn id="63" dur="1" fill="hold">
                                          <p:stCondLst>
                                            <p:cond delay="0"/>
                                          </p:stCondLst>
                                        </p:cTn>
                                        <p:tgtEl>
                                          <p:spTgt spid="177"/>
                                        </p:tgtEl>
                                        <p:attrNameLst>
                                          <p:attrName>style.visibility</p:attrName>
                                        </p:attrNameLst>
                                      </p:cBhvr>
                                      <p:to>
                                        <p:strVal val="visible"/>
                                      </p:to>
                                    </p:set>
                                    <p:animEffect transition="in" filter="wipe(down)">
                                      <p:cBhvr>
                                        <p:cTn id="64" dur="500"/>
                                        <p:tgtEl>
                                          <p:spTgt spid="177"/>
                                        </p:tgtEl>
                                      </p:cBhvr>
                                    </p:animEffect>
                                  </p:childTnLst>
                                </p:cTn>
                              </p:par>
                              <p:par>
                                <p:cTn id="65" presetID="22" presetClass="entr" presetSubtype="4" fill="hold" nodeType="withEffect">
                                  <p:stCondLst>
                                    <p:cond delay="0"/>
                                  </p:stCondLst>
                                  <p:childTnLst>
                                    <p:set>
                                      <p:cBhvr>
                                        <p:cTn id="66" dur="1" fill="hold">
                                          <p:stCondLst>
                                            <p:cond delay="0"/>
                                          </p:stCondLst>
                                        </p:cTn>
                                        <p:tgtEl>
                                          <p:spTgt spid="176"/>
                                        </p:tgtEl>
                                        <p:attrNameLst>
                                          <p:attrName>style.visibility</p:attrName>
                                        </p:attrNameLst>
                                      </p:cBhvr>
                                      <p:to>
                                        <p:strVal val="visible"/>
                                      </p:to>
                                    </p:set>
                                    <p:animEffect transition="in" filter="wipe(down)">
                                      <p:cBhvr>
                                        <p:cTn id="67" dur="500"/>
                                        <p:tgtEl>
                                          <p:spTgt spid="176"/>
                                        </p:tgtEl>
                                      </p:cBhvr>
                                    </p:animEffect>
                                  </p:childTnLst>
                                </p:cTn>
                              </p:par>
                              <p:par>
                                <p:cTn id="68" presetID="22" presetClass="entr" presetSubtype="4" fill="hold" nodeType="withEffect">
                                  <p:stCondLst>
                                    <p:cond delay="0"/>
                                  </p:stCondLst>
                                  <p:childTnLst>
                                    <p:set>
                                      <p:cBhvr>
                                        <p:cTn id="69" dur="1" fill="hold">
                                          <p:stCondLst>
                                            <p:cond delay="0"/>
                                          </p:stCondLst>
                                        </p:cTn>
                                        <p:tgtEl>
                                          <p:spTgt spid="175"/>
                                        </p:tgtEl>
                                        <p:attrNameLst>
                                          <p:attrName>style.visibility</p:attrName>
                                        </p:attrNameLst>
                                      </p:cBhvr>
                                      <p:to>
                                        <p:strVal val="visible"/>
                                      </p:to>
                                    </p:set>
                                    <p:animEffect transition="in" filter="wipe(down)">
                                      <p:cBhvr>
                                        <p:cTn id="70" dur="500"/>
                                        <p:tgtEl>
                                          <p:spTgt spid="175"/>
                                        </p:tgtEl>
                                      </p:cBhvr>
                                    </p:animEffect>
                                  </p:childTnLst>
                                </p:cTn>
                              </p:par>
                              <p:par>
                                <p:cTn id="71" presetID="22" presetClass="entr" presetSubtype="4" fill="hold" nodeType="withEffect">
                                  <p:stCondLst>
                                    <p:cond delay="0"/>
                                  </p:stCondLst>
                                  <p:childTnLst>
                                    <p:set>
                                      <p:cBhvr>
                                        <p:cTn id="72" dur="1" fill="hold">
                                          <p:stCondLst>
                                            <p:cond delay="0"/>
                                          </p:stCondLst>
                                        </p:cTn>
                                        <p:tgtEl>
                                          <p:spTgt spid="174"/>
                                        </p:tgtEl>
                                        <p:attrNameLst>
                                          <p:attrName>style.visibility</p:attrName>
                                        </p:attrNameLst>
                                      </p:cBhvr>
                                      <p:to>
                                        <p:strVal val="visible"/>
                                      </p:to>
                                    </p:set>
                                    <p:animEffect transition="in" filter="wipe(down)">
                                      <p:cBhvr>
                                        <p:cTn id="73" dur="500"/>
                                        <p:tgtEl>
                                          <p:spTgt spid="174"/>
                                        </p:tgtEl>
                                      </p:cBhvr>
                                    </p:animEffect>
                                  </p:childTnLst>
                                </p:cTn>
                              </p:par>
                            </p:childTnLst>
                          </p:cTn>
                        </p:par>
                        <p:par>
                          <p:cTn id="74" fill="hold">
                            <p:stCondLst>
                              <p:cond delay="2000"/>
                            </p:stCondLst>
                            <p:childTnLst>
                              <p:par>
                                <p:cTn id="75" presetID="10" presetClass="entr" presetSubtype="0" fill="hold" nodeType="afterEffect">
                                  <p:stCondLst>
                                    <p:cond delay="200"/>
                                  </p:stCondLst>
                                  <p:childTnLst>
                                    <p:set>
                                      <p:cBhvr>
                                        <p:cTn id="76" dur="1" fill="hold">
                                          <p:stCondLst>
                                            <p:cond delay="0"/>
                                          </p:stCondLst>
                                        </p:cTn>
                                        <p:tgtEl>
                                          <p:spTgt spid="181"/>
                                        </p:tgtEl>
                                        <p:attrNameLst>
                                          <p:attrName>style.visibility</p:attrName>
                                        </p:attrNameLst>
                                      </p:cBhvr>
                                      <p:to>
                                        <p:strVal val="visible"/>
                                      </p:to>
                                    </p:set>
                                    <p:anim calcmode="lin" valueType="num">
                                      <p:cBhvr>
                                        <p:cTn id="77" dur="500" fill="hold"/>
                                        <p:tgtEl>
                                          <p:spTgt spid="181"/>
                                        </p:tgtEl>
                                        <p:attrNameLst>
                                          <p:attrName>ppt_w</p:attrName>
                                        </p:attrNameLst>
                                      </p:cBhvr>
                                      <p:tavLst>
                                        <p:tav tm="0">
                                          <p:val>
                                            <p:fltVal val="0"/>
                                          </p:val>
                                        </p:tav>
                                        <p:tav tm="100000">
                                          <p:val>
                                            <p:strVal val="#ppt_w"/>
                                          </p:val>
                                        </p:tav>
                                      </p:tavLst>
                                    </p:anim>
                                    <p:anim calcmode="lin" valueType="num">
                                      <p:cBhvr>
                                        <p:cTn id="78" dur="500" fill="hold"/>
                                        <p:tgtEl>
                                          <p:spTgt spid="181"/>
                                        </p:tgtEl>
                                        <p:attrNameLst>
                                          <p:attrName>ppt_h</p:attrName>
                                        </p:attrNameLst>
                                      </p:cBhvr>
                                      <p:tavLst>
                                        <p:tav tm="0">
                                          <p:val>
                                            <p:fltVal val="0"/>
                                          </p:val>
                                        </p:tav>
                                        <p:tav tm="100000">
                                          <p:val>
                                            <p:strVal val="#ppt_h"/>
                                          </p:val>
                                        </p:tav>
                                      </p:tavLst>
                                    </p:anim>
                                    <p:animEffect transition="in" filter="fade">
                                      <p:cBhvr>
                                        <p:cTn id="79" dur="500"/>
                                        <p:tgtEl>
                                          <p:spTgt spid="181"/>
                                        </p:tgtEl>
                                      </p:cBhvr>
                                    </p:animEffect>
                                  </p:childTnLst>
                                </p:cTn>
                              </p:par>
                              <p:par>
                                <p:cTn id="80" presetID="10" presetClass="entr" presetSubtype="0" fill="hold" nodeType="withEffect">
                                  <p:stCondLst>
                                    <p:cond delay="0"/>
                                  </p:stCondLst>
                                  <p:childTnLst>
                                    <p:set>
                                      <p:cBhvr>
                                        <p:cTn id="81" dur="1" fill="hold">
                                          <p:stCondLst>
                                            <p:cond delay="0"/>
                                          </p:stCondLst>
                                        </p:cTn>
                                        <p:tgtEl>
                                          <p:spTgt spid="178"/>
                                        </p:tgtEl>
                                        <p:attrNameLst>
                                          <p:attrName>style.visibility</p:attrName>
                                        </p:attrNameLst>
                                      </p:cBhvr>
                                      <p:to>
                                        <p:strVal val="visible"/>
                                      </p:to>
                                    </p:set>
                                    <p:anim calcmode="lin" valueType="num">
                                      <p:cBhvr>
                                        <p:cTn id="82" dur="500" fill="hold"/>
                                        <p:tgtEl>
                                          <p:spTgt spid="178"/>
                                        </p:tgtEl>
                                        <p:attrNameLst>
                                          <p:attrName>ppt_w</p:attrName>
                                        </p:attrNameLst>
                                      </p:cBhvr>
                                      <p:tavLst>
                                        <p:tav tm="0">
                                          <p:val>
                                            <p:fltVal val="0"/>
                                          </p:val>
                                        </p:tav>
                                        <p:tav tm="100000">
                                          <p:val>
                                            <p:strVal val="#ppt_w"/>
                                          </p:val>
                                        </p:tav>
                                      </p:tavLst>
                                    </p:anim>
                                    <p:anim calcmode="lin" valueType="num">
                                      <p:cBhvr>
                                        <p:cTn id="83" dur="500" fill="hold"/>
                                        <p:tgtEl>
                                          <p:spTgt spid="178"/>
                                        </p:tgtEl>
                                        <p:attrNameLst>
                                          <p:attrName>ppt_h</p:attrName>
                                        </p:attrNameLst>
                                      </p:cBhvr>
                                      <p:tavLst>
                                        <p:tav tm="0">
                                          <p:val>
                                            <p:fltVal val="0"/>
                                          </p:val>
                                        </p:tav>
                                        <p:tav tm="100000">
                                          <p:val>
                                            <p:strVal val="#ppt_h"/>
                                          </p:val>
                                        </p:tav>
                                      </p:tavLst>
                                    </p:anim>
                                    <p:animEffect transition="in" filter="fade">
                                      <p:cBhvr>
                                        <p:cTn id="84" dur="500"/>
                                        <p:tgtEl>
                                          <p:spTgt spid="178"/>
                                        </p:tgtEl>
                                      </p:cBhvr>
                                    </p:animEffect>
                                  </p:childTnLst>
                                </p:cTn>
                              </p:par>
                              <p:par>
                                <p:cTn id="85" presetID="10" presetClass="entr" presetSubtype="0" fill="hold" nodeType="withEffect">
                                  <p:stCondLst>
                                    <p:cond delay="0"/>
                                  </p:stCondLst>
                                  <p:childTnLst>
                                    <p:set>
                                      <p:cBhvr>
                                        <p:cTn id="86" dur="1" fill="hold">
                                          <p:stCondLst>
                                            <p:cond delay="0"/>
                                          </p:stCondLst>
                                        </p:cTn>
                                        <p:tgtEl>
                                          <p:spTgt spid="188"/>
                                        </p:tgtEl>
                                        <p:attrNameLst>
                                          <p:attrName>style.visibility</p:attrName>
                                        </p:attrNameLst>
                                      </p:cBhvr>
                                      <p:to>
                                        <p:strVal val="visible"/>
                                      </p:to>
                                    </p:set>
                                    <p:anim calcmode="lin" valueType="num">
                                      <p:cBhvr>
                                        <p:cTn id="87" dur="500" fill="hold"/>
                                        <p:tgtEl>
                                          <p:spTgt spid="188"/>
                                        </p:tgtEl>
                                        <p:attrNameLst>
                                          <p:attrName>ppt_w</p:attrName>
                                        </p:attrNameLst>
                                      </p:cBhvr>
                                      <p:tavLst>
                                        <p:tav tm="0">
                                          <p:val>
                                            <p:fltVal val="0"/>
                                          </p:val>
                                        </p:tav>
                                        <p:tav tm="100000">
                                          <p:val>
                                            <p:strVal val="#ppt_w"/>
                                          </p:val>
                                        </p:tav>
                                      </p:tavLst>
                                    </p:anim>
                                    <p:anim calcmode="lin" valueType="num">
                                      <p:cBhvr>
                                        <p:cTn id="88" dur="500" fill="hold"/>
                                        <p:tgtEl>
                                          <p:spTgt spid="188"/>
                                        </p:tgtEl>
                                        <p:attrNameLst>
                                          <p:attrName>ppt_h</p:attrName>
                                        </p:attrNameLst>
                                      </p:cBhvr>
                                      <p:tavLst>
                                        <p:tav tm="0">
                                          <p:val>
                                            <p:fltVal val="0"/>
                                          </p:val>
                                        </p:tav>
                                        <p:tav tm="100000">
                                          <p:val>
                                            <p:strVal val="#ppt_h"/>
                                          </p:val>
                                        </p:tav>
                                      </p:tavLst>
                                    </p:anim>
                                    <p:animEffect transition="in" filter="fade">
                                      <p:cBhvr>
                                        <p:cTn id="89" dur="500"/>
                                        <p:tgtEl>
                                          <p:spTgt spid="18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84"/>
                                        </p:tgtEl>
                                        <p:attrNameLst>
                                          <p:attrName>style.visibility</p:attrName>
                                        </p:attrNameLst>
                                      </p:cBhvr>
                                      <p:to>
                                        <p:strVal val="visible"/>
                                      </p:to>
                                    </p:set>
                                    <p:animEffect transition="in" filter="fade">
                                      <p:cBhvr>
                                        <p:cTn id="92" dur="500"/>
                                        <p:tgtEl>
                                          <p:spTgt spid="184"/>
                                        </p:tgtEl>
                                      </p:cBhvr>
                                    </p:animEffect>
                                  </p:childTnLst>
                                </p:cTn>
                              </p:par>
                            </p:childTnLst>
                          </p:cTn>
                        </p:par>
                        <p:par>
                          <p:cTn id="93" fill="hold">
                            <p:stCondLst>
                              <p:cond delay="2700"/>
                            </p:stCondLst>
                            <p:childTnLst>
                              <p:par>
                                <p:cTn id="94" presetID="22" presetClass="entr" presetSubtype="4" fill="hold" nodeType="afterEffect">
                                  <p:stCondLst>
                                    <p:cond delay="0"/>
                                  </p:stCondLst>
                                  <p:childTnLst>
                                    <p:set>
                                      <p:cBhvr>
                                        <p:cTn id="95" dur="1" fill="hold">
                                          <p:stCondLst>
                                            <p:cond delay="0"/>
                                          </p:stCondLst>
                                        </p:cTn>
                                        <p:tgtEl>
                                          <p:spTgt spid="187"/>
                                        </p:tgtEl>
                                        <p:attrNameLst>
                                          <p:attrName>style.visibility</p:attrName>
                                        </p:attrNameLst>
                                      </p:cBhvr>
                                      <p:to>
                                        <p:strVal val="visible"/>
                                      </p:to>
                                    </p:set>
                                    <p:animEffect transition="in" filter="wipe(down)">
                                      <p:cBhvr>
                                        <p:cTn id="96" dur="500"/>
                                        <p:tgtEl>
                                          <p:spTgt spid="187"/>
                                        </p:tgtEl>
                                      </p:cBhvr>
                                    </p:animEffect>
                                  </p:childTnLst>
                                </p:cTn>
                              </p:par>
                              <p:par>
                                <p:cTn id="97" presetID="22" presetClass="entr" presetSubtype="4" fill="hold" nodeType="withEffect">
                                  <p:stCondLst>
                                    <p:cond delay="0"/>
                                  </p:stCondLst>
                                  <p:childTnLst>
                                    <p:set>
                                      <p:cBhvr>
                                        <p:cTn id="98" dur="1" fill="hold">
                                          <p:stCondLst>
                                            <p:cond delay="0"/>
                                          </p:stCondLst>
                                        </p:cTn>
                                        <p:tgtEl>
                                          <p:spTgt spid="186"/>
                                        </p:tgtEl>
                                        <p:attrNameLst>
                                          <p:attrName>style.visibility</p:attrName>
                                        </p:attrNameLst>
                                      </p:cBhvr>
                                      <p:to>
                                        <p:strVal val="visible"/>
                                      </p:to>
                                    </p:set>
                                    <p:animEffect transition="in" filter="wipe(down)">
                                      <p:cBhvr>
                                        <p:cTn id="99" dur="500"/>
                                        <p:tgtEl>
                                          <p:spTgt spid="186"/>
                                        </p:tgtEl>
                                      </p:cBhvr>
                                    </p:animEffect>
                                  </p:childTnLst>
                                </p:cTn>
                              </p:par>
                            </p:childTnLst>
                          </p:cTn>
                        </p:par>
                      </p:childTnLst>
                    </p:cTn>
                  </p:par>
                  <p:par>
                    <p:cTn id="100" fill="hold">
                      <p:stCondLst>
                        <p:cond delay="indefinite"/>
                      </p:stCondLst>
                      <p:childTnLst>
                        <p:par>
                          <p:cTn id="101" fill="hold">
                            <p:stCondLst>
                              <p:cond delay="0"/>
                            </p:stCondLst>
                            <p:childTnLst>
                              <p:par>
                                <p:cTn id="102" presetID="14" presetClass="entr" presetSubtype="10" fill="hold" nodeType="clickEffect">
                                  <p:stCondLst>
                                    <p:cond delay="0"/>
                                  </p:stCondLst>
                                  <p:childTnLst>
                                    <p:set>
                                      <p:cBhvr>
                                        <p:cTn id="103" dur="1" fill="hold">
                                          <p:stCondLst>
                                            <p:cond delay="0"/>
                                          </p:stCondLst>
                                        </p:cTn>
                                        <p:tgtEl>
                                          <p:spTgt spid="151"/>
                                        </p:tgtEl>
                                        <p:attrNameLst>
                                          <p:attrName>style.visibility</p:attrName>
                                        </p:attrNameLst>
                                      </p:cBhvr>
                                      <p:to>
                                        <p:strVal val="visible"/>
                                      </p:to>
                                    </p:set>
                                    <p:animEffect transition="in" filter="randombar(horizontal)">
                                      <p:cBhvr>
                                        <p:cTn id="104" dur="500"/>
                                        <p:tgtEl>
                                          <p:spTgt spid="151"/>
                                        </p:tgtEl>
                                      </p:cBhvr>
                                    </p:animEffect>
                                  </p:childTnLst>
                                </p:cTn>
                              </p:par>
                              <p:par>
                                <p:cTn id="105" presetID="14" presetClass="entr" presetSubtype="10" fill="hold" nodeType="withEffect">
                                  <p:stCondLst>
                                    <p:cond delay="0"/>
                                  </p:stCondLst>
                                  <p:childTnLst>
                                    <p:set>
                                      <p:cBhvr>
                                        <p:cTn id="106" dur="1" fill="hold">
                                          <p:stCondLst>
                                            <p:cond delay="0"/>
                                          </p:stCondLst>
                                        </p:cTn>
                                        <p:tgtEl>
                                          <p:spTgt spid="152"/>
                                        </p:tgtEl>
                                        <p:attrNameLst>
                                          <p:attrName>style.visibility</p:attrName>
                                        </p:attrNameLst>
                                      </p:cBhvr>
                                      <p:to>
                                        <p:strVal val="visible"/>
                                      </p:to>
                                    </p:set>
                                    <p:animEffect transition="in" filter="randombar(horizontal)">
                                      <p:cBhvr>
                                        <p:cTn id="107" dur="500"/>
                                        <p:tgtEl>
                                          <p:spTgt spid="152"/>
                                        </p:tgtEl>
                                      </p:cBhvr>
                                    </p:animEffect>
                                  </p:childTnLst>
                                </p:cTn>
                              </p:par>
                            </p:childTnLst>
                          </p:cTn>
                        </p:par>
                        <p:par>
                          <p:cTn id="108" fill="hold">
                            <p:stCondLst>
                              <p:cond delay="500"/>
                            </p:stCondLst>
                            <p:childTnLst>
                              <p:par>
                                <p:cTn id="109" presetID="14" presetClass="entr" presetSubtype="10" fill="hold" nodeType="afterEffect">
                                  <p:stCondLst>
                                    <p:cond delay="0"/>
                                  </p:stCondLst>
                                  <p:childTnLst>
                                    <p:set>
                                      <p:cBhvr>
                                        <p:cTn id="110" dur="1000" fill="hold">
                                          <p:stCondLst>
                                            <p:cond delay="0"/>
                                          </p:stCondLst>
                                        </p:cTn>
                                        <p:tgtEl>
                                          <p:spTgt spid="187"/>
                                        </p:tgtEl>
                                        <p:attrNameLst>
                                          <p:attrName>style.visibility</p:attrName>
                                        </p:attrNameLst>
                                      </p:cBhvr>
                                      <p:to>
                                        <p:strVal val="visible"/>
                                      </p:to>
                                    </p:set>
                                    <p:animEffect transition="in" filter="randombar(horizontal)">
                                      <p:cBhvr>
                                        <p:cTn id="111" dur="1000"/>
                                        <p:tgtEl>
                                          <p:spTgt spid="187"/>
                                        </p:tgtEl>
                                      </p:cBhvr>
                                    </p:animEffect>
                                  </p:childTnLst>
                                </p:cTn>
                              </p:par>
                              <p:par>
                                <p:cTn id="112" presetID="14" presetClass="entr" presetSubtype="10" fill="hold" nodeType="withEffect">
                                  <p:stCondLst>
                                    <p:cond delay="0"/>
                                  </p:stCondLst>
                                  <p:childTnLst>
                                    <p:set>
                                      <p:cBhvr>
                                        <p:cTn id="113" dur="1000" fill="hold">
                                          <p:stCondLst>
                                            <p:cond delay="0"/>
                                          </p:stCondLst>
                                        </p:cTn>
                                        <p:tgtEl>
                                          <p:spTgt spid="174"/>
                                        </p:tgtEl>
                                        <p:attrNameLst>
                                          <p:attrName>style.visibility</p:attrName>
                                        </p:attrNameLst>
                                      </p:cBhvr>
                                      <p:to>
                                        <p:strVal val="visible"/>
                                      </p:to>
                                    </p:set>
                                    <p:animEffect transition="in" filter="randombar(horizontal)">
                                      <p:cBhvr>
                                        <p:cTn id="114" dur="1000"/>
                                        <p:tgtEl>
                                          <p:spTgt spid="174"/>
                                        </p:tgtEl>
                                      </p:cBhvr>
                                    </p:animEffect>
                                  </p:childTnLst>
                                </p:cTn>
                              </p:par>
                            </p:childTnLst>
                          </p:cTn>
                        </p:par>
                        <p:par>
                          <p:cTn id="115" fill="hold">
                            <p:stCondLst>
                              <p:cond delay="1500"/>
                            </p:stCondLst>
                            <p:childTnLst>
                              <p:par>
                                <p:cTn id="116" presetID="26" presetClass="emph" presetSubtype="0" fill="hold" nodeType="afterEffect">
                                  <p:stCondLst>
                                    <p:cond delay="0"/>
                                  </p:stCondLst>
                                  <p:childTnLst>
                                    <p:animEffect transition="out" filter="fade">
                                      <p:cBhvr>
                                        <p:cTn id="117" dur="500" tmFilter="0, 0; .2, .5; .8, .5; 1, 0"/>
                                        <p:tgtEl>
                                          <p:spTgt spid="181"/>
                                        </p:tgtEl>
                                      </p:cBhvr>
                                    </p:animEffect>
                                    <p:animScale>
                                      <p:cBhvr>
                                        <p:cTn id="118" dur="250" autoRev="1" fill="hold"/>
                                        <p:tgtEl>
                                          <p:spTgt spid="18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bldLvl="0" animBg="1" autoUpdateAnimBg="0"/>
      <p:bldP spid="149" grpId="0" bldLvl="0" animBg="1"/>
      <p:bldP spid="150" grpId="0" bldLvl="0" animBg="1"/>
      <p:bldP spid="151" grpId="0" bldLvl="0" animBg="1"/>
      <p:bldP spid="152" grpId="0" bldLvl="0" animBg="1"/>
      <p:bldP spid="153" grpId="0" bldLvl="0" animBg="1"/>
      <p:bldP spid="154" grpId="0" bldLvl="0" animBg="1"/>
      <p:bldP spid="155" grpId="0" autoUpdateAnimBg="0"/>
      <p:bldP spid="18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107996"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数据清洗</a:t>
            </a:r>
          </a:p>
        </p:txBody>
      </p:sp>
      <p:sp>
        <p:nvSpPr>
          <p:cNvPr id="5" name="矩形 4"/>
          <p:cNvSpPr/>
          <p:nvPr/>
        </p:nvSpPr>
        <p:spPr>
          <a:xfrm>
            <a:off x="90232" y="575233"/>
            <a:ext cx="1178528"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Dataset and Cleaning</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746414" y="1005307"/>
            <a:ext cx="7139398" cy="2446260"/>
            <a:chOff x="463333" y="1041649"/>
            <a:chExt cx="5389186" cy="1848786"/>
          </a:xfrm>
        </p:grpSpPr>
        <p:grpSp>
          <p:nvGrpSpPr>
            <p:cNvPr id="24" name="组合 23"/>
            <p:cNvGrpSpPr/>
            <p:nvPr/>
          </p:nvGrpSpPr>
          <p:grpSpPr>
            <a:xfrm>
              <a:off x="477101" y="1481995"/>
              <a:ext cx="5375418" cy="1408440"/>
              <a:chOff x="2198164" y="1481994"/>
              <a:chExt cx="7719729" cy="2179509"/>
            </a:xfrm>
          </p:grpSpPr>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98164" y="1504857"/>
                <a:ext cx="4747671" cy="2133785"/>
              </a:xfrm>
              <a:prstGeom prst="rect">
                <a:avLst/>
              </a:prstGeom>
            </p:spPr>
          </p:pic>
          <p:pic>
            <p:nvPicPr>
              <p:cNvPr id="23" name="图片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45835" y="1481994"/>
                <a:ext cx="2972058" cy="2179509"/>
              </a:xfrm>
              <a:prstGeom prst="rect">
                <a:avLst/>
              </a:prstGeom>
            </p:spPr>
          </p:pic>
        </p:grpSp>
        <p:sp>
          <p:nvSpPr>
            <p:cNvPr id="31" name="矩形 30"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463333" y="1041649"/>
              <a:ext cx="2608969" cy="255866"/>
            </a:xfrm>
            <a:prstGeom prst="rect">
              <a:avLst/>
            </a:prstGeom>
            <a:noFill/>
          </p:spPr>
          <p:txBody>
            <a:bodyPr wrap="none">
              <a:spAutoFit/>
            </a:bodyPr>
            <a:lstStyle/>
            <a:p>
              <a:pP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Movie.txt(</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电影信息：</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万条记录）</a:t>
              </a:r>
            </a:p>
          </p:txBody>
        </p:sp>
        <p:cxnSp>
          <p:nvCxnSpPr>
            <p:cNvPr id="32" name="直接连接符 3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CxnSpPr/>
            <p:nvPr/>
          </p:nvCxnSpPr>
          <p:spPr>
            <a:xfrm>
              <a:off x="608148" y="1329530"/>
              <a:ext cx="18233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aphicFrame>
        <p:nvGraphicFramePr>
          <p:cNvPr id="44" name="图示 43"/>
          <p:cNvGraphicFramePr/>
          <p:nvPr/>
        </p:nvGraphicFramePr>
        <p:xfrm>
          <a:off x="764564" y="3431917"/>
          <a:ext cx="7028169" cy="141715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3" name="圆角矩形 2"/>
          <p:cNvSpPr/>
          <p:nvPr/>
        </p:nvSpPr>
        <p:spPr>
          <a:xfrm>
            <a:off x="1485900" y="3593465"/>
            <a:ext cx="2588260" cy="9232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bwMode="auto">
          <a:xfrm>
            <a:off x="90232" y="205901"/>
            <a:ext cx="1107996"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数据清洗</a:t>
            </a:r>
          </a:p>
        </p:txBody>
      </p:sp>
      <p:sp>
        <p:nvSpPr>
          <p:cNvPr id="5" name="矩形 4"/>
          <p:cNvSpPr/>
          <p:nvPr/>
        </p:nvSpPr>
        <p:spPr>
          <a:xfrm>
            <a:off x="90232" y="575233"/>
            <a:ext cx="1178528"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Dataset and Cleaning</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8572" y="1618615"/>
            <a:ext cx="4046855" cy="1287088"/>
          </a:xfrm>
          <a:prstGeom prst="rect">
            <a:avLst/>
          </a:prstGeom>
        </p:spPr>
      </p:pic>
      <p:sp>
        <p:nvSpPr>
          <p:cNvPr id="9" name="矩形 8"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1600200" y="3524885"/>
            <a:ext cx="2359660" cy="1060450"/>
          </a:xfrm>
          <a:prstGeom prst="rect">
            <a:avLst/>
          </a:prstGeom>
        </p:spPr>
        <p:txBody>
          <a:bodyPr wrap="square">
            <a:spAutoFit/>
          </a:bodyPr>
          <a:lstStyle/>
          <a:p>
            <a:pPr>
              <a:lnSpc>
                <a:spcPct val="150000"/>
              </a:lnSpc>
            </a:pPr>
            <a:r>
              <a:rPr lang="zh-CN" altLang="en-US" sz="1400" b="1" dirty="0">
                <a:solidFill>
                  <a:schemeClr val="bg1"/>
                </a:solidFill>
                <a:latin typeface="Times New Roman" panose="02020603050405020304" pitchFamily="18" charset="0"/>
                <a:cs typeface="Times New Roman" panose="02020603050405020304" pitchFamily="18" charset="0"/>
              </a:rPr>
              <a:t>五级评分制：</a:t>
            </a:r>
          </a:p>
          <a:p>
            <a:pPr>
              <a:lnSpc>
                <a:spcPct val="150000"/>
              </a:lnSpc>
            </a:pPr>
            <a:r>
              <a:rPr lang="zh-CN" altLang="en-US" sz="1400" b="1" dirty="0">
                <a:solidFill>
                  <a:schemeClr val="bg1"/>
                </a:solidFill>
                <a:latin typeface="Times New Roman" panose="02020603050405020304" pitchFamily="18" charset="0"/>
                <a:cs typeface="Times New Roman" panose="02020603050405020304" pitchFamily="18" charset="0"/>
              </a:rPr>
              <a:t>获得的数据中只有评分为</a:t>
            </a:r>
          </a:p>
          <a:p>
            <a:pPr>
              <a:lnSpc>
                <a:spcPct val="150000"/>
              </a:lnSpc>
            </a:pPr>
            <a:r>
              <a:rPr lang="en-US" altLang="zh-CN" sz="1400" b="1" dirty="0">
                <a:solidFill>
                  <a:schemeClr val="bg1"/>
                </a:solidFill>
                <a:latin typeface="Times New Roman" panose="02020603050405020304" pitchFamily="18" charset="0"/>
                <a:cs typeface="Times New Roman" panose="02020603050405020304" pitchFamily="18" charset="0"/>
              </a:rPr>
              <a:t>3</a:t>
            </a:r>
            <a:r>
              <a:rPr lang="zh-CN" altLang="en-US" sz="1400" b="1" dirty="0">
                <a:solidFill>
                  <a:schemeClr val="bg1"/>
                </a:solidFill>
                <a:latin typeface="Times New Roman" panose="02020603050405020304" pitchFamily="18" charset="0"/>
                <a:cs typeface="Times New Roman" panose="02020603050405020304" pitchFamily="18" charset="0"/>
              </a:rPr>
              <a:t>、</a:t>
            </a:r>
            <a:r>
              <a:rPr lang="en-US" altLang="zh-CN" sz="1400" b="1" dirty="0">
                <a:solidFill>
                  <a:schemeClr val="bg1"/>
                </a:solidFill>
                <a:latin typeface="Times New Roman" panose="02020603050405020304" pitchFamily="18" charset="0"/>
                <a:cs typeface="Times New Roman" panose="02020603050405020304" pitchFamily="18" charset="0"/>
              </a:rPr>
              <a:t>4</a:t>
            </a:r>
            <a:r>
              <a:rPr lang="zh-CN" altLang="en-US" sz="1400" b="1" dirty="0">
                <a:solidFill>
                  <a:schemeClr val="bg1"/>
                </a:solidFill>
                <a:latin typeface="Times New Roman" panose="02020603050405020304" pitchFamily="18" charset="0"/>
                <a:cs typeface="Times New Roman" panose="02020603050405020304" pitchFamily="18" charset="0"/>
              </a:rPr>
              <a:t>、</a:t>
            </a:r>
            <a:r>
              <a:rPr lang="en-US" altLang="zh-CN" sz="1400" b="1" dirty="0">
                <a:solidFill>
                  <a:schemeClr val="bg1"/>
                </a:solidFill>
                <a:latin typeface="Times New Roman" panose="02020603050405020304" pitchFamily="18" charset="0"/>
                <a:cs typeface="Times New Roman" panose="02020603050405020304" pitchFamily="18" charset="0"/>
              </a:rPr>
              <a:t>5</a:t>
            </a:r>
            <a:r>
              <a:rPr lang="zh-CN" altLang="en-US" sz="1400" b="1" dirty="0">
                <a:solidFill>
                  <a:schemeClr val="bg1"/>
                </a:solidFill>
                <a:latin typeface="Times New Roman" panose="02020603050405020304" pitchFamily="18" charset="0"/>
                <a:cs typeface="Times New Roman" panose="02020603050405020304" pitchFamily="18" charset="0"/>
              </a:rPr>
              <a:t>星的记录</a:t>
            </a:r>
          </a:p>
        </p:txBody>
      </p:sp>
      <p:sp>
        <p:nvSpPr>
          <p:cNvPr id="2" name="矩形 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745904" y="1005437"/>
            <a:ext cx="5161862" cy="338554"/>
          </a:xfrm>
          <a:prstGeom prst="rect">
            <a:avLst/>
          </a:prstGeom>
          <a:noFill/>
        </p:spPr>
        <p:txBody>
          <a:bodyPr wrap="none">
            <a:spAutoFit/>
          </a:bodyPr>
          <a:lstStyle/>
          <a:p>
            <a:pP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UserMovie_train.txt(</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用户评分信息：</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870</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万观影记录</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2" name="直接连接符 3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CxnSpPr/>
          <p:nvPr/>
        </p:nvCxnSpPr>
        <p:spPr>
          <a:xfrm>
            <a:off x="938260" y="1386223"/>
            <a:ext cx="24154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圆角矩形 5"/>
          <p:cNvSpPr/>
          <p:nvPr/>
        </p:nvSpPr>
        <p:spPr>
          <a:xfrm>
            <a:off x="4885055" y="3592830"/>
            <a:ext cx="2588260" cy="923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5069842" y="3544570"/>
            <a:ext cx="1797050" cy="1060450"/>
          </a:xfrm>
          <a:prstGeom prst="rect">
            <a:avLst/>
          </a:prstGeom>
        </p:spPr>
        <p:txBody>
          <a:bodyPr wrap="square">
            <a:spAutoFit/>
          </a:bodyPr>
          <a:lstStyle/>
          <a:p>
            <a:pPr algn="l">
              <a:lnSpc>
                <a:spcPct val="150000"/>
              </a:lnSpc>
              <a:buNone/>
            </a:pPr>
            <a:r>
              <a:rPr lang="zh-CN" altLang="en-US" sz="1400" b="1" dirty="0">
                <a:solidFill>
                  <a:schemeClr val="bg1"/>
                </a:solidFill>
                <a:latin typeface="Times New Roman" panose="02020603050405020304" pitchFamily="18" charset="0"/>
                <a:cs typeface="Times New Roman" panose="02020603050405020304" pitchFamily="18" charset="0"/>
              </a:rPr>
              <a:t>构造负例：  </a:t>
            </a:r>
          </a:p>
          <a:p>
            <a:pPr algn="l">
              <a:lnSpc>
                <a:spcPct val="150000"/>
              </a:lnSpc>
              <a:buNone/>
            </a:pPr>
            <a:r>
              <a:rPr lang="zh-CN" altLang="en-US" sz="1400" b="1" dirty="0">
                <a:solidFill>
                  <a:schemeClr val="bg1"/>
                </a:solidFill>
                <a:latin typeface="Times New Roman" panose="02020603050405020304" pitchFamily="18" charset="0"/>
                <a:cs typeface="Times New Roman" panose="02020603050405020304" pitchFamily="18" charset="0"/>
              </a:rPr>
              <a:t>1:1  1:4  效果不同</a:t>
            </a:r>
          </a:p>
          <a:p>
            <a:pPr algn="l">
              <a:lnSpc>
                <a:spcPct val="150000"/>
              </a:lnSpc>
              <a:buNone/>
            </a:pPr>
            <a:endParaRPr lang="zh-CN" altLang="en-US" sz="14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107996"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数据清洗</a:t>
            </a:r>
          </a:p>
        </p:txBody>
      </p:sp>
      <p:sp>
        <p:nvSpPr>
          <p:cNvPr id="5" name="矩形 4"/>
          <p:cNvSpPr/>
          <p:nvPr/>
        </p:nvSpPr>
        <p:spPr>
          <a:xfrm>
            <a:off x="90232" y="575233"/>
            <a:ext cx="1178528"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Dataset and Cleaning</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l="843"/>
          <a:stretch>
            <a:fillRect/>
          </a:stretch>
        </p:blipFill>
        <p:spPr>
          <a:xfrm>
            <a:off x="746125" y="1502410"/>
            <a:ext cx="7711440" cy="2670810"/>
          </a:xfrm>
          <a:prstGeom prst="rect">
            <a:avLst/>
          </a:prstGeom>
        </p:spPr>
      </p:pic>
      <p:graphicFrame>
        <p:nvGraphicFramePr>
          <p:cNvPr id="13" name="图示 12"/>
          <p:cNvGraphicFramePr/>
          <p:nvPr>
            <p:extLst>
              <p:ext uri="{D42A27DB-BD31-4B8C-83A1-F6EECF244321}">
                <p14:modId xmlns:p14="http://schemas.microsoft.com/office/powerpoint/2010/main" val="98416258"/>
              </p:ext>
            </p:extLst>
          </p:nvPr>
        </p:nvGraphicFramePr>
        <p:xfrm>
          <a:off x="1503887" y="3988510"/>
          <a:ext cx="6184876" cy="11549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矩形 5"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745950" y="1005267"/>
            <a:ext cx="4780476" cy="338554"/>
          </a:xfrm>
          <a:prstGeom prst="rect">
            <a:avLst/>
          </a:prstGeom>
          <a:noFill/>
        </p:spPr>
        <p:txBody>
          <a:bodyPr wrap="none">
            <a:spAutoFit/>
          </a:bodyPr>
          <a:lstStyle/>
          <a:p>
            <a:pP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All_instances.owl</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知识图谱</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_</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电影信息：</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万条</a:t>
            </a: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2" name="直接连接符 31"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CxnSpPr/>
          <p:nvPr/>
        </p:nvCxnSpPr>
        <p:spPr>
          <a:xfrm>
            <a:off x="938260" y="1386223"/>
            <a:ext cx="24154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892410" y="4370070"/>
            <a:ext cx="5550011" cy="615315"/>
            <a:chOff x="3578" y="6882"/>
            <a:chExt cx="6837" cy="969"/>
          </a:xfrm>
        </p:grpSpPr>
        <p:sp>
          <p:nvSpPr>
            <p:cNvPr id="3" name="Freeform 106"/>
            <p:cNvSpPr/>
            <p:nvPr/>
          </p:nvSpPr>
          <p:spPr bwMode="auto">
            <a:xfrm>
              <a:off x="9679" y="7040"/>
              <a:ext cx="512" cy="556"/>
            </a:xfrm>
            <a:custGeom>
              <a:avLst/>
              <a:gdLst/>
              <a:ahLst/>
              <a:cxnLst>
                <a:cxn ang="0">
                  <a:pos x="94" y="0"/>
                </a:cxn>
                <a:cxn ang="0">
                  <a:pos x="94" y="0"/>
                </a:cxn>
                <a:cxn ang="0">
                  <a:pos x="80" y="0"/>
                </a:cxn>
                <a:cxn ang="0">
                  <a:pos x="66" y="4"/>
                </a:cxn>
                <a:cxn ang="0">
                  <a:pos x="54" y="8"/>
                </a:cxn>
                <a:cxn ang="0">
                  <a:pos x="42" y="16"/>
                </a:cxn>
                <a:cxn ang="0">
                  <a:pos x="42" y="16"/>
                </a:cxn>
                <a:cxn ang="0">
                  <a:pos x="32" y="22"/>
                </a:cxn>
                <a:cxn ang="0">
                  <a:pos x="24" y="30"/>
                </a:cxn>
                <a:cxn ang="0">
                  <a:pos x="18" y="40"/>
                </a:cxn>
                <a:cxn ang="0">
                  <a:pos x="12" y="50"/>
                </a:cxn>
                <a:cxn ang="0">
                  <a:pos x="6" y="60"/>
                </a:cxn>
                <a:cxn ang="0">
                  <a:pos x="4" y="70"/>
                </a:cxn>
                <a:cxn ang="0">
                  <a:pos x="2" y="82"/>
                </a:cxn>
                <a:cxn ang="0">
                  <a:pos x="0" y="94"/>
                </a:cxn>
                <a:cxn ang="0">
                  <a:pos x="0" y="94"/>
                </a:cxn>
                <a:cxn ang="0">
                  <a:pos x="2" y="114"/>
                </a:cxn>
                <a:cxn ang="0">
                  <a:pos x="8" y="132"/>
                </a:cxn>
                <a:cxn ang="0">
                  <a:pos x="16" y="148"/>
                </a:cxn>
                <a:cxn ang="0">
                  <a:pos x="28" y="162"/>
                </a:cxn>
                <a:cxn ang="0">
                  <a:pos x="42" y="172"/>
                </a:cxn>
                <a:cxn ang="0">
                  <a:pos x="58" y="182"/>
                </a:cxn>
                <a:cxn ang="0">
                  <a:pos x="76" y="188"/>
                </a:cxn>
                <a:cxn ang="0">
                  <a:pos x="94" y="188"/>
                </a:cxn>
                <a:cxn ang="0">
                  <a:pos x="94" y="188"/>
                </a:cxn>
                <a:cxn ang="0">
                  <a:pos x="94" y="188"/>
                </a:cxn>
                <a:cxn ang="0">
                  <a:pos x="94" y="188"/>
                </a:cxn>
                <a:cxn ang="0">
                  <a:pos x="94" y="188"/>
                </a:cxn>
                <a:cxn ang="0">
                  <a:pos x="94" y="188"/>
                </a:cxn>
                <a:cxn ang="0">
                  <a:pos x="114" y="188"/>
                </a:cxn>
                <a:cxn ang="0">
                  <a:pos x="114" y="188"/>
                </a:cxn>
                <a:cxn ang="0">
                  <a:pos x="130" y="182"/>
                </a:cxn>
                <a:cxn ang="0">
                  <a:pos x="144" y="176"/>
                </a:cxn>
                <a:cxn ang="0">
                  <a:pos x="156" y="166"/>
                </a:cxn>
                <a:cxn ang="0">
                  <a:pos x="168" y="154"/>
                </a:cxn>
                <a:cxn ang="0">
                  <a:pos x="178" y="142"/>
                </a:cxn>
                <a:cxn ang="0">
                  <a:pos x="184" y="126"/>
                </a:cxn>
                <a:cxn ang="0">
                  <a:pos x="188" y="112"/>
                </a:cxn>
                <a:cxn ang="0">
                  <a:pos x="190" y="94"/>
                </a:cxn>
                <a:cxn ang="0">
                  <a:pos x="190" y="94"/>
                </a:cxn>
                <a:cxn ang="0">
                  <a:pos x="188" y="78"/>
                </a:cxn>
                <a:cxn ang="0">
                  <a:pos x="184" y="62"/>
                </a:cxn>
                <a:cxn ang="0">
                  <a:pos x="178" y="48"/>
                </a:cxn>
                <a:cxn ang="0">
                  <a:pos x="168" y="34"/>
                </a:cxn>
                <a:cxn ang="0">
                  <a:pos x="168" y="34"/>
                </a:cxn>
                <a:cxn ang="0">
                  <a:pos x="154" y="20"/>
                </a:cxn>
                <a:cxn ang="0">
                  <a:pos x="136" y="8"/>
                </a:cxn>
                <a:cxn ang="0">
                  <a:pos x="116" y="2"/>
                </a:cxn>
                <a:cxn ang="0">
                  <a:pos x="106" y="0"/>
                </a:cxn>
                <a:cxn ang="0">
                  <a:pos x="94" y="0"/>
                </a:cxn>
                <a:cxn ang="0">
                  <a:pos x="94" y="0"/>
                </a:cxn>
              </a:cxnLst>
              <a:rect l="0" t="0" r="r" b="b"/>
              <a:pathLst>
                <a:path w="190" h="188">
                  <a:moveTo>
                    <a:pt x="94" y="0"/>
                  </a:moveTo>
                  <a:lnTo>
                    <a:pt x="94" y="0"/>
                  </a:lnTo>
                  <a:lnTo>
                    <a:pt x="80" y="0"/>
                  </a:lnTo>
                  <a:lnTo>
                    <a:pt x="66" y="4"/>
                  </a:lnTo>
                  <a:lnTo>
                    <a:pt x="54" y="8"/>
                  </a:lnTo>
                  <a:lnTo>
                    <a:pt x="42" y="16"/>
                  </a:lnTo>
                  <a:lnTo>
                    <a:pt x="42" y="16"/>
                  </a:lnTo>
                  <a:lnTo>
                    <a:pt x="32" y="22"/>
                  </a:lnTo>
                  <a:lnTo>
                    <a:pt x="24" y="30"/>
                  </a:lnTo>
                  <a:lnTo>
                    <a:pt x="18" y="40"/>
                  </a:lnTo>
                  <a:lnTo>
                    <a:pt x="12" y="50"/>
                  </a:lnTo>
                  <a:lnTo>
                    <a:pt x="6" y="60"/>
                  </a:lnTo>
                  <a:lnTo>
                    <a:pt x="4" y="70"/>
                  </a:lnTo>
                  <a:lnTo>
                    <a:pt x="2" y="82"/>
                  </a:lnTo>
                  <a:lnTo>
                    <a:pt x="0" y="94"/>
                  </a:lnTo>
                  <a:lnTo>
                    <a:pt x="0" y="94"/>
                  </a:lnTo>
                  <a:lnTo>
                    <a:pt x="2" y="114"/>
                  </a:lnTo>
                  <a:lnTo>
                    <a:pt x="8" y="132"/>
                  </a:lnTo>
                  <a:lnTo>
                    <a:pt x="16" y="148"/>
                  </a:lnTo>
                  <a:lnTo>
                    <a:pt x="28" y="162"/>
                  </a:lnTo>
                  <a:lnTo>
                    <a:pt x="42" y="172"/>
                  </a:lnTo>
                  <a:lnTo>
                    <a:pt x="58" y="182"/>
                  </a:lnTo>
                  <a:lnTo>
                    <a:pt x="76" y="188"/>
                  </a:lnTo>
                  <a:lnTo>
                    <a:pt x="94" y="188"/>
                  </a:lnTo>
                  <a:lnTo>
                    <a:pt x="94" y="188"/>
                  </a:lnTo>
                  <a:lnTo>
                    <a:pt x="94" y="188"/>
                  </a:lnTo>
                  <a:lnTo>
                    <a:pt x="94" y="188"/>
                  </a:lnTo>
                  <a:lnTo>
                    <a:pt x="94" y="188"/>
                  </a:lnTo>
                  <a:lnTo>
                    <a:pt x="94" y="188"/>
                  </a:lnTo>
                  <a:lnTo>
                    <a:pt x="114" y="188"/>
                  </a:lnTo>
                  <a:lnTo>
                    <a:pt x="114" y="188"/>
                  </a:lnTo>
                  <a:lnTo>
                    <a:pt x="130" y="182"/>
                  </a:lnTo>
                  <a:lnTo>
                    <a:pt x="144" y="176"/>
                  </a:lnTo>
                  <a:lnTo>
                    <a:pt x="156" y="166"/>
                  </a:lnTo>
                  <a:lnTo>
                    <a:pt x="168" y="154"/>
                  </a:lnTo>
                  <a:lnTo>
                    <a:pt x="178" y="142"/>
                  </a:lnTo>
                  <a:lnTo>
                    <a:pt x="184" y="126"/>
                  </a:lnTo>
                  <a:lnTo>
                    <a:pt x="188" y="112"/>
                  </a:lnTo>
                  <a:lnTo>
                    <a:pt x="190" y="94"/>
                  </a:lnTo>
                  <a:lnTo>
                    <a:pt x="190" y="94"/>
                  </a:lnTo>
                  <a:lnTo>
                    <a:pt x="188" y="78"/>
                  </a:lnTo>
                  <a:lnTo>
                    <a:pt x="184" y="62"/>
                  </a:lnTo>
                  <a:lnTo>
                    <a:pt x="178" y="48"/>
                  </a:lnTo>
                  <a:lnTo>
                    <a:pt x="168" y="34"/>
                  </a:lnTo>
                  <a:lnTo>
                    <a:pt x="168" y="34"/>
                  </a:lnTo>
                  <a:lnTo>
                    <a:pt x="154" y="20"/>
                  </a:lnTo>
                  <a:lnTo>
                    <a:pt x="136" y="8"/>
                  </a:lnTo>
                  <a:lnTo>
                    <a:pt x="116" y="2"/>
                  </a:lnTo>
                  <a:lnTo>
                    <a:pt x="106" y="0"/>
                  </a:lnTo>
                  <a:lnTo>
                    <a:pt x="94" y="0"/>
                  </a:lnTo>
                  <a:lnTo>
                    <a:pt x="94" y="0"/>
                  </a:ln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9" name="燕尾形 8"/>
            <p:cNvSpPr/>
            <p:nvPr/>
          </p:nvSpPr>
          <p:spPr>
            <a:xfrm>
              <a:off x="6104" y="6888"/>
              <a:ext cx="2288" cy="617"/>
            </a:xfrm>
            <a:prstGeom prst="chevron">
              <a:avLst>
                <a:gd name="adj" fmla="val 60001"/>
              </a:avLst>
            </a:prstGeom>
            <a:solidFill>
              <a:srgbClr val="5B78B9"/>
            </a:solidFill>
            <a:ln w="9525" cap="flat" cmpd="sng" algn="ctr">
              <a:noFill/>
              <a:prstDash val="solid"/>
            </a:ln>
            <a:effectLst/>
          </p:spPr>
          <p:txBody>
            <a:bodyPr rtlCol="0" anchor="ctr"/>
            <a:lstStyle/>
            <a:p>
              <a:pPr algn="ctr"/>
              <a:endParaRPr kumimoji="1" lang="zh-CN" altLang="en-US" sz="1400" b="1" dirty="0">
                <a:solidFill>
                  <a:srgbClr val="FFFFFF"/>
                </a:solidFill>
              </a:endParaRPr>
            </a:p>
          </p:txBody>
        </p:sp>
        <p:sp>
          <p:nvSpPr>
            <p:cNvPr id="10" name="燕尾形 9"/>
            <p:cNvSpPr/>
            <p:nvPr/>
          </p:nvSpPr>
          <p:spPr>
            <a:xfrm>
              <a:off x="8127" y="6882"/>
              <a:ext cx="2288" cy="617"/>
            </a:xfrm>
            <a:prstGeom prst="chevron">
              <a:avLst>
                <a:gd name="adj" fmla="val 60001"/>
              </a:avLst>
            </a:prstGeom>
            <a:solidFill>
              <a:srgbClr val="8098C8"/>
            </a:solidFill>
            <a:ln w="9525" cap="flat" cmpd="sng" algn="ctr">
              <a:noFill/>
              <a:prstDash val="solid"/>
            </a:ln>
            <a:effectLst/>
          </p:spPr>
          <p:txBody>
            <a:bodyPr rtlCol="0" anchor="ctr"/>
            <a:lstStyle/>
            <a:p>
              <a:pPr algn="ctr"/>
              <a:endParaRPr kumimoji="1" lang="zh-CN" altLang="en-US" sz="1400" b="1" dirty="0">
                <a:solidFill>
                  <a:srgbClr val="FFFFFF"/>
                </a:solidFill>
              </a:endParaRPr>
            </a:p>
          </p:txBody>
        </p:sp>
        <p:sp>
          <p:nvSpPr>
            <p:cNvPr id="11" name="燕尾形 10"/>
            <p:cNvSpPr/>
            <p:nvPr/>
          </p:nvSpPr>
          <p:spPr>
            <a:xfrm>
              <a:off x="3578" y="6884"/>
              <a:ext cx="2802" cy="617"/>
            </a:xfrm>
            <a:prstGeom prst="chevron">
              <a:avLst>
                <a:gd name="adj" fmla="val 60001"/>
              </a:avLst>
            </a:prstGeom>
            <a:solidFill>
              <a:srgbClr val="425E9C"/>
            </a:solidFill>
            <a:ln w="9525" cap="flat" cmpd="sng" algn="ctr">
              <a:noFill/>
              <a:prstDash val="solid"/>
            </a:ln>
            <a:effectLst/>
          </p:spPr>
          <p:txBody>
            <a:bodyPr rtlCol="0" anchor="ctr"/>
            <a:lstStyle/>
            <a:p>
              <a:pPr algn="ctr"/>
              <a:endParaRPr kumimoji="1" lang="zh-CN" altLang="en-US" sz="1400" b="1" dirty="0">
                <a:solidFill>
                  <a:srgbClr val="FFFFFF"/>
                </a:solidFill>
              </a:endParaRPr>
            </a:p>
          </p:txBody>
        </p:sp>
        <p:sp>
          <p:nvSpPr>
            <p:cNvPr id="14" name="文本框 13"/>
            <p:cNvSpPr txBox="1"/>
            <p:nvPr/>
          </p:nvSpPr>
          <p:spPr>
            <a:xfrm>
              <a:off x="3927" y="6949"/>
              <a:ext cx="2104" cy="824"/>
            </a:xfrm>
            <a:prstGeom prst="rect">
              <a:avLst/>
            </a:prstGeom>
            <a:noFill/>
          </p:spPr>
          <p:txBody>
            <a:bodyPr wrap="square" rtlCol="0">
              <a:spAutoFit/>
            </a:bodyPr>
            <a:lstStyle/>
            <a:p>
              <a:pPr algn="ctr"/>
              <a:r>
                <a:rPr lang="en-US" altLang="zh-CN" sz="1400" b="1" dirty="0">
                  <a:solidFill>
                    <a:schemeClr val="bg1"/>
                  </a:solidFill>
                </a:rPr>
                <a:t>《</a:t>
              </a:r>
              <a:r>
                <a:rPr lang="zh-CN" altLang="zh-CN" sz="1400" b="1" dirty="0">
                  <a:solidFill>
                    <a:schemeClr val="bg1"/>
                  </a:solidFill>
                </a:rPr>
                <a:t>被偷走的新娘</a:t>
              </a:r>
              <a:r>
                <a:rPr lang="en-US" altLang="zh-CN" sz="1400" b="1" dirty="0">
                  <a:solidFill>
                    <a:schemeClr val="bg1"/>
                  </a:solidFill>
                </a:rPr>
                <a:t>》</a:t>
              </a:r>
              <a:endParaRPr lang="zh-CN" altLang="zh-CN" sz="1400" b="1" dirty="0">
                <a:solidFill>
                  <a:schemeClr val="bg1"/>
                </a:solidFill>
              </a:endParaRPr>
            </a:p>
          </p:txBody>
        </p:sp>
        <p:sp>
          <p:nvSpPr>
            <p:cNvPr id="15" name="文本框 14"/>
            <p:cNvSpPr txBox="1"/>
            <p:nvPr/>
          </p:nvSpPr>
          <p:spPr>
            <a:xfrm>
              <a:off x="8625" y="6930"/>
              <a:ext cx="1291" cy="921"/>
            </a:xfrm>
            <a:prstGeom prst="rect">
              <a:avLst/>
            </a:prstGeom>
            <a:noFill/>
          </p:spPr>
          <p:txBody>
            <a:bodyPr wrap="square" rtlCol="0">
              <a:spAutoFit/>
            </a:bodyPr>
            <a:lstStyle/>
            <a:p>
              <a:pPr algn="ctr"/>
              <a:r>
                <a:rPr lang="zh-CN" altLang="en-US" sz="1600" b="1" dirty="0">
                  <a:solidFill>
                    <a:schemeClr val="bg1"/>
                  </a:solidFill>
                </a:rPr>
                <a:t>剧情 爱情</a:t>
              </a:r>
              <a:endParaRPr lang="zh-CN" altLang="zh-CN" sz="1600" b="1" dirty="0">
                <a:solidFill>
                  <a:schemeClr val="bg1"/>
                </a:solidFill>
              </a:endParaRPr>
            </a:p>
          </p:txBody>
        </p:sp>
        <p:sp>
          <p:nvSpPr>
            <p:cNvPr id="17" name="文本框 16"/>
            <p:cNvSpPr txBox="1"/>
            <p:nvPr/>
          </p:nvSpPr>
          <p:spPr>
            <a:xfrm>
              <a:off x="6602" y="6925"/>
              <a:ext cx="1291" cy="531"/>
            </a:xfrm>
            <a:prstGeom prst="rect">
              <a:avLst/>
            </a:prstGeom>
            <a:noFill/>
          </p:spPr>
          <p:txBody>
            <a:bodyPr wrap="square" rtlCol="0">
              <a:spAutoFit/>
            </a:bodyPr>
            <a:lstStyle/>
            <a:p>
              <a:pPr algn="ctr"/>
              <a:r>
                <a:rPr lang="zh-CN" altLang="en-US" sz="1600" b="1" dirty="0">
                  <a:solidFill>
                    <a:schemeClr val="bg1"/>
                  </a:solidFill>
                </a:rPr>
                <a:t>类别</a:t>
              </a:r>
              <a:endParaRPr lang="zh-CN" altLang="zh-CN" sz="1600" b="1" dirty="0">
                <a:solidFill>
                  <a:schemeClr val="bg1"/>
                </a:solidFill>
              </a:endParaRPr>
            </a:p>
          </p:txBody>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xit" presetSubtype="0" fill="hold" nodeType="clickEffect">
                                  <p:stCondLst>
                                    <p:cond delay="0"/>
                                  </p:stCondLst>
                                  <p:childTnLst>
                                    <p:animEffect transition="out" filter="fade">
                                      <p:cBhvr>
                                        <p:cTn id="6" dur="500"/>
                                        <p:tgtEl>
                                          <p:spTgt spid="13"/>
                                        </p:tgtEl>
                                      </p:cBhvr>
                                    </p:animEffect>
                                    <p:anim calcmode="lin" valueType="num">
                                      <p:cBhvr>
                                        <p:cTn id="7" dur="500"/>
                                        <p:tgtEl>
                                          <p:spTgt spid="13"/>
                                        </p:tgtEl>
                                        <p:attrNameLst>
                                          <p:attrName>ppt_x</p:attrName>
                                        </p:attrNameLst>
                                      </p:cBhvr>
                                      <p:tavLst>
                                        <p:tav tm="0">
                                          <p:val>
                                            <p:strVal val="ppt_x"/>
                                          </p:val>
                                        </p:tav>
                                        <p:tav tm="100000">
                                          <p:val>
                                            <p:strVal val="ppt_x"/>
                                          </p:val>
                                        </p:tav>
                                      </p:tavLst>
                                    </p:anim>
                                    <p:anim calcmode="lin" valueType="num">
                                      <p:cBhvr>
                                        <p:cTn id="8" dur="500"/>
                                        <p:tgtEl>
                                          <p:spTgt spid="13"/>
                                        </p:tgtEl>
                                        <p:attrNameLst>
                                          <p:attrName>ppt_y</p:attrName>
                                        </p:attrNameLst>
                                      </p:cBhvr>
                                      <p:tavLst>
                                        <p:tav tm="0">
                                          <p:val>
                                            <p:strVal val="ppt_y"/>
                                          </p:val>
                                        </p:tav>
                                        <p:tav tm="100000">
                                          <p:val>
                                            <p:strVal val="ppt_y-.1"/>
                                          </p:val>
                                        </p:tav>
                                      </p:tavLst>
                                    </p:anim>
                                    <p:set>
                                      <p:cBhvr>
                                        <p:cTn id="9" dur="1" fill="hold">
                                          <p:stCondLst>
                                            <p:cond delay="500"/>
                                          </p:stCondLst>
                                        </p:cTn>
                                        <p:tgtEl>
                                          <p:spTgt spid="13"/>
                                        </p:tgtEl>
                                        <p:attrNameLst>
                                          <p:attrName>style.visibility</p:attrName>
                                        </p:attrNameLst>
                                      </p:cBhvr>
                                      <p:to>
                                        <p:strVal val="hidden"/>
                                      </p:to>
                                    </p:set>
                                  </p:childTnLst>
                                </p:cTn>
                              </p:par>
                            </p:childTnLst>
                          </p:cTn>
                        </p:par>
                        <p:par>
                          <p:cTn id="10" fill="hold">
                            <p:stCondLst>
                              <p:cond delay="500"/>
                            </p:stCondLst>
                            <p:childTnLst>
                              <p:par>
                                <p:cTn id="11" presetID="42" presetClass="entr" presetSubtype="0" fill="hold" nodeType="afterEffect">
                                  <p:stCondLst>
                                    <p:cond delay="0"/>
                                  </p:stCondLst>
                                  <p:childTnLst>
                                    <p:set>
                                      <p:cBhvr>
                                        <p:cTn id="12" dur="500"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anim calcmode="lin" valueType="num">
                                      <p:cBhvr>
                                        <p:cTn id="14" dur="500" fill="hold"/>
                                        <p:tgtEl>
                                          <p:spTgt spid="18"/>
                                        </p:tgtEl>
                                        <p:attrNameLst>
                                          <p:attrName>ppt_x</p:attrName>
                                        </p:attrNameLst>
                                      </p:cBhvr>
                                      <p:tavLst>
                                        <p:tav tm="0">
                                          <p:val>
                                            <p:strVal val="#ppt_x"/>
                                          </p:val>
                                        </p:tav>
                                        <p:tav tm="100000">
                                          <p:val>
                                            <p:strVal val="#ppt_x"/>
                                          </p:val>
                                        </p:tav>
                                      </p:tavLst>
                                    </p:anim>
                                    <p:anim calcmode="lin" valueType="num">
                                      <p:cBhvr>
                                        <p:cTn id="15"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107996"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数据分析</a:t>
            </a:r>
          </a:p>
        </p:txBody>
      </p:sp>
      <p:sp>
        <p:nvSpPr>
          <p:cNvPr id="5" name="矩形 4"/>
          <p:cNvSpPr/>
          <p:nvPr/>
        </p:nvSpPr>
        <p:spPr>
          <a:xfrm>
            <a:off x="90232" y="575233"/>
            <a:ext cx="803425" cy="215444"/>
          </a:xfrm>
          <a:prstGeom prst="rect">
            <a:avLst/>
          </a:prstGeom>
        </p:spPr>
        <p:txBody>
          <a:bodyPr wrap="none">
            <a:spAutoFit/>
          </a:bodyPr>
          <a:lstStyle/>
          <a:p>
            <a:pPr lvl="0" fontAlgn="base">
              <a:spcBef>
                <a:spcPct val="0"/>
              </a:spcBef>
              <a:spcAft>
                <a:spcPct val="0"/>
              </a:spcAft>
              <a:defRPr/>
            </a:pPr>
            <a:r>
              <a:rPr lang="en-US" altLang="zh-CN" sz="800" dirty="0">
                <a:solidFill>
                  <a:schemeClr val="accent1"/>
                </a:solidFill>
                <a:latin typeface="+mj-lt"/>
                <a:ea typeface="方正兰亭黑_GBK"/>
              </a:rPr>
              <a:t>Data analysis</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87120" y="832718"/>
            <a:ext cx="4940360" cy="3952287"/>
          </a:xfrm>
          <a:prstGeom prst="rect">
            <a:avLst/>
          </a:prstGeom>
        </p:spPr>
      </p:pic>
      <p:pic>
        <p:nvPicPr>
          <p:cNvPr id="11" name="图片 10"/>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832718"/>
            <a:ext cx="4940359" cy="3952287"/>
          </a:xfrm>
          <a:prstGeom prst="rect">
            <a:avLst/>
          </a:prstGeom>
        </p:spPr>
      </p:pic>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pic>
        <p:nvPicPr>
          <p:cNvPr id="3" name="图片 2" descr="DeeCamp角标"/>
          <p:cNvPicPr>
            <a:picLocks noChangeAspect="1"/>
          </p:cNvPicPr>
          <p:nvPr/>
        </p:nvPicPr>
        <p:blipFill>
          <a:blip r:embed="rId3"/>
          <a:stretch>
            <a:fillRect/>
          </a:stretch>
        </p:blipFill>
        <p:spPr>
          <a:xfrm>
            <a:off x="3259455" y="1270"/>
            <a:ext cx="5865495" cy="3299460"/>
          </a:xfrm>
          <a:prstGeom prst="rect">
            <a:avLst/>
          </a:prstGeom>
        </p:spPr>
      </p:pic>
      <p:sp>
        <p:nvSpPr>
          <p:cNvPr id="13" name="矩形 12"/>
          <p:cNvSpPr/>
          <p:nvPr/>
        </p:nvSpPr>
        <p:spPr bwMode="auto">
          <a:xfrm>
            <a:off x="3402449" y="2094283"/>
            <a:ext cx="2339102" cy="523220"/>
          </a:xfrm>
          <a:prstGeom prst="rect">
            <a:avLst/>
          </a:prstGeom>
          <a:noFill/>
        </p:spPr>
        <p:txBody>
          <a:bodyPr wrap="none">
            <a:spAutoFit/>
          </a:bodyPr>
          <a:lstStyle/>
          <a:p>
            <a:pPr algn="ctr">
              <a:defRPr/>
            </a:pPr>
            <a:r>
              <a:rPr lang="zh-CN" altLang="en-US" sz="2800" kern="100" dirty="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推荐模型构造</a:t>
            </a:r>
          </a:p>
        </p:txBody>
      </p:sp>
      <p:sp>
        <p:nvSpPr>
          <p:cNvPr id="14" name="矩形 13"/>
          <p:cNvSpPr/>
          <p:nvPr/>
        </p:nvSpPr>
        <p:spPr>
          <a:xfrm>
            <a:off x="3349550" y="2617504"/>
            <a:ext cx="2444900" cy="253916"/>
          </a:xfrm>
          <a:prstGeom prst="rect">
            <a:avLst/>
          </a:prstGeom>
        </p:spPr>
        <p:txBody>
          <a:bodyPr wrap="none">
            <a:spAutoFit/>
          </a:bodyPr>
          <a:lstStyle/>
          <a:p>
            <a:pPr algn="ctr" fontAlgn="base">
              <a:spcBef>
                <a:spcPct val="0"/>
              </a:spcBef>
              <a:spcAft>
                <a:spcPct val="0"/>
              </a:spcAft>
              <a:defRPr/>
            </a:pPr>
            <a:r>
              <a:rPr lang="en-US" altLang="zh-CN" sz="1050" dirty="0">
                <a:solidFill>
                  <a:srgbClr val="304371"/>
                </a:solidFill>
                <a:latin typeface="Arial" panose="020B0604020202020204"/>
                <a:ea typeface="方正兰亭黑_GBK"/>
              </a:rPr>
              <a:t>Recommendation Model Construction</a:t>
            </a:r>
          </a:p>
        </p:txBody>
      </p:sp>
      <p:sp>
        <p:nvSpPr>
          <p:cNvPr id="15" name="矩形 14"/>
          <p:cNvSpPr/>
          <p:nvPr/>
        </p:nvSpPr>
        <p:spPr>
          <a:xfrm>
            <a:off x="2824381" y="2963755"/>
            <a:ext cx="3495238" cy="278602"/>
          </a:xfrm>
          <a:prstGeom prst="rect">
            <a:avLst/>
          </a:prstGeom>
        </p:spPr>
        <p:txBody>
          <a:bodyPr wrap="square">
            <a:spAutoFit/>
          </a:bodyPr>
          <a:lstStyle/>
          <a:p>
            <a:pPr algn="ctr">
              <a:lnSpc>
                <a:spcPct val="150000"/>
              </a:lnSpc>
            </a:pPr>
            <a:r>
              <a:rPr lang="en-US" altLang="zh-CN" sz="900" dirty="0" err="1">
                <a:solidFill>
                  <a:prstClr val="black">
                    <a:lumMod val="85000"/>
                    <a:lumOff val="15000"/>
                  </a:prstClr>
                </a:solidFill>
              </a:rPr>
              <a:t>NineTeen</a:t>
            </a:r>
            <a:r>
              <a:rPr lang="en-US" altLang="zh-CN" sz="900" dirty="0">
                <a:solidFill>
                  <a:prstClr val="black">
                    <a:lumMod val="85000"/>
                    <a:lumOff val="15000"/>
                  </a:prstClr>
                </a:solidFill>
              </a:rPr>
              <a:t> For Knowledge Graph</a:t>
            </a:r>
          </a:p>
        </p:txBody>
      </p:sp>
      <p:cxnSp>
        <p:nvCxnSpPr>
          <p:cNvPr id="16" name="直接连接符 15"/>
          <p:cNvCxnSpPr/>
          <p:nvPr/>
        </p:nvCxnSpPr>
        <p:spPr>
          <a:xfrm>
            <a:off x="4441372" y="2961888"/>
            <a:ext cx="2612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任意多边形 22"/>
          <p:cNvSpPr/>
          <p:nvPr/>
        </p:nvSpPr>
        <p:spPr>
          <a:xfrm>
            <a:off x="2496968" y="-465601"/>
            <a:ext cx="4171119" cy="2085559"/>
          </a:xfrm>
          <a:custGeom>
            <a:avLst/>
            <a:gdLst>
              <a:gd name="connsiteX0" fmla="*/ 0 w 3557939"/>
              <a:gd name="connsiteY0" fmla="*/ 0 h 1778969"/>
              <a:gd name="connsiteX1" fmla="*/ 3557939 w 3557939"/>
              <a:gd name="connsiteY1" fmla="*/ 0 h 1778969"/>
              <a:gd name="connsiteX2" fmla="*/ 1778970 w 3557939"/>
              <a:gd name="connsiteY2" fmla="*/ 1778969 h 1778969"/>
            </a:gdLst>
            <a:ahLst/>
            <a:cxnLst>
              <a:cxn ang="0">
                <a:pos x="connsiteX0" y="connsiteY0"/>
              </a:cxn>
              <a:cxn ang="0">
                <a:pos x="connsiteX1" y="connsiteY1"/>
              </a:cxn>
              <a:cxn ang="0">
                <a:pos x="connsiteX2" y="connsiteY2"/>
              </a:cxn>
            </a:cxnLst>
            <a:rect l="l" t="t" r="r" b="b"/>
            <a:pathLst>
              <a:path w="3557939" h="1778969">
                <a:moveTo>
                  <a:pt x="0" y="0"/>
                </a:moveTo>
                <a:lnTo>
                  <a:pt x="3557939" y="0"/>
                </a:lnTo>
                <a:lnTo>
                  <a:pt x="1778970" y="1778969"/>
                </a:lnTo>
                <a:close/>
              </a:path>
            </a:pathLst>
          </a:cu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菱形 24"/>
          <p:cNvSpPr/>
          <p:nvPr/>
        </p:nvSpPr>
        <p:spPr>
          <a:xfrm>
            <a:off x="2184101" y="229604"/>
            <a:ext cx="4775798" cy="4775798"/>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descr="logo"/>
          <p:cNvPicPr>
            <a:picLocks noChangeAspect="1"/>
          </p:cNvPicPr>
          <p:nvPr/>
        </p:nvPicPr>
        <p:blipFill>
          <a:blip r:embed="rId4"/>
          <a:srcRect l="365" t="-3316" r="-547" b="31993"/>
          <a:stretch>
            <a:fillRect/>
          </a:stretch>
        </p:blipFill>
        <p:spPr>
          <a:xfrm>
            <a:off x="4093210" y="548005"/>
            <a:ext cx="978612" cy="720005"/>
          </a:xfrm>
          <a:prstGeom prst="rect">
            <a:avLst/>
          </a:prstGeom>
        </p:spPr>
      </p:pic>
    </p:spTree>
  </p:cSld>
  <p:clrMapOvr>
    <a:masterClrMapping/>
  </p:clrMapOvr>
  <p:transition spd="slow">
    <p:push dir="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pic>
        <p:nvPicPr>
          <p:cNvPr id="79" name="图片 7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0" cy="2923822"/>
          </a:xfrm>
          <a:prstGeom prst="rect">
            <a:avLst/>
          </a:prstGeom>
        </p:spPr>
      </p:pic>
      <p:sp>
        <p:nvSpPr>
          <p:cNvPr id="8" name="矩形 7"/>
          <p:cNvSpPr/>
          <p:nvPr/>
        </p:nvSpPr>
        <p:spPr>
          <a:xfrm>
            <a:off x="0" y="-3"/>
            <a:ext cx="9144000" cy="2939143"/>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bwMode="auto">
          <a:xfrm>
            <a:off x="90232" y="205901"/>
            <a:ext cx="1569660" cy="369332"/>
          </a:xfrm>
          <a:prstGeom prst="rect">
            <a:avLst/>
          </a:prstGeom>
          <a:noFill/>
        </p:spPr>
        <p:txBody>
          <a:bodyPr wrap="none">
            <a:spAutoFit/>
          </a:bodyPr>
          <a:lstStyle/>
          <a:p>
            <a:pPr>
              <a:defRPr/>
            </a:pPr>
            <a:r>
              <a:rPr lang="zh-CN" altLang="en-US" sz="1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推荐模型构造</a:t>
            </a:r>
          </a:p>
        </p:txBody>
      </p:sp>
      <p:sp>
        <p:nvSpPr>
          <p:cNvPr id="5" name="矩形 4"/>
          <p:cNvSpPr/>
          <p:nvPr/>
        </p:nvSpPr>
        <p:spPr>
          <a:xfrm>
            <a:off x="90232" y="575233"/>
            <a:ext cx="1909497" cy="215444"/>
          </a:xfrm>
          <a:prstGeom prst="rect">
            <a:avLst/>
          </a:prstGeom>
        </p:spPr>
        <p:txBody>
          <a:bodyPr wrap="none">
            <a:spAutoFit/>
          </a:bodyPr>
          <a:lstStyle/>
          <a:p>
            <a:pPr lvl="0" fontAlgn="base">
              <a:spcBef>
                <a:spcPct val="0"/>
              </a:spcBef>
              <a:spcAft>
                <a:spcPct val="0"/>
              </a:spcAft>
              <a:defRPr/>
            </a:pPr>
            <a:r>
              <a:rPr lang="en-US" altLang="zh-CN" sz="800" dirty="0">
                <a:solidFill>
                  <a:schemeClr val="bg1"/>
                </a:solidFill>
                <a:latin typeface="+mj-lt"/>
                <a:ea typeface="方正兰亭黑_GBK"/>
              </a:rPr>
              <a:t>Recommendation Model Construction</a:t>
            </a:r>
          </a:p>
        </p:txBody>
      </p:sp>
      <p:cxnSp>
        <p:nvCxnSpPr>
          <p:cNvPr id="7" name="直接连接符 6"/>
          <p:cNvCxnSpPr/>
          <p:nvPr/>
        </p:nvCxnSpPr>
        <p:spPr>
          <a:xfrm>
            <a:off x="194041" y="811697"/>
            <a:ext cx="25790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auto">
          <a:xfrm>
            <a:off x="605155" y="3537585"/>
            <a:ext cx="427355" cy="335280"/>
          </a:xfrm>
          <a:prstGeom prst="rect">
            <a:avLst/>
          </a:prstGeom>
          <a:noFill/>
        </p:spPr>
        <p:txBody>
          <a:bodyPr wrap="none">
            <a:spAutoFit/>
          </a:bodyPr>
          <a:lstStyle/>
          <a:p>
            <a:pPr algn="ct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CF</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8" name="矩形 67"/>
          <p:cNvSpPr/>
          <p:nvPr/>
        </p:nvSpPr>
        <p:spPr>
          <a:xfrm>
            <a:off x="-25400" y="3872865"/>
            <a:ext cx="1800225" cy="1198880"/>
          </a:xfrm>
          <a:prstGeom prst="rect">
            <a:avLst/>
          </a:prstGeom>
        </p:spPr>
        <p:txBody>
          <a:bodyPr wrap="square">
            <a:spAutoFit/>
          </a:bodyPr>
          <a:lstStyle/>
          <a:p>
            <a:pPr algn="just">
              <a:lnSpc>
                <a:spcPct val="150000"/>
              </a:lnSpc>
            </a:pPr>
            <a:r>
              <a:rPr lang="en-US" altLang="zh-CN" sz="1200" dirty="0">
                <a:solidFill>
                  <a:schemeClr val="tx1">
                    <a:lumMod val="85000"/>
                    <a:lumOff val="15000"/>
                  </a:schemeClr>
                </a:solidFill>
              </a:rPr>
              <a:t>      </a:t>
            </a:r>
            <a:r>
              <a:rPr lang="zh-CN" altLang="en-US" sz="1200" dirty="0">
                <a:solidFill>
                  <a:schemeClr val="tx1">
                    <a:lumMod val="85000"/>
                    <a:lumOff val="15000"/>
                  </a:schemeClr>
                </a:solidFill>
              </a:rPr>
              <a:t>协同过滤，采用对用户的评分计算用户之间的相似度，再选择</a:t>
            </a:r>
            <a:r>
              <a:rPr lang="en-US" altLang="zh-CN" sz="1200" dirty="0">
                <a:solidFill>
                  <a:schemeClr val="tx1">
                    <a:lumMod val="85000"/>
                    <a:lumOff val="15000"/>
                  </a:schemeClr>
                </a:solidFill>
              </a:rPr>
              <a:t>Top3</a:t>
            </a:r>
            <a:r>
              <a:rPr lang="zh-CN" altLang="en-US" sz="1200" dirty="0">
                <a:solidFill>
                  <a:schemeClr val="tx1">
                    <a:lumMod val="85000"/>
                    <a:lumOff val="15000"/>
                  </a:schemeClr>
                </a:solidFill>
              </a:rPr>
              <a:t>进行推荐</a:t>
            </a:r>
          </a:p>
        </p:txBody>
      </p:sp>
      <p:cxnSp>
        <p:nvCxnSpPr>
          <p:cNvPr id="69" name="直接连接符 68"/>
          <p:cNvCxnSpPr/>
          <p:nvPr/>
        </p:nvCxnSpPr>
        <p:spPr>
          <a:xfrm>
            <a:off x="728980" y="3899535"/>
            <a:ext cx="1803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41935" y="2310765"/>
            <a:ext cx="1159510" cy="1160780"/>
            <a:chOff x="381" y="3639"/>
            <a:chExt cx="1826" cy="1828"/>
          </a:xfrm>
        </p:grpSpPr>
        <p:sp>
          <p:nvSpPr>
            <p:cNvPr id="9" name="椭圆 8"/>
            <p:cNvSpPr/>
            <p:nvPr/>
          </p:nvSpPr>
          <p:spPr>
            <a:xfrm>
              <a:off x="381" y="3639"/>
              <a:ext cx="1827" cy="1829"/>
            </a:xfrm>
            <a:prstGeom prst="ellipse">
              <a:avLst/>
            </a:prstGeom>
            <a:solidFill>
              <a:srgbClr val="EEF2F5"/>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9">
              <a:hlinkClick r:id="rId5" action="ppaction://hlinksldjump"/>
            </p:cNvPr>
            <p:cNvSpPr>
              <a:spLocks noEditPoints="1"/>
            </p:cNvSpPr>
            <p:nvPr/>
          </p:nvSpPr>
          <p:spPr bwMode="auto">
            <a:xfrm>
              <a:off x="864" y="4216"/>
              <a:ext cx="860" cy="674"/>
            </a:xfrm>
            <a:custGeom>
              <a:avLst/>
              <a:gdLst>
                <a:gd name="T0" fmla="*/ 234 w 285"/>
                <a:gd name="T1" fmla="*/ 84 h 223"/>
                <a:gd name="T2" fmla="*/ 225 w 285"/>
                <a:gd name="T3" fmla="*/ 84 h 223"/>
                <a:gd name="T4" fmla="*/ 207 w 285"/>
                <a:gd name="T5" fmla="*/ 79 h 223"/>
                <a:gd name="T6" fmla="*/ 207 w 285"/>
                <a:gd name="T7" fmla="*/ 99 h 223"/>
                <a:gd name="T8" fmla="*/ 207 w 285"/>
                <a:gd name="T9" fmla="*/ 79 h 223"/>
                <a:gd name="T10" fmla="*/ 224 w 285"/>
                <a:gd name="T11" fmla="*/ 73 h 223"/>
                <a:gd name="T12" fmla="*/ 224 w 285"/>
                <a:gd name="T13" fmla="*/ 60 h 223"/>
                <a:gd name="T14" fmla="*/ 282 w 285"/>
                <a:gd name="T15" fmla="*/ 88 h 223"/>
                <a:gd name="T16" fmla="*/ 270 w 285"/>
                <a:gd name="T17" fmla="*/ 85 h 223"/>
                <a:gd name="T18" fmla="*/ 147 w 285"/>
                <a:gd name="T19" fmla="*/ 96 h 223"/>
                <a:gd name="T20" fmla="*/ 211 w 285"/>
                <a:gd name="T21" fmla="*/ 26 h 223"/>
                <a:gd name="T22" fmla="*/ 220 w 285"/>
                <a:gd name="T23" fmla="*/ 17 h 223"/>
                <a:gd name="T24" fmla="*/ 282 w 285"/>
                <a:gd name="T25" fmla="*/ 88 h 223"/>
                <a:gd name="T26" fmla="*/ 224 w 285"/>
                <a:gd name="T27" fmla="*/ 39 h 223"/>
                <a:gd name="T28" fmla="*/ 161 w 285"/>
                <a:gd name="T29" fmla="*/ 101 h 223"/>
                <a:gd name="T30" fmla="*/ 261 w 285"/>
                <a:gd name="T31" fmla="*/ 76 h 223"/>
                <a:gd name="T32" fmla="*/ 113 w 285"/>
                <a:gd name="T33" fmla="*/ 153 h 223"/>
                <a:gd name="T34" fmla="*/ 113 w 285"/>
                <a:gd name="T35" fmla="*/ 132 h 223"/>
                <a:gd name="T36" fmla="*/ 83 w 285"/>
                <a:gd name="T37" fmla="*/ 126 h 223"/>
                <a:gd name="T38" fmla="*/ 83 w 285"/>
                <a:gd name="T39" fmla="*/ 147 h 223"/>
                <a:gd name="T40" fmla="*/ 83 w 285"/>
                <a:gd name="T41" fmla="*/ 126 h 223"/>
                <a:gd name="T42" fmla="*/ 104 w 285"/>
                <a:gd name="T43" fmla="*/ 111 h 223"/>
                <a:gd name="T44" fmla="*/ 104 w 285"/>
                <a:gd name="T45" fmla="*/ 126 h 223"/>
                <a:gd name="T46" fmla="*/ 190 w 285"/>
                <a:gd name="T47" fmla="*/ 187 h 223"/>
                <a:gd name="T48" fmla="*/ 27 w 285"/>
                <a:gd name="T49" fmla="*/ 223 h 223"/>
                <a:gd name="T50" fmla="*/ 71 w 285"/>
                <a:gd name="T51" fmla="*/ 75 h 223"/>
                <a:gd name="T52" fmla="*/ 69 w 285"/>
                <a:gd name="T53" fmla="*/ 36 h 223"/>
                <a:gd name="T54" fmla="*/ 69 w 285"/>
                <a:gd name="T55" fmla="*/ 23 h 223"/>
                <a:gd name="T56" fmla="*/ 73 w 285"/>
                <a:gd name="T57" fmla="*/ 0 h 223"/>
                <a:gd name="T58" fmla="*/ 117 w 285"/>
                <a:gd name="T59" fmla="*/ 23 h 223"/>
                <a:gd name="T60" fmla="*/ 134 w 285"/>
                <a:gd name="T61" fmla="*/ 30 h 223"/>
                <a:gd name="T62" fmla="*/ 125 w 285"/>
                <a:gd name="T63" fmla="*/ 36 h 223"/>
                <a:gd name="T64" fmla="*/ 190 w 285"/>
                <a:gd name="T65" fmla="*/ 187 h 223"/>
                <a:gd name="T66" fmla="*/ 114 w 285"/>
                <a:gd name="T67" fmla="*/ 82 h 223"/>
                <a:gd name="T68" fmla="*/ 84 w 285"/>
                <a:gd name="T69" fmla="*/ 79 h 223"/>
                <a:gd name="T70" fmla="*/ 37 w 285"/>
                <a:gd name="T71" fmla="*/ 160 h 223"/>
                <a:gd name="T72" fmla="*/ 36 w 285"/>
                <a:gd name="T73" fmla="*/ 16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5" h="223">
                  <a:moveTo>
                    <a:pt x="229" y="79"/>
                  </a:moveTo>
                  <a:cubicBezTo>
                    <a:pt x="232" y="79"/>
                    <a:pt x="234" y="82"/>
                    <a:pt x="234" y="84"/>
                  </a:cubicBezTo>
                  <a:cubicBezTo>
                    <a:pt x="234" y="87"/>
                    <a:pt x="232" y="89"/>
                    <a:pt x="229" y="89"/>
                  </a:cubicBezTo>
                  <a:cubicBezTo>
                    <a:pt x="227" y="89"/>
                    <a:pt x="225" y="87"/>
                    <a:pt x="225" y="84"/>
                  </a:cubicBezTo>
                  <a:cubicBezTo>
                    <a:pt x="225" y="82"/>
                    <a:pt x="227" y="79"/>
                    <a:pt x="229" y="79"/>
                  </a:cubicBezTo>
                  <a:close/>
                  <a:moveTo>
                    <a:pt x="207" y="79"/>
                  </a:moveTo>
                  <a:cubicBezTo>
                    <a:pt x="202" y="79"/>
                    <a:pt x="198" y="84"/>
                    <a:pt x="198" y="89"/>
                  </a:cubicBezTo>
                  <a:cubicBezTo>
                    <a:pt x="198" y="95"/>
                    <a:pt x="202" y="99"/>
                    <a:pt x="207" y="99"/>
                  </a:cubicBezTo>
                  <a:cubicBezTo>
                    <a:pt x="213" y="99"/>
                    <a:pt x="217" y="95"/>
                    <a:pt x="217" y="89"/>
                  </a:cubicBezTo>
                  <a:cubicBezTo>
                    <a:pt x="217" y="84"/>
                    <a:pt x="213" y="79"/>
                    <a:pt x="207" y="79"/>
                  </a:cubicBezTo>
                  <a:close/>
                  <a:moveTo>
                    <a:pt x="217" y="66"/>
                  </a:moveTo>
                  <a:cubicBezTo>
                    <a:pt x="217" y="70"/>
                    <a:pt x="220" y="73"/>
                    <a:pt x="224" y="73"/>
                  </a:cubicBezTo>
                  <a:cubicBezTo>
                    <a:pt x="228" y="73"/>
                    <a:pt x="231" y="70"/>
                    <a:pt x="231" y="66"/>
                  </a:cubicBezTo>
                  <a:cubicBezTo>
                    <a:pt x="231" y="62"/>
                    <a:pt x="228" y="60"/>
                    <a:pt x="224" y="60"/>
                  </a:cubicBezTo>
                  <a:cubicBezTo>
                    <a:pt x="220" y="60"/>
                    <a:pt x="217" y="62"/>
                    <a:pt x="217" y="66"/>
                  </a:cubicBezTo>
                  <a:close/>
                  <a:moveTo>
                    <a:pt x="282" y="88"/>
                  </a:moveTo>
                  <a:cubicBezTo>
                    <a:pt x="280" y="91"/>
                    <a:pt x="276" y="91"/>
                    <a:pt x="273" y="88"/>
                  </a:cubicBezTo>
                  <a:cubicBezTo>
                    <a:pt x="270" y="85"/>
                    <a:pt x="270" y="85"/>
                    <a:pt x="270" y="85"/>
                  </a:cubicBezTo>
                  <a:cubicBezTo>
                    <a:pt x="189" y="167"/>
                    <a:pt x="189" y="167"/>
                    <a:pt x="189" y="167"/>
                  </a:cubicBezTo>
                  <a:cubicBezTo>
                    <a:pt x="147" y="96"/>
                    <a:pt x="147" y="96"/>
                    <a:pt x="147" y="96"/>
                  </a:cubicBezTo>
                  <a:cubicBezTo>
                    <a:pt x="214" y="29"/>
                    <a:pt x="214" y="29"/>
                    <a:pt x="214" y="29"/>
                  </a:cubicBezTo>
                  <a:cubicBezTo>
                    <a:pt x="211" y="26"/>
                    <a:pt x="211" y="26"/>
                    <a:pt x="211" y="26"/>
                  </a:cubicBezTo>
                  <a:cubicBezTo>
                    <a:pt x="209" y="24"/>
                    <a:pt x="209" y="20"/>
                    <a:pt x="211" y="17"/>
                  </a:cubicBezTo>
                  <a:cubicBezTo>
                    <a:pt x="214" y="15"/>
                    <a:pt x="218" y="15"/>
                    <a:pt x="220" y="17"/>
                  </a:cubicBezTo>
                  <a:cubicBezTo>
                    <a:pt x="282" y="79"/>
                    <a:pt x="282" y="79"/>
                    <a:pt x="282" y="79"/>
                  </a:cubicBezTo>
                  <a:cubicBezTo>
                    <a:pt x="285" y="82"/>
                    <a:pt x="285" y="86"/>
                    <a:pt x="282" y="88"/>
                  </a:cubicBezTo>
                  <a:close/>
                  <a:moveTo>
                    <a:pt x="261" y="76"/>
                  </a:moveTo>
                  <a:cubicBezTo>
                    <a:pt x="224" y="39"/>
                    <a:pt x="224" y="39"/>
                    <a:pt x="224" y="39"/>
                  </a:cubicBezTo>
                  <a:cubicBezTo>
                    <a:pt x="172" y="91"/>
                    <a:pt x="172" y="91"/>
                    <a:pt x="172" y="91"/>
                  </a:cubicBezTo>
                  <a:cubicBezTo>
                    <a:pt x="161" y="101"/>
                    <a:pt x="161" y="101"/>
                    <a:pt x="161" y="101"/>
                  </a:cubicBezTo>
                  <a:cubicBezTo>
                    <a:pt x="236" y="101"/>
                    <a:pt x="236" y="101"/>
                    <a:pt x="236" y="101"/>
                  </a:cubicBezTo>
                  <a:lnTo>
                    <a:pt x="261" y="76"/>
                  </a:lnTo>
                  <a:close/>
                  <a:moveTo>
                    <a:pt x="102" y="142"/>
                  </a:moveTo>
                  <a:cubicBezTo>
                    <a:pt x="102" y="148"/>
                    <a:pt x="107" y="153"/>
                    <a:pt x="113" y="153"/>
                  </a:cubicBezTo>
                  <a:cubicBezTo>
                    <a:pt x="118" y="153"/>
                    <a:pt x="123" y="148"/>
                    <a:pt x="123" y="142"/>
                  </a:cubicBezTo>
                  <a:cubicBezTo>
                    <a:pt x="123" y="136"/>
                    <a:pt x="118" y="132"/>
                    <a:pt x="113" y="132"/>
                  </a:cubicBezTo>
                  <a:cubicBezTo>
                    <a:pt x="107" y="132"/>
                    <a:pt x="102" y="136"/>
                    <a:pt x="102" y="142"/>
                  </a:cubicBezTo>
                  <a:close/>
                  <a:moveTo>
                    <a:pt x="83" y="126"/>
                  </a:moveTo>
                  <a:cubicBezTo>
                    <a:pt x="77" y="126"/>
                    <a:pt x="73" y="131"/>
                    <a:pt x="73" y="137"/>
                  </a:cubicBezTo>
                  <a:cubicBezTo>
                    <a:pt x="73" y="142"/>
                    <a:pt x="77" y="147"/>
                    <a:pt x="83" y="147"/>
                  </a:cubicBezTo>
                  <a:cubicBezTo>
                    <a:pt x="89" y="147"/>
                    <a:pt x="93" y="142"/>
                    <a:pt x="93" y="137"/>
                  </a:cubicBezTo>
                  <a:cubicBezTo>
                    <a:pt x="93" y="131"/>
                    <a:pt x="89" y="126"/>
                    <a:pt x="83" y="126"/>
                  </a:cubicBezTo>
                  <a:close/>
                  <a:moveTo>
                    <a:pt x="112" y="119"/>
                  </a:moveTo>
                  <a:cubicBezTo>
                    <a:pt x="112" y="115"/>
                    <a:pt x="108" y="111"/>
                    <a:pt x="104" y="111"/>
                  </a:cubicBezTo>
                  <a:cubicBezTo>
                    <a:pt x="100" y="111"/>
                    <a:pt x="97" y="115"/>
                    <a:pt x="97" y="119"/>
                  </a:cubicBezTo>
                  <a:cubicBezTo>
                    <a:pt x="97" y="123"/>
                    <a:pt x="100" y="126"/>
                    <a:pt x="104" y="126"/>
                  </a:cubicBezTo>
                  <a:cubicBezTo>
                    <a:pt x="108" y="126"/>
                    <a:pt x="112" y="123"/>
                    <a:pt x="112" y="119"/>
                  </a:cubicBezTo>
                  <a:close/>
                  <a:moveTo>
                    <a:pt x="190" y="187"/>
                  </a:moveTo>
                  <a:cubicBezTo>
                    <a:pt x="197" y="205"/>
                    <a:pt x="190" y="223"/>
                    <a:pt x="170" y="223"/>
                  </a:cubicBezTo>
                  <a:cubicBezTo>
                    <a:pt x="27" y="223"/>
                    <a:pt x="27" y="223"/>
                    <a:pt x="27" y="223"/>
                  </a:cubicBezTo>
                  <a:cubicBezTo>
                    <a:pt x="7" y="223"/>
                    <a:pt x="0" y="206"/>
                    <a:pt x="6" y="187"/>
                  </a:cubicBezTo>
                  <a:cubicBezTo>
                    <a:pt x="6" y="187"/>
                    <a:pt x="31" y="141"/>
                    <a:pt x="71" y="75"/>
                  </a:cubicBezTo>
                  <a:cubicBezTo>
                    <a:pt x="71" y="36"/>
                    <a:pt x="71" y="36"/>
                    <a:pt x="71" y="36"/>
                  </a:cubicBezTo>
                  <a:cubicBezTo>
                    <a:pt x="69" y="36"/>
                    <a:pt x="69" y="36"/>
                    <a:pt x="69" y="36"/>
                  </a:cubicBezTo>
                  <a:cubicBezTo>
                    <a:pt x="65" y="36"/>
                    <a:pt x="62" y="33"/>
                    <a:pt x="62" y="30"/>
                  </a:cubicBezTo>
                  <a:cubicBezTo>
                    <a:pt x="62" y="26"/>
                    <a:pt x="65" y="23"/>
                    <a:pt x="69" y="23"/>
                  </a:cubicBezTo>
                  <a:cubicBezTo>
                    <a:pt x="79" y="23"/>
                    <a:pt x="79" y="23"/>
                    <a:pt x="79" y="23"/>
                  </a:cubicBezTo>
                  <a:cubicBezTo>
                    <a:pt x="73" y="0"/>
                    <a:pt x="73" y="0"/>
                    <a:pt x="73" y="0"/>
                  </a:cubicBezTo>
                  <a:cubicBezTo>
                    <a:pt x="123" y="0"/>
                    <a:pt x="123" y="0"/>
                    <a:pt x="123" y="0"/>
                  </a:cubicBezTo>
                  <a:cubicBezTo>
                    <a:pt x="117" y="23"/>
                    <a:pt x="117" y="23"/>
                    <a:pt x="117" y="23"/>
                  </a:cubicBezTo>
                  <a:cubicBezTo>
                    <a:pt x="128" y="23"/>
                    <a:pt x="128" y="23"/>
                    <a:pt x="128" y="23"/>
                  </a:cubicBezTo>
                  <a:cubicBezTo>
                    <a:pt x="131" y="23"/>
                    <a:pt x="134" y="26"/>
                    <a:pt x="134" y="30"/>
                  </a:cubicBezTo>
                  <a:cubicBezTo>
                    <a:pt x="134" y="33"/>
                    <a:pt x="131" y="36"/>
                    <a:pt x="128" y="36"/>
                  </a:cubicBezTo>
                  <a:cubicBezTo>
                    <a:pt x="125" y="36"/>
                    <a:pt x="125" y="36"/>
                    <a:pt x="125" y="36"/>
                  </a:cubicBezTo>
                  <a:cubicBezTo>
                    <a:pt x="125" y="75"/>
                    <a:pt x="125" y="75"/>
                    <a:pt x="125" y="75"/>
                  </a:cubicBezTo>
                  <a:cubicBezTo>
                    <a:pt x="166" y="141"/>
                    <a:pt x="190" y="187"/>
                    <a:pt x="190" y="187"/>
                  </a:cubicBezTo>
                  <a:close/>
                  <a:moveTo>
                    <a:pt x="160" y="162"/>
                  </a:moveTo>
                  <a:cubicBezTo>
                    <a:pt x="157" y="156"/>
                    <a:pt x="124" y="98"/>
                    <a:pt x="114" y="82"/>
                  </a:cubicBezTo>
                  <a:cubicBezTo>
                    <a:pt x="112" y="79"/>
                    <a:pt x="112" y="79"/>
                    <a:pt x="112" y="79"/>
                  </a:cubicBezTo>
                  <a:cubicBezTo>
                    <a:pt x="84" y="79"/>
                    <a:pt x="84" y="79"/>
                    <a:pt x="84" y="79"/>
                  </a:cubicBezTo>
                  <a:cubicBezTo>
                    <a:pt x="83" y="82"/>
                    <a:pt x="83" y="82"/>
                    <a:pt x="83" y="82"/>
                  </a:cubicBezTo>
                  <a:cubicBezTo>
                    <a:pt x="72" y="99"/>
                    <a:pt x="41" y="154"/>
                    <a:pt x="37" y="160"/>
                  </a:cubicBezTo>
                  <a:cubicBezTo>
                    <a:pt x="37" y="160"/>
                    <a:pt x="37" y="161"/>
                    <a:pt x="36" y="162"/>
                  </a:cubicBezTo>
                  <a:cubicBezTo>
                    <a:pt x="36" y="162"/>
                    <a:pt x="36" y="162"/>
                    <a:pt x="36" y="162"/>
                  </a:cubicBezTo>
                  <a:lnTo>
                    <a:pt x="160" y="162"/>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73" name="矩形 72"/>
          <p:cNvSpPr/>
          <p:nvPr/>
        </p:nvSpPr>
        <p:spPr bwMode="auto">
          <a:xfrm>
            <a:off x="3391535" y="3563620"/>
            <a:ext cx="1958975" cy="338455"/>
          </a:xfrm>
          <a:prstGeom prst="rect">
            <a:avLst/>
          </a:prstGeom>
          <a:noFill/>
        </p:spPr>
        <p:txBody>
          <a:bodyPr wrap="none">
            <a:spAutoFit/>
          </a:bodyPr>
          <a:lstStyle/>
          <a:p>
            <a:pPr algn="ctr">
              <a:defRPr/>
            </a:pPr>
            <a:r>
              <a:rPr lang="en-US" altLang="zh-CN" sz="16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TransR+LightGBM</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4" name="矩形 73"/>
          <p:cNvSpPr/>
          <p:nvPr/>
        </p:nvSpPr>
        <p:spPr>
          <a:xfrm>
            <a:off x="3518535" y="3902075"/>
            <a:ext cx="1800225" cy="1198880"/>
          </a:xfrm>
          <a:prstGeom prst="rect">
            <a:avLst/>
          </a:prstGeom>
        </p:spPr>
        <p:txBody>
          <a:bodyPr wrap="square">
            <a:spAutoFit/>
          </a:bodyPr>
          <a:lstStyle/>
          <a:p>
            <a:pPr algn="just">
              <a:lnSpc>
                <a:spcPct val="150000"/>
              </a:lnSpc>
            </a:pPr>
            <a:r>
              <a:rPr lang="en-US" altLang="zh-CN" sz="1200" dirty="0">
                <a:solidFill>
                  <a:schemeClr val="tx1">
                    <a:lumMod val="85000"/>
                    <a:lumOff val="15000"/>
                  </a:schemeClr>
                </a:solidFill>
              </a:rPr>
              <a:t>      </a:t>
            </a:r>
            <a:r>
              <a:rPr lang="zh-CN" altLang="en-US" sz="1200" dirty="0">
                <a:solidFill>
                  <a:schemeClr val="tx1">
                    <a:lumMod val="85000"/>
                    <a:lumOff val="15000"/>
                  </a:schemeClr>
                </a:solidFill>
              </a:rPr>
              <a:t>引入知识图谱的特征向量</a:t>
            </a:r>
            <a:r>
              <a:rPr lang="en-US" altLang="zh-CN" sz="1200" dirty="0" err="1">
                <a:solidFill>
                  <a:schemeClr val="tx1">
                    <a:lumMod val="85000"/>
                    <a:lumOff val="15000"/>
                  </a:schemeClr>
                </a:solidFill>
              </a:rPr>
              <a:t>TransR</a:t>
            </a:r>
            <a:r>
              <a:rPr lang="zh-CN" altLang="en-US" sz="1200" dirty="0">
                <a:solidFill>
                  <a:schemeClr val="tx1">
                    <a:lumMod val="85000"/>
                    <a:lumOff val="15000"/>
                  </a:schemeClr>
                </a:solidFill>
              </a:rPr>
              <a:t>，运用</a:t>
            </a:r>
            <a:r>
              <a:rPr lang="en-US" altLang="zh-CN" sz="1200" dirty="0" err="1">
                <a:solidFill>
                  <a:schemeClr val="tx1">
                    <a:lumMod val="85000"/>
                    <a:lumOff val="15000"/>
                  </a:schemeClr>
                </a:solidFill>
              </a:rPr>
              <a:t>LightGBM</a:t>
            </a:r>
            <a:r>
              <a:rPr lang="zh-CN" altLang="en-US" sz="1200" dirty="0">
                <a:solidFill>
                  <a:schemeClr val="tx1">
                    <a:lumMod val="85000"/>
                    <a:lumOff val="15000"/>
                  </a:schemeClr>
                </a:solidFill>
              </a:rPr>
              <a:t>基于</a:t>
            </a:r>
            <a:r>
              <a:rPr lang="en-US" altLang="zh-CN" sz="1200" dirty="0">
                <a:solidFill>
                  <a:schemeClr val="tx1">
                    <a:lumMod val="85000"/>
                    <a:lumOff val="15000"/>
                  </a:schemeClr>
                </a:solidFill>
              </a:rPr>
              <a:t>Histogram</a:t>
            </a:r>
            <a:r>
              <a:rPr lang="zh-CN" altLang="en-US" sz="1200" dirty="0">
                <a:solidFill>
                  <a:schemeClr val="tx1">
                    <a:lumMod val="85000"/>
                    <a:lumOff val="15000"/>
                  </a:schemeClr>
                </a:solidFill>
              </a:rPr>
              <a:t>的树模型算法快速计算。</a:t>
            </a:r>
            <a:endParaRPr lang="en-US" altLang="zh-CN" sz="1200" dirty="0">
              <a:solidFill>
                <a:schemeClr val="tx1">
                  <a:lumMod val="85000"/>
                  <a:lumOff val="15000"/>
                </a:schemeClr>
              </a:solidFill>
            </a:endParaRPr>
          </a:p>
        </p:txBody>
      </p:sp>
      <p:cxnSp>
        <p:nvCxnSpPr>
          <p:cNvPr id="75" name="直接连接符 74"/>
          <p:cNvCxnSpPr/>
          <p:nvPr/>
        </p:nvCxnSpPr>
        <p:spPr>
          <a:xfrm>
            <a:off x="4283710" y="3887470"/>
            <a:ext cx="17462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3890010" y="2299970"/>
            <a:ext cx="1121410" cy="1163320"/>
            <a:chOff x="6126" y="3622"/>
            <a:chExt cx="1766" cy="1832"/>
          </a:xfrm>
        </p:grpSpPr>
        <p:sp>
          <p:nvSpPr>
            <p:cNvPr id="65" name="椭圆 64"/>
            <p:cNvSpPr/>
            <p:nvPr/>
          </p:nvSpPr>
          <p:spPr>
            <a:xfrm>
              <a:off x="6126" y="3622"/>
              <a:ext cx="1766" cy="1832"/>
            </a:xfrm>
            <a:prstGeom prst="ellipse">
              <a:avLst/>
            </a:prstGeom>
            <a:solidFill>
              <a:srgbClr val="EEF2F5"/>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13">
              <a:hlinkClick r:id="rId6" action="ppaction://hlinksldjump"/>
            </p:cNvPr>
            <p:cNvSpPr/>
            <p:nvPr/>
          </p:nvSpPr>
          <p:spPr bwMode="auto">
            <a:xfrm>
              <a:off x="6718" y="4272"/>
              <a:ext cx="482" cy="630"/>
            </a:xfrm>
            <a:custGeom>
              <a:avLst/>
              <a:gdLst>
                <a:gd name="T0" fmla="*/ 158 w 165"/>
                <a:gd name="T1" fmla="*/ 195 h 233"/>
                <a:gd name="T2" fmla="*/ 158 w 165"/>
                <a:gd name="T3" fmla="*/ 189 h 233"/>
                <a:gd name="T4" fmla="*/ 70 w 165"/>
                <a:gd name="T5" fmla="*/ 189 h 233"/>
                <a:gd name="T6" fmla="*/ 70 w 165"/>
                <a:gd name="T7" fmla="*/ 195 h 233"/>
                <a:gd name="T8" fmla="*/ 68 w 165"/>
                <a:gd name="T9" fmla="*/ 195 h 233"/>
                <a:gd name="T10" fmla="*/ 18 w 165"/>
                <a:gd name="T11" fmla="*/ 120 h 233"/>
                <a:gd name="T12" fmla="*/ 94 w 165"/>
                <a:gd name="T13" fmla="*/ 39 h 233"/>
                <a:gd name="T14" fmla="*/ 94 w 165"/>
                <a:gd name="T15" fmla="*/ 120 h 233"/>
                <a:gd name="T16" fmla="*/ 70 w 165"/>
                <a:gd name="T17" fmla="*/ 120 h 233"/>
                <a:gd name="T18" fmla="*/ 70 w 165"/>
                <a:gd name="T19" fmla="*/ 127 h 233"/>
                <a:gd name="T20" fmla="*/ 76 w 165"/>
                <a:gd name="T21" fmla="*/ 127 h 233"/>
                <a:gd name="T22" fmla="*/ 75 w 165"/>
                <a:gd name="T23" fmla="*/ 131 h 233"/>
                <a:gd name="T24" fmla="*/ 75 w 165"/>
                <a:gd name="T25" fmla="*/ 150 h 233"/>
                <a:gd name="T26" fmla="*/ 86 w 165"/>
                <a:gd name="T27" fmla="*/ 161 h 233"/>
                <a:gd name="T28" fmla="*/ 97 w 165"/>
                <a:gd name="T29" fmla="*/ 150 h 233"/>
                <a:gd name="T30" fmla="*/ 97 w 165"/>
                <a:gd name="T31" fmla="*/ 131 h 233"/>
                <a:gd name="T32" fmla="*/ 96 w 165"/>
                <a:gd name="T33" fmla="*/ 127 h 233"/>
                <a:gd name="T34" fmla="*/ 104 w 165"/>
                <a:gd name="T35" fmla="*/ 127 h 233"/>
                <a:gd name="T36" fmla="*/ 103 w 165"/>
                <a:gd name="T37" fmla="*/ 131 h 233"/>
                <a:gd name="T38" fmla="*/ 103 w 165"/>
                <a:gd name="T39" fmla="*/ 163 h 233"/>
                <a:gd name="T40" fmla="*/ 114 w 165"/>
                <a:gd name="T41" fmla="*/ 174 h 233"/>
                <a:gd name="T42" fmla="*/ 125 w 165"/>
                <a:gd name="T43" fmla="*/ 163 h 233"/>
                <a:gd name="T44" fmla="*/ 125 w 165"/>
                <a:gd name="T45" fmla="*/ 131 h 233"/>
                <a:gd name="T46" fmla="*/ 124 w 165"/>
                <a:gd name="T47" fmla="*/ 127 h 233"/>
                <a:gd name="T48" fmla="*/ 132 w 165"/>
                <a:gd name="T49" fmla="*/ 127 h 233"/>
                <a:gd name="T50" fmla="*/ 131 w 165"/>
                <a:gd name="T51" fmla="*/ 131 h 233"/>
                <a:gd name="T52" fmla="*/ 131 w 165"/>
                <a:gd name="T53" fmla="*/ 150 h 233"/>
                <a:gd name="T54" fmla="*/ 142 w 165"/>
                <a:gd name="T55" fmla="*/ 161 h 233"/>
                <a:gd name="T56" fmla="*/ 153 w 165"/>
                <a:gd name="T57" fmla="*/ 150 h 233"/>
                <a:gd name="T58" fmla="*/ 153 w 165"/>
                <a:gd name="T59" fmla="*/ 131 h 233"/>
                <a:gd name="T60" fmla="*/ 152 w 165"/>
                <a:gd name="T61" fmla="*/ 127 h 233"/>
                <a:gd name="T62" fmla="*/ 158 w 165"/>
                <a:gd name="T63" fmla="*/ 127 h 233"/>
                <a:gd name="T64" fmla="*/ 158 w 165"/>
                <a:gd name="T65" fmla="*/ 120 h 233"/>
                <a:gd name="T66" fmla="*/ 134 w 165"/>
                <a:gd name="T67" fmla="*/ 120 h 233"/>
                <a:gd name="T68" fmla="*/ 134 w 165"/>
                <a:gd name="T69" fmla="*/ 18 h 233"/>
                <a:gd name="T70" fmla="*/ 142 w 165"/>
                <a:gd name="T71" fmla="*/ 18 h 233"/>
                <a:gd name="T72" fmla="*/ 142 w 165"/>
                <a:gd name="T73" fmla="*/ 0 h 233"/>
                <a:gd name="T74" fmla="*/ 86 w 165"/>
                <a:gd name="T75" fmla="*/ 0 h 233"/>
                <a:gd name="T76" fmla="*/ 86 w 165"/>
                <a:gd name="T77" fmla="*/ 18 h 233"/>
                <a:gd name="T78" fmla="*/ 94 w 165"/>
                <a:gd name="T79" fmla="*/ 18 h 233"/>
                <a:gd name="T80" fmla="*/ 94 w 165"/>
                <a:gd name="T81" fmla="*/ 20 h 233"/>
                <a:gd name="T82" fmla="*/ 0 w 165"/>
                <a:gd name="T83" fmla="*/ 120 h 233"/>
                <a:gd name="T84" fmla="*/ 63 w 165"/>
                <a:gd name="T85" fmla="*/ 213 h 233"/>
                <a:gd name="T86" fmla="*/ 63 w 165"/>
                <a:gd name="T87" fmla="*/ 233 h 233"/>
                <a:gd name="T88" fmla="*/ 165 w 165"/>
                <a:gd name="T89" fmla="*/ 233 h 233"/>
                <a:gd name="T90" fmla="*/ 165 w 165"/>
                <a:gd name="T91" fmla="*/ 195 h 233"/>
                <a:gd name="T92" fmla="*/ 158 w 165"/>
                <a:gd name="T93" fmla="*/ 19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5" h="233">
                  <a:moveTo>
                    <a:pt x="158" y="195"/>
                  </a:moveTo>
                  <a:cubicBezTo>
                    <a:pt x="158" y="189"/>
                    <a:pt x="158" y="189"/>
                    <a:pt x="158" y="189"/>
                  </a:cubicBezTo>
                  <a:cubicBezTo>
                    <a:pt x="70" y="189"/>
                    <a:pt x="70" y="189"/>
                    <a:pt x="70" y="189"/>
                  </a:cubicBezTo>
                  <a:cubicBezTo>
                    <a:pt x="70" y="195"/>
                    <a:pt x="70" y="195"/>
                    <a:pt x="70" y="195"/>
                  </a:cubicBezTo>
                  <a:cubicBezTo>
                    <a:pt x="68" y="195"/>
                    <a:pt x="68" y="195"/>
                    <a:pt x="68" y="195"/>
                  </a:cubicBezTo>
                  <a:cubicBezTo>
                    <a:pt x="38" y="183"/>
                    <a:pt x="18" y="154"/>
                    <a:pt x="18" y="120"/>
                  </a:cubicBezTo>
                  <a:cubicBezTo>
                    <a:pt x="18" y="77"/>
                    <a:pt x="51" y="42"/>
                    <a:pt x="94" y="39"/>
                  </a:cubicBezTo>
                  <a:cubicBezTo>
                    <a:pt x="94" y="120"/>
                    <a:pt x="94" y="120"/>
                    <a:pt x="94" y="120"/>
                  </a:cubicBezTo>
                  <a:cubicBezTo>
                    <a:pt x="70" y="120"/>
                    <a:pt x="70" y="120"/>
                    <a:pt x="70" y="120"/>
                  </a:cubicBezTo>
                  <a:cubicBezTo>
                    <a:pt x="70" y="127"/>
                    <a:pt x="70" y="127"/>
                    <a:pt x="70" y="127"/>
                  </a:cubicBezTo>
                  <a:cubicBezTo>
                    <a:pt x="76" y="127"/>
                    <a:pt x="76" y="127"/>
                    <a:pt x="76" y="127"/>
                  </a:cubicBezTo>
                  <a:cubicBezTo>
                    <a:pt x="75" y="128"/>
                    <a:pt x="75" y="130"/>
                    <a:pt x="75" y="131"/>
                  </a:cubicBezTo>
                  <a:cubicBezTo>
                    <a:pt x="75" y="150"/>
                    <a:pt x="75" y="150"/>
                    <a:pt x="75" y="150"/>
                  </a:cubicBezTo>
                  <a:cubicBezTo>
                    <a:pt x="75" y="156"/>
                    <a:pt x="80" y="161"/>
                    <a:pt x="86" y="161"/>
                  </a:cubicBezTo>
                  <a:cubicBezTo>
                    <a:pt x="92" y="161"/>
                    <a:pt x="97" y="156"/>
                    <a:pt x="97" y="150"/>
                  </a:cubicBezTo>
                  <a:cubicBezTo>
                    <a:pt x="97" y="131"/>
                    <a:pt x="97" y="131"/>
                    <a:pt x="97" y="131"/>
                  </a:cubicBezTo>
                  <a:cubicBezTo>
                    <a:pt x="97" y="130"/>
                    <a:pt x="96" y="128"/>
                    <a:pt x="96" y="127"/>
                  </a:cubicBezTo>
                  <a:cubicBezTo>
                    <a:pt x="104" y="127"/>
                    <a:pt x="104" y="127"/>
                    <a:pt x="104" y="127"/>
                  </a:cubicBezTo>
                  <a:cubicBezTo>
                    <a:pt x="103" y="128"/>
                    <a:pt x="103" y="130"/>
                    <a:pt x="103" y="131"/>
                  </a:cubicBezTo>
                  <a:cubicBezTo>
                    <a:pt x="103" y="163"/>
                    <a:pt x="103" y="163"/>
                    <a:pt x="103" y="163"/>
                  </a:cubicBezTo>
                  <a:cubicBezTo>
                    <a:pt x="103" y="169"/>
                    <a:pt x="108" y="174"/>
                    <a:pt x="114" y="174"/>
                  </a:cubicBezTo>
                  <a:cubicBezTo>
                    <a:pt x="120" y="174"/>
                    <a:pt x="125" y="169"/>
                    <a:pt x="125" y="163"/>
                  </a:cubicBezTo>
                  <a:cubicBezTo>
                    <a:pt x="125" y="131"/>
                    <a:pt x="125" y="131"/>
                    <a:pt x="125" y="131"/>
                  </a:cubicBezTo>
                  <a:cubicBezTo>
                    <a:pt x="125" y="130"/>
                    <a:pt x="125" y="128"/>
                    <a:pt x="124" y="127"/>
                  </a:cubicBezTo>
                  <a:cubicBezTo>
                    <a:pt x="132" y="127"/>
                    <a:pt x="132" y="127"/>
                    <a:pt x="132" y="127"/>
                  </a:cubicBezTo>
                  <a:cubicBezTo>
                    <a:pt x="131" y="128"/>
                    <a:pt x="131" y="130"/>
                    <a:pt x="131" y="131"/>
                  </a:cubicBezTo>
                  <a:cubicBezTo>
                    <a:pt x="131" y="150"/>
                    <a:pt x="131" y="150"/>
                    <a:pt x="131" y="150"/>
                  </a:cubicBezTo>
                  <a:cubicBezTo>
                    <a:pt x="131" y="156"/>
                    <a:pt x="136" y="161"/>
                    <a:pt x="142" y="161"/>
                  </a:cubicBezTo>
                  <a:cubicBezTo>
                    <a:pt x="148" y="161"/>
                    <a:pt x="153" y="156"/>
                    <a:pt x="153" y="150"/>
                  </a:cubicBezTo>
                  <a:cubicBezTo>
                    <a:pt x="153" y="131"/>
                    <a:pt x="153" y="131"/>
                    <a:pt x="153" y="131"/>
                  </a:cubicBezTo>
                  <a:cubicBezTo>
                    <a:pt x="153" y="130"/>
                    <a:pt x="153" y="128"/>
                    <a:pt x="152" y="127"/>
                  </a:cubicBezTo>
                  <a:cubicBezTo>
                    <a:pt x="158" y="127"/>
                    <a:pt x="158" y="127"/>
                    <a:pt x="158" y="127"/>
                  </a:cubicBezTo>
                  <a:cubicBezTo>
                    <a:pt x="158" y="120"/>
                    <a:pt x="158" y="120"/>
                    <a:pt x="158" y="120"/>
                  </a:cubicBezTo>
                  <a:cubicBezTo>
                    <a:pt x="134" y="120"/>
                    <a:pt x="134" y="120"/>
                    <a:pt x="134" y="120"/>
                  </a:cubicBezTo>
                  <a:cubicBezTo>
                    <a:pt x="134" y="18"/>
                    <a:pt x="134" y="18"/>
                    <a:pt x="134" y="18"/>
                  </a:cubicBezTo>
                  <a:cubicBezTo>
                    <a:pt x="142" y="18"/>
                    <a:pt x="142" y="18"/>
                    <a:pt x="142" y="18"/>
                  </a:cubicBezTo>
                  <a:cubicBezTo>
                    <a:pt x="142" y="0"/>
                    <a:pt x="142" y="0"/>
                    <a:pt x="142" y="0"/>
                  </a:cubicBezTo>
                  <a:cubicBezTo>
                    <a:pt x="86" y="0"/>
                    <a:pt x="86" y="0"/>
                    <a:pt x="86" y="0"/>
                  </a:cubicBezTo>
                  <a:cubicBezTo>
                    <a:pt x="86" y="18"/>
                    <a:pt x="86" y="18"/>
                    <a:pt x="86" y="18"/>
                  </a:cubicBezTo>
                  <a:cubicBezTo>
                    <a:pt x="94" y="18"/>
                    <a:pt x="94" y="18"/>
                    <a:pt x="94" y="18"/>
                  </a:cubicBezTo>
                  <a:cubicBezTo>
                    <a:pt x="94" y="20"/>
                    <a:pt x="94" y="20"/>
                    <a:pt x="94" y="20"/>
                  </a:cubicBezTo>
                  <a:cubicBezTo>
                    <a:pt x="41" y="24"/>
                    <a:pt x="0" y="67"/>
                    <a:pt x="0" y="120"/>
                  </a:cubicBezTo>
                  <a:cubicBezTo>
                    <a:pt x="0" y="162"/>
                    <a:pt x="26" y="198"/>
                    <a:pt x="63" y="213"/>
                  </a:cubicBezTo>
                  <a:cubicBezTo>
                    <a:pt x="63" y="233"/>
                    <a:pt x="63" y="233"/>
                    <a:pt x="63" y="233"/>
                  </a:cubicBezTo>
                  <a:cubicBezTo>
                    <a:pt x="165" y="233"/>
                    <a:pt x="165" y="233"/>
                    <a:pt x="165" y="233"/>
                  </a:cubicBezTo>
                  <a:cubicBezTo>
                    <a:pt x="165" y="195"/>
                    <a:pt x="165" y="195"/>
                    <a:pt x="165" y="195"/>
                  </a:cubicBezTo>
                  <a:lnTo>
                    <a:pt x="158" y="195"/>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26" name="Freeform 14"/>
          <p:cNvSpPr>
            <a:spLocks noEditPoints="1"/>
          </p:cNvSpPr>
          <p:nvPr/>
        </p:nvSpPr>
        <p:spPr bwMode="auto">
          <a:xfrm>
            <a:off x="4320540" y="3126740"/>
            <a:ext cx="314960" cy="49530"/>
          </a:xfrm>
          <a:custGeom>
            <a:avLst/>
            <a:gdLst>
              <a:gd name="T0" fmla="*/ 0 w 294"/>
              <a:gd name="T1" fmla="*/ 0 h 50"/>
              <a:gd name="T2" fmla="*/ 0 w 294"/>
              <a:gd name="T3" fmla="*/ 50 h 50"/>
              <a:gd name="T4" fmla="*/ 294 w 294"/>
              <a:gd name="T5" fmla="*/ 50 h 50"/>
              <a:gd name="T6" fmla="*/ 294 w 294"/>
              <a:gd name="T7" fmla="*/ 0 h 50"/>
              <a:gd name="T8" fmla="*/ 0 w 294"/>
              <a:gd name="T9" fmla="*/ 0 h 50"/>
              <a:gd name="T10" fmla="*/ 282 w 294"/>
              <a:gd name="T11" fmla="*/ 38 h 50"/>
              <a:gd name="T12" fmla="*/ 10 w 294"/>
              <a:gd name="T13" fmla="*/ 38 h 50"/>
              <a:gd name="T14" fmla="*/ 10 w 294"/>
              <a:gd name="T15" fmla="*/ 12 h 50"/>
              <a:gd name="T16" fmla="*/ 282 w 294"/>
              <a:gd name="T17" fmla="*/ 12 h 50"/>
              <a:gd name="T18" fmla="*/ 282 w 294"/>
              <a:gd name="T19"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4" h="50">
                <a:moveTo>
                  <a:pt x="0" y="0"/>
                </a:moveTo>
                <a:lnTo>
                  <a:pt x="0" y="50"/>
                </a:lnTo>
                <a:lnTo>
                  <a:pt x="294" y="50"/>
                </a:lnTo>
                <a:lnTo>
                  <a:pt x="294" y="0"/>
                </a:lnTo>
                <a:lnTo>
                  <a:pt x="0" y="0"/>
                </a:lnTo>
                <a:close/>
                <a:moveTo>
                  <a:pt x="282" y="38"/>
                </a:moveTo>
                <a:lnTo>
                  <a:pt x="10" y="38"/>
                </a:lnTo>
                <a:lnTo>
                  <a:pt x="10" y="12"/>
                </a:lnTo>
                <a:lnTo>
                  <a:pt x="282" y="12"/>
                </a:lnTo>
                <a:lnTo>
                  <a:pt x="282" y="38"/>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70" name="矩形 69"/>
          <p:cNvSpPr/>
          <p:nvPr/>
        </p:nvSpPr>
        <p:spPr bwMode="auto">
          <a:xfrm>
            <a:off x="1903730" y="3531870"/>
            <a:ext cx="1292225" cy="338455"/>
          </a:xfrm>
          <a:prstGeom prst="rect">
            <a:avLst/>
          </a:prstGeom>
          <a:noFill/>
        </p:spPr>
        <p:txBody>
          <a:bodyPr wrap="none">
            <a:spAutoFit/>
          </a:bodyPr>
          <a:lstStyle/>
          <a:p>
            <a:pPr algn="ctr">
              <a:defRPr/>
            </a:pPr>
            <a:r>
              <a:rPr lang="en-US" altLang="zh-CN" sz="16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TransR+FM</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 name="矩形 70"/>
          <p:cNvSpPr/>
          <p:nvPr/>
        </p:nvSpPr>
        <p:spPr>
          <a:xfrm>
            <a:off x="1718310" y="3927475"/>
            <a:ext cx="1800225" cy="1198880"/>
          </a:xfrm>
          <a:prstGeom prst="rect">
            <a:avLst/>
          </a:prstGeom>
        </p:spPr>
        <p:txBody>
          <a:bodyPr wrap="square">
            <a:spAutoFit/>
          </a:bodyPr>
          <a:lstStyle/>
          <a:p>
            <a:pPr algn="just">
              <a:lnSpc>
                <a:spcPct val="150000"/>
              </a:lnSpc>
            </a:pPr>
            <a:r>
              <a:rPr lang="en-US" altLang="zh-CN" sz="1200" dirty="0">
                <a:solidFill>
                  <a:schemeClr val="tx1">
                    <a:lumMod val="85000"/>
                    <a:lumOff val="15000"/>
                  </a:schemeClr>
                </a:solidFill>
              </a:rPr>
              <a:t>      </a:t>
            </a:r>
            <a:r>
              <a:rPr lang="zh-CN" altLang="en-US" sz="1200" dirty="0">
                <a:solidFill>
                  <a:schemeClr val="tx1">
                    <a:lumMod val="85000"/>
                    <a:lumOff val="15000"/>
                  </a:schemeClr>
                </a:solidFill>
              </a:rPr>
              <a:t>引入知识图谱的特征向量</a:t>
            </a:r>
            <a:r>
              <a:rPr lang="en-US" altLang="zh-CN" sz="1200" dirty="0" err="1">
                <a:solidFill>
                  <a:schemeClr val="tx1">
                    <a:lumMod val="85000"/>
                    <a:lumOff val="15000"/>
                  </a:schemeClr>
                </a:solidFill>
              </a:rPr>
              <a:t>TransR</a:t>
            </a:r>
            <a:r>
              <a:rPr lang="zh-CN" altLang="en-US" sz="1200" dirty="0">
                <a:solidFill>
                  <a:schemeClr val="tx1">
                    <a:lumMod val="85000"/>
                    <a:lumOff val="15000"/>
                  </a:schemeClr>
                </a:solidFill>
              </a:rPr>
              <a:t>，分析特征分量间关系，对结果做二分类，生成推荐结果</a:t>
            </a:r>
          </a:p>
        </p:txBody>
      </p:sp>
      <p:cxnSp>
        <p:nvCxnSpPr>
          <p:cNvPr id="72" name="直接连接符 71"/>
          <p:cNvCxnSpPr/>
          <p:nvPr/>
        </p:nvCxnSpPr>
        <p:spPr>
          <a:xfrm>
            <a:off x="2462530" y="3902075"/>
            <a:ext cx="17462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069465" y="2328545"/>
            <a:ext cx="1121410" cy="1125220"/>
            <a:chOff x="3259" y="3667"/>
            <a:chExt cx="1766" cy="1772"/>
          </a:xfrm>
        </p:grpSpPr>
        <p:sp>
          <p:nvSpPr>
            <p:cNvPr id="64" name="椭圆 63"/>
            <p:cNvSpPr/>
            <p:nvPr/>
          </p:nvSpPr>
          <p:spPr>
            <a:xfrm>
              <a:off x="3259" y="3667"/>
              <a:ext cx="1766" cy="1773"/>
            </a:xfrm>
            <a:prstGeom prst="ellipse">
              <a:avLst/>
            </a:prstGeom>
            <a:solidFill>
              <a:srgbClr val="EEF2F5"/>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32">
              <a:hlinkClick r:id="rId7" action="ppaction://hlinksldjump"/>
            </p:cNvPr>
            <p:cNvSpPr>
              <a:spLocks noEditPoints="1"/>
            </p:cNvSpPr>
            <p:nvPr/>
          </p:nvSpPr>
          <p:spPr bwMode="auto">
            <a:xfrm>
              <a:off x="3863" y="4235"/>
              <a:ext cx="556" cy="759"/>
            </a:xfrm>
            <a:custGeom>
              <a:avLst/>
              <a:gdLst>
                <a:gd name="T0" fmla="*/ 183 w 191"/>
                <a:gd name="T1" fmla="*/ 20 h 278"/>
                <a:gd name="T2" fmla="*/ 145 w 191"/>
                <a:gd name="T3" fmla="*/ 20 h 278"/>
                <a:gd name="T4" fmla="*/ 133 w 191"/>
                <a:gd name="T5" fmla="*/ 15 h 278"/>
                <a:gd name="T6" fmla="*/ 116 w 191"/>
                <a:gd name="T7" fmla="*/ 15 h 278"/>
                <a:gd name="T8" fmla="*/ 116 w 191"/>
                <a:gd name="T9" fmla="*/ 12 h 278"/>
                <a:gd name="T10" fmla="*/ 99 w 191"/>
                <a:gd name="T11" fmla="*/ 0 h 278"/>
                <a:gd name="T12" fmla="*/ 81 w 191"/>
                <a:gd name="T13" fmla="*/ 12 h 278"/>
                <a:gd name="T14" fmla="*/ 81 w 191"/>
                <a:gd name="T15" fmla="*/ 15 h 278"/>
                <a:gd name="T16" fmla="*/ 65 w 191"/>
                <a:gd name="T17" fmla="*/ 15 h 278"/>
                <a:gd name="T18" fmla="*/ 52 w 191"/>
                <a:gd name="T19" fmla="*/ 20 h 278"/>
                <a:gd name="T20" fmla="*/ 8 w 191"/>
                <a:gd name="T21" fmla="*/ 20 h 278"/>
                <a:gd name="T22" fmla="*/ 0 w 191"/>
                <a:gd name="T23" fmla="*/ 28 h 278"/>
                <a:gd name="T24" fmla="*/ 0 w 191"/>
                <a:gd name="T25" fmla="*/ 270 h 278"/>
                <a:gd name="T26" fmla="*/ 8 w 191"/>
                <a:gd name="T27" fmla="*/ 278 h 278"/>
                <a:gd name="T28" fmla="*/ 183 w 191"/>
                <a:gd name="T29" fmla="*/ 278 h 278"/>
                <a:gd name="T30" fmla="*/ 191 w 191"/>
                <a:gd name="T31" fmla="*/ 270 h 278"/>
                <a:gd name="T32" fmla="*/ 191 w 191"/>
                <a:gd name="T33" fmla="*/ 28 h 278"/>
                <a:gd name="T34" fmla="*/ 183 w 191"/>
                <a:gd name="T35" fmla="*/ 20 h 278"/>
                <a:gd name="T36" fmla="*/ 175 w 191"/>
                <a:gd name="T37" fmla="*/ 261 h 278"/>
                <a:gd name="T38" fmla="*/ 16 w 191"/>
                <a:gd name="T39" fmla="*/ 261 h 278"/>
                <a:gd name="T40" fmla="*/ 16 w 191"/>
                <a:gd name="T41" fmla="*/ 37 h 278"/>
                <a:gd name="T42" fmla="*/ 49 w 191"/>
                <a:gd name="T43" fmla="*/ 37 h 278"/>
                <a:gd name="T44" fmla="*/ 65 w 191"/>
                <a:gd name="T45" fmla="*/ 48 h 278"/>
                <a:gd name="T46" fmla="*/ 133 w 191"/>
                <a:gd name="T47" fmla="*/ 48 h 278"/>
                <a:gd name="T48" fmla="*/ 148 w 191"/>
                <a:gd name="T49" fmla="*/ 37 h 278"/>
                <a:gd name="T50" fmla="*/ 175 w 191"/>
                <a:gd name="T51" fmla="*/ 37 h 278"/>
                <a:gd name="T52" fmla="*/ 175 w 191"/>
                <a:gd name="T53" fmla="*/ 261 h 278"/>
                <a:gd name="T54" fmla="*/ 175 w 191"/>
                <a:gd name="T55" fmla="*/ 261 h 278"/>
                <a:gd name="T56" fmla="*/ 38 w 191"/>
                <a:gd name="T57" fmla="*/ 87 h 278"/>
                <a:gd name="T58" fmla="*/ 159 w 191"/>
                <a:gd name="T59" fmla="*/ 87 h 278"/>
                <a:gd name="T60" fmla="*/ 159 w 191"/>
                <a:gd name="T61" fmla="*/ 92 h 278"/>
                <a:gd name="T62" fmla="*/ 38 w 191"/>
                <a:gd name="T63" fmla="*/ 92 h 278"/>
                <a:gd name="T64" fmla="*/ 38 w 191"/>
                <a:gd name="T65" fmla="*/ 87 h 278"/>
                <a:gd name="T66" fmla="*/ 38 w 191"/>
                <a:gd name="T67" fmla="*/ 106 h 278"/>
                <a:gd name="T68" fmla="*/ 159 w 191"/>
                <a:gd name="T69" fmla="*/ 106 h 278"/>
                <a:gd name="T70" fmla="*/ 159 w 191"/>
                <a:gd name="T71" fmla="*/ 112 h 278"/>
                <a:gd name="T72" fmla="*/ 38 w 191"/>
                <a:gd name="T73" fmla="*/ 112 h 278"/>
                <a:gd name="T74" fmla="*/ 38 w 191"/>
                <a:gd name="T75" fmla="*/ 106 h 278"/>
                <a:gd name="T76" fmla="*/ 38 w 191"/>
                <a:gd name="T77" fmla="*/ 127 h 278"/>
                <a:gd name="T78" fmla="*/ 159 w 191"/>
                <a:gd name="T79" fmla="*/ 127 h 278"/>
                <a:gd name="T80" fmla="*/ 159 w 191"/>
                <a:gd name="T81" fmla="*/ 132 h 278"/>
                <a:gd name="T82" fmla="*/ 38 w 191"/>
                <a:gd name="T83" fmla="*/ 132 h 278"/>
                <a:gd name="T84" fmla="*/ 38 w 191"/>
                <a:gd name="T85" fmla="*/ 127 h 278"/>
                <a:gd name="T86" fmla="*/ 38 w 191"/>
                <a:gd name="T87" fmla="*/ 146 h 278"/>
                <a:gd name="T88" fmla="*/ 159 w 191"/>
                <a:gd name="T89" fmla="*/ 146 h 278"/>
                <a:gd name="T90" fmla="*/ 159 w 191"/>
                <a:gd name="T91" fmla="*/ 152 h 278"/>
                <a:gd name="T92" fmla="*/ 38 w 191"/>
                <a:gd name="T93" fmla="*/ 152 h 278"/>
                <a:gd name="T94" fmla="*/ 38 w 191"/>
                <a:gd name="T95" fmla="*/ 146 h 278"/>
                <a:gd name="T96" fmla="*/ 141 w 191"/>
                <a:gd name="T97" fmla="*/ 184 h 278"/>
                <a:gd name="T98" fmla="*/ 92 w 191"/>
                <a:gd name="T99" fmla="*/ 235 h 278"/>
                <a:gd name="T100" fmla="*/ 80 w 191"/>
                <a:gd name="T101" fmla="*/ 238 h 278"/>
                <a:gd name="T102" fmla="*/ 57 w 191"/>
                <a:gd name="T103" fmla="*/ 209 h 278"/>
                <a:gd name="T104" fmla="*/ 73 w 191"/>
                <a:gd name="T105" fmla="*/ 196 h 278"/>
                <a:gd name="T106" fmla="*/ 88 w 191"/>
                <a:gd name="T107" fmla="*/ 217 h 278"/>
                <a:gd name="T108" fmla="*/ 133 w 191"/>
                <a:gd name="T109" fmla="*/ 171 h 278"/>
                <a:gd name="T110" fmla="*/ 141 w 191"/>
                <a:gd name="T111" fmla="*/ 18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1" h="278">
                  <a:moveTo>
                    <a:pt x="183" y="20"/>
                  </a:moveTo>
                  <a:cubicBezTo>
                    <a:pt x="145" y="20"/>
                    <a:pt x="145" y="20"/>
                    <a:pt x="145" y="20"/>
                  </a:cubicBezTo>
                  <a:cubicBezTo>
                    <a:pt x="142" y="17"/>
                    <a:pt x="138" y="15"/>
                    <a:pt x="133" y="15"/>
                  </a:cubicBezTo>
                  <a:cubicBezTo>
                    <a:pt x="116" y="15"/>
                    <a:pt x="116" y="15"/>
                    <a:pt x="116" y="15"/>
                  </a:cubicBezTo>
                  <a:cubicBezTo>
                    <a:pt x="116" y="12"/>
                    <a:pt x="116" y="12"/>
                    <a:pt x="116" y="12"/>
                  </a:cubicBezTo>
                  <a:cubicBezTo>
                    <a:pt x="116" y="6"/>
                    <a:pt x="108" y="0"/>
                    <a:pt x="99" y="0"/>
                  </a:cubicBezTo>
                  <a:cubicBezTo>
                    <a:pt x="89" y="0"/>
                    <a:pt x="81" y="6"/>
                    <a:pt x="81" y="12"/>
                  </a:cubicBezTo>
                  <a:cubicBezTo>
                    <a:pt x="81" y="15"/>
                    <a:pt x="81" y="15"/>
                    <a:pt x="81" y="15"/>
                  </a:cubicBezTo>
                  <a:cubicBezTo>
                    <a:pt x="65" y="15"/>
                    <a:pt x="65" y="15"/>
                    <a:pt x="65" y="15"/>
                  </a:cubicBezTo>
                  <a:cubicBezTo>
                    <a:pt x="60" y="15"/>
                    <a:pt x="55" y="17"/>
                    <a:pt x="52" y="20"/>
                  </a:cubicBezTo>
                  <a:cubicBezTo>
                    <a:pt x="8" y="20"/>
                    <a:pt x="8" y="20"/>
                    <a:pt x="8" y="20"/>
                  </a:cubicBezTo>
                  <a:cubicBezTo>
                    <a:pt x="3" y="20"/>
                    <a:pt x="0" y="24"/>
                    <a:pt x="0" y="28"/>
                  </a:cubicBezTo>
                  <a:cubicBezTo>
                    <a:pt x="0" y="270"/>
                    <a:pt x="0" y="270"/>
                    <a:pt x="0" y="270"/>
                  </a:cubicBezTo>
                  <a:cubicBezTo>
                    <a:pt x="0" y="274"/>
                    <a:pt x="3" y="278"/>
                    <a:pt x="8" y="278"/>
                  </a:cubicBezTo>
                  <a:cubicBezTo>
                    <a:pt x="183" y="278"/>
                    <a:pt x="183" y="278"/>
                    <a:pt x="183" y="278"/>
                  </a:cubicBezTo>
                  <a:cubicBezTo>
                    <a:pt x="187" y="278"/>
                    <a:pt x="191" y="274"/>
                    <a:pt x="191" y="270"/>
                  </a:cubicBezTo>
                  <a:cubicBezTo>
                    <a:pt x="191" y="28"/>
                    <a:pt x="191" y="28"/>
                    <a:pt x="191" y="28"/>
                  </a:cubicBezTo>
                  <a:cubicBezTo>
                    <a:pt x="191" y="24"/>
                    <a:pt x="187" y="20"/>
                    <a:pt x="183" y="20"/>
                  </a:cubicBezTo>
                  <a:close/>
                  <a:moveTo>
                    <a:pt x="175" y="261"/>
                  </a:moveTo>
                  <a:cubicBezTo>
                    <a:pt x="16" y="261"/>
                    <a:pt x="16" y="261"/>
                    <a:pt x="16" y="261"/>
                  </a:cubicBezTo>
                  <a:cubicBezTo>
                    <a:pt x="16" y="37"/>
                    <a:pt x="16" y="37"/>
                    <a:pt x="16" y="37"/>
                  </a:cubicBezTo>
                  <a:cubicBezTo>
                    <a:pt x="49" y="37"/>
                    <a:pt x="49" y="37"/>
                    <a:pt x="49" y="37"/>
                  </a:cubicBezTo>
                  <a:cubicBezTo>
                    <a:pt x="51" y="43"/>
                    <a:pt x="57" y="48"/>
                    <a:pt x="65" y="48"/>
                  </a:cubicBezTo>
                  <a:cubicBezTo>
                    <a:pt x="133" y="48"/>
                    <a:pt x="133" y="48"/>
                    <a:pt x="133" y="48"/>
                  </a:cubicBezTo>
                  <a:cubicBezTo>
                    <a:pt x="140" y="48"/>
                    <a:pt x="146" y="43"/>
                    <a:pt x="148" y="37"/>
                  </a:cubicBezTo>
                  <a:cubicBezTo>
                    <a:pt x="175" y="37"/>
                    <a:pt x="175" y="37"/>
                    <a:pt x="175" y="37"/>
                  </a:cubicBezTo>
                  <a:cubicBezTo>
                    <a:pt x="175" y="261"/>
                    <a:pt x="175" y="261"/>
                    <a:pt x="175" y="261"/>
                  </a:cubicBezTo>
                  <a:cubicBezTo>
                    <a:pt x="175" y="261"/>
                    <a:pt x="175" y="261"/>
                    <a:pt x="175" y="261"/>
                  </a:cubicBezTo>
                  <a:close/>
                  <a:moveTo>
                    <a:pt x="38" y="87"/>
                  </a:moveTo>
                  <a:cubicBezTo>
                    <a:pt x="159" y="87"/>
                    <a:pt x="159" y="87"/>
                    <a:pt x="159" y="87"/>
                  </a:cubicBezTo>
                  <a:cubicBezTo>
                    <a:pt x="159" y="92"/>
                    <a:pt x="159" y="92"/>
                    <a:pt x="159" y="92"/>
                  </a:cubicBezTo>
                  <a:cubicBezTo>
                    <a:pt x="38" y="92"/>
                    <a:pt x="38" y="92"/>
                    <a:pt x="38" y="92"/>
                  </a:cubicBezTo>
                  <a:lnTo>
                    <a:pt x="38" y="87"/>
                  </a:lnTo>
                  <a:close/>
                  <a:moveTo>
                    <a:pt x="38" y="106"/>
                  </a:moveTo>
                  <a:cubicBezTo>
                    <a:pt x="159" y="106"/>
                    <a:pt x="159" y="106"/>
                    <a:pt x="159" y="106"/>
                  </a:cubicBezTo>
                  <a:cubicBezTo>
                    <a:pt x="159" y="112"/>
                    <a:pt x="159" y="112"/>
                    <a:pt x="159" y="112"/>
                  </a:cubicBezTo>
                  <a:cubicBezTo>
                    <a:pt x="38" y="112"/>
                    <a:pt x="38" y="112"/>
                    <a:pt x="38" y="112"/>
                  </a:cubicBezTo>
                  <a:lnTo>
                    <a:pt x="38" y="106"/>
                  </a:lnTo>
                  <a:close/>
                  <a:moveTo>
                    <a:pt x="38" y="127"/>
                  </a:moveTo>
                  <a:cubicBezTo>
                    <a:pt x="159" y="127"/>
                    <a:pt x="159" y="127"/>
                    <a:pt x="159" y="127"/>
                  </a:cubicBezTo>
                  <a:cubicBezTo>
                    <a:pt x="159" y="132"/>
                    <a:pt x="159" y="132"/>
                    <a:pt x="159" y="132"/>
                  </a:cubicBezTo>
                  <a:cubicBezTo>
                    <a:pt x="38" y="132"/>
                    <a:pt x="38" y="132"/>
                    <a:pt x="38" y="132"/>
                  </a:cubicBezTo>
                  <a:lnTo>
                    <a:pt x="38" y="127"/>
                  </a:lnTo>
                  <a:close/>
                  <a:moveTo>
                    <a:pt x="38" y="146"/>
                  </a:moveTo>
                  <a:cubicBezTo>
                    <a:pt x="159" y="146"/>
                    <a:pt x="159" y="146"/>
                    <a:pt x="159" y="146"/>
                  </a:cubicBezTo>
                  <a:cubicBezTo>
                    <a:pt x="159" y="152"/>
                    <a:pt x="159" y="152"/>
                    <a:pt x="159" y="152"/>
                  </a:cubicBezTo>
                  <a:cubicBezTo>
                    <a:pt x="38" y="152"/>
                    <a:pt x="38" y="152"/>
                    <a:pt x="38" y="152"/>
                  </a:cubicBezTo>
                  <a:lnTo>
                    <a:pt x="38" y="146"/>
                  </a:lnTo>
                  <a:close/>
                  <a:moveTo>
                    <a:pt x="141" y="184"/>
                  </a:moveTo>
                  <a:cubicBezTo>
                    <a:pt x="122" y="199"/>
                    <a:pt x="107" y="217"/>
                    <a:pt x="92" y="235"/>
                  </a:cubicBezTo>
                  <a:cubicBezTo>
                    <a:pt x="89" y="238"/>
                    <a:pt x="83" y="242"/>
                    <a:pt x="80" y="238"/>
                  </a:cubicBezTo>
                  <a:cubicBezTo>
                    <a:pt x="71" y="229"/>
                    <a:pt x="62" y="220"/>
                    <a:pt x="57" y="209"/>
                  </a:cubicBezTo>
                  <a:cubicBezTo>
                    <a:pt x="54" y="200"/>
                    <a:pt x="69" y="187"/>
                    <a:pt x="73" y="196"/>
                  </a:cubicBezTo>
                  <a:cubicBezTo>
                    <a:pt x="76" y="204"/>
                    <a:pt x="82" y="211"/>
                    <a:pt x="88" y="217"/>
                  </a:cubicBezTo>
                  <a:cubicBezTo>
                    <a:pt x="102" y="201"/>
                    <a:pt x="116" y="185"/>
                    <a:pt x="133" y="171"/>
                  </a:cubicBezTo>
                  <a:cubicBezTo>
                    <a:pt x="144" y="163"/>
                    <a:pt x="149" y="177"/>
                    <a:pt x="141" y="184"/>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37" name="矩形 36"/>
          <p:cNvSpPr/>
          <p:nvPr/>
        </p:nvSpPr>
        <p:spPr bwMode="auto">
          <a:xfrm>
            <a:off x="7291705" y="3554095"/>
            <a:ext cx="1711960" cy="338455"/>
          </a:xfrm>
          <a:prstGeom prst="rect">
            <a:avLst/>
          </a:prstGeom>
          <a:noFill/>
        </p:spPr>
        <p:txBody>
          <a:bodyPr wrap="none">
            <a:spAutoFit/>
          </a:bodyPr>
          <a:lstStyle/>
          <a:p>
            <a:pPr algn="ct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Ripple Network</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矩形 37"/>
          <p:cNvSpPr/>
          <p:nvPr/>
        </p:nvSpPr>
        <p:spPr>
          <a:xfrm>
            <a:off x="7280275" y="3902075"/>
            <a:ext cx="1800225" cy="922020"/>
          </a:xfrm>
          <a:prstGeom prst="rect">
            <a:avLst/>
          </a:prstGeom>
        </p:spPr>
        <p:txBody>
          <a:bodyPr wrap="square">
            <a:spAutoFit/>
          </a:bodyPr>
          <a:lstStyle/>
          <a:p>
            <a:pPr algn="just">
              <a:lnSpc>
                <a:spcPct val="150000"/>
              </a:lnSpc>
            </a:pPr>
            <a:r>
              <a:rPr lang="en-US" altLang="zh-CN" sz="1200" dirty="0">
                <a:solidFill>
                  <a:schemeClr val="tx1">
                    <a:lumMod val="85000"/>
                    <a:lumOff val="15000"/>
                  </a:schemeClr>
                </a:solidFill>
              </a:rPr>
              <a:t>      </a:t>
            </a:r>
            <a:r>
              <a:rPr lang="zh-CN" altLang="en-US" sz="1200" dirty="0">
                <a:solidFill>
                  <a:schemeClr val="tx1">
                    <a:lumMod val="85000"/>
                    <a:lumOff val="15000"/>
                  </a:schemeClr>
                </a:solidFill>
              </a:rPr>
              <a:t>模拟用户兴趣在知识图谱上的传播过程，以历史记录为中心逐层扩散进行推荐</a:t>
            </a:r>
          </a:p>
        </p:txBody>
      </p:sp>
      <p:cxnSp>
        <p:nvCxnSpPr>
          <p:cNvPr id="39" name="直接连接符 38"/>
          <p:cNvCxnSpPr/>
          <p:nvPr/>
        </p:nvCxnSpPr>
        <p:spPr>
          <a:xfrm>
            <a:off x="8056245" y="3919220"/>
            <a:ext cx="18224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7594600" y="2268855"/>
            <a:ext cx="1172210" cy="1172210"/>
            <a:chOff x="11960" y="3573"/>
            <a:chExt cx="1846" cy="1846"/>
          </a:xfrm>
        </p:grpSpPr>
        <p:sp>
          <p:nvSpPr>
            <p:cNvPr id="36" name="椭圆 35">
              <a:hlinkClick r:id="rId8" action="ppaction://hlinksldjump"/>
            </p:cNvPr>
            <p:cNvSpPr/>
            <p:nvPr/>
          </p:nvSpPr>
          <p:spPr>
            <a:xfrm>
              <a:off x="11960" y="3573"/>
              <a:ext cx="1846" cy="1846"/>
            </a:xfrm>
            <a:prstGeom prst="ellipse">
              <a:avLst/>
            </a:prstGeom>
            <a:solidFill>
              <a:srgbClr val="EEF2F5"/>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Freeform 10">
              <a:hlinkClick r:id="rId8" action="ppaction://hlinksldjump"/>
            </p:cNvPr>
            <p:cNvSpPr>
              <a:spLocks noEditPoints="1"/>
            </p:cNvSpPr>
            <p:nvPr/>
          </p:nvSpPr>
          <p:spPr bwMode="auto">
            <a:xfrm>
              <a:off x="12284" y="4053"/>
              <a:ext cx="1122" cy="823"/>
            </a:xfrm>
            <a:custGeom>
              <a:avLst/>
              <a:gdLst>
                <a:gd name="T0" fmla="*/ 210 w 280"/>
                <a:gd name="T1" fmla="*/ 57 h 204"/>
                <a:gd name="T2" fmla="*/ 263 w 280"/>
                <a:gd name="T3" fmla="*/ 48 h 204"/>
                <a:gd name="T4" fmla="*/ 263 w 280"/>
                <a:gd name="T5" fmla="*/ 62 h 204"/>
                <a:gd name="T6" fmla="*/ 210 w 280"/>
                <a:gd name="T7" fmla="*/ 70 h 204"/>
                <a:gd name="T8" fmla="*/ 263 w 280"/>
                <a:gd name="T9" fmla="*/ 62 h 204"/>
                <a:gd name="T10" fmla="*/ 210 w 280"/>
                <a:gd name="T11" fmla="*/ 25 h 204"/>
                <a:gd name="T12" fmla="*/ 263 w 280"/>
                <a:gd name="T13" fmla="*/ 43 h 204"/>
                <a:gd name="T14" fmla="*/ 280 w 280"/>
                <a:gd name="T15" fmla="*/ 5 h 204"/>
                <a:gd name="T16" fmla="*/ 275 w 280"/>
                <a:gd name="T17" fmla="*/ 204 h 204"/>
                <a:gd name="T18" fmla="*/ 193 w 280"/>
                <a:gd name="T19" fmla="*/ 199 h 204"/>
                <a:gd name="T20" fmla="*/ 198 w 280"/>
                <a:gd name="T21" fmla="*/ 0 h 204"/>
                <a:gd name="T22" fmla="*/ 280 w 280"/>
                <a:gd name="T23" fmla="*/ 5 h 204"/>
                <a:gd name="T24" fmla="*/ 203 w 280"/>
                <a:gd name="T25" fmla="*/ 10 h 204"/>
                <a:gd name="T26" fmla="*/ 269 w 280"/>
                <a:gd name="T27" fmla="*/ 194 h 204"/>
                <a:gd name="T28" fmla="*/ 263 w 280"/>
                <a:gd name="T29" fmla="*/ 75 h 204"/>
                <a:gd name="T30" fmla="*/ 210 w 280"/>
                <a:gd name="T31" fmla="*/ 84 h 204"/>
                <a:gd name="T32" fmla="*/ 263 w 280"/>
                <a:gd name="T33" fmla="*/ 75 h 204"/>
                <a:gd name="T34" fmla="*/ 237 w 280"/>
                <a:gd name="T35" fmla="*/ 154 h 204"/>
                <a:gd name="T36" fmla="*/ 237 w 280"/>
                <a:gd name="T37" fmla="*/ 120 h 204"/>
                <a:gd name="T38" fmla="*/ 248 w 280"/>
                <a:gd name="T39" fmla="*/ 137 h 204"/>
                <a:gd name="T40" fmla="*/ 226 w 280"/>
                <a:gd name="T41" fmla="*/ 137 h 204"/>
                <a:gd name="T42" fmla="*/ 248 w 280"/>
                <a:gd name="T43" fmla="*/ 137 h 204"/>
                <a:gd name="T44" fmla="*/ 178 w 280"/>
                <a:gd name="T45" fmla="*/ 147 h 204"/>
                <a:gd name="T46" fmla="*/ 107 w 280"/>
                <a:gd name="T47" fmla="*/ 159 h 204"/>
                <a:gd name="T48" fmla="*/ 125 w 280"/>
                <a:gd name="T49" fmla="*/ 195 h 204"/>
                <a:gd name="T50" fmla="*/ 71 w 280"/>
                <a:gd name="T51" fmla="*/ 195 h 204"/>
                <a:gd name="T52" fmla="*/ 53 w 280"/>
                <a:gd name="T53" fmla="*/ 183 h 204"/>
                <a:gd name="T54" fmla="*/ 12 w 280"/>
                <a:gd name="T55" fmla="*/ 159 h 204"/>
                <a:gd name="T56" fmla="*/ 0 w 280"/>
                <a:gd name="T57" fmla="*/ 37 h 204"/>
                <a:gd name="T58" fmla="*/ 166 w 280"/>
                <a:gd name="T59" fmla="*/ 25 h 204"/>
                <a:gd name="T60" fmla="*/ 100 w 280"/>
                <a:gd name="T61" fmla="*/ 144 h 204"/>
                <a:gd name="T62" fmla="*/ 80 w 280"/>
                <a:gd name="T63" fmla="*/ 144 h 204"/>
                <a:gd name="T64" fmla="*/ 100 w 280"/>
                <a:gd name="T65" fmla="*/ 144 h 204"/>
                <a:gd name="T66" fmla="*/ 12 w 280"/>
                <a:gd name="T67" fmla="*/ 38 h 204"/>
                <a:gd name="T68" fmla="*/ 166 w 280"/>
                <a:gd name="T69" fmla="*/ 131 h 204"/>
                <a:gd name="T70" fmla="*/ 166 w 280"/>
                <a:gd name="T71" fmla="*/ 38 h 204"/>
                <a:gd name="T72" fmla="*/ 84 w 280"/>
                <a:gd name="T73" fmla="*/ 144 h 204"/>
                <a:gd name="T74" fmla="*/ 96 w 280"/>
                <a:gd name="T75" fmla="*/ 14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0" h="204">
                  <a:moveTo>
                    <a:pt x="263" y="57"/>
                  </a:moveTo>
                  <a:cubicBezTo>
                    <a:pt x="210" y="57"/>
                    <a:pt x="210" y="57"/>
                    <a:pt x="210" y="57"/>
                  </a:cubicBezTo>
                  <a:cubicBezTo>
                    <a:pt x="210" y="48"/>
                    <a:pt x="210" y="48"/>
                    <a:pt x="210" y="48"/>
                  </a:cubicBezTo>
                  <a:cubicBezTo>
                    <a:pt x="263" y="48"/>
                    <a:pt x="263" y="48"/>
                    <a:pt x="263" y="48"/>
                  </a:cubicBezTo>
                  <a:lnTo>
                    <a:pt x="263" y="57"/>
                  </a:lnTo>
                  <a:close/>
                  <a:moveTo>
                    <a:pt x="263" y="62"/>
                  </a:moveTo>
                  <a:cubicBezTo>
                    <a:pt x="210" y="62"/>
                    <a:pt x="210" y="62"/>
                    <a:pt x="210" y="62"/>
                  </a:cubicBezTo>
                  <a:cubicBezTo>
                    <a:pt x="210" y="70"/>
                    <a:pt x="210" y="70"/>
                    <a:pt x="210" y="70"/>
                  </a:cubicBezTo>
                  <a:cubicBezTo>
                    <a:pt x="263" y="70"/>
                    <a:pt x="263" y="70"/>
                    <a:pt x="263" y="70"/>
                  </a:cubicBezTo>
                  <a:lnTo>
                    <a:pt x="263" y="62"/>
                  </a:lnTo>
                  <a:close/>
                  <a:moveTo>
                    <a:pt x="263" y="25"/>
                  </a:moveTo>
                  <a:cubicBezTo>
                    <a:pt x="210" y="25"/>
                    <a:pt x="210" y="25"/>
                    <a:pt x="210" y="25"/>
                  </a:cubicBezTo>
                  <a:cubicBezTo>
                    <a:pt x="210" y="43"/>
                    <a:pt x="210" y="43"/>
                    <a:pt x="210" y="43"/>
                  </a:cubicBezTo>
                  <a:cubicBezTo>
                    <a:pt x="263" y="43"/>
                    <a:pt x="263" y="43"/>
                    <a:pt x="263" y="43"/>
                  </a:cubicBezTo>
                  <a:lnTo>
                    <a:pt x="263" y="25"/>
                  </a:lnTo>
                  <a:close/>
                  <a:moveTo>
                    <a:pt x="280" y="5"/>
                  </a:moveTo>
                  <a:cubicBezTo>
                    <a:pt x="280" y="199"/>
                    <a:pt x="280" y="199"/>
                    <a:pt x="280" y="199"/>
                  </a:cubicBezTo>
                  <a:cubicBezTo>
                    <a:pt x="280" y="202"/>
                    <a:pt x="278" y="204"/>
                    <a:pt x="275" y="204"/>
                  </a:cubicBezTo>
                  <a:cubicBezTo>
                    <a:pt x="198" y="204"/>
                    <a:pt x="198" y="204"/>
                    <a:pt x="198" y="204"/>
                  </a:cubicBezTo>
                  <a:cubicBezTo>
                    <a:pt x="195" y="204"/>
                    <a:pt x="193" y="202"/>
                    <a:pt x="193" y="199"/>
                  </a:cubicBezTo>
                  <a:cubicBezTo>
                    <a:pt x="193" y="5"/>
                    <a:pt x="193" y="5"/>
                    <a:pt x="193" y="5"/>
                  </a:cubicBezTo>
                  <a:cubicBezTo>
                    <a:pt x="193" y="2"/>
                    <a:pt x="195" y="0"/>
                    <a:pt x="198" y="0"/>
                  </a:cubicBezTo>
                  <a:cubicBezTo>
                    <a:pt x="275" y="0"/>
                    <a:pt x="275" y="0"/>
                    <a:pt x="275" y="0"/>
                  </a:cubicBezTo>
                  <a:cubicBezTo>
                    <a:pt x="278" y="0"/>
                    <a:pt x="280" y="2"/>
                    <a:pt x="280" y="5"/>
                  </a:cubicBezTo>
                  <a:close/>
                  <a:moveTo>
                    <a:pt x="269" y="10"/>
                  </a:moveTo>
                  <a:cubicBezTo>
                    <a:pt x="203" y="10"/>
                    <a:pt x="203" y="10"/>
                    <a:pt x="203" y="10"/>
                  </a:cubicBezTo>
                  <a:cubicBezTo>
                    <a:pt x="203" y="194"/>
                    <a:pt x="203" y="194"/>
                    <a:pt x="203" y="194"/>
                  </a:cubicBezTo>
                  <a:cubicBezTo>
                    <a:pt x="269" y="194"/>
                    <a:pt x="269" y="194"/>
                    <a:pt x="269" y="194"/>
                  </a:cubicBezTo>
                  <a:lnTo>
                    <a:pt x="269" y="10"/>
                  </a:lnTo>
                  <a:close/>
                  <a:moveTo>
                    <a:pt x="263" y="75"/>
                  </a:moveTo>
                  <a:cubicBezTo>
                    <a:pt x="210" y="75"/>
                    <a:pt x="210" y="75"/>
                    <a:pt x="210" y="75"/>
                  </a:cubicBezTo>
                  <a:cubicBezTo>
                    <a:pt x="210" y="84"/>
                    <a:pt x="210" y="84"/>
                    <a:pt x="210" y="84"/>
                  </a:cubicBezTo>
                  <a:cubicBezTo>
                    <a:pt x="263" y="84"/>
                    <a:pt x="263" y="84"/>
                    <a:pt x="263" y="84"/>
                  </a:cubicBezTo>
                  <a:lnTo>
                    <a:pt x="263" y="75"/>
                  </a:lnTo>
                  <a:close/>
                  <a:moveTo>
                    <a:pt x="254" y="137"/>
                  </a:moveTo>
                  <a:cubicBezTo>
                    <a:pt x="254" y="146"/>
                    <a:pt x="247" y="154"/>
                    <a:pt x="237" y="154"/>
                  </a:cubicBezTo>
                  <a:cubicBezTo>
                    <a:pt x="228" y="154"/>
                    <a:pt x="220" y="146"/>
                    <a:pt x="220" y="137"/>
                  </a:cubicBezTo>
                  <a:cubicBezTo>
                    <a:pt x="220" y="127"/>
                    <a:pt x="228" y="120"/>
                    <a:pt x="237" y="120"/>
                  </a:cubicBezTo>
                  <a:cubicBezTo>
                    <a:pt x="247" y="120"/>
                    <a:pt x="254" y="127"/>
                    <a:pt x="254" y="137"/>
                  </a:cubicBezTo>
                  <a:close/>
                  <a:moveTo>
                    <a:pt x="248" y="137"/>
                  </a:moveTo>
                  <a:cubicBezTo>
                    <a:pt x="248" y="131"/>
                    <a:pt x="243" y="126"/>
                    <a:pt x="237" y="126"/>
                  </a:cubicBezTo>
                  <a:cubicBezTo>
                    <a:pt x="231" y="126"/>
                    <a:pt x="226" y="131"/>
                    <a:pt x="226" y="137"/>
                  </a:cubicBezTo>
                  <a:cubicBezTo>
                    <a:pt x="226" y="143"/>
                    <a:pt x="231" y="148"/>
                    <a:pt x="237" y="148"/>
                  </a:cubicBezTo>
                  <a:cubicBezTo>
                    <a:pt x="243" y="148"/>
                    <a:pt x="248" y="143"/>
                    <a:pt x="248" y="137"/>
                  </a:cubicBezTo>
                  <a:close/>
                  <a:moveTo>
                    <a:pt x="178" y="37"/>
                  </a:moveTo>
                  <a:cubicBezTo>
                    <a:pt x="178" y="147"/>
                    <a:pt x="178" y="147"/>
                    <a:pt x="178" y="147"/>
                  </a:cubicBezTo>
                  <a:cubicBezTo>
                    <a:pt x="178" y="154"/>
                    <a:pt x="173" y="159"/>
                    <a:pt x="166" y="159"/>
                  </a:cubicBezTo>
                  <a:cubicBezTo>
                    <a:pt x="107" y="159"/>
                    <a:pt x="107" y="159"/>
                    <a:pt x="107" y="159"/>
                  </a:cubicBezTo>
                  <a:cubicBezTo>
                    <a:pt x="107" y="159"/>
                    <a:pt x="104" y="183"/>
                    <a:pt x="125" y="183"/>
                  </a:cubicBezTo>
                  <a:cubicBezTo>
                    <a:pt x="125" y="195"/>
                    <a:pt x="125" y="195"/>
                    <a:pt x="125" y="195"/>
                  </a:cubicBezTo>
                  <a:cubicBezTo>
                    <a:pt x="107" y="195"/>
                    <a:pt x="107" y="195"/>
                    <a:pt x="107" y="195"/>
                  </a:cubicBezTo>
                  <a:cubicBezTo>
                    <a:pt x="71" y="195"/>
                    <a:pt x="71" y="195"/>
                    <a:pt x="71" y="195"/>
                  </a:cubicBezTo>
                  <a:cubicBezTo>
                    <a:pt x="53" y="195"/>
                    <a:pt x="53" y="195"/>
                    <a:pt x="53" y="195"/>
                  </a:cubicBezTo>
                  <a:cubicBezTo>
                    <a:pt x="53" y="183"/>
                    <a:pt x="53" y="183"/>
                    <a:pt x="53" y="183"/>
                  </a:cubicBezTo>
                  <a:cubicBezTo>
                    <a:pt x="74" y="183"/>
                    <a:pt x="71" y="159"/>
                    <a:pt x="71" y="159"/>
                  </a:cubicBezTo>
                  <a:cubicBezTo>
                    <a:pt x="12" y="159"/>
                    <a:pt x="12" y="159"/>
                    <a:pt x="12" y="159"/>
                  </a:cubicBezTo>
                  <a:cubicBezTo>
                    <a:pt x="5" y="159"/>
                    <a:pt x="0" y="154"/>
                    <a:pt x="0" y="147"/>
                  </a:cubicBezTo>
                  <a:cubicBezTo>
                    <a:pt x="0" y="37"/>
                    <a:pt x="0" y="37"/>
                    <a:pt x="0" y="37"/>
                  </a:cubicBezTo>
                  <a:cubicBezTo>
                    <a:pt x="0" y="30"/>
                    <a:pt x="5" y="25"/>
                    <a:pt x="12" y="25"/>
                  </a:cubicBezTo>
                  <a:cubicBezTo>
                    <a:pt x="166" y="25"/>
                    <a:pt x="166" y="25"/>
                    <a:pt x="166" y="25"/>
                  </a:cubicBezTo>
                  <a:cubicBezTo>
                    <a:pt x="173" y="25"/>
                    <a:pt x="178" y="30"/>
                    <a:pt x="178" y="37"/>
                  </a:cubicBezTo>
                  <a:close/>
                  <a:moveTo>
                    <a:pt x="100" y="144"/>
                  </a:moveTo>
                  <a:cubicBezTo>
                    <a:pt x="100" y="139"/>
                    <a:pt x="95" y="134"/>
                    <a:pt x="90" y="134"/>
                  </a:cubicBezTo>
                  <a:cubicBezTo>
                    <a:pt x="84" y="134"/>
                    <a:pt x="80" y="139"/>
                    <a:pt x="80" y="144"/>
                  </a:cubicBezTo>
                  <a:cubicBezTo>
                    <a:pt x="80" y="150"/>
                    <a:pt x="84" y="155"/>
                    <a:pt x="90" y="155"/>
                  </a:cubicBezTo>
                  <a:cubicBezTo>
                    <a:pt x="95" y="155"/>
                    <a:pt x="100" y="150"/>
                    <a:pt x="100" y="144"/>
                  </a:cubicBezTo>
                  <a:close/>
                  <a:moveTo>
                    <a:pt x="166" y="38"/>
                  </a:moveTo>
                  <a:cubicBezTo>
                    <a:pt x="12" y="38"/>
                    <a:pt x="12" y="38"/>
                    <a:pt x="12" y="38"/>
                  </a:cubicBezTo>
                  <a:cubicBezTo>
                    <a:pt x="12" y="131"/>
                    <a:pt x="12" y="131"/>
                    <a:pt x="12" y="131"/>
                  </a:cubicBezTo>
                  <a:cubicBezTo>
                    <a:pt x="166" y="131"/>
                    <a:pt x="166" y="131"/>
                    <a:pt x="166" y="131"/>
                  </a:cubicBezTo>
                  <a:cubicBezTo>
                    <a:pt x="166" y="131"/>
                    <a:pt x="166" y="131"/>
                    <a:pt x="166" y="131"/>
                  </a:cubicBezTo>
                  <a:lnTo>
                    <a:pt x="166" y="38"/>
                  </a:lnTo>
                  <a:close/>
                  <a:moveTo>
                    <a:pt x="90" y="138"/>
                  </a:moveTo>
                  <a:cubicBezTo>
                    <a:pt x="86" y="138"/>
                    <a:pt x="84" y="141"/>
                    <a:pt x="84" y="144"/>
                  </a:cubicBezTo>
                  <a:cubicBezTo>
                    <a:pt x="84" y="148"/>
                    <a:pt x="86" y="151"/>
                    <a:pt x="90" y="151"/>
                  </a:cubicBezTo>
                  <a:cubicBezTo>
                    <a:pt x="93" y="151"/>
                    <a:pt x="96" y="148"/>
                    <a:pt x="96" y="144"/>
                  </a:cubicBezTo>
                  <a:cubicBezTo>
                    <a:pt x="96" y="141"/>
                    <a:pt x="93" y="138"/>
                    <a:pt x="90" y="138"/>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47" name="矩形 46"/>
          <p:cNvSpPr/>
          <p:nvPr/>
        </p:nvSpPr>
        <p:spPr bwMode="auto">
          <a:xfrm>
            <a:off x="5639435" y="3562350"/>
            <a:ext cx="1195070" cy="338455"/>
          </a:xfrm>
          <a:prstGeom prst="rect">
            <a:avLst/>
          </a:prstGeom>
          <a:noFill/>
        </p:spPr>
        <p:txBody>
          <a:bodyPr wrap="none">
            <a:spAutoFit/>
          </a:bodyPr>
          <a:lstStyle/>
          <a:p>
            <a:pPr algn="ctr">
              <a:defRPr/>
            </a:pPr>
            <a:r>
              <a:rPr lang="en-US" altLang="zh-CN"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Node2Vec</a:t>
            </a:r>
            <a:endParaRPr lang="zh-CN" altLang="en-US" sz="16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矩形 47"/>
          <p:cNvSpPr/>
          <p:nvPr/>
        </p:nvSpPr>
        <p:spPr>
          <a:xfrm>
            <a:off x="5357495" y="3916680"/>
            <a:ext cx="1800225" cy="1198880"/>
          </a:xfrm>
          <a:prstGeom prst="rect">
            <a:avLst/>
          </a:prstGeom>
        </p:spPr>
        <p:txBody>
          <a:bodyPr wrap="square">
            <a:spAutoFit/>
          </a:bodyPr>
          <a:lstStyle/>
          <a:p>
            <a:pPr algn="just">
              <a:lnSpc>
                <a:spcPct val="150000"/>
              </a:lnSpc>
            </a:pPr>
            <a:r>
              <a:rPr lang="en-US" altLang="zh-CN" sz="1200" dirty="0">
                <a:solidFill>
                  <a:schemeClr val="tx1">
                    <a:lumMod val="85000"/>
                    <a:lumOff val="15000"/>
                  </a:schemeClr>
                </a:solidFill>
              </a:rPr>
              <a:t>      </a:t>
            </a:r>
            <a:r>
              <a:rPr lang="zh-CN" altLang="en-US" sz="1200" dirty="0">
                <a:solidFill>
                  <a:schemeClr val="tx1">
                    <a:lumMod val="85000"/>
                    <a:lumOff val="15000"/>
                  </a:schemeClr>
                </a:solidFill>
              </a:rPr>
              <a:t>利用节点与节点之间的联系，提取结构相似的节点和内容相似性的节点，转换成向量输出</a:t>
            </a:r>
            <a:endParaRPr lang="en-US" altLang="zh-CN" sz="1200" dirty="0">
              <a:solidFill>
                <a:schemeClr val="tx1">
                  <a:lumMod val="85000"/>
                  <a:lumOff val="15000"/>
                </a:schemeClr>
              </a:solidFill>
            </a:endParaRPr>
          </a:p>
        </p:txBody>
      </p:sp>
      <p:cxnSp>
        <p:nvCxnSpPr>
          <p:cNvPr id="49" name="直接连接符 48"/>
          <p:cNvCxnSpPr/>
          <p:nvPr/>
        </p:nvCxnSpPr>
        <p:spPr>
          <a:xfrm>
            <a:off x="6145530" y="3927475"/>
            <a:ext cx="18224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5683885" y="2277110"/>
            <a:ext cx="1172210" cy="1172210"/>
            <a:chOff x="8951" y="3586"/>
            <a:chExt cx="1846" cy="1846"/>
          </a:xfrm>
        </p:grpSpPr>
        <p:sp>
          <p:nvSpPr>
            <p:cNvPr id="46" name="椭圆 45"/>
            <p:cNvSpPr/>
            <p:nvPr/>
          </p:nvSpPr>
          <p:spPr>
            <a:xfrm>
              <a:off x="8951" y="3586"/>
              <a:ext cx="1846" cy="1846"/>
            </a:xfrm>
            <a:prstGeom prst="ellipse">
              <a:avLst/>
            </a:prstGeom>
            <a:solidFill>
              <a:srgbClr val="EEF2F5"/>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Freeform 15"/>
            <p:cNvSpPr>
              <a:spLocks noEditPoints="1"/>
            </p:cNvSpPr>
            <p:nvPr/>
          </p:nvSpPr>
          <p:spPr bwMode="auto">
            <a:xfrm>
              <a:off x="9452" y="4603"/>
              <a:ext cx="844" cy="317"/>
            </a:xfrm>
            <a:custGeom>
              <a:avLst/>
              <a:gdLst>
                <a:gd name="T0" fmla="*/ 275 w 277"/>
                <a:gd name="T1" fmla="*/ 90 h 104"/>
                <a:gd name="T2" fmla="*/ 274 w 277"/>
                <a:gd name="T3" fmla="*/ 15 h 104"/>
                <a:gd name="T4" fmla="*/ 276 w 277"/>
                <a:gd name="T5" fmla="*/ 5 h 104"/>
                <a:gd name="T6" fmla="*/ 268 w 277"/>
                <a:gd name="T7" fmla="*/ 0 h 104"/>
                <a:gd name="T8" fmla="*/ 8 w 277"/>
                <a:gd name="T9" fmla="*/ 0 h 104"/>
                <a:gd name="T10" fmla="*/ 0 w 277"/>
                <a:gd name="T11" fmla="*/ 9 h 104"/>
                <a:gd name="T12" fmla="*/ 0 w 277"/>
                <a:gd name="T13" fmla="*/ 95 h 104"/>
                <a:gd name="T14" fmla="*/ 8 w 277"/>
                <a:gd name="T15" fmla="*/ 104 h 104"/>
                <a:gd name="T16" fmla="*/ 268 w 277"/>
                <a:gd name="T17" fmla="*/ 104 h 104"/>
                <a:gd name="T18" fmla="*/ 268 w 277"/>
                <a:gd name="T19" fmla="*/ 104 h 104"/>
                <a:gd name="T20" fmla="*/ 277 w 277"/>
                <a:gd name="T21" fmla="*/ 95 h 104"/>
                <a:gd name="T22" fmla="*/ 275 w 277"/>
                <a:gd name="T23" fmla="*/ 90 h 104"/>
                <a:gd name="T24" fmla="*/ 12 w 277"/>
                <a:gd name="T25" fmla="*/ 88 h 104"/>
                <a:gd name="T26" fmla="*/ 12 w 277"/>
                <a:gd name="T27" fmla="*/ 15 h 104"/>
                <a:gd name="T28" fmla="*/ 256 w 277"/>
                <a:gd name="T29" fmla="*/ 15 h 104"/>
                <a:gd name="T30" fmla="*/ 249 w 277"/>
                <a:gd name="T31" fmla="*/ 46 h 104"/>
                <a:gd name="T32" fmla="*/ 64 w 277"/>
                <a:gd name="T33" fmla="*/ 46 h 104"/>
                <a:gd name="T34" fmla="*/ 58 w 277"/>
                <a:gd name="T35" fmla="*/ 52 h 104"/>
                <a:gd name="T36" fmla="*/ 64 w 277"/>
                <a:gd name="T37" fmla="*/ 58 h 104"/>
                <a:gd name="T38" fmla="*/ 250 w 277"/>
                <a:gd name="T39" fmla="*/ 58 h 104"/>
                <a:gd name="T40" fmla="*/ 259 w 277"/>
                <a:gd name="T41" fmla="*/ 88 h 104"/>
                <a:gd name="T42" fmla="*/ 12 w 277"/>
                <a:gd name="T43"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7" h="104">
                  <a:moveTo>
                    <a:pt x="275" y="90"/>
                  </a:moveTo>
                  <a:cubicBezTo>
                    <a:pt x="271" y="84"/>
                    <a:pt x="247" y="41"/>
                    <a:pt x="274" y="15"/>
                  </a:cubicBezTo>
                  <a:cubicBezTo>
                    <a:pt x="277" y="12"/>
                    <a:pt x="277" y="8"/>
                    <a:pt x="276" y="5"/>
                  </a:cubicBezTo>
                  <a:cubicBezTo>
                    <a:pt x="275" y="2"/>
                    <a:pt x="272" y="0"/>
                    <a:pt x="268" y="0"/>
                  </a:cubicBezTo>
                  <a:cubicBezTo>
                    <a:pt x="8" y="0"/>
                    <a:pt x="8" y="0"/>
                    <a:pt x="8" y="0"/>
                  </a:cubicBezTo>
                  <a:cubicBezTo>
                    <a:pt x="4" y="0"/>
                    <a:pt x="0" y="4"/>
                    <a:pt x="0" y="9"/>
                  </a:cubicBezTo>
                  <a:cubicBezTo>
                    <a:pt x="0" y="95"/>
                    <a:pt x="0" y="95"/>
                    <a:pt x="0" y="95"/>
                  </a:cubicBezTo>
                  <a:cubicBezTo>
                    <a:pt x="0" y="100"/>
                    <a:pt x="4" y="104"/>
                    <a:pt x="8" y="104"/>
                  </a:cubicBezTo>
                  <a:cubicBezTo>
                    <a:pt x="268" y="104"/>
                    <a:pt x="268" y="104"/>
                    <a:pt x="268" y="104"/>
                  </a:cubicBezTo>
                  <a:cubicBezTo>
                    <a:pt x="268" y="104"/>
                    <a:pt x="268" y="104"/>
                    <a:pt x="268" y="104"/>
                  </a:cubicBezTo>
                  <a:cubicBezTo>
                    <a:pt x="273" y="104"/>
                    <a:pt x="277" y="100"/>
                    <a:pt x="277" y="95"/>
                  </a:cubicBezTo>
                  <a:cubicBezTo>
                    <a:pt x="277" y="93"/>
                    <a:pt x="276" y="91"/>
                    <a:pt x="275" y="90"/>
                  </a:cubicBezTo>
                  <a:close/>
                  <a:moveTo>
                    <a:pt x="12" y="88"/>
                  </a:moveTo>
                  <a:cubicBezTo>
                    <a:pt x="12" y="15"/>
                    <a:pt x="12" y="15"/>
                    <a:pt x="12" y="15"/>
                  </a:cubicBezTo>
                  <a:cubicBezTo>
                    <a:pt x="256" y="15"/>
                    <a:pt x="256" y="15"/>
                    <a:pt x="256" y="15"/>
                  </a:cubicBezTo>
                  <a:cubicBezTo>
                    <a:pt x="251" y="25"/>
                    <a:pt x="249" y="36"/>
                    <a:pt x="249" y="46"/>
                  </a:cubicBezTo>
                  <a:cubicBezTo>
                    <a:pt x="64" y="46"/>
                    <a:pt x="64" y="46"/>
                    <a:pt x="64" y="46"/>
                  </a:cubicBezTo>
                  <a:cubicBezTo>
                    <a:pt x="61" y="46"/>
                    <a:pt x="58" y="49"/>
                    <a:pt x="58" y="52"/>
                  </a:cubicBezTo>
                  <a:cubicBezTo>
                    <a:pt x="58" y="55"/>
                    <a:pt x="61" y="58"/>
                    <a:pt x="64" y="58"/>
                  </a:cubicBezTo>
                  <a:cubicBezTo>
                    <a:pt x="250" y="58"/>
                    <a:pt x="250" y="58"/>
                    <a:pt x="250" y="58"/>
                  </a:cubicBezTo>
                  <a:cubicBezTo>
                    <a:pt x="252" y="70"/>
                    <a:pt x="256" y="81"/>
                    <a:pt x="259" y="88"/>
                  </a:cubicBezTo>
                  <a:cubicBezTo>
                    <a:pt x="12" y="88"/>
                    <a:pt x="12" y="88"/>
                    <a:pt x="12" y="88"/>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52" name="Freeform 16">
              <a:hlinkClick r:id="rId9" action="ppaction://hlinksldjump"/>
            </p:cNvPr>
            <p:cNvSpPr/>
            <p:nvPr/>
          </p:nvSpPr>
          <p:spPr bwMode="auto">
            <a:xfrm>
              <a:off x="9637" y="4099"/>
              <a:ext cx="433" cy="483"/>
            </a:xfrm>
            <a:custGeom>
              <a:avLst/>
              <a:gdLst>
                <a:gd name="T0" fmla="*/ 60 w 142"/>
                <a:gd name="T1" fmla="*/ 157 h 158"/>
                <a:gd name="T2" fmla="*/ 79 w 142"/>
                <a:gd name="T3" fmla="*/ 158 h 158"/>
                <a:gd name="T4" fmla="*/ 140 w 142"/>
                <a:gd name="T5" fmla="*/ 80 h 158"/>
                <a:gd name="T6" fmla="*/ 74 w 142"/>
                <a:gd name="T7" fmla="*/ 38 h 158"/>
                <a:gd name="T8" fmla="*/ 71 w 142"/>
                <a:gd name="T9" fmla="*/ 34 h 158"/>
                <a:gd name="T10" fmla="*/ 125 w 142"/>
                <a:gd name="T11" fmla="*/ 8 h 158"/>
                <a:gd name="T12" fmla="*/ 71 w 142"/>
                <a:gd name="T13" fmla="*/ 34 h 158"/>
                <a:gd name="T14" fmla="*/ 60 w 142"/>
                <a:gd name="T15" fmla="*/ 0 h 158"/>
                <a:gd name="T16" fmla="*/ 52 w 142"/>
                <a:gd name="T17" fmla="*/ 2 h 158"/>
                <a:gd name="T18" fmla="*/ 64 w 142"/>
                <a:gd name="T19" fmla="*/ 37 h 158"/>
                <a:gd name="T20" fmla="*/ 2 w 142"/>
                <a:gd name="T21" fmla="*/ 80 h 158"/>
                <a:gd name="T22" fmla="*/ 60 w 142"/>
                <a:gd name="T23" fmla="*/ 15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58">
                  <a:moveTo>
                    <a:pt x="60" y="157"/>
                  </a:moveTo>
                  <a:cubicBezTo>
                    <a:pt x="61" y="157"/>
                    <a:pt x="69" y="158"/>
                    <a:pt x="79" y="158"/>
                  </a:cubicBezTo>
                  <a:cubicBezTo>
                    <a:pt x="117" y="158"/>
                    <a:pt x="140" y="113"/>
                    <a:pt x="140" y="80"/>
                  </a:cubicBezTo>
                  <a:cubicBezTo>
                    <a:pt x="142" y="43"/>
                    <a:pt x="105" y="31"/>
                    <a:pt x="74" y="38"/>
                  </a:cubicBezTo>
                  <a:cubicBezTo>
                    <a:pt x="73" y="37"/>
                    <a:pt x="72" y="36"/>
                    <a:pt x="71" y="34"/>
                  </a:cubicBezTo>
                  <a:cubicBezTo>
                    <a:pt x="93" y="41"/>
                    <a:pt x="118" y="29"/>
                    <a:pt x="125" y="8"/>
                  </a:cubicBezTo>
                  <a:cubicBezTo>
                    <a:pt x="105" y="1"/>
                    <a:pt x="79" y="13"/>
                    <a:pt x="71" y="34"/>
                  </a:cubicBezTo>
                  <a:cubicBezTo>
                    <a:pt x="68" y="28"/>
                    <a:pt x="62" y="16"/>
                    <a:pt x="60" y="0"/>
                  </a:cubicBezTo>
                  <a:cubicBezTo>
                    <a:pt x="52" y="2"/>
                    <a:pt x="52" y="2"/>
                    <a:pt x="52" y="2"/>
                  </a:cubicBezTo>
                  <a:cubicBezTo>
                    <a:pt x="55" y="18"/>
                    <a:pt x="60" y="30"/>
                    <a:pt x="64" y="37"/>
                  </a:cubicBezTo>
                  <a:cubicBezTo>
                    <a:pt x="34" y="33"/>
                    <a:pt x="0" y="45"/>
                    <a:pt x="2" y="80"/>
                  </a:cubicBezTo>
                  <a:cubicBezTo>
                    <a:pt x="2" y="112"/>
                    <a:pt x="23" y="155"/>
                    <a:pt x="60" y="15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3610219"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协同过滤（</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CF</a:t>
            </a: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User_based</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800219"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传统推荐模型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8768" y="870117"/>
            <a:ext cx="3415207" cy="3882462"/>
          </a:xfrm>
          <a:prstGeom prst="rect">
            <a:avLst/>
          </a:prstGeom>
        </p:spPr>
      </p:pic>
      <p:cxnSp>
        <p:nvCxnSpPr>
          <p:cNvPr id="23" name="Straight Connector 335"/>
          <p:cNvCxnSpPr/>
          <p:nvPr/>
        </p:nvCxnSpPr>
        <p:spPr>
          <a:xfrm>
            <a:off x="4590236" y="830785"/>
            <a:ext cx="0" cy="38989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Rectangle 36"/>
          <p:cNvSpPr>
            <a:spLocks noChangeArrowheads="1"/>
          </p:cNvSpPr>
          <p:nvPr/>
        </p:nvSpPr>
        <p:spPr bwMode="auto">
          <a:xfrm>
            <a:off x="5056048" y="1212448"/>
            <a:ext cx="34721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latin typeface="+mn-ea"/>
                <a:sym typeface="Arial" panose="020B0604020202020204" pitchFamily="34" charset="0"/>
              </a:rPr>
              <a:t>输入：</a:t>
            </a:r>
            <a:r>
              <a:rPr lang="en-US" altLang="zh-CN" sz="1400" dirty="0">
                <a:latin typeface="+mn-ea"/>
                <a:sym typeface="Arial" panose="020B0604020202020204" pitchFamily="34" charset="0"/>
              </a:rPr>
              <a:t>UserMovie_Train.txt</a:t>
            </a:r>
            <a:r>
              <a:rPr lang="zh-CN" altLang="en-US" sz="1400" dirty="0">
                <a:latin typeface="+mn-ea"/>
                <a:sym typeface="Arial" panose="020B0604020202020204" pitchFamily="34" charset="0"/>
              </a:rPr>
              <a:t>（筛选过）</a:t>
            </a:r>
            <a:r>
              <a:rPr lang="en-US" altLang="zh-CN" sz="1400" dirty="0">
                <a:latin typeface="+mn-ea"/>
                <a:sym typeface="Arial" panose="020B0604020202020204" pitchFamily="34" charset="0"/>
              </a:rPr>
              <a:t> </a:t>
            </a:r>
          </a:p>
          <a:p>
            <a:pPr eaLnBrk="1" hangingPunct="1"/>
            <a:r>
              <a:rPr lang="en-US" altLang="zh-CN" sz="1400" dirty="0">
                <a:latin typeface="+mn-ea"/>
                <a:sym typeface="Arial" panose="020B0604020202020204" pitchFamily="34" charset="0"/>
              </a:rPr>
              <a:t>         (</a:t>
            </a:r>
            <a:r>
              <a:rPr lang="zh-CN" altLang="en-US" sz="1400" dirty="0">
                <a:latin typeface="+mn-ea"/>
                <a:sym typeface="Arial" panose="020B0604020202020204" pitchFamily="34" charset="0"/>
              </a:rPr>
              <a:t>用户，看过的电影，评分数据</a:t>
            </a:r>
            <a:r>
              <a:rPr lang="en-US" altLang="zh-CN" sz="1400" dirty="0">
                <a:latin typeface="+mn-ea"/>
                <a:sym typeface="Arial" panose="020B0604020202020204" pitchFamily="34" charset="0"/>
              </a:rPr>
              <a:t>)</a:t>
            </a:r>
          </a:p>
        </p:txBody>
      </p:sp>
      <p:sp>
        <p:nvSpPr>
          <p:cNvPr id="25" name="Rectangle 36"/>
          <p:cNvSpPr>
            <a:spLocks noChangeArrowheads="1"/>
          </p:cNvSpPr>
          <p:nvPr/>
        </p:nvSpPr>
        <p:spPr bwMode="auto">
          <a:xfrm>
            <a:off x="5056048" y="1916783"/>
            <a:ext cx="24980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latin typeface="+mn-ea"/>
                <a:sym typeface="Arial" panose="020B0604020202020204" pitchFamily="34" charset="0"/>
              </a:rPr>
              <a:t>输出：</a:t>
            </a:r>
            <a:r>
              <a:rPr lang="zh-CN" altLang="en-US" sz="1400" dirty="0">
                <a:latin typeface="+mn-ea"/>
                <a:sym typeface="Arial" panose="020B0604020202020204" pitchFamily="34" charset="0"/>
              </a:rPr>
              <a:t>对用户的电影推荐列表</a:t>
            </a:r>
          </a:p>
        </p:txBody>
      </p:sp>
      <p:sp>
        <p:nvSpPr>
          <p:cNvPr id="26" name="Rectangle 36"/>
          <p:cNvSpPr>
            <a:spLocks noChangeArrowheads="1"/>
          </p:cNvSpPr>
          <p:nvPr/>
        </p:nvSpPr>
        <p:spPr bwMode="auto">
          <a:xfrm>
            <a:off x="5056048" y="2926636"/>
            <a:ext cx="32092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latin typeface="+mn-ea"/>
                <a:sym typeface="Arial" panose="020B0604020202020204" pitchFamily="34" charset="0"/>
              </a:rPr>
              <a:t>优点：</a:t>
            </a:r>
            <a:r>
              <a:rPr lang="zh-CN" altLang="en-US" sz="1400" dirty="0">
                <a:latin typeface="+mn-ea"/>
                <a:sym typeface="Arial" panose="020B0604020202020204" pitchFamily="34" charset="0"/>
              </a:rPr>
              <a:t>算法简单，可靠度高，评价精准</a:t>
            </a:r>
          </a:p>
        </p:txBody>
      </p:sp>
      <p:sp>
        <p:nvSpPr>
          <p:cNvPr id="27" name="Rectangle 36"/>
          <p:cNvSpPr>
            <a:spLocks noChangeArrowheads="1"/>
          </p:cNvSpPr>
          <p:nvPr/>
        </p:nvSpPr>
        <p:spPr bwMode="auto">
          <a:xfrm>
            <a:off x="5056048" y="3464754"/>
            <a:ext cx="3568700"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latin typeface="+mn-ea"/>
                <a:sym typeface="Arial" panose="020B0604020202020204" pitchFamily="34" charset="0"/>
              </a:rPr>
              <a:t>缺点：</a:t>
            </a:r>
            <a:r>
              <a:rPr lang="zh-CN" altLang="en-US" sz="1400" dirty="0">
                <a:latin typeface="+mn-ea"/>
                <a:sym typeface="Arial" panose="020B0604020202020204" pitchFamily="34" charset="0"/>
              </a:rPr>
              <a:t>训练时间</a:t>
            </a:r>
            <a:r>
              <a:rPr lang="zh-CN" altLang="en-US" sz="1400" b="1" dirty="0">
                <a:latin typeface="+mn-ea"/>
                <a:sym typeface="Arial" panose="020B0604020202020204" pitchFamily="34" charset="0"/>
              </a:rPr>
              <a:t>特别长</a:t>
            </a:r>
            <a:r>
              <a:rPr lang="zh-CN" altLang="en-US" sz="1400" dirty="0">
                <a:latin typeface="+mn-ea"/>
                <a:sym typeface="Arial" panose="020B0604020202020204" pitchFamily="34" charset="0"/>
              </a:rPr>
              <a:t>，训练集信息单一，</a:t>
            </a:r>
            <a:endParaRPr lang="en-US" altLang="zh-CN" sz="1400" dirty="0">
              <a:latin typeface="+mn-ea"/>
              <a:sym typeface="Arial" panose="020B0604020202020204" pitchFamily="34" charset="0"/>
            </a:endParaRPr>
          </a:p>
          <a:p>
            <a:pPr eaLnBrk="1" hangingPunct="1"/>
            <a:r>
              <a:rPr lang="en-US" altLang="zh-CN" sz="1400" dirty="0">
                <a:latin typeface="+mn-ea"/>
                <a:sym typeface="Arial" panose="020B0604020202020204" pitchFamily="34" charset="0"/>
              </a:rPr>
              <a:t>      </a:t>
            </a:r>
            <a:r>
              <a:rPr lang="zh-CN" altLang="en-US" sz="1400" dirty="0">
                <a:latin typeface="+mn-ea"/>
                <a:sym typeface="Arial" panose="020B0604020202020204" pitchFamily="34" charset="0"/>
              </a:rPr>
              <a:t>未能全面考虑电影的信息（比如相同</a:t>
            </a:r>
            <a:endParaRPr lang="en-US" altLang="zh-CN" sz="1400" dirty="0">
              <a:latin typeface="+mn-ea"/>
              <a:sym typeface="Arial" panose="020B0604020202020204" pitchFamily="34" charset="0"/>
            </a:endParaRPr>
          </a:p>
          <a:p>
            <a:pPr eaLnBrk="1" hangingPunct="1"/>
            <a:r>
              <a:rPr lang="en-US" altLang="zh-CN" sz="1400" dirty="0">
                <a:latin typeface="+mn-ea"/>
                <a:sym typeface="Arial" panose="020B0604020202020204" pitchFamily="34" charset="0"/>
              </a:rPr>
              <a:t>      </a:t>
            </a:r>
            <a:r>
              <a:rPr lang="zh-CN" altLang="en-US" sz="1400" dirty="0">
                <a:latin typeface="+mn-ea"/>
                <a:sym typeface="Arial" panose="020B0604020202020204" pitchFamily="34" charset="0"/>
              </a:rPr>
              <a:t>的演员，相同的类型）</a:t>
            </a:r>
          </a:p>
        </p:txBody>
      </p:sp>
      <p:grpSp>
        <p:nvGrpSpPr>
          <p:cNvPr id="115" name="组合 114"/>
          <p:cNvGrpSpPr/>
          <p:nvPr/>
        </p:nvGrpSpPr>
        <p:grpSpPr>
          <a:xfrm>
            <a:off x="1072515" y="1601470"/>
            <a:ext cx="3107690" cy="2419350"/>
            <a:chOff x="772" y="2540"/>
            <a:chExt cx="4894" cy="3810"/>
          </a:xfrm>
        </p:grpSpPr>
        <p:grpSp>
          <p:nvGrpSpPr>
            <p:cNvPr id="113" name="组合 112"/>
            <p:cNvGrpSpPr/>
            <p:nvPr/>
          </p:nvGrpSpPr>
          <p:grpSpPr>
            <a:xfrm>
              <a:off x="772" y="2540"/>
              <a:ext cx="4895" cy="3664"/>
              <a:chOff x="772" y="2540"/>
              <a:chExt cx="4895" cy="3664"/>
            </a:xfrm>
          </p:grpSpPr>
          <p:grpSp>
            <p:nvGrpSpPr>
              <p:cNvPr id="149" name="组合 148"/>
              <p:cNvGrpSpPr>
                <a:grpSpLocks noChangeAspect="1"/>
              </p:cNvGrpSpPr>
              <p:nvPr/>
            </p:nvGrpSpPr>
            <p:grpSpPr>
              <a:xfrm>
                <a:off x="2642" y="2540"/>
                <a:ext cx="688" cy="788"/>
                <a:chOff x="3192463" y="369888"/>
                <a:chExt cx="1570038" cy="1790701"/>
              </a:xfrm>
            </p:grpSpPr>
            <p:sp>
              <p:nvSpPr>
                <p:cNvPr id="2" name="Freeform 7"/>
                <p:cNvSpPr/>
                <p:nvPr/>
              </p:nvSpPr>
              <p:spPr bwMode="auto">
                <a:xfrm>
                  <a:off x="3192463" y="587376"/>
                  <a:ext cx="1570038" cy="1573213"/>
                </a:xfrm>
                <a:custGeom>
                  <a:avLst/>
                  <a:gdLst>
                    <a:gd name="T0" fmla="*/ 418 w 418"/>
                    <a:gd name="T1" fmla="*/ 395 h 419"/>
                    <a:gd name="T2" fmla="*/ 394 w 418"/>
                    <a:gd name="T3" fmla="*/ 419 h 419"/>
                    <a:gd name="T4" fmla="*/ 24 w 418"/>
                    <a:gd name="T5" fmla="*/ 419 h 419"/>
                    <a:gd name="T6" fmla="*/ 0 w 418"/>
                    <a:gd name="T7" fmla="*/ 395 h 419"/>
                    <a:gd name="T8" fmla="*/ 0 w 418"/>
                    <a:gd name="T9" fmla="*/ 24 h 419"/>
                    <a:gd name="T10" fmla="*/ 24 w 418"/>
                    <a:gd name="T11" fmla="*/ 0 h 419"/>
                    <a:gd name="T12" fmla="*/ 394 w 418"/>
                    <a:gd name="T13" fmla="*/ 0 h 419"/>
                    <a:gd name="T14" fmla="*/ 418 w 418"/>
                    <a:gd name="T15" fmla="*/ 24 h 419"/>
                    <a:gd name="T16" fmla="*/ 418 w 418"/>
                    <a:gd name="T17" fmla="*/ 395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8" h="419">
                      <a:moveTo>
                        <a:pt x="418" y="395"/>
                      </a:moveTo>
                      <a:cubicBezTo>
                        <a:pt x="418" y="408"/>
                        <a:pt x="408" y="419"/>
                        <a:pt x="394" y="419"/>
                      </a:cubicBezTo>
                      <a:cubicBezTo>
                        <a:pt x="24" y="419"/>
                        <a:pt x="24" y="419"/>
                        <a:pt x="24" y="419"/>
                      </a:cubicBezTo>
                      <a:cubicBezTo>
                        <a:pt x="10" y="419"/>
                        <a:pt x="0" y="408"/>
                        <a:pt x="0" y="395"/>
                      </a:cubicBezTo>
                      <a:cubicBezTo>
                        <a:pt x="0" y="24"/>
                        <a:pt x="0" y="24"/>
                        <a:pt x="0" y="24"/>
                      </a:cubicBezTo>
                      <a:cubicBezTo>
                        <a:pt x="0" y="11"/>
                        <a:pt x="10" y="0"/>
                        <a:pt x="24" y="0"/>
                      </a:cubicBezTo>
                      <a:cubicBezTo>
                        <a:pt x="394" y="0"/>
                        <a:pt x="394" y="0"/>
                        <a:pt x="394" y="0"/>
                      </a:cubicBezTo>
                      <a:cubicBezTo>
                        <a:pt x="408" y="0"/>
                        <a:pt x="418" y="11"/>
                        <a:pt x="418" y="24"/>
                      </a:cubicBezTo>
                      <a:lnTo>
                        <a:pt x="418" y="395"/>
                      </a:lnTo>
                      <a:close/>
                    </a:path>
                  </a:pathLst>
                </a:custGeom>
                <a:solidFill>
                  <a:srgbClr val="2B698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 name="Freeform 8"/>
                <p:cNvSpPr/>
                <p:nvPr/>
              </p:nvSpPr>
              <p:spPr bwMode="auto">
                <a:xfrm>
                  <a:off x="3910013" y="1455738"/>
                  <a:ext cx="195263" cy="179388"/>
                </a:xfrm>
                <a:custGeom>
                  <a:avLst/>
                  <a:gdLst>
                    <a:gd name="T0" fmla="*/ 52 w 52"/>
                    <a:gd name="T1" fmla="*/ 16 h 48"/>
                    <a:gd name="T2" fmla="*/ 52 w 52"/>
                    <a:gd name="T3" fmla="*/ 0 h 48"/>
                    <a:gd name="T4" fmla="*/ 0 w 52"/>
                    <a:gd name="T5" fmla="*/ 0 h 48"/>
                    <a:gd name="T6" fmla="*/ 0 w 52"/>
                    <a:gd name="T7" fmla="*/ 48 h 48"/>
                    <a:gd name="T8" fmla="*/ 52 w 52"/>
                    <a:gd name="T9" fmla="*/ 16 h 48"/>
                  </a:gdLst>
                  <a:ahLst/>
                  <a:cxnLst>
                    <a:cxn ang="0">
                      <a:pos x="T0" y="T1"/>
                    </a:cxn>
                    <a:cxn ang="0">
                      <a:pos x="T2" y="T3"/>
                    </a:cxn>
                    <a:cxn ang="0">
                      <a:pos x="T4" y="T5"/>
                    </a:cxn>
                    <a:cxn ang="0">
                      <a:pos x="T6" y="T7"/>
                    </a:cxn>
                    <a:cxn ang="0">
                      <a:pos x="T8" y="T9"/>
                    </a:cxn>
                  </a:cxnLst>
                  <a:rect l="0" t="0" r="r" b="b"/>
                  <a:pathLst>
                    <a:path w="52" h="48">
                      <a:moveTo>
                        <a:pt x="52" y="16"/>
                      </a:moveTo>
                      <a:cubicBezTo>
                        <a:pt x="52" y="0"/>
                        <a:pt x="52" y="0"/>
                        <a:pt x="52" y="0"/>
                      </a:cubicBezTo>
                      <a:cubicBezTo>
                        <a:pt x="0" y="0"/>
                        <a:pt x="0" y="0"/>
                        <a:pt x="0" y="0"/>
                      </a:cubicBezTo>
                      <a:cubicBezTo>
                        <a:pt x="0" y="48"/>
                        <a:pt x="0" y="48"/>
                        <a:pt x="0" y="48"/>
                      </a:cubicBezTo>
                      <a:cubicBezTo>
                        <a:pt x="11" y="31"/>
                        <a:pt x="30" y="19"/>
                        <a:pt x="52" y="16"/>
                      </a:cubicBezTo>
                      <a:close/>
                    </a:path>
                  </a:pathLst>
                </a:custGeom>
                <a:solidFill>
                  <a:srgbClr val="EEC59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Freeform 9"/>
                <p:cNvSpPr/>
                <p:nvPr/>
              </p:nvSpPr>
              <p:spPr bwMode="auto">
                <a:xfrm>
                  <a:off x="3643313" y="681038"/>
                  <a:ext cx="731838" cy="792163"/>
                </a:xfrm>
                <a:custGeom>
                  <a:avLst/>
                  <a:gdLst>
                    <a:gd name="T0" fmla="*/ 195 w 195"/>
                    <a:gd name="T1" fmla="*/ 24 h 211"/>
                    <a:gd name="T2" fmla="*/ 171 w 195"/>
                    <a:gd name="T3" fmla="*/ 0 h 211"/>
                    <a:gd name="T4" fmla="*/ 24 w 195"/>
                    <a:gd name="T5" fmla="*/ 0 h 211"/>
                    <a:gd name="T6" fmla="*/ 0 w 195"/>
                    <a:gd name="T7" fmla="*/ 24 h 211"/>
                    <a:gd name="T8" fmla="*/ 0 w 195"/>
                    <a:gd name="T9" fmla="*/ 187 h 211"/>
                    <a:gd name="T10" fmla="*/ 24 w 195"/>
                    <a:gd name="T11" fmla="*/ 211 h 211"/>
                    <a:gd name="T12" fmla="*/ 171 w 195"/>
                    <a:gd name="T13" fmla="*/ 211 h 211"/>
                    <a:gd name="T14" fmla="*/ 195 w 195"/>
                    <a:gd name="T15" fmla="*/ 187 h 211"/>
                    <a:gd name="T16" fmla="*/ 195 w 195"/>
                    <a:gd name="T17" fmla="*/ 2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211">
                      <a:moveTo>
                        <a:pt x="195" y="24"/>
                      </a:moveTo>
                      <a:cubicBezTo>
                        <a:pt x="195" y="11"/>
                        <a:pt x="184" y="0"/>
                        <a:pt x="171" y="0"/>
                      </a:cubicBezTo>
                      <a:cubicBezTo>
                        <a:pt x="24" y="0"/>
                        <a:pt x="24" y="0"/>
                        <a:pt x="24" y="0"/>
                      </a:cubicBezTo>
                      <a:cubicBezTo>
                        <a:pt x="10" y="0"/>
                        <a:pt x="0" y="11"/>
                        <a:pt x="0" y="24"/>
                      </a:cubicBezTo>
                      <a:cubicBezTo>
                        <a:pt x="0" y="187"/>
                        <a:pt x="0" y="187"/>
                        <a:pt x="0" y="187"/>
                      </a:cubicBezTo>
                      <a:cubicBezTo>
                        <a:pt x="0" y="201"/>
                        <a:pt x="10" y="211"/>
                        <a:pt x="24" y="211"/>
                      </a:cubicBezTo>
                      <a:cubicBezTo>
                        <a:pt x="171" y="211"/>
                        <a:pt x="171" y="211"/>
                        <a:pt x="171" y="211"/>
                      </a:cubicBezTo>
                      <a:cubicBezTo>
                        <a:pt x="184" y="211"/>
                        <a:pt x="195" y="201"/>
                        <a:pt x="195" y="187"/>
                      </a:cubicBezTo>
                      <a:lnTo>
                        <a:pt x="195" y="24"/>
                      </a:lnTo>
                      <a:close/>
                    </a:path>
                  </a:pathLst>
                </a:custGeom>
                <a:solidFill>
                  <a:srgbClr val="FFD8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0"/>
                <p:cNvSpPr/>
                <p:nvPr/>
              </p:nvSpPr>
              <p:spPr bwMode="auto">
                <a:xfrm>
                  <a:off x="3481388" y="369888"/>
                  <a:ext cx="1000125" cy="784225"/>
                </a:xfrm>
                <a:custGeom>
                  <a:avLst/>
                  <a:gdLst>
                    <a:gd name="T0" fmla="*/ 198 w 266"/>
                    <a:gd name="T1" fmla="*/ 91 h 209"/>
                    <a:gd name="T2" fmla="*/ 144 w 266"/>
                    <a:gd name="T3" fmla="*/ 123 h 209"/>
                    <a:gd name="T4" fmla="*/ 98 w 266"/>
                    <a:gd name="T5" fmla="*/ 133 h 209"/>
                    <a:gd name="T6" fmla="*/ 123 w 266"/>
                    <a:gd name="T7" fmla="*/ 99 h 209"/>
                    <a:gd name="T8" fmla="*/ 101 w 266"/>
                    <a:gd name="T9" fmla="*/ 112 h 209"/>
                    <a:gd name="T10" fmla="*/ 49 w 266"/>
                    <a:gd name="T11" fmla="*/ 151 h 209"/>
                    <a:gd name="T12" fmla="*/ 41 w 266"/>
                    <a:gd name="T13" fmla="*/ 180 h 209"/>
                    <a:gd name="T14" fmla="*/ 41 w 266"/>
                    <a:gd name="T15" fmla="*/ 209 h 209"/>
                    <a:gd name="T16" fmla="*/ 32 w 266"/>
                    <a:gd name="T17" fmla="*/ 158 h 209"/>
                    <a:gd name="T18" fmla="*/ 33 w 266"/>
                    <a:gd name="T19" fmla="*/ 147 h 209"/>
                    <a:gd name="T20" fmla="*/ 25 w 266"/>
                    <a:gd name="T21" fmla="*/ 157 h 209"/>
                    <a:gd name="T22" fmla="*/ 25 w 266"/>
                    <a:gd name="T23" fmla="*/ 166 h 209"/>
                    <a:gd name="T24" fmla="*/ 14 w 266"/>
                    <a:gd name="T25" fmla="*/ 128 h 209"/>
                    <a:gd name="T26" fmla="*/ 14 w 266"/>
                    <a:gd name="T27" fmla="*/ 115 h 209"/>
                    <a:gd name="T28" fmla="*/ 4 w 266"/>
                    <a:gd name="T29" fmla="*/ 127 h 209"/>
                    <a:gd name="T30" fmla="*/ 13 w 266"/>
                    <a:gd name="T31" fmla="*/ 88 h 209"/>
                    <a:gd name="T32" fmla="*/ 21 w 266"/>
                    <a:gd name="T33" fmla="*/ 55 h 209"/>
                    <a:gd name="T34" fmla="*/ 38 w 266"/>
                    <a:gd name="T35" fmla="*/ 33 h 209"/>
                    <a:gd name="T36" fmla="*/ 27 w 266"/>
                    <a:gd name="T37" fmla="*/ 37 h 209"/>
                    <a:gd name="T38" fmla="*/ 63 w 266"/>
                    <a:gd name="T39" fmla="*/ 9 h 209"/>
                    <a:gd name="T40" fmla="*/ 105 w 266"/>
                    <a:gd name="T41" fmla="*/ 0 h 209"/>
                    <a:gd name="T42" fmla="*/ 126 w 266"/>
                    <a:gd name="T43" fmla="*/ 0 h 209"/>
                    <a:gd name="T44" fmla="*/ 138 w 266"/>
                    <a:gd name="T45" fmla="*/ 0 h 209"/>
                    <a:gd name="T46" fmla="*/ 170 w 266"/>
                    <a:gd name="T47" fmla="*/ 0 h 209"/>
                    <a:gd name="T48" fmla="*/ 226 w 266"/>
                    <a:gd name="T49" fmla="*/ 23 h 209"/>
                    <a:gd name="T50" fmla="*/ 263 w 266"/>
                    <a:gd name="T51" fmla="*/ 80 h 209"/>
                    <a:gd name="T52" fmla="*/ 263 w 266"/>
                    <a:gd name="T53" fmla="*/ 84 h 209"/>
                    <a:gd name="T54" fmla="*/ 255 w 266"/>
                    <a:gd name="T55" fmla="*/ 77 h 209"/>
                    <a:gd name="T56" fmla="*/ 260 w 266"/>
                    <a:gd name="T57" fmla="*/ 98 h 209"/>
                    <a:gd name="T58" fmla="*/ 254 w 266"/>
                    <a:gd name="T59" fmla="*/ 92 h 209"/>
                    <a:gd name="T60" fmla="*/ 252 w 266"/>
                    <a:gd name="T61" fmla="*/ 134 h 209"/>
                    <a:gd name="T62" fmla="*/ 238 w 266"/>
                    <a:gd name="T63" fmla="*/ 200 h 209"/>
                    <a:gd name="T64" fmla="*/ 233 w 266"/>
                    <a:gd name="T65" fmla="*/ 128 h 209"/>
                    <a:gd name="T66" fmla="*/ 224 w 266"/>
                    <a:gd name="T67" fmla="*/ 104 h 209"/>
                    <a:gd name="T68" fmla="*/ 202 w 266"/>
                    <a:gd name="T69" fmla="*/ 124 h 209"/>
                    <a:gd name="T70" fmla="*/ 198 w 266"/>
                    <a:gd name="T71" fmla="*/ 91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6" h="209">
                      <a:moveTo>
                        <a:pt x="198" y="91"/>
                      </a:moveTo>
                      <a:cubicBezTo>
                        <a:pt x="198" y="91"/>
                        <a:pt x="174" y="116"/>
                        <a:pt x="144" y="123"/>
                      </a:cubicBezTo>
                      <a:cubicBezTo>
                        <a:pt x="114" y="130"/>
                        <a:pt x="98" y="133"/>
                        <a:pt x="98" y="133"/>
                      </a:cubicBezTo>
                      <a:cubicBezTo>
                        <a:pt x="98" y="133"/>
                        <a:pt x="123" y="106"/>
                        <a:pt x="123" y="99"/>
                      </a:cubicBezTo>
                      <a:cubicBezTo>
                        <a:pt x="124" y="92"/>
                        <a:pt x="119" y="102"/>
                        <a:pt x="101" y="112"/>
                      </a:cubicBezTo>
                      <a:cubicBezTo>
                        <a:pt x="83" y="122"/>
                        <a:pt x="56" y="143"/>
                        <a:pt x="49" y="151"/>
                      </a:cubicBezTo>
                      <a:cubicBezTo>
                        <a:pt x="42" y="159"/>
                        <a:pt x="41" y="166"/>
                        <a:pt x="41" y="180"/>
                      </a:cubicBezTo>
                      <a:cubicBezTo>
                        <a:pt x="41" y="194"/>
                        <a:pt x="41" y="209"/>
                        <a:pt x="41" y="209"/>
                      </a:cubicBezTo>
                      <a:cubicBezTo>
                        <a:pt x="41" y="209"/>
                        <a:pt x="31" y="169"/>
                        <a:pt x="32" y="158"/>
                      </a:cubicBezTo>
                      <a:cubicBezTo>
                        <a:pt x="33" y="147"/>
                        <a:pt x="33" y="147"/>
                        <a:pt x="33" y="147"/>
                      </a:cubicBezTo>
                      <a:cubicBezTo>
                        <a:pt x="33" y="147"/>
                        <a:pt x="26" y="150"/>
                        <a:pt x="25" y="157"/>
                      </a:cubicBezTo>
                      <a:cubicBezTo>
                        <a:pt x="24" y="163"/>
                        <a:pt x="25" y="166"/>
                        <a:pt x="25" y="166"/>
                      </a:cubicBezTo>
                      <a:cubicBezTo>
                        <a:pt x="25" y="166"/>
                        <a:pt x="14" y="141"/>
                        <a:pt x="14" y="128"/>
                      </a:cubicBezTo>
                      <a:cubicBezTo>
                        <a:pt x="14" y="115"/>
                        <a:pt x="14" y="115"/>
                        <a:pt x="14" y="115"/>
                      </a:cubicBezTo>
                      <a:cubicBezTo>
                        <a:pt x="14" y="115"/>
                        <a:pt x="9" y="123"/>
                        <a:pt x="4" y="127"/>
                      </a:cubicBezTo>
                      <a:cubicBezTo>
                        <a:pt x="0" y="131"/>
                        <a:pt x="12" y="112"/>
                        <a:pt x="13" y="88"/>
                      </a:cubicBezTo>
                      <a:cubicBezTo>
                        <a:pt x="13" y="88"/>
                        <a:pt x="14" y="65"/>
                        <a:pt x="21" y="55"/>
                      </a:cubicBezTo>
                      <a:cubicBezTo>
                        <a:pt x="27" y="46"/>
                        <a:pt x="38" y="33"/>
                        <a:pt x="38" y="33"/>
                      </a:cubicBezTo>
                      <a:cubicBezTo>
                        <a:pt x="27" y="37"/>
                        <a:pt x="27" y="37"/>
                        <a:pt x="27" y="37"/>
                      </a:cubicBezTo>
                      <a:cubicBezTo>
                        <a:pt x="27" y="37"/>
                        <a:pt x="51" y="14"/>
                        <a:pt x="63" y="9"/>
                      </a:cubicBezTo>
                      <a:cubicBezTo>
                        <a:pt x="75" y="4"/>
                        <a:pt x="94" y="0"/>
                        <a:pt x="105" y="0"/>
                      </a:cubicBezTo>
                      <a:cubicBezTo>
                        <a:pt x="117" y="0"/>
                        <a:pt x="126" y="0"/>
                        <a:pt x="126" y="0"/>
                      </a:cubicBezTo>
                      <a:cubicBezTo>
                        <a:pt x="138" y="0"/>
                        <a:pt x="138" y="0"/>
                        <a:pt x="138" y="0"/>
                      </a:cubicBezTo>
                      <a:cubicBezTo>
                        <a:pt x="138" y="0"/>
                        <a:pt x="158" y="0"/>
                        <a:pt x="170" y="0"/>
                      </a:cubicBezTo>
                      <a:cubicBezTo>
                        <a:pt x="181" y="1"/>
                        <a:pt x="210" y="6"/>
                        <a:pt x="226" y="23"/>
                      </a:cubicBezTo>
                      <a:cubicBezTo>
                        <a:pt x="243" y="40"/>
                        <a:pt x="260" y="65"/>
                        <a:pt x="263" y="80"/>
                      </a:cubicBezTo>
                      <a:cubicBezTo>
                        <a:pt x="266" y="94"/>
                        <a:pt x="263" y="84"/>
                        <a:pt x="263" y="84"/>
                      </a:cubicBezTo>
                      <a:cubicBezTo>
                        <a:pt x="255" y="77"/>
                        <a:pt x="255" y="77"/>
                        <a:pt x="255" y="77"/>
                      </a:cubicBezTo>
                      <a:cubicBezTo>
                        <a:pt x="255" y="77"/>
                        <a:pt x="261" y="94"/>
                        <a:pt x="260" y="98"/>
                      </a:cubicBezTo>
                      <a:cubicBezTo>
                        <a:pt x="259" y="101"/>
                        <a:pt x="254" y="92"/>
                        <a:pt x="254" y="92"/>
                      </a:cubicBezTo>
                      <a:cubicBezTo>
                        <a:pt x="254" y="92"/>
                        <a:pt x="254" y="113"/>
                        <a:pt x="252" y="134"/>
                      </a:cubicBezTo>
                      <a:cubicBezTo>
                        <a:pt x="251" y="156"/>
                        <a:pt x="238" y="200"/>
                        <a:pt x="238" y="200"/>
                      </a:cubicBezTo>
                      <a:cubicBezTo>
                        <a:pt x="238" y="200"/>
                        <a:pt x="238" y="148"/>
                        <a:pt x="233" y="128"/>
                      </a:cubicBezTo>
                      <a:cubicBezTo>
                        <a:pt x="228" y="109"/>
                        <a:pt x="224" y="104"/>
                        <a:pt x="224" y="104"/>
                      </a:cubicBezTo>
                      <a:cubicBezTo>
                        <a:pt x="202" y="124"/>
                        <a:pt x="202" y="124"/>
                        <a:pt x="202" y="124"/>
                      </a:cubicBezTo>
                      <a:cubicBezTo>
                        <a:pt x="202" y="124"/>
                        <a:pt x="206" y="102"/>
                        <a:pt x="198" y="91"/>
                      </a:cubicBezTo>
                      <a:close/>
                    </a:path>
                  </a:pathLst>
                </a:custGeom>
                <a:solidFill>
                  <a:srgbClr val="41210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1"/>
                <p:cNvSpPr/>
                <p:nvPr/>
              </p:nvSpPr>
              <p:spPr bwMode="auto">
                <a:xfrm>
                  <a:off x="3910013" y="1514476"/>
                  <a:ext cx="195263" cy="390525"/>
                </a:xfrm>
                <a:custGeom>
                  <a:avLst/>
                  <a:gdLst>
                    <a:gd name="T0" fmla="*/ 52 w 52"/>
                    <a:gd name="T1" fmla="*/ 104 h 104"/>
                    <a:gd name="T2" fmla="*/ 52 w 52"/>
                    <a:gd name="T3" fmla="*/ 0 h 104"/>
                    <a:gd name="T4" fmla="*/ 0 w 52"/>
                    <a:gd name="T5" fmla="*/ 32 h 104"/>
                    <a:gd name="T6" fmla="*/ 0 w 52"/>
                    <a:gd name="T7" fmla="*/ 104 h 104"/>
                    <a:gd name="T8" fmla="*/ 52 w 52"/>
                    <a:gd name="T9" fmla="*/ 104 h 104"/>
                  </a:gdLst>
                  <a:ahLst/>
                  <a:cxnLst>
                    <a:cxn ang="0">
                      <a:pos x="T0" y="T1"/>
                    </a:cxn>
                    <a:cxn ang="0">
                      <a:pos x="T2" y="T3"/>
                    </a:cxn>
                    <a:cxn ang="0">
                      <a:pos x="T4" y="T5"/>
                    </a:cxn>
                    <a:cxn ang="0">
                      <a:pos x="T6" y="T7"/>
                    </a:cxn>
                    <a:cxn ang="0">
                      <a:pos x="T8" y="T9"/>
                    </a:cxn>
                  </a:cxnLst>
                  <a:rect l="0" t="0" r="r" b="b"/>
                  <a:pathLst>
                    <a:path w="52" h="104">
                      <a:moveTo>
                        <a:pt x="52" y="104"/>
                      </a:moveTo>
                      <a:cubicBezTo>
                        <a:pt x="52" y="0"/>
                        <a:pt x="52" y="0"/>
                        <a:pt x="52" y="0"/>
                      </a:cubicBezTo>
                      <a:cubicBezTo>
                        <a:pt x="30" y="3"/>
                        <a:pt x="11" y="15"/>
                        <a:pt x="0" y="32"/>
                      </a:cubicBezTo>
                      <a:cubicBezTo>
                        <a:pt x="0" y="104"/>
                        <a:pt x="0" y="104"/>
                        <a:pt x="0" y="104"/>
                      </a:cubicBezTo>
                      <a:lnTo>
                        <a:pt x="52" y="104"/>
                      </a:lnTo>
                      <a:close/>
                    </a:path>
                  </a:pathLst>
                </a:custGeom>
                <a:solidFill>
                  <a:srgbClr val="FFD5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12"/>
                <p:cNvSpPr/>
                <p:nvPr/>
              </p:nvSpPr>
              <p:spPr bwMode="auto">
                <a:xfrm>
                  <a:off x="3508376" y="1651001"/>
                  <a:ext cx="1014413" cy="509588"/>
                </a:xfrm>
                <a:custGeom>
                  <a:avLst/>
                  <a:gdLst>
                    <a:gd name="T0" fmla="*/ 270 w 270"/>
                    <a:gd name="T1" fmla="*/ 136 h 136"/>
                    <a:gd name="T2" fmla="*/ 270 w 270"/>
                    <a:gd name="T3" fmla="*/ 25 h 136"/>
                    <a:gd name="T4" fmla="*/ 246 w 270"/>
                    <a:gd name="T5" fmla="*/ 0 h 136"/>
                    <a:gd name="T6" fmla="*/ 159 w 270"/>
                    <a:gd name="T7" fmla="*/ 0 h 136"/>
                    <a:gd name="T8" fmla="*/ 135 w 270"/>
                    <a:gd name="T9" fmla="*/ 64 h 136"/>
                    <a:gd name="T10" fmla="*/ 107 w 270"/>
                    <a:gd name="T11" fmla="*/ 0 h 136"/>
                    <a:gd name="T12" fmla="*/ 24 w 270"/>
                    <a:gd name="T13" fmla="*/ 0 h 136"/>
                    <a:gd name="T14" fmla="*/ 0 w 270"/>
                    <a:gd name="T15" fmla="*/ 25 h 136"/>
                    <a:gd name="T16" fmla="*/ 0 w 270"/>
                    <a:gd name="T17" fmla="*/ 136 h 136"/>
                    <a:gd name="T18" fmla="*/ 270 w 270"/>
                    <a:gd name="T19" fmla="*/ 13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0" h="136">
                      <a:moveTo>
                        <a:pt x="270" y="136"/>
                      </a:moveTo>
                      <a:cubicBezTo>
                        <a:pt x="270" y="25"/>
                        <a:pt x="270" y="25"/>
                        <a:pt x="270" y="25"/>
                      </a:cubicBezTo>
                      <a:cubicBezTo>
                        <a:pt x="270" y="11"/>
                        <a:pt x="259" y="0"/>
                        <a:pt x="246" y="0"/>
                      </a:cubicBezTo>
                      <a:cubicBezTo>
                        <a:pt x="159" y="0"/>
                        <a:pt x="159" y="0"/>
                        <a:pt x="159" y="0"/>
                      </a:cubicBezTo>
                      <a:cubicBezTo>
                        <a:pt x="135" y="64"/>
                        <a:pt x="135" y="64"/>
                        <a:pt x="135" y="64"/>
                      </a:cubicBezTo>
                      <a:cubicBezTo>
                        <a:pt x="107" y="0"/>
                        <a:pt x="107" y="0"/>
                        <a:pt x="107" y="0"/>
                      </a:cubicBezTo>
                      <a:cubicBezTo>
                        <a:pt x="24" y="0"/>
                        <a:pt x="24" y="0"/>
                        <a:pt x="24" y="0"/>
                      </a:cubicBezTo>
                      <a:cubicBezTo>
                        <a:pt x="10" y="0"/>
                        <a:pt x="0" y="11"/>
                        <a:pt x="0" y="25"/>
                      </a:cubicBezTo>
                      <a:cubicBezTo>
                        <a:pt x="0" y="136"/>
                        <a:pt x="0" y="136"/>
                        <a:pt x="0" y="136"/>
                      </a:cubicBezTo>
                      <a:lnTo>
                        <a:pt x="270" y="136"/>
                      </a:lnTo>
                      <a:close/>
                    </a:path>
                  </a:pathLst>
                </a:custGeom>
                <a:solidFill>
                  <a:srgbClr val="779AD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Rectangle 13"/>
                <p:cNvSpPr>
                  <a:spLocks noChangeArrowheads="1"/>
                </p:cNvSpPr>
                <p:nvPr/>
              </p:nvSpPr>
              <p:spPr bwMode="auto">
                <a:xfrm>
                  <a:off x="3709988" y="1876426"/>
                  <a:ext cx="136525" cy="195263"/>
                </a:xfrm>
                <a:prstGeom prst="rect">
                  <a:avLst/>
                </a:prstGeom>
                <a:solidFill>
                  <a:srgbClr val="6C8C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0" name="Freeform 14"/>
                <p:cNvSpPr/>
                <p:nvPr/>
              </p:nvSpPr>
              <p:spPr bwMode="auto">
                <a:xfrm>
                  <a:off x="3846513" y="1651001"/>
                  <a:ext cx="190500" cy="333375"/>
                </a:xfrm>
                <a:custGeom>
                  <a:avLst/>
                  <a:gdLst>
                    <a:gd name="T0" fmla="*/ 120 w 120"/>
                    <a:gd name="T1" fmla="*/ 170 h 210"/>
                    <a:gd name="T2" fmla="*/ 101 w 120"/>
                    <a:gd name="T3" fmla="*/ 210 h 210"/>
                    <a:gd name="T4" fmla="*/ 0 w 120"/>
                    <a:gd name="T5" fmla="*/ 0 h 210"/>
                    <a:gd name="T6" fmla="*/ 40 w 120"/>
                    <a:gd name="T7" fmla="*/ 0 h 210"/>
                    <a:gd name="T8" fmla="*/ 120 w 120"/>
                    <a:gd name="T9" fmla="*/ 170 h 210"/>
                  </a:gdLst>
                  <a:ahLst/>
                  <a:cxnLst>
                    <a:cxn ang="0">
                      <a:pos x="T0" y="T1"/>
                    </a:cxn>
                    <a:cxn ang="0">
                      <a:pos x="T2" y="T3"/>
                    </a:cxn>
                    <a:cxn ang="0">
                      <a:pos x="T4" y="T5"/>
                    </a:cxn>
                    <a:cxn ang="0">
                      <a:pos x="T6" y="T7"/>
                    </a:cxn>
                    <a:cxn ang="0">
                      <a:pos x="T8" y="T9"/>
                    </a:cxn>
                  </a:cxnLst>
                  <a:rect l="0" t="0" r="r" b="b"/>
                  <a:pathLst>
                    <a:path w="120" h="210">
                      <a:moveTo>
                        <a:pt x="120" y="170"/>
                      </a:moveTo>
                      <a:lnTo>
                        <a:pt x="101" y="210"/>
                      </a:lnTo>
                      <a:lnTo>
                        <a:pt x="0" y="0"/>
                      </a:lnTo>
                      <a:lnTo>
                        <a:pt x="40" y="0"/>
                      </a:lnTo>
                      <a:lnTo>
                        <a:pt x="120" y="170"/>
                      </a:lnTo>
                      <a:close/>
                    </a:path>
                  </a:pathLst>
                </a:custGeom>
                <a:solidFill>
                  <a:srgbClr val="6D84B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5"/>
                <p:cNvSpPr/>
                <p:nvPr/>
              </p:nvSpPr>
              <p:spPr bwMode="auto">
                <a:xfrm>
                  <a:off x="3976688" y="1651001"/>
                  <a:ext cx="192088" cy="333375"/>
                </a:xfrm>
                <a:custGeom>
                  <a:avLst/>
                  <a:gdLst>
                    <a:gd name="T0" fmla="*/ 0 w 121"/>
                    <a:gd name="T1" fmla="*/ 170 h 210"/>
                    <a:gd name="T2" fmla="*/ 19 w 121"/>
                    <a:gd name="T3" fmla="*/ 210 h 210"/>
                    <a:gd name="T4" fmla="*/ 121 w 121"/>
                    <a:gd name="T5" fmla="*/ 0 h 210"/>
                    <a:gd name="T6" fmla="*/ 81 w 121"/>
                    <a:gd name="T7" fmla="*/ 0 h 210"/>
                    <a:gd name="T8" fmla="*/ 0 w 121"/>
                    <a:gd name="T9" fmla="*/ 170 h 210"/>
                  </a:gdLst>
                  <a:ahLst/>
                  <a:cxnLst>
                    <a:cxn ang="0">
                      <a:pos x="T0" y="T1"/>
                    </a:cxn>
                    <a:cxn ang="0">
                      <a:pos x="T2" y="T3"/>
                    </a:cxn>
                    <a:cxn ang="0">
                      <a:pos x="T4" y="T5"/>
                    </a:cxn>
                    <a:cxn ang="0">
                      <a:pos x="T6" y="T7"/>
                    </a:cxn>
                    <a:cxn ang="0">
                      <a:pos x="T8" y="T9"/>
                    </a:cxn>
                  </a:cxnLst>
                  <a:rect l="0" t="0" r="r" b="b"/>
                  <a:pathLst>
                    <a:path w="121" h="210">
                      <a:moveTo>
                        <a:pt x="0" y="170"/>
                      </a:moveTo>
                      <a:lnTo>
                        <a:pt x="19" y="210"/>
                      </a:lnTo>
                      <a:lnTo>
                        <a:pt x="121" y="0"/>
                      </a:lnTo>
                      <a:lnTo>
                        <a:pt x="81" y="0"/>
                      </a:lnTo>
                      <a:lnTo>
                        <a:pt x="0" y="170"/>
                      </a:lnTo>
                      <a:close/>
                    </a:path>
                  </a:pathLst>
                </a:custGeom>
                <a:solidFill>
                  <a:srgbClr val="6D84B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50" name="组合 149"/>
              <p:cNvGrpSpPr>
                <a:grpSpLocks noChangeAspect="1"/>
              </p:cNvGrpSpPr>
              <p:nvPr/>
            </p:nvGrpSpPr>
            <p:grpSpPr>
              <a:xfrm>
                <a:off x="2667" y="3914"/>
                <a:ext cx="678" cy="788"/>
                <a:chOff x="5337176" y="339726"/>
                <a:chExt cx="1574800" cy="1820863"/>
              </a:xfrm>
            </p:grpSpPr>
            <p:sp>
              <p:nvSpPr>
                <p:cNvPr id="62" name="Freeform 16"/>
                <p:cNvSpPr/>
                <p:nvPr/>
              </p:nvSpPr>
              <p:spPr bwMode="auto">
                <a:xfrm>
                  <a:off x="5337176" y="587376"/>
                  <a:ext cx="1574800" cy="1573213"/>
                </a:xfrm>
                <a:custGeom>
                  <a:avLst/>
                  <a:gdLst>
                    <a:gd name="T0" fmla="*/ 419 w 419"/>
                    <a:gd name="T1" fmla="*/ 395 h 419"/>
                    <a:gd name="T2" fmla="*/ 395 w 419"/>
                    <a:gd name="T3" fmla="*/ 419 h 419"/>
                    <a:gd name="T4" fmla="*/ 24 w 419"/>
                    <a:gd name="T5" fmla="*/ 419 h 419"/>
                    <a:gd name="T6" fmla="*/ 0 w 419"/>
                    <a:gd name="T7" fmla="*/ 395 h 419"/>
                    <a:gd name="T8" fmla="*/ 0 w 419"/>
                    <a:gd name="T9" fmla="*/ 24 h 419"/>
                    <a:gd name="T10" fmla="*/ 24 w 419"/>
                    <a:gd name="T11" fmla="*/ 0 h 419"/>
                    <a:gd name="T12" fmla="*/ 395 w 419"/>
                    <a:gd name="T13" fmla="*/ 0 h 419"/>
                    <a:gd name="T14" fmla="*/ 419 w 419"/>
                    <a:gd name="T15" fmla="*/ 24 h 419"/>
                    <a:gd name="T16" fmla="*/ 419 w 419"/>
                    <a:gd name="T17" fmla="*/ 395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9" h="419">
                      <a:moveTo>
                        <a:pt x="419" y="395"/>
                      </a:moveTo>
                      <a:cubicBezTo>
                        <a:pt x="419" y="408"/>
                        <a:pt x="408" y="419"/>
                        <a:pt x="395" y="419"/>
                      </a:cubicBezTo>
                      <a:cubicBezTo>
                        <a:pt x="24" y="419"/>
                        <a:pt x="24" y="419"/>
                        <a:pt x="24" y="419"/>
                      </a:cubicBezTo>
                      <a:cubicBezTo>
                        <a:pt x="11" y="419"/>
                        <a:pt x="0" y="408"/>
                        <a:pt x="0" y="395"/>
                      </a:cubicBezTo>
                      <a:cubicBezTo>
                        <a:pt x="0" y="24"/>
                        <a:pt x="0" y="24"/>
                        <a:pt x="0" y="24"/>
                      </a:cubicBezTo>
                      <a:cubicBezTo>
                        <a:pt x="0" y="11"/>
                        <a:pt x="11" y="0"/>
                        <a:pt x="24" y="0"/>
                      </a:cubicBezTo>
                      <a:cubicBezTo>
                        <a:pt x="395" y="0"/>
                        <a:pt x="395" y="0"/>
                        <a:pt x="395" y="0"/>
                      </a:cubicBezTo>
                      <a:cubicBezTo>
                        <a:pt x="408" y="0"/>
                        <a:pt x="419" y="11"/>
                        <a:pt x="419" y="24"/>
                      </a:cubicBezTo>
                      <a:lnTo>
                        <a:pt x="419" y="395"/>
                      </a:lnTo>
                      <a:close/>
                    </a:path>
                  </a:pathLst>
                </a:custGeom>
                <a:solidFill>
                  <a:srgbClr val="F7B33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7"/>
                <p:cNvSpPr/>
                <p:nvPr/>
              </p:nvSpPr>
              <p:spPr bwMode="auto">
                <a:xfrm>
                  <a:off x="5991226" y="1436688"/>
                  <a:ext cx="195263" cy="176213"/>
                </a:xfrm>
                <a:custGeom>
                  <a:avLst/>
                  <a:gdLst>
                    <a:gd name="T0" fmla="*/ 52 w 52"/>
                    <a:gd name="T1" fmla="*/ 16 h 47"/>
                    <a:gd name="T2" fmla="*/ 52 w 52"/>
                    <a:gd name="T3" fmla="*/ 0 h 47"/>
                    <a:gd name="T4" fmla="*/ 0 w 52"/>
                    <a:gd name="T5" fmla="*/ 0 h 47"/>
                    <a:gd name="T6" fmla="*/ 0 w 52"/>
                    <a:gd name="T7" fmla="*/ 47 h 47"/>
                    <a:gd name="T8" fmla="*/ 52 w 52"/>
                    <a:gd name="T9" fmla="*/ 16 h 47"/>
                  </a:gdLst>
                  <a:ahLst/>
                  <a:cxnLst>
                    <a:cxn ang="0">
                      <a:pos x="T0" y="T1"/>
                    </a:cxn>
                    <a:cxn ang="0">
                      <a:pos x="T2" y="T3"/>
                    </a:cxn>
                    <a:cxn ang="0">
                      <a:pos x="T4" y="T5"/>
                    </a:cxn>
                    <a:cxn ang="0">
                      <a:pos x="T6" y="T7"/>
                    </a:cxn>
                    <a:cxn ang="0">
                      <a:pos x="T8" y="T9"/>
                    </a:cxn>
                  </a:cxnLst>
                  <a:rect l="0" t="0" r="r" b="b"/>
                  <a:pathLst>
                    <a:path w="52" h="47">
                      <a:moveTo>
                        <a:pt x="52" y="16"/>
                      </a:moveTo>
                      <a:cubicBezTo>
                        <a:pt x="52" y="0"/>
                        <a:pt x="52" y="0"/>
                        <a:pt x="52" y="0"/>
                      </a:cubicBezTo>
                      <a:cubicBezTo>
                        <a:pt x="0" y="0"/>
                        <a:pt x="0" y="0"/>
                        <a:pt x="0" y="0"/>
                      </a:cubicBezTo>
                      <a:cubicBezTo>
                        <a:pt x="0" y="47"/>
                        <a:pt x="0" y="47"/>
                        <a:pt x="0" y="47"/>
                      </a:cubicBezTo>
                      <a:cubicBezTo>
                        <a:pt x="11" y="30"/>
                        <a:pt x="30" y="18"/>
                        <a:pt x="52" y="16"/>
                      </a:cubicBezTo>
                      <a:close/>
                    </a:path>
                  </a:pathLst>
                </a:custGeom>
                <a:solidFill>
                  <a:srgbClr val="EEC59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8"/>
                <p:cNvSpPr/>
                <p:nvPr/>
              </p:nvSpPr>
              <p:spPr bwMode="auto">
                <a:xfrm>
                  <a:off x="5991226" y="1497013"/>
                  <a:ext cx="195263" cy="390525"/>
                </a:xfrm>
                <a:custGeom>
                  <a:avLst/>
                  <a:gdLst>
                    <a:gd name="T0" fmla="*/ 52 w 52"/>
                    <a:gd name="T1" fmla="*/ 104 h 104"/>
                    <a:gd name="T2" fmla="*/ 52 w 52"/>
                    <a:gd name="T3" fmla="*/ 0 h 104"/>
                    <a:gd name="T4" fmla="*/ 0 w 52"/>
                    <a:gd name="T5" fmla="*/ 31 h 104"/>
                    <a:gd name="T6" fmla="*/ 0 w 52"/>
                    <a:gd name="T7" fmla="*/ 104 h 104"/>
                    <a:gd name="T8" fmla="*/ 52 w 52"/>
                    <a:gd name="T9" fmla="*/ 104 h 104"/>
                  </a:gdLst>
                  <a:ahLst/>
                  <a:cxnLst>
                    <a:cxn ang="0">
                      <a:pos x="T0" y="T1"/>
                    </a:cxn>
                    <a:cxn ang="0">
                      <a:pos x="T2" y="T3"/>
                    </a:cxn>
                    <a:cxn ang="0">
                      <a:pos x="T4" y="T5"/>
                    </a:cxn>
                    <a:cxn ang="0">
                      <a:pos x="T6" y="T7"/>
                    </a:cxn>
                    <a:cxn ang="0">
                      <a:pos x="T8" y="T9"/>
                    </a:cxn>
                  </a:cxnLst>
                  <a:rect l="0" t="0" r="r" b="b"/>
                  <a:pathLst>
                    <a:path w="52" h="104">
                      <a:moveTo>
                        <a:pt x="52" y="104"/>
                      </a:moveTo>
                      <a:cubicBezTo>
                        <a:pt x="52" y="0"/>
                        <a:pt x="52" y="0"/>
                        <a:pt x="52" y="0"/>
                      </a:cubicBezTo>
                      <a:cubicBezTo>
                        <a:pt x="30" y="2"/>
                        <a:pt x="11" y="14"/>
                        <a:pt x="0" y="31"/>
                      </a:cubicBezTo>
                      <a:cubicBezTo>
                        <a:pt x="0" y="104"/>
                        <a:pt x="0" y="104"/>
                        <a:pt x="0" y="104"/>
                      </a:cubicBezTo>
                      <a:lnTo>
                        <a:pt x="52" y="104"/>
                      </a:lnTo>
                      <a:close/>
                    </a:path>
                  </a:pathLst>
                </a:custGeom>
                <a:solidFill>
                  <a:srgbClr val="FFD5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9"/>
                <p:cNvSpPr/>
                <p:nvPr/>
              </p:nvSpPr>
              <p:spPr bwMode="auto">
                <a:xfrm>
                  <a:off x="5641976" y="722313"/>
                  <a:ext cx="885825" cy="758825"/>
                </a:xfrm>
                <a:custGeom>
                  <a:avLst/>
                  <a:gdLst>
                    <a:gd name="T0" fmla="*/ 5 w 236"/>
                    <a:gd name="T1" fmla="*/ 45 h 202"/>
                    <a:gd name="T2" fmla="*/ 25 w 236"/>
                    <a:gd name="T3" fmla="*/ 134 h 202"/>
                    <a:gd name="T4" fmla="*/ 107 w 236"/>
                    <a:gd name="T5" fmla="*/ 198 h 202"/>
                    <a:gd name="T6" fmla="*/ 206 w 236"/>
                    <a:gd name="T7" fmla="*/ 143 h 202"/>
                    <a:gd name="T8" fmla="*/ 234 w 236"/>
                    <a:gd name="T9" fmla="*/ 38 h 202"/>
                    <a:gd name="T10" fmla="*/ 205 w 236"/>
                    <a:gd name="T11" fmla="*/ 8 h 202"/>
                    <a:gd name="T12" fmla="*/ 111 w 236"/>
                    <a:gd name="T13" fmla="*/ 0 h 202"/>
                    <a:gd name="T14" fmla="*/ 43 w 236"/>
                    <a:gd name="T15" fmla="*/ 14 h 202"/>
                    <a:gd name="T16" fmla="*/ 5 w 236"/>
                    <a:gd name="T17" fmla="*/ 4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6" h="202">
                      <a:moveTo>
                        <a:pt x="5" y="45"/>
                      </a:moveTo>
                      <a:cubicBezTo>
                        <a:pt x="5" y="45"/>
                        <a:pt x="0" y="92"/>
                        <a:pt x="25" y="134"/>
                      </a:cubicBezTo>
                      <a:cubicBezTo>
                        <a:pt x="50" y="175"/>
                        <a:pt x="85" y="194"/>
                        <a:pt x="107" y="198"/>
                      </a:cubicBezTo>
                      <a:cubicBezTo>
                        <a:pt x="129" y="202"/>
                        <a:pt x="176" y="191"/>
                        <a:pt x="206" y="143"/>
                      </a:cubicBezTo>
                      <a:cubicBezTo>
                        <a:pt x="236" y="94"/>
                        <a:pt x="234" y="38"/>
                        <a:pt x="234" y="38"/>
                      </a:cubicBezTo>
                      <a:cubicBezTo>
                        <a:pt x="205" y="8"/>
                        <a:pt x="205" y="8"/>
                        <a:pt x="205" y="8"/>
                      </a:cubicBezTo>
                      <a:cubicBezTo>
                        <a:pt x="111" y="0"/>
                        <a:pt x="111" y="0"/>
                        <a:pt x="111" y="0"/>
                      </a:cubicBezTo>
                      <a:cubicBezTo>
                        <a:pt x="43" y="14"/>
                        <a:pt x="43" y="14"/>
                        <a:pt x="43" y="14"/>
                      </a:cubicBezTo>
                      <a:lnTo>
                        <a:pt x="5" y="45"/>
                      </a:lnTo>
                      <a:close/>
                    </a:path>
                  </a:pathLst>
                </a:custGeom>
                <a:solidFill>
                  <a:srgbClr val="FED4A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20"/>
                <p:cNvSpPr/>
                <p:nvPr/>
              </p:nvSpPr>
              <p:spPr bwMode="auto">
                <a:xfrm>
                  <a:off x="5461001" y="339726"/>
                  <a:ext cx="1228725" cy="1201738"/>
                </a:xfrm>
                <a:custGeom>
                  <a:avLst/>
                  <a:gdLst>
                    <a:gd name="T0" fmla="*/ 226 w 327"/>
                    <a:gd name="T1" fmla="*/ 123 h 320"/>
                    <a:gd name="T2" fmla="*/ 154 w 327"/>
                    <a:gd name="T3" fmla="*/ 155 h 320"/>
                    <a:gd name="T4" fmla="*/ 98 w 327"/>
                    <a:gd name="T5" fmla="*/ 152 h 320"/>
                    <a:gd name="T6" fmla="*/ 107 w 327"/>
                    <a:gd name="T7" fmla="*/ 134 h 320"/>
                    <a:gd name="T8" fmla="*/ 84 w 327"/>
                    <a:gd name="T9" fmla="*/ 150 h 320"/>
                    <a:gd name="T10" fmla="*/ 53 w 327"/>
                    <a:gd name="T11" fmla="*/ 159 h 320"/>
                    <a:gd name="T12" fmla="*/ 78 w 327"/>
                    <a:gd name="T13" fmla="*/ 244 h 320"/>
                    <a:gd name="T14" fmla="*/ 120 w 327"/>
                    <a:gd name="T15" fmla="*/ 284 h 320"/>
                    <a:gd name="T16" fmla="*/ 106 w 327"/>
                    <a:gd name="T17" fmla="*/ 288 h 320"/>
                    <a:gd name="T18" fmla="*/ 98 w 327"/>
                    <a:gd name="T19" fmla="*/ 303 h 320"/>
                    <a:gd name="T20" fmla="*/ 91 w 327"/>
                    <a:gd name="T21" fmla="*/ 298 h 320"/>
                    <a:gd name="T22" fmla="*/ 91 w 327"/>
                    <a:gd name="T23" fmla="*/ 308 h 320"/>
                    <a:gd name="T24" fmla="*/ 68 w 327"/>
                    <a:gd name="T25" fmla="*/ 311 h 320"/>
                    <a:gd name="T26" fmla="*/ 48 w 327"/>
                    <a:gd name="T27" fmla="*/ 302 h 320"/>
                    <a:gd name="T28" fmla="*/ 48 w 327"/>
                    <a:gd name="T29" fmla="*/ 316 h 320"/>
                    <a:gd name="T30" fmla="*/ 2 w 327"/>
                    <a:gd name="T31" fmla="*/ 238 h 320"/>
                    <a:gd name="T32" fmla="*/ 38 w 327"/>
                    <a:gd name="T33" fmla="*/ 114 h 320"/>
                    <a:gd name="T34" fmla="*/ 110 w 327"/>
                    <a:gd name="T35" fmla="*/ 19 h 320"/>
                    <a:gd name="T36" fmla="*/ 223 w 327"/>
                    <a:gd name="T37" fmla="*/ 21 h 320"/>
                    <a:gd name="T38" fmla="*/ 292 w 327"/>
                    <a:gd name="T39" fmla="*/ 115 h 320"/>
                    <a:gd name="T40" fmla="*/ 318 w 327"/>
                    <a:gd name="T41" fmla="*/ 207 h 320"/>
                    <a:gd name="T42" fmla="*/ 312 w 327"/>
                    <a:gd name="T43" fmla="*/ 292 h 320"/>
                    <a:gd name="T44" fmla="*/ 282 w 327"/>
                    <a:gd name="T45" fmla="*/ 316 h 320"/>
                    <a:gd name="T46" fmla="*/ 285 w 327"/>
                    <a:gd name="T47" fmla="*/ 305 h 320"/>
                    <a:gd name="T48" fmla="*/ 263 w 327"/>
                    <a:gd name="T49" fmla="*/ 312 h 320"/>
                    <a:gd name="T50" fmla="*/ 240 w 327"/>
                    <a:gd name="T51" fmla="*/ 310 h 320"/>
                    <a:gd name="T52" fmla="*/ 244 w 327"/>
                    <a:gd name="T53" fmla="*/ 302 h 320"/>
                    <a:gd name="T54" fmla="*/ 234 w 327"/>
                    <a:gd name="T55" fmla="*/ 302 h 320"/>
                    <a:gd name="T56" fmla="*/ 232 w 327"/>
                    <a:gd name="T57" fmla="*/ 305 h 320"/>
                    <a:gd name="T58" fmla="*/ 227 w 327"/>
                    <a:gd name="T59" fmla="*/ 292 h 320"/>
                    <a:gd name="T60" fmla="*/ 205 w 327"/>
                    <a:gd name="T61" fmla="*/ 289 h 320"/>
                    <a:gd name="T62" fmla="*/ 260 w 327"/>
                    <a:gd name="T63" fmla="*/ 232 h 320"/>
                    <a:gd name="T64" fmla="*/ 277 w 327"/>
                    <a:gd name="T65" fmla="*/ 156 h 320"/>
                    <a:gd name="T66" fmla="*/ 276 w 327"/>
                    <a:gd name="T67" fmla="*/ 147 h 320"/>
                    <a:gd name="T68" fmla="*/ 248 w 327"/>
                    <a:gd name="T69" fmla="*/ 154 h 320"/>
                    <a:gd name="T70" fmla="*/ 202 w 327"/>
                    <a:gd name="T71" fmla="*/ 154 h 320"/>
                    <a:gd name="T72" fmla="*/ 226 w 327"/>
                    <a:gd name="T73" fmla="*/ 12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7" h="320">
                      <a:moveTo>
                        <a:pt x="226" y="123"/>
                      </a:moveTo>
                      <a:cubicBezTo>
                        <a:pt x="226" y="123"/>
                        <a:pt x="200" y="152"/>
                        <a:pt x="154" y="155"/>
                      </a:cubicBezTo>
                      <a:cubicBezTo>
                        <a:pt x="108" y="158"/>
                        <a:pt x="98" y="152"/>
                        <a:pt x="98" y="152"/>
                      </a:cubicBezTo>
                      <a:cubicBezTo>
                        <a:pt x="98" y="152"/>
                        <a:pt x="106" y="141"/>
                        <a:pt x="107" y="134"/>
                      </a:cubicBezTo>
                      <a:cubicBezTo>
                        <a:pt x="108" y="126"/>
                        <a:pt x="101" y="142"/>
                        <a:pt x="84" y="150"/>
                      </a:cubicBezTo>
                      <a:cubicBezTo>
                        <a:pt x="68" y="159"/>
                        <a:pt x="53" y="159"/>
                        <a:pt x="53" y="159"/>
                      </a:cubicBezTo>
                      <a:cubicBezTo>
                        <a:pt x="53" y="159"/>
                        <a:pt x="57" y="212"/>
                        <a:pt x="78" y="244"/>
                      </a:cubicBezTo>
                      <a:cubicBezTo>
                        <a:pt x="100" y="275"/>
                        <a:pt x="120" y="284"/>
                        <a:pt x="120" y="284"/>
                      </a:cubicBezTo>
                      <a:cubicBezTo>
                        <a:pt x="120" y="284"/>
                        <a:pt x="113" y="284"/>
                        <a:pt x="106" y="288"/>
                      </a:cubicBezTo>
                      <a:cubicBezTo>
                        <a:pt x="100" y="292"/>
                        <a:pt x="98" y="303"/>
                        <a:pt x="98" y="303"/>
                      </a:cubicBezTo>
                      <a:cubicBezTo>
                        <a:pt x="91" y="298"/>
                        <a:pt x="91" y="298"/>
                        <a:pt x="91" y="298"/>
                      </a:cubicBezTo>
                      <a:cubicBezTo>
                        <a:pt x="91" y="308"/>
                        <a:pt x="91" y="308"/>
                        <a:pt x="91" y="308"/>
                      </a:cubicBezTo>
                      <a:cubicBezTo>
                        <a:pt x="91" y="308"/>
                        <a:pt x="81" y="314"/>
                        <a:pt x="68" y="311"/>
                      </a:cubicBezTo>
                      <a:cubicBezTo>
                        <a:pt x="54" y="308"/>
                        <a:pt x="48" y="302"/>
                        <a:pt x="48" y="302"/>
                      </a:cubicBezTo>
                      <a:cubicBezTo>
                        <a:pt x="48" y="302"/>
                        <a:pt x="46" y="311"/>
                        <a:pt x="48" y="316"/>
                      </a:cubicBezTo>
                      <a:cubicBezTo>
                        <a:pt x="50" y="320"/>
                        <a:pt x="0" y="301"/>
                        <a:pt x="2" y="238"/>
                      </a:cubicBezTo>
                      <a:cubicBezTo>
                        <a:pt x="5" y="176"/>
                        <a:pt x="30" y="158"/>
                        <a:pt x="38" y="114"/>
                      </a:cubicBezTo>
                      <a:cubicBezTo>
                        <a:pt x="45" y="70"/>
                        <a:pt x="82" y="29"/>
                        <a:pt x="110" y="19"/>
                      </a:cubicBezTo>
                      <a:cubicBezTo>
                        <a:pt x="138" y="9"/>
                        <a:pt x="193" y="0"/>
                        <a:pt x="223" y="21"/>
                      </a:cubicBezTo>
                      <a:cubicBezTo>
                        <a:pt x="223" y="21"/>
                        <a:pt x="272" y="49"/>
                        <a:pt x="292" y="115"/>
                      </a:cubicBezTo>
                      <a:cubicBezTo>
                        <a:pt x="312" y="181"/>
                        <a:pt x="308" y="182"/>
                        <a:pt x="318" y="207"/>
                      </a:cubicBezTo>
                      <a:cubicBezTo>
                        <a:pt x="327" y="232"/>
                        <a:pt x="326" y="269"/>
                        <a:pt x="312" y="292"/>
                      </a:cubicBezTo>
                      <a:cubicBezTo>
                        <a:pt x="299" y="314"/>
                        <a:pt x="282" y="316"/>
                        <a:pt x="282" y="316"/>
                      </a:cubicBezTo>
                      <a:cubicBezTo>
                        <a:pt x="282" y="316"/>
                        <a:pt x="284" y="310"/>
                        <a:pt x="285" y="305"/>
                      </a:cubicBezTo>
                      <a:cubicBezTo>
                        <a:pt x="286" y="300"/>
                        <a:pt x="281" y="312"/>
                        <a:pt x="263" y="312"/>
                      </a:cubicBezTo>
                      <a:cubicBezTo>
                        <a:pt x="245" y="312"/>
                        <a:pt x="240" y="310"/>
                        <a:pt x="240" y="310"/>
                      </a:cubicBezTo>
                      <a:cubicBezTo>
                        <a:pt x="240" y="310"/>
                        <a:pt x="244" y="306"/>
                        <a:pt x="244" y="302"/>
                      </a:cubicBezTo>
                      <a:cubicBezTo>
                        <a:pt x="245" y="298"/>
                        <a:pt x="235" y="300"/>
                        <a:pt x="234" y="302"/>
                      </a:cubicBezTo>
                      <a:cubicBezTo>
                        <a:pt x="232" y="305"/>
                        <a:pt x="232" y="305"/>
                        <a:pt x="232" y="305"/>
                      </a:cubicBezTo>
                      <a:cubicBezTo>
                        <a:pt x="232" y="305"/>
                        <a:pt x="232" y="292"/>
                        <a:pt x="227" y="292"/>
                      </a:cubicBezTo>
                      <a:cubicBezTo>
                        <a:pt x="222" y="292"/>
                        <a:pt x="205" y="289"/>
                        <a:pt x="205" y="289"/>
                      </a:cubicBezTo>
                      <a:cubicBezTo>
                        <a:pt x="205" y="289"/>
                        <a:pt x="249" y="263"/>
                        <a:pt x="260" y="232"/>
                      </a:cubicBezTo>
                      <a:cubicBezTo>
                        <a:pt x="272" y="200"/>
                        <a:pt x="276" y="174"/>
                        <a:pt x="277" y="156"/>
                      </a:cubicBezTo>
                      <a:cubicBezTo>
                        <a:pt x="278" y="137"/>
                        <a:pt x="276" y="147"/>
                        <a:pt x="276" y="147"/>
                      </a:cubicBezTo>
                      <a:cubicBezTo>
                        <a:pt x="276" y="147"/>
                        <a:pt x="266" y="153"/>
                        <a:pt x="248" y="154"/>
                      </a:cubicBezTo>
                      <a:cubicBezTo>
                        <a:pt x="230" y="154"/>
                        <a:pt x="202" y="154"/>
                        <a:pt x="202" y="154"/>
                      </a:cubicBezTo>
                      <a:cubicBezTo>
                        <a:pt x="202" y="154"/>
                        <a:pt x="225" y="140"/>
                        <a:pt x="226" y="123"/>
                      </a:cubicBezTo>
                      <a:close/>
                    </a:path>
                  </a:pathLst>
                </a:custGeom>
                <a:solidFill>
                  <a:srgbClr val="61241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21"/>
                <p:cNvSpPr/>
                <p:nvPr/>
              </p:nvSpPr>
              <p:spPr bwMode="auto">
                <a:xfrm>
                  <a:off x="5573713" y="1646238"/>
                  <a:ext cx="1017588" cy="514350"/>
                </a:xfrm>
                <a:custGeom>
                  <a:avLst/>
                  <a:gdLst>
                    <a:gd name="T0" fmla="*/ 271 w 271"/>
                    <a:gd name="T1" fmla="*/ 137 h 137"/>
                    <a:gd name="T2" fmla="*/ 271 w 271"/>
                    <a:gd name="T3" fmla="*/ 26 h 137"/>
                    <a:gd name="T4" fmla="*/ 247 w 271"/>
                    <a:gd name="T5" fmla="*/ 0 h 137"/>
                    <a:gd name="T6" fmla="*/ 159 w 271"/>
                    <a:gd name="T7" fmla="*/ 0 h 137"/>
                    <a:gd name="T8" fmla="*/ 136 w 271"/>
                    <a:gd name="T9" fmla="*/ 65 h 137"/>
                    <a:gd name="T10" fmla="*/ 108 w 271"/>
                    <a:gd name="T11" fmla="*/ 0 h 137"/>
                    <a:gd name="T12" fmla="*/ 24 w 271"/>
                    <a:gd name="T13" fmla="*/ 0 h 137"/>
                    <a:gd name="T14" fmla="*/ 0 w 271"/>
                    <a:gd name="T15" fmla="*/ 26 h 137"/>
                    <a:gd name="T16" fmla="*/ 0 w 271"/>
                    <a:gd name="T17" fmla="*/ 137 h 137"/>
                    <a:gd name="T18" fmla="*/ 271 w 271"/>
                    <a:gd name="T19"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1" h="137">
                      <a:moveTo>
                        <a:pt x="271" y="137"/>
                      </a:moveTo>
                      <a:cubicBezTo>
                        <a:pt x="271" y="26"/>
                        <a:pt x="271" y="26"/>
                        <a:pt x="271" y="26"/>
                      </a:cubicBezTo>
                      <a:cubicBezTo>
                        <a:pt x="271" y="12"/>
                        <a:pt x="260" y="0"/>
                        <a:pt x="247" y="0"/>
                      </a:cubicBezTo>
                      <a:cubicBezTo>
                        <a:pt x="159" y="0"/>
                        <a:pt x="159" y="0"/>
                        <a:pt x="159" y="0"/>
                      </a:cubicBezTo>
                      <a:cubicBezTo>
                        <a:pt x="136" y="65"/>
                        <a:pt x="136" y="65"/>
                        <a:pt x="136" y="65"/>
                      </a:cubicBezTo>
                      <a:cubicBezTo>
                        <a:pt x="108" y="0"/>
                        <a:pt x="108" y="0"/>
                        <a:pt x="108" y="0"/>
                      </a:cubicBezTo>
                      <a:cubicBezTo>
                        <a:pt x="24" y="0"/>
                        <a:pt x="24" y="0"/>
                        <a:pt x="24" y="0"/>
                      </a:cubicBezTo>
                      <a:cubicBezTo>
                        <a:pt x="11" y="0"/>
                        <a:pt x="0" y="12"/>
                        <a:pt x="0" y="26"/>
                      </a:cubicBezTo>
                      <a:cubicBezTo>
                        <a:pt x="0" y="137"/>
                        <a:pt x="0" y="137"/>
                        <a:pt x="0" y="137"/>
                      </a:cubicBezTo>
                      <a:lnTo>
                        <a:pt x="271" y="137"/>
                      </a:lnTo>
                      <a:close/>
                    </a:path>
                  </a:pathLst>
                </a:custGeom>
                <a:solidFill>
                  <a:srgbClr val="60681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22"/>
                <p:cNvSpPr/>
                <p:nvPr/>
              </p:nvSpPr>
              <p:spPr bwMode="auto">
                <a:xfrm>
                  <a:off x="5964238" y="1662113"/>
                  <a:ext cx="236538" cy="288925"/>
                </a:xfrm>
                <a:custGeom>
                  <a:avLst/>
                  <a:gdLst>
                    <a:gd name="T0" fmla="*/ 38 w 149"/>
                    <a:gd name="T1" fmla="*/ 0 h 182"/>
                    <a:gd name="T2" fmla="*/ 74 w 149"/>
                    <a:gd name="T3" fmla="*/ 30 h 182"/>
                    <a:gd name="T4" fmla="*/ 109 w 149"/>
                    <a:gd name="T5" fmla="*/ 0 h 182"/>
                    <a:gd name="T6" fmla="*/ 149 w 149"/>
                    <a:gd name="T7" fmla="*/ 45 h 182"/>
                    <a:gd name="T8" fmla="*/ 78 w 149"/>
                    <a:gd name="T9" fmla="*/ 182 h 182"/>
                    <a:gd name="T10" fmla="*/ 0 w 149"/>
                    <a:gd name="T11" fmla="*/ 47 h 182"/>
                    <a:gd name="T12" fmla="*/ 38 w 149"/>
                    <a:gd name="T13" fmla="*/ 0 h 182"/>
                  </a:gdLst>
                  <a:ahLst/>
                  <a:cxnLst>
                    <a:cxn ang="0">
                      <a:pos x="T0" y="T1"/>
                    </a:cxn>
                    <a:cxn ang="0">
                      <a:pos x="T2" y="T3"/>
                    </a:cxn>
                    <a:cxn ang="0">
                      <a:pos x="T4" y="T5"/>
                    </a:cxn>
                    <a:cxn ang="0">
                      <a:pos x="T6" y="T7"/>
                    </a:cxn>
                    <a:cxn ang="0">
                      <a:pos x="T8" y="T9"/>
                    </a:cxn>
                    <a:cxn ang="0">
                      <a:pos x="T10" y="T11"/>
                    </a:cxn>
                    <a:cxn ang="0">
                      <a:pos x="T12" y="T13"/>
                    </a:cxn>
                  </a:cxnLst>
                  <a:rect l="0" t="0" r="r" b="b"/>
                  <a:pathLst>
                    <a:path w="149" h="182">
                      <a:moveTo>
                        <a:pt x="38" y="0"/>
                      </a:moveTo>
                      <a:lnTo>
                        <a:pt x="74" y="30"/>
                      </a:lnTo>
                      <a:lnTo>
                        <a:pt x="109" y="0"/>
                      </a:lnTo>
                      <a:lnTo>
                        <a:pt x="149" y="45"/>
                      </a:lnTo>
                      <a:lnTo>
                        <a:pt x="78" y="182"/>
                      </a:lnTo>
                      <a:lnTo>
                        <a:pt x="0" y="47"/>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23"/>
                <p:cNvSpPr/>
                <p:nvPr/>
              </p:nvSpPr>
              <p:spPr bwMode="auto">
                <a:xfrm>
                  <a:off x="5788026" y="1646238"/>
                  <a:ext cx="588963" cy="384175"/>
                </a:xfrm>
                <a:custGeom>
                  <a:avLst/>
                  <a:gdLst>
                    <a:gd name="T0" fmla="*/ 0 w 371"/>
                    <a:gd name="T1" fmla="*/ 0 h 242"/>
                    <a:gd name="T2" fmla="*/ 71 w 371"/>
                    <a:gd name="T3" fmla="*/ 145 h 242"/>
                    <a:gd name="T4" fmla="*/ 102 w 371"/>
                    <a:gd name="T5" fmla="*/ 100 h 242"/>
                    <a:gd name="T6" fmla="*/ 189 w 371"/>
                    <a:gd name="T7" fmla="*/ 242 h 242"/>
                    <a:gd name="T8" fmla="*/ 272 w 371"/>
                    <a:gd name="T9" fmla="*/ 100 h 242"/>
                    <a:gd name="T10" fmla="*/ 305 w 371"/>
                    <a:gd name="T11" fmla="*/ 142 h 242"/>
                    <a:gd name="T12" fmla="*/ 371 w 371"/>
                    <a:gd name="T13" fmla="*/ 0 h 242"/>
                    <a:gd name="T14" fmla="*/ 291 w 371"/>
                    <a:gd name="T15" fmla="*/ 0 h 242"/>
                    <a:gd name="T16" fmla="*/ 189 w 371"/>
                    <a:gd name="T17" fmla="*/ 192 h 242"/>
                    <a:gd name="T18" fmla="*/ 85 w 371"/>
                    <a:gd name="T19" fmla="*/ 0 h 242"/>
                    <a:gd name="T20" fmla="*/ 0 w 371"/>
                    <a:gd name="T21" fmla="*/ 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1" h="242">
                      <a:moveTo>
                        <a:pt x="0" y="0"/>
                      </a:moveTo>
                      <a:lnTo>
                        <a:pt x="71" y="145"/>
                      </a:lnTo>
                      <a:lnTo>
                        <a:pt x="102" y="100"/>
                      </a:lnTo>
                      <a:lnTo>
                        <a:pt x="189" y="242"/>
                      </a:lnTo>
                      <a:lnTo>
                        <a:pt x="272" y="100"/>
                      </a:lnTo>
                      <a:lnTo>
                        <a:pt x="305" y="142"/>
                      </a:lnTo>
                      <a:lnTo>
                        <a:pt x="371" y="0"/>
                      </a:lnTo>
                      <a:lnTo>
                        <a:pt x="291" y="0"/>
                      </a:lnTo>
                      <a:lnTo>
                        <a:pt x="189" y="192"/>
                      </a:lnTo>
                      <a:lnTo>
                        <a:pt x="85" y="0"/>
                      </a:lnTo>
                      <a:lnTo>
                        <a:pt x="0" y="0"/>
                      </a:lnTo>
                      <a:close/>
                    </a:path>
                  </a:pathLst>
                </a:custGeom>
                <a:solidFill>
                  <a:srgbClr val="4C540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24"/>
                <p:cNvSpPr/>
                <p:nvPr/>
              </p:nvSpPr>
              <p:spPr bwMode="auto">
                <a:xfrm>
                  <a:off x="5851526" y="1597026"/>
                  <a:ext cx="192088" cy="188913"/>
                </a:xfrm>
                <a:custGeom>
                  <a:avLst/>
                  <a:gdLst>
                    <a:gd name="T0" fmla="*/ 95 w 121"/>
                    <a:gd name="T1" fmla="*/ 0 h 119"/>
                    <a:gd name="T2" fmla="*/ 0 w 121"/>
                    <a:gd name="T3" fmla="*/ 0 h 119"/>
                    <a:gd name="T4" fmla="*/ 59 w 121"/>
                    <a:gd name="T5" fmla="*/ 119 h 119"/>
                    <a:gd name="T6" fmla="*/ 121 w 121"/>
                    <a:gd name="T7" fmla="*/ 41 h 119"/>
                    <a:gd name="T8" fmla="*/ 95 w 121"/>
                    <a:gd name="T9" fmla="*/ 0 h 119"/>
                  </a:gdLst>
                  <a:ahLst/>
                  <a:cxnLst>
                    <a:cxn ang="0">
                      <a:pos x="T0" y="T1"/>
                    </a:cxn>
                    <a:cxn ang="0">
                      <a:pos x="T2" y="T3"/>
                    </a:cxn>
                    <a:cxn ang="0">
                      <a:pos x="T4" y="T5"/>
                    </a:cxn>
                    <a:cxn ang="0">
                      <a:pos x="T6" y="T7"/>
                    </a:cxn>
                    <a:cxn ang="0">
                      <a:pos x="T8" y="T9"/>
                    </a:cxn>
                  </a:cxnLst>
                  <a:rect l="0" t="0" r="r" b="b"/>
                  <a:pathLst>
                    <a:path w="121" h="119">
                      <a:moveTo>
                        <a:pt x="95" y="0"/>
                      </a:moveTo>
                      <a:lnTo>
                        <a:pt x="0" y="0"/>
                      </a:lnTo>
                      <a:lnTo>
                        <a:pt x="59" y="119"/>
                      </a:lnTo>
                      <a:lnTo>
                        <a:pt x="121" y="41"/>
                      </a:lnTo>
                      <a:lnTo>
                        <a:pt x="95" y="0"/>
                      </a:lnTo>
                      <a:close/>
                    </a:path>
                  </a:pathLst>
                </a:custGeom>
                <a:solidFill>
                  <a:srgbClr val="E8E3E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25"/>
                <p:cNvSpPr/>
                <p:nvPr/>
              </p:nvSpPr>
              <p:spPr bwMode="auto">
                <a:xfrm>
                  <a:off x="5843588" y="1585913"/>
                  <a:ext cx="188913" cy="188913"/>
                </a:xfrm>
                <a:custGeom>
                  <a:avLst/>
                  <a:gdLst>
                    <a:gd name="T0" fmla="*/ 93 w 119"/>
                    <a:gd name="T1" fmla="*/ 0 h 119"/>
                    <a:gd name="T2" fmla="*/ 0 w 119"/>
                    <a:gd name="T3" fmla="*/ 0 h 119"/>
                    <a:gd name="T4" fmla="*/ 57 w 119"/>
                    <a:gd name="T5" fmla="*/ 119 h 119"/>
                    <a:gd name="T6" fmla="*/ 119 w 119"/>
                    <a:gd name="T7" fmla="*/ 41 h 119"/>
                    <a:gd name="T8" fmla="*/ 93 w 119"/>
                    <a:gd name="T9" fmla="*/ 0 h 119"/>
                  </a:gdLst>
                  <a:ahLst/>
                  <a:cxnLst>
                    <a:cxn ang="0">
                      <a:pos x="T0" y="T1"/>
                    </a:cxn>
                    <a:cxn ang="0">
                      <a:pos x="T2" y="T3"/>
                    </a:cxn>
                    <a:cxn ang="0">
                      <a:pos x="T4" y="T5"/>
                    </a:cxn>
                    <a:cxn ang="0">
                      <a:pos x="T6" y="T7"/>
                    </a:cxn>
                    <a:cxn ang="0">
                      <a:pos x="T8" y="T9"/>
                    </a:cxn>
                  </a:cxnLst>
                  <a:rect l="0" t="0" r="r" b="b"/>
                  <a:pathLst>
                    <a:path w="119" h="119">
                      <a:moveTo>
                        <a:pt x="93" y="0"/>
                      </a:moveTo>
                      <a:lnTo>
                        <a:pt x="0" y="0"/>
                      </a:lnTo>
                      <a:lnTo>
                        <a:pt x="57" y="119"/>
                      </a:lnTo>
                      <a:lnTo>
                        <a:pt x="119" y="41"/>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26"/>
                <p:cNvSpPr/>
                <p:nvPr/>
              </p:nvSpPr>
              <p:spPr bwMode="auto">
                <a:xfrm>
                  <a:off x="6115051" y="1597026"/>
                  <a:ext cx="192088" cy="188913"/>
                </a:xfrm>
                <a:custGeom>
                  <a:avLst/>
                  <a:gdLst>
                    <a:gd name="T0" fmla="*/ 26 w 121"/>
                    <a:gd name="T1" fmla="*/ 0 h 119"/>
                    <a:gd name="T2" fmla="*/ 121 w 121"/>
                    <a:gd name="T3" fmla="*/ 0 h 119"/>
                    <a:gd name="T4" fmla="*/ 61 w 121"/>
                    <a:gd name="T5" fmla="*/ 119 h 119"/>
                    <a:gd name="T6" fmla="*/ 0 w 121"/>
                    <a:gd name="T7" fmla="*/ 41 h 119"/>
                    <a:gd name="T8" fmla="*/ 26 w 121"/>
                    <a:gd name="T9" fmla="*/ 0 h 119"/>
                  </a:gdLst>
                  <a:ahLst/>
                  <a:cxnLst>
                    <a:cxn ang="0">
                      <a:pos x="T0" y="T1"/>
                    </a:cxn>
                    <a:cxn ang="0">
                      <a:pos x="T2" y="T3"/>
                    </a:cxn>
                    <a:cxn ang="0">
                      <a:pos x="T4" y="T5"/>
                    </a:cxn>
                    <a:cxn ang="0">
                      <a:pos x="T6" y="T7"/>
                    </a:cxn>
                    <a:cxn ang="0">
                      <a:pos x="T8" y="T9"/>
                    </a:cxn>
                  </a:cxnLst>
                  <a:rect l="0" t="0" r="r" b="b"/>
                  <a:pathLst>
                    <a:path w="121" h="119">
                      <a:moveTo>
                        <a:pt x="26" y="0"/>
                      </a:moveTo>
                      <a:lnTo>
                        <a:pt x="121" y="0"/>
                      </a:lnTo>
                      <a:lnTo>
                        <a:pt x="61" y="119"/>
                      </a:lnTo>
                      <a:lnTo>
                        <a:pt x="0" y="41"/>
                      </a:lnTo>
                      <a:lnTo>
                        <a:pt x="26" y="0"/>
                      </a:lnTo>
                      <a:close/>
                    </a:path>
                  </a:pathLst>
                </a:custGeom>
                <a:solidFill>
                  <a:srgbClr val="E8E3E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27"/>
                <p:cNvSpPr/>
                <p:nvPr/>
              </p:nvSpPr>
              <p:spPr bwMode="auto">
                <a:xfrm>
                  <a:off x="6126163" y="1585913"/>
                  <a:ext cx="187325" cy="188913"/>
                </a:xfrm>
                <a:custGeom>
                  <a:avLst/>
                  <a:gdLst>
                    <a:gd name="T0" fmla="*/ 26 w 118"/>
                    <a:gd name="T1" fmla="*/ 0 h 119"/>
                    <a:gd name="T2" fmla="*/ 118 w 118"/>
                    <a:gd name="T3" fmla="*/ 0 h 119"/>
                    <a:gd name="T4" fmla="*/ 61 w 118"/>
                    <a:gd name="T5" fmla="*/ 119 h 119"/>
                    <a:gd name="T6" fmla="*/ 0 w 118"/>
                    <a:gd name="T7" fmla="*/ 41 h 119"/>
                    <a:gd name="T8" fmla="*/ 26 w 118"/>
                    <a:gd name="T9" fmla="*/ 0 h 119"/>
                  </a:gdLst>
                  <a:ahLst/>
                  <a:cxnLst>
                    <a:cxn ang="0">
                      <a:pos x="T0" y="T1"/>
                    </a:cxn>
                    <a:cxn ang="0">
                      <a:pos x="T2" y="T3"/>
                    </a:cxn>
                    <a:cxn ang="0">
                      <a:pos x="T4" y="T5"/>
                    </a:cxn>
                    <a:cxn ang="0">
                      <a:pos x="T6" y="T7"/>
                    </a:cxn>
                    <a:cxn ang="0">
                      <a:pos x="T8" y="T9"/>
                    </a:cxn>
                  </a:cxnLst>
                  <a:rect l="0" t="0" r="r" b="b"/>
                  <a:pathLst>
                    <a:path w="118" h="119">
                      <a:moveTo>
                        <a:pt x="26" y="0"/>
                      </a:moveTo>
                      <a:lnTo>
                        <a:pt x="118" y="0"/>
                      </a:lnTo>
                      <a:lnTo>
                        <a:pt x="61" y="119"/>
                      </a:lnTo>
                      <a:lnTo>
                        <a:pt x="0" y="41"/>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56" name="组合 155"/>
              <p:cNvGrpSpPr>
                <a:grpSpLocks noChangeAspect="1"/>
              </p:cNvGrpSpPr>
              <p:nvPr/>
            </p:nvGrpSpPr>
            <p:grpSpPr>
              <a:xfrm>
                <a:off x="2644" y="5372"/>
                <a:ext cx="689" cy="787"/>
                <a:chOff x="7448551" y="373063"/>
                <a:chExt cx="1573213" cy="1787526"/>
              </a:xfrm>
            </p:grpSpPr>
            <p:sp>
              <p:nvSpPr>
                <p:cNvPr id="74" name="Freeform 28"/>
                <p:cNvSpPr/>
                <p:nvPr/>
              </p:nvSpPr>
              <p:spPr bwMode="auto">
                <a:xfrm>
                  <a:off x="7448551" y="579438"/>
                  <a:ext cx="1573213" cy="1574800"/>
                </a:xfrm>
                <a:custGeom>
                  <a:avLst/>
                  <a:gdLst>
                    <a:gd name="T0" fmla="*/ 419 w 419"/>
                    <a:gd name="T1" fmla="*/ 395 h 419"/>
                    <a:gd name="T2" fmla="*/ 395 w 419"/>
                    <a:gd name="T3" fmla="*/ 419 h 419"/>
                    <a:gd name="T4" fmla="*/ 24 w 419"/>
                    <a:gd name="T5" fmla="*/ 419 h 419"/>
                    <a:gd name="T6" fmla="*/ 0 w 419"/>
                    <a:gd name="T7" fmla="*/ 395 h 419"/>
                    <a:gd name="T8" fmla="*/ 0 w 419"/>
                    <a:gd name="T9" fmla="*/ 24 h 419"/>
                    <a:gd name="T10" fmla="*/ 24 w 419"/>
                    <a:gd name="T11" fmla="*/ 0 h 419"/>
                    <a:gd name="T12" fmla="*/ 395 w 419"/>
                    <a:gd name="T13" fmla="*/ 0 h 419"/>
                    <a:gd name="T14" fmla="*/ 419 w 419"/>
                    <a:gd name="T15" fmla="*/ 24 h 419"/>
                    <a:gd name="T16" fmla="*/ 419 w 419"/>
                    <a:gd name="T17" fmla="*/ 395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9" h="419">
                      <a:moveTo>
                        <a:pt x="419" y="395"/>
                      </a:moveTo>
                      <a:cubicBezTo>
                        <a:pt x="419" y="408"/>
                        <a:pt x="408" y="419"/>
                        <a:pt x="395" y="419"/>
                      </a:cubicBezTo>
                      <a:cubicBezTo>
                        <a:pt x="24" y="419"/>
                        <a:pt x="24" y="419"/>
                        <a:pt x="24" y="419"/>
                      </a:cubicBezTo>
                      <a:cubicBezTo>
                        <a:pt x="11" y="419"/>
                        <a:pt x="0" y="408"/>
                        <a:pt x="0" y="395"/>
                      </a:cubicBezTo>
                      <a:cubicBezTo>
                        <a:pt x="0" y="24"/>
                        <a:pt x="0" y="24"/>
                        <a:pt x="0" y="24"/>
                      </a:cubicBezTo>
                      <a:cubicBezTo>
                        <a:pt x="0" y="11"/>
                        <a:pt x="11" y="0"/>
                        <a:pt x="24" y="0"/>
                      </a:cubicBezTo>
                      <a:cubicBezTo>
                        <a:pt x="395" y="0"/>
                        <a:pt x="395" y="0"/>
                        <a:pt x="395" y="0"/>
                      </a:cubicBezTo>
                      <a:cubicBezTo>
                        <a:pt x="408" y="0"/>
                        <a:pt x="419" y="11"/>
                        <a:pt x="419" y="24"/>
                      </a:cubicBezTo>
                      <a:lnTo>
                        <a:pt x="419" y="395"/>
                      </a:lnTo>
                      <a:close/>
                    </a:path>
                  </a:pathLst>
                </a:custGeom>
                <a:solidFill>
                  <a:srgbClr val="1DC5B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29"/>
                <p:cNvSpPr/>
                <p:nvPr/>
              </p:nvSpPr>
              <p:spPr bwMode="auto">
                <a:xfrm>
                  <a:off x="7646988" y="1000126"/>
                  <a:ext cx="327025" cy="750888"/>
                </a:xfrm>
                <a:custGeom>
                  <a:avLst/>
                  <a:gdLst>
                    <a:gd name="T0" fmla="*/ 46 w 87"/>
                    <a:gd name="T1" fmla="*/ 2 h 200"/>
                    <a:gd name="T2" fmla="*/ 10 w 87"/>
                    <a:gd name="T3" fmla="*/ 27 h 200"/>
                    <a:gd name="T4" fmla="*/ 15 w 87"/>
                    <a:gd name="T5" fmla="*/ 91 h 200"/>
                    <a:gd name="T6" fmla="*/ 32 w 87"/>
                    <a:gd name="T7" fmla="*/ 133 h 200"/>
                    <a:gd name="T8" fmla="*/ 17 w 87"/>
                    <a:gd name="T9" fmla="*/ 162 h 200"/>
                    <a:gd name="T10" fmla="*/ 38 w 87"/>
                    <a:gd name="T11" fmla="*/ 155 h 200"/>
                    <a:gd name="T12" fmla="*/ 46 w 87"/>
                    <a:gd name="T13" fmla="*/ 150 h 200"/>
                    <a:gd name="T14" fmla="*/ 36 w 87"/>
                    <a:gd name="T15" fmla="*/ 166 h 200"/>
                    <a:gd name="T16" fmla="*/ 25 w 87"/>
                    <a:gd name="T17" fmla="*/ 189 h 200"/>
                    <a:gd name="T18" fmla="*/ 27 w 87"/>
                    <a:gd name="T19" fmla="*/ 200 h 200"/>
                    <a:gd name="T20" fmla="*/ 53 w 87"/>
                    <a:gd name="T21" fmla="*/ 178 h 200"/>
                    <a:gd name="T22" fmla="*/ 84 w 87"/>
                    <a:gd name="T23" fmla="*/ 137 h 200"/>
                    <a:gd name="T24" fmla="*/ 87 w 87"/>
                    <a:gd name="T25" fmla="*/ 87 h 200"/>
                    <a:gd name="T26" fmla="*/ 46 w 87"/>
                    <a:gd name="T27" fmla="*/ 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200">
                      <a:moveTo>
                        <a:pt x="46" y="2"/>
                      </a:moveTo>
                      <a:cubicBezTo>
                        <a:pt x="46" y="2"/>
                        <a:pt x="19" y="5"/>
                        <a:pt x="10" y="27"/>
                      </a:cubicBezTo>
                      <a:cubicBezTo>
                        <a:pt x="0" y="48"/>
                        <a:pt x="3" y="72"/>
                        <a:pt x="15" y="91"/>
                      </a:cubicBezTo>
                      <a:cubicBezTo>
                        <a:pt x="26" y="111"/>
                        <a:pt x="35" y="121"/>
                        <a:pt x="32" y="133"/>
                      </a:cubicBezTo>
                      <a:cubicBezTo>
                        <a:pt x="28" y="144"/>
                        <a:pt x="17" y="162"/>
                        <a:pt x="17" y="162"/>
                      </a:cubicBezTo>
                      <a:cubicBezTo>
                        <a:pt x="17" y="162"/>
                        <a:pt x="31" y="160"/>
                        <a:pt x="38" y="155"/>
                      </a:cubicBezTo>
                      <a:cubicBezTo>
                        <a:pt x="44" y="150"/>
                        <a:pt x="46" y="150"/>
                        <a:pt x="46" y="150"/>
                      </a:cubicBezTo>
                      <a:cubicBezTo>
                        <a:pt x="46" y="150"/>
                        <a:pt x="43" y="160"/>
                        <a:pt x="36" y="166"/>
                      </a:cubicBezTo>
                      <a:cubicBezTo>
                        <a:pt x="29" y="171"/>
                        <a:pt x="23" y="182"/>
                        <a:pt x="25" y="189"/>
                      </a:cubicBezTo>
                      <a:cubicBezTo>
                        <a:pt x="27" y="196"/>
                        <a:pt x="27" y="200"/>
                        <a:pt x="27" y="200"/>
                      </a:cubicBezTo>
                      <a:cubicBezTo>
                        <a:pt x="27" y="200"/>
                        <a:pt x="43" y="183"/>
                        <a:pt x="53" y="178"/>
                      </a:cubicBezTo>
                      <a:cubicBezTo>
                        <a:pt x="62" y="173"/>
                        <a:pt x="80" y="159"/>
                        <a:pt x="84" y="137"/>
                      </a:cubicBezTo>
                      <a:cubicBezTo>
                        <a:pt x="87" y="115"/>
                        <a:pt x="87" y="90"/>
                        <a:pt x="87" y="87"/>
                      </a:cubicBezTo>
                      <a:cubicBezTo>
                        <a:pt x="86" y="83"/>
                        <a:pt x="79" y="0"/>
                        <a:pt x="46" y="2"/>
                      </a:cubicBezTo>
                      <a:close/>
                    </a:path>
                  </a:pathLst>
                </a:custGeom>
                <a:solidFill>
                  <a:srgbClr val="F2823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30"/>
                <p:cNvSpPr/>
                <p:nvPr/>
              </p:nvSpPr>
              <p:spPr bwMode="auto">
                <a:xfrm>
                  <a:off x="8139113" y="1436688"/>
                  <a:ext cx="195263" cy="179388"/>
                </a:xfrm>
                <a:custGeom>
                  <a:avLst/>
                  <a:gdLst>
                    <a:gd name="T0" fmla="*/ 52 w 52"/>
                    <a:gd name="T1" fmla="*/ 16 h 48"/>
                    <a:gd name="T2" fmla="*/ 52 w 52"/>
                    <a:gd name="T3" fmla="*/ 0 h 48"/>
                    <a:gd name="T4" fmla="*/ 0 w 52"/>
                    <a:gd name="T5" fmla="*/ 0 h 48"/>
                    <a:gd name="T6" fmla="*/ 0 w 52"/>
                    <a:gd name="T7" fmla="*/ 48 h 48"/>
                    <a:gd name="T8" fmla="*/ 52 w 52"/>
                    <a:gd name="T9" fmla="*/ 16 h 48"/>
                  </a:gdLst>
                  <a:ahLst/>
                  <a:cxnLst>
                    <a:cxn ang="0">
                      <a:pos x="T0" y="T1"/>
                    </a:cxn>
                    <a:cxn ang="0">
                      <a:pos x="T2" y="T3"/>
                    </a:cxn>
                    <a:cxn ang="0">
                      <a:pos x="T4" y="T5"/>
                    </a:cxn>
                    <a:cxn ang="0">
                      <a:pos x="T6" y="T7"/>
                    </a:cxn>
                    <a:cxn ang="0">
                      <a:pos x="T8" y="T9"/>
                    </a:cxn>
                  </a:cxnLst>
                  <a:rect l="0" t="0" r="r" b="b"/>
                  <a:pathLst>
                    <a:path w="52" h="48">
                      <a:moveTo>
                        <a:pt x="52" y="16"/>
                      </a:moveTo>
                      <a:cubicBezTo>
                        <a:pt x="52" y="0"/>
                        <a:pt x="52" y="0"/>
                        <a:pt x="52" y="0"/>
                      </a:cubicBezTo>
                      <a:cubicBezTo>
                        <a:pt x="0" y="0"/>
                        <a:pt x="0" y="0"/>
                        <a:pt x="0" y="0"/>
                      </a:cubicBezTo>
                      <a:cubicBezTo>
                        <a:pt x="0" y="48"/>
                        <a:pt x="0" y="48"/>
                        <a:pt x="0" y="48"/>
                      </a:cubicBezTo>
                      <a:cubicBezTo>
                        <a:pt x="12" y="31"/>
                        <a:pt x="30" y="19"/>
                        <a:pt x="52" y="16"/>
                      </a:cubicBezTo>
                      <a:close/>
                    </a:path>
                  </a:pathLst>
                </a:custGeom>
                <a:solidFill>
                  <a:srgbClr val="EEC59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31"/>
                <p:cNvSpPr/>
                <p:nvPr/>
              </p:nvSpPr>
              <p:spPr bwMode="auto">
                <a:xfrm>
                  <a:off x="8139113" y="1497013"/>
                  <a:ext cx="195263" cy="390525"/>
                </a:xfrm>
                <a:custGeom>
                  <a:avLst/>
                  <a:gdLst>
                    <a:gd name="T0" fmla="*/ 52 w 52"/>
                    <a:gd name="T1" fmla="*/ 104 h 104"/>
                    <a:gd name="T2" fmla="*/ 52 w 52"/>
                    <a:gd name="T3" fmla="*/ 0 h 104"/>
                    <a:gd name="T4" fmla="*/ 0 w 52"/>
                    <a:gd name="T5" fmla="*/ 32 h 104"/>
                    <a:gd name="T6" fmla="*/ 0 w 52"/>
                    <a:gd name="T7" fmla="*/ 104 h 104"/>
                    <a:gd name="T8" fmla="*/ 52 w 52"/>
                    <a:gd name="T9" fmla="*/ 104 h 104"/>
                  </a:gdLst>
                  <a:ahLst/>
                  <a:cxnLst>
                    <a:cxn ang="0">
                      <a:pos x="T0" y="T1"/>
                    </a:cxn>
                    <a:cxn ang="0">
                      <a:pos x="T2" y="T3"/>
                    </a:cxn>
                    <a:cxn ang="0">
                      <a:pos x="T4" y="T5"/>
                    </a:cxn>
                    <a:cxn ang="0">
                      <a:pos x="T6" y="T7"/>
                    </a:cxn>
                    <a:cxn ang="0">
                      <a:pos x="T8" y="T9"/>
                    </a:cxn>
                  </a:cxnLst>
                  <a:rect l="0" t="0" r="r" b="b"/>
                  <a:pathLst>
                    <a:path w="52" h="104">
                      <a:moveTo>
                        <a:pt x="52" y="104"/>
                      </a:moveTo>
                      <a:cubicBezTo>
                        <a:pt x="52" y="0"/>
                        <a:pt x="52" y="0"/>
                        <a:pt x="52" y="0"/>
                      </a:cubicBezTo>
                      <a:cubicBezTo>
                        <a:pt x="30" y="3"/>
                        <a:pt x="12" y="15"/>
                        <a:pt x="0" y="32"/>
                      </a:cubicBezTo>
                      <a:cubicBezTo>
                        <a:pt x="0" y="104"/>
                        <a:pt x="0" y="104"/>
                        <a:pt x="0" y="104"/>
                      </a:cubicBezTo>
                      <a:lnTo>
                        <a:pt x="52" y="104"/>
                      </a:lnTo>
                      <a:close/>
                    </a:path>
                  </a:pathLst>
                </a:custGeom>
                <a:solidFill>
                  <a:srgbClr val="FFD5A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32"/>
                <p:cNvSpPr/>
                <p:nvPr/>
              </p:nvSpPr>
              <p:spPr bwMode="auto">
                <a:xfrm>
                  <a:off x="8512176" y="1000126"/>
                  <a:ext cx="325438" cy="750888"/>
                </a:xfrm>
                <a:custGeom>
                  <a:avLst/>
                  <a:gdLst>
                    <a:gd name="T0" fmla="*/ 41 w 87"/>
                    <a:gd name="T1" fmla="*/ 2 h 200"/>
                    <a:gd name="T2" fmla="*/ 78 w 87"/>
                    <a:gd name="T3" fmla="*/ 27 h 200"/>
                    <a:gd name="T4" fmla="*/ 73 w 87"/>
                    <a:gd name="T5" fmla="*/ 91 h 200"/>
                    <a:gd name="T6" fmla="*/ 56 w 87"/>
                    <a:gd name="T7" fmla="*/ 133 h 200"/>
                    <a:gd name="T8" fmla="*/ 71 w 87"/>
                    <a:gd name="T9" fmla="*/ 162 h 200"/>
                    <a:gd name="T10" fmla="*/ 50 w 87"/>
                    <a:gd name="T11" fmla="*/ 155 h 200"/>
                    <a:gd name="T12" fmla="*/ 42 w 87"/>
                    <a:gd name="T13" fmla="*/ 150 h 200"/>
                    <a:gd name="T14" fmla="*/ 51 w 87"/>
                    <a:gd name="T15" fmla="*/ 166 h 200"/>
                    <a:gd name="T16" fmla="*/ 62 w 87"/>
                    <a:gd name="T17" fmla="*/ 189 h 200"/>
                    <a:gd name="T18" fmla="*/ 60 w 87"/>
                    <a:gd name="T19" fmla="*/ 200 h 200"/>
                    <a:gd name="T20" fmla="*/ 35 w 87"/>
                    <a:gd name="T21" fmla="*/ 178 h 200"/>
                    <a:gd name="T22" fmla="*/ 3 w 87"/>
                    <a:gd name="T23" fmla="*/ 137 h 200"/>
                    <a:gd name="T24" fmla="*/ 1 w 87"/>
                    <a:gd name="T25" fmla="*/ 87 h 200"/>
                    <a:gd name="T26" fmla="*/ 41 w 87"/>
                    <a:gd name="T27" fmla="*/ 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200">
                      <a:moveTo>
                        <a:pt x="41" y="2"/>
                      </a:moveTo>
                      <a:cubicBezTo>
                        <a:pt x="41" y="2"/>
                        <a:pt x="68" y="5"/>
                        <a:pt x="78" y="27"/>
                      </a:cubicBezTo>
                      <a:cubicBezTo>
                        <a:pt x="87" y="48"/>
                        <a:pt x="84" y="72"/>
                        <a:pt x="73" y="91"/>
                      </a:cubicBezTo>
                      <a:cubicBezTo>
                        <a:pt x="61" y="111"/>
                        <a:pt x="52" y="121"/>
                        <a:pt x="56" y="133"/>
                      </a:cubicBezTo>
                      <a:cubicBezTo>
                        <a:pt x="59" y="144"/>
                        <a:pt x="71" y="162"/>
                        <a:pt x="71" y="162"/>
                      </a:cubicBezTo>
                      <a:cubicBezTo>
                        <a:pt x="71" y="162"/>
                        <a:pt x="56" y="160"/>
                        <a:pt x="50" y="155"/>
                      </a:cubicBezTo>
                      <a:cubicBezTo>
                        <a:pt x="43" y="150"/>
                        <a:pt x="42" y="150"/>
                        <a:pt x="42" y="150"/>
                      </a:cubicBezTo>
                      <a:cubicBezTo>
                        <a:pt x="42" y="150"/>
                        <a:pt x="44" y="160"/>
                        <a:pt x="51" y="166"/>
                      </a:cubicBezTo>
                      <a:cubicBezTo>
                        <a:pt x="58" y="171"/>
                        <a:pt x="64" y="182"/>
                        <a:pt x="62" y="189"/>
                      </a:cubicBezTo>
                      <a:cubicBezTo>
                        <a:pt x="60" y="196"/>
                        <a:pt x="60" y="200"/>
                        <a:pt x="60" y="200"/>
                      </a:cubicBezTo>
                      <a:cubicBezTo>
                        <a:pt x="60" y="200"/>
                        <a:pt x="44" y="183"/>
                        <a:pt x="35" y="178"/>
                      </a:cubicBezTo>
                      <a:cubicBezTo>
                        <a:pt x="25" y="173"/>
                        <a:pt x="7" y="159"/>
                        <a:pt x="3" y="137"/>
                      </a:cubicBezTo>
                      <a:cubicBezTo>
                        <a:pt x="0" y="115"/>
                        <a:pt x="0" y="90"/>
                        <a:pt x="1" y="87"/>
                      </a:cubicBezTo>
                      <a:cubicBezTo>
                        <a:pt x="1" y="83"/>
                        <a:pt x="8" y="0"/>
                        <a:pt x="41" y="2"/>
                      </a:cubicBezTo>
                      <a:close/>
                    </a:path>
                  </a:pathLst>
                </a:custGeom>
                <a:solidFill>
                  <a:srgbClr val="F2823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33"/>
                <p:cNvSpPr/>
                <p:nvPr/>
              </p:nvSpPr>
              <p:spPr bwMode="auto">
                <a:xfrm>
                  <a:off x="7726363" y="1651001"/>
                  <a:ext cx="1017588" cy="509588"/>
                </a:xfrm>
                <a:custGeom>
                  <a:avLst/>
                  <a:gdLst>
                    <a:gd name="T0" fmla="*/ 271 w 271"/>
                    <a:gd name="T1" fmla="*/ 136 h 136"/>
                    <a:gd name="T2" fmla="*/ 271 w 271"/>
                    <a:gd name="T3" fmla="*/ 25 h 136"/>
                    <a:gd name="T4" fmla="*/ 247 w 271"/>
                    <a:gd name="T5" fmla="*/ 0 h 136"/>
                    <a:gd name="T6" fmla="*/ 159 w 271"/>
                    <a:gd name="T7" fmla="*/ 0 h 136"/>
                    <a:gd name="T8" fmla="*/ 136 w 271"/>
                    <a:gd name="T9" fmla="*/ 64 h 136"/>
                    <a:gd name="T10" fmla="*/ 108 w 271"/>
                    <a:gd name="T11" fmla="*/ 0 h 136"/>
                    <a:gd name="T12" fmla="*/ 24 w 271"/>
                    <a:gd name="T13" fmla="*/ 0 h 136"/>
                    <a:gd name="T14" fmla="*/ 0 w 271"/>
                    <a:gd name="T15" fmla="*/ 25 h 136"/>
                    <a:gd name="T16" fmla="*/ 0 w 271"/>
                    <a:gd name="T17" fmla="*/ 136 h 136"/>
                    <a:gd name="T18" fmla="*/ 271 w 271"/>
                    <a:gd name="T19" fmla="*/ 13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1" h="136">
                      <a:moveTo>
                        <a:pt x="271" y="136"/>
                      </a:moveTo>
                      <a:cubicBezTo>
                        <a:pt x="271" y="25"/>
                        <a:pt x="271" y="25"/>
                        <a:pt x="271" y="25"/>
                      </a:cubicBezTo>
                      <a:cubicBezTo>
                        <a:pt x="271" y="11"/>
                        <a:pt x="260" y="0"/>
                        <a:pt x="247" y="0"/>
                      </a:cubicBezTo>
                      <a:cubicBezTo>
                        <a:pt x="159" y="0"/>
                        <a:pt x="159" y="0"/>
                        <a:pt x="159" y="0"/>
                      </a:cubicBezTo>
                      <a:cubicBezTo>
                        <a:pt x="136" y="64"/>
                        <a:pt x="136" y="64"/>
                        <a:pt x="136" y="64"/>
                      </a:cubicBezTo>
                      <a:cubicBezTo>
                        <a:pt x="108" y="0"/>
                        <a:pt x="108" y="0"/>
                        <a:pt x="108" y="0"/>
                      </a:cubicBezTo>
                      <a:cubicBezTo>
                        <a:pt x="24" y="0"/>
                        <a:pt x="24" y="0"/>
                        <a:pt x="24" y="0"/>
                      </a:cubicBezTo>
                      <a:cubicBezTo>
                        <a:pt x="11" y="0"/>
                        <a:pt x="0" y="11"/>
                        <a:pt x="0" y="25"/>
                      </a:cubicBezTo>
                      <a:cubicBezTo>
                        <a:pt x="0" y="136"/>
                        <a:pt x="0" y="136"/>
                        <a:pt x="0" y="136"/>
                      </a:cubicBezTo>
                      <a:lnTo>
                        <a:pt x="271" y="136"/>
                      </a:lnTo>
                      <a:close/>
                    </a:path>
                  </a:pathLst>
                </a:custGeom>
                <a:solidFill>
                  <a:srgbClr val="FF91B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34"/>
                <p:cNvSpPr/>
                <p:nvPr/>
              </p:nvSpPr>
              <p:spPr bwMode="auto">
                <a:xfrm>
                  <a:off x="7820026" y="490538"/>
                  <a:ext cx="849313" cy="965200"/>
                </a:xfrm>
                <a:custGeom>
                  <a:avLst/>
                  <a:gdLst>
                    <a:gd name="T0" fmla="*/ 226 w 226"/>
                    <a:gd name="T1" fmla="*/ 129 h 257"/>
                    <a:gd name="T2" fmla="*/ 113 w 226"/>
                    <a:gd name="T3" fmla="*/ 257 h 257"/>
                    <a:gd name="T4" fmla="*/ 0 w 226"/>
                    <a:gd name="T5" fmla="*/ 129 h 257"/>
                    <a:gd name="T6" fmla="*/ 113 w 226"/>
                    <a:gd name="T7" fmla="*/ 0 h 257"/>
                    <a:gd name="T8" fmla="*/ 226 w 226"/>
                    <a:gd name="T9" fmla="*/ 129 h 257"/>
                  </a:gdLst>
                  <a:ahLst/>
                  <a:cxnLst>
                    <a:cxn ang="0">
                      <a:pos x="T0" y="T1"/>
                    </a:cxn>
                    <a:cxn ang="0">
                      <a:pos x="T2" y="T3"/>
                    </a:cxn>
                    <a:cxn ang="0">
                      <a:pos x="T4" y="T5"/>
                    </a:cxn>
                    <a:cxn ang="0">
                      <a:pos x="T6" y="T7"/>
                    </a:cxn>
                    <a:cxn ang="0">
                      <a:pos x="T8" y="T9"/>
                    </a:cxn>
                  </a:cxnLst>
                  <a:rect l="0" t="0" r="r" b="b"/>
                  <a:pathLst>
                    <a:path w="226" h="257">
                      <a:moveTo>
                        <a:pt x="226" y="129"/>
                      </a:moveTo>
                      <a:cubicBezTo>
                        <a:pt x="226" y="200"/>
                        <a:pt x="161" y="257"/>
                        <a:pt x="113" y="257"/>
                      </a:cubicBezTo>
                      <a:cubicBezTo>
                        <a:pt x="63" y="257"/>
                        <a:pt x="0" y="200"/>
                        <a:pt x="0" y="129"/>
                      </a:cubicBezTo>
                      <a:cubicBezTo>
                        <a:pt x="0" y="58"/>
                        <a:pt x="50" y="0"/>
                        <a:pt x="113" y="0"/>
                      </a:cubicBezTo>
                      <a:cubicBezTo>
                        <a:pt x="175" y="0"/>
                        <a:pt x="226" y="58"/>
                        <a:pt x="226" y="129"/>
                      </a:cubicBezTo>
                      <a:close/>
                    </a:path>
                  </a:pathLst>
                </a:custGeom>
                <a:solidFill>
                  <a:srgbClr val="FFD8A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35"/>
                <p:cNvSpPr/>
                <p:nvPr/>
              </p:nvSpPr>
              <p:spPr bwMode="auto">
                <a:xfrm>
                  <a:off x="7740651" y="373063"/>
                  <a:ext cx="1019175" cy="525463"/>
                </a:xfrm>
                <a:custGeom>
                  <a:avLst/>
                  <a:gdLst>
                    <a:gd name="T0" fmla="*/ 25 w 271"/>
                    <a:gd name="T1" fmla="*/ 140 h 140"/>
                    <a:gd name="T2" fmla="*/ 5 w 271"/>
                    <a:gd name="T3" fmla="*/ 140 h 140"/>
                    <a:gd name="T4" fmla="*/ 25 w 271"/>
                    <a:gd name="T5" fmla="*/ 53 h 140"/>
                    <a:gd name="T6" fmla="*/ 142 w 271"/>
                    <a:gd name="T7" fmla="*/ 1 h 140"/>
                    <a:gd name="T8" fmla="*/ 255 w 271"/>
                    <a:gd name="T9" fmla="*/ 71 h 140"/>
                    <a:gd name="T10" fmla="*/ 264 w 271"/>
                    <a:gd name="T11" fmla="*/ 140 h 140"/>
                    <a:gd name="T12" fmla="*/ 222 w 271"/>
                    <a:gd name="T13" fmla="*/ 140 h 140"/>
                    <a:gd name="T14" fmla="*/ 221 w 271"/>
                    <a:gd name="T15" fmla="*/ 126 h 140"/>
                    <a:gd name="T16" fmla="*/ 215 w 271"/>
                    <a:gd name="T17" fmla="*/ 140 h 140"/>
                    <a:gd name="T18" fmla="*/ 195 w 271"/>
                    <a:gd name="T19" fmla="*/ 140 h 140"/>
                    <a:gd name="T20" fmla="*/ 191 w 271"/>
                    <a:gd name="T21" fmla="*/ 127 h 140"/>
                    <a:gd name="T22" fmla="*/ 187 w 271"/>
                    <a:gd name="T23" fmla="*/ 140 h 140"/>
                    <a:gd name="T24" fmla="*/ 173 w 271"/>
                    <a:gd name="T25" fmla="*/ 140 h 140"/>
                    <a:gd name="T26" fmla="*/ 171 w 271"/>
                    <a:gd name="T27" fmla="*/ 126 h 140"/>
                    <a:gd name="T28" fmla="*/ 165 w 271"/>
                    <a:gd name="T29" fmla="*/ 140 h 140"/>
                    <a:gd name="T30" fmla="*/ 83 w 271"/>
                    <a:gd name="T31" fmla="*/ 140 h 140"/>
                    <a:gd name="T32" fmla="*/ 77 w 271"/>
                    <a:gd name="T33" fmla="*/ 127 h 140"/>
                    <a:gd name="T34" fmla="*/ 75 w 271"/>
                    <a:gd name="T35" fmla="*/ 140 h 140"/>
                    <a:gd name="T36" fmla="*/ 61 w 271"/>
                    <a:gd name="T37" fmla="*/ 140 h 140"/>
                    <a:gd name="T38" fmla="*/ 54 w 271"/>
                    <a:gd name="T39" fmla="*/ 122 h 140"/>
                    <a:gd name="T40" fmla="*/ 51 w 271"/>
                    <a:gd name="T41" fmla="*/ 140 h 140"/>
                    <a:gd name="T42" fmla="*/ 33 w 271"/>
                    <a:gd name="T43" fmla="*/ 140 h 140"/>
                    <a:gd name="T44" fmla="*/ 29 w 271"/>
                    <a:gd name="T45" fmla="*/ 125 h 140"/>
                    <a:gd name="T46" fmla="*/ 25 w 271"/>
                    <a:gd name="T4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1" h="140">
                      <a:moveTo>
                        <a:pt x="25" y="140"/>
                      </a:moveTo>
                      <a:cubicBezTo>
                        <a:pt x="5" y="140"/>
                        <a:pt x="5" y="140"/>
                        <a:pt x="5" y="140"/>
                      </a:cubicBezTo>
                      <a:cubicBezTo>
                        <a:pt x="5" y="140"/>
                        <a:pt x="0" y="86"/>
                        <a:pt x="25" y="53"/>
                      </a:cubicBezTo>
                      <a:cubicBezTo>
                        <a:pt x="51" y="19"/>
                        <a:pt x="95" y="0"/>
                        <a:pt x="142" y="1"/>
                      </a:cubicBezTo>
                      <a:cubicBezTo>
                        <a:pt x="189" y="3"/>
                        <a:pt x="239" y="35"/>
                        <a:pt x="255" y="71"/>
                      </a:cubicBezTo>
                      <a:cubicBezTo>
                        <a:pt x="271" y="107"/>
                        <a:pt x="264" y="140"/>
                        <a:pt x="264" y="140"/>
                      </a:cubicBezTo>
                      <a:cubicBezTo>
                        <a:pt x="222" y="140"/>
                        <a:pt x="222" y="140"/>
                        <a:pt x="222" y="140"/>
                      </a:cubicBezTo>
                      <a:cubicBezTo>
                        <a:pt x="221" y="126"/>
                        <a:pt x="221" y="126"/>
                        <a:pt x="221" y="126"/>
                      </a:cubicBezTo>
                      <a:cubicBezTo>
                        <a:pt x="215" y="140"/>
                        <a:pt x="215" y="140"/>
                        <a:pt x="215" y="140"/>
                      </a:cubicBezTo>
                      <a:cubicBezTo>
                        <a:pt x="195" y="140"/>
                        <a:pt x="195" y="140"/>
                        <a:pt x="195" y="140"/>
                      </a:cubicBezTo>
                      <a:cubicBezTo>
                        <a:pt x="191" y="127"/>
                        <a:pt x="191" y="127"/>
                        <a:pt x="191" y="127"/>
                      </a:cubicBezTo>
                      <a:cubicBezTo>
                        <a:pt x="187" y="140"/>
                        <a:pt x="187" y="140"/>
                        <a:pt x="187" y="140"/>
                      </a:cubicBezTo>
                      <a:cubicBezTo>
                        <a:pt x="173" y="140"/>
                        <a:pt x="173" y="140"/>
                        <a:pt x="173" y="140"/>
                      </a:cubicBezTo>
                      <a:cubicBezTo>
                        <a:pt x="171" y="126"/>
                        <a:pt x="171" y="126"/>
                        <a:pt x="171" y="126"/>
                      </a:cubicBezTo>
                      <a:cubicBezTo>
                        <a:pt x="165" y="140"/>
                        <a:pt x="165" y="140"/>
                        <a:pt x="165" y="140"/>
                      </a:cubicBezTo>
                      <a:cubicBezTo>
                        <a:pt x="83" y="140"/>
                        <a:pt x="83" y="140"/>
                        <a:pt x="83" y="140"/>
                      </a:cubicBezTo>
                      <a:cubicBezTo>
                        <a:pt x="77" y="127"/>
                        <a:pt x="77" y="127"/>
                        <a:pt x="77" y="127"/>
                      </a:cubicBezTo>
                      <a:cubicBezTo>
                        <a:pt x="75" y="140"/>
                        <a:pt x="75" y="140"/>
                        <a:pt x="75" y="140"/>
                      </a:cubicBezTo>
                      <a:cubicBezTo>
                        <a:pt x="61" y="140"/>
                        <a:pt x="61" y="140"/>
                        <a:pt x="61" y="140"/>
                      </a:cubicBezTo>
                      <a:cubicBezTo>
                        <a:pt x="54" y="122"/>
                        <a:pt x="54" y="122"/>
                        <a:pt x="54" y="122"/>
                      </a:cubicBezTo>
                      <a:cubicBezTo>
                        <a:pt x="51" y="140"/>
                        <a:pt x="51" y="140"/>
                        <a:pt x="51" y="140"/>
                      </a:cubicBezTo>
                      <a:cubicBezTo>
                        <a:pt x="33" y="140"/>
                        <a:pt x="33" y="140"/>
                        <a:pt x="33" y="140"/>
                      </a:cubicBezTo>
                      <a:cubicBezTo>
                        <a:pt x="29" y="125"/>
                        <a:pt x="29" y="125"/>
                        <a:pt x="29" y="125"/>
                      </a:cubicBezTo>
                      <a:lnTo>
                        <a:pt x="25" y="140"/>
                      </a:lnTo>
                      <a:close/>
                    </a:path>
                  </a:pathLst>
                </a:custGeom>
                <a:solidFill>
                  <a:srgbClr val="F3823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36"/>
                <p:cNvSpPr/>
                <p:nvPr/>
              </p:nvSpPr>
              <p:spPr bwMode="auto">
                <a:xfrm>
                  <a:off x="8067676" y="1609726"/>
                  <a:ext cx="357188" cy="258763"/>
                </a:xfrm>
                <a:custGeom>
                  <a:avLst/>
                  <a:gdLst>
                    <a:gd name="T0" fmla="*/ 64 w 225"/>
                    <a:gd name="T1" fmla="*/ 4 h 163"/>
                    <a:gd name="T2" fmla="*/ 97 w 225"/>
                    <a:gd name="T3" fmla="*/ 45 h 163"/>
                    <a:gd name="T4" fmla="*/ 119 w 225"/>
                    <a:gd name="T5" fmla="*/ 45 h 163"/>
                    <a:gd name="T6" fmla="*/ 154 w 225"/>
                    <a:gd name="T7" fmla="*/ 0 h 163"/>
                    <a:gd name="T8" fmla="*/ 225 w 225"/>
                    <a:gd name="T9" fmla="*/ 16 h 163"/>
                    <a:gd name="T10" fmla="*/ 130 w 225"/>
                    <a:gd name="T11" fmla="*/ 163 h 163"/>
                    <a:gd name="T12" fmla="*/ 81 w 225"/>
                    <a:gd name="T13" fmla="*/ 163 h 163"/>
                    <a:gd name="T14" fmla="*/ 0 w 225"/>
                    <a:gd name="T15" fmla="*/ 21 h 163"/>
                    <a:gd name="T16" fmla="*/ 64 w 225"/>
                    <a:gd name="T17" fmla="*/ 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163">
                      <a:moveTo>
                        <a:pt x="64" y="4"/>
                      </a:moveTo>
                      <a:lnTo>
                        <a:pt x="97" y="45"/>
                      </a:lnTo>
                      <a:lnTo>
                        <a:pt x="119" y="45"/>
                      </a:lnTo>
                      <a:lnTo>
                        <a:pt x="154" y="0"/>
                      </a:lnTo>
                      <a:lnTo>
                        <a:pt x="225" y="16"/>
                      </a:lnTo>
                      <a:lnTo>
                        <a:pt x="130" y="163"/>
                      </a:lnTo>
                      <a:lnTo>
                        <a:pt x="81" y="163"/>
                      </a:lnTo>
                      <a:lnTo>
                        <a:pt x="0" y="21"/>
                      </a:lnTo>
                      <a:lnTo>
                        <a:pt x="64" y="4"/>
                      </a:lnTo>
                      <a:close/>
                    </a:path>
                  </a:pathLst>
                </a:custGeom>
                <a:solidFill>
                  <a:srgbClr val="FDF9F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37"/>
                <p:cNvSpPr/>
                <p:nvPr/>
              </p:nvSpPr>
              <p:spPr bwMode="auto">
                <a:xfrm>
                  <a:off x="7989888" y="1585913"/>
                  <a:ext cx="198438" cy="188913"/>
                </a:xfrm>
                <a:custGeom>
                  <a:avLst/>
                  <a:gdLst>
                    <a:gd name="T0" fmla="*/ 99 w 125"/>
                    <a:gd name="T1" fmla="*/ 0 h 119"/>
                    <a:gd name="T2" fmla="*/ 0 w 125"/>
                    <a:gd name="T3" fmla="*/ 0 h 119"/>
                    <a:gd name="T4" fmla="*/ 71 w 125"/>
                    <a:gd name="T5" fmla="*/ 119 h 119"/>
                    <a:gd name="T6" fmla="*/ 125 w 125"/>
                    <a:gd name="T7" fmla="*/ 36 h 119"/>
                    <a:gd name="T8" fmla="*/ 99 w 125"/>
                    <a:gd name="T9" fmla="*/ 0 h 119"/>
                  </a:gdLst>
                  <a:ahLst/>
                  <a:cxnLst>
                    <a:cxn ang="0">
                      <a:pos x="T0" y="T1"/>
                    </a:cxn>
                    <a:cxn ang="0">
                      <a:pos x="T2" y="T3"/>
                    </a:cxn>
                    <a:cxn ang="0">
                      <a:pos x="T4" y="T5"/>
                    </a:cxn>
                    <a:cxn ang="0">
                      <a:pos x="T6" y="T7"/>
                    </a:cxn>
                    <a:cxn ang="0">
                      <a:pos x="T8" y="T9"/>
                    </a:cxn>
                  </a:cxnLst>
                  <a:rect l="0" t="0" r="r" b="b"/>
                  <a:pathLst>
                    <a:path w="125" h="119">
                      <a:moveTo>
                        <a:pt x="99" y="0"/>
                      </a:moveTo>
                      <a:lnTo>
                        <a:pt x="0" y="0"/>
                      </a:lnTo>
                      <a:lnTo>
                        <a:pt x="71" y="119"/>
                      </a:lnTo>
                      <a:lnTo>
                        <a:pt x="125" y="36"/>
                      </a:lnTo>
                      <a:lnTo>
                        <a:pt x="99" y="0"/>
                      </a:lnTo>
                      <a:close/>
                    </a:path>
                  </a:pathLst>
                </a:custGeom>
                <a:solidFill>
                  <a:srgbClr val="D9CAC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38"/>
                <p:cNvSpPr/>
                <p:nvPr/>
              </p:nvSpPr>
              <p:spPr bwMode="auto">
                <a:xfrm>
                  <a:off x="7985126" y="1579563"/>
                  <a:ext cx="200025" cy="187325"/>
                </a:xfrm>
                <a:custGeom>
                  <a:avLst/>
                  <a:gdLst>
                    <a:gd name="T0" fmla="*/ 97 w 126"/>
                    <a:gd name="T1" fmla="*/ 0 h 118"/>
                    <a:gd name="T2" fmla="*/ 0 w 126"/>
                    <a:gd name="T3" fmla="*/ 0 h 118"/>
                    <a:gd name="T4" fmla="*/ 71 w 126"/>
                    <a:gd name="T5" fmla="*/ 118 h 118"/>
                    <a:gd name="T6" fmla="*/ 126 w 126"/>
                    <a:gd name="T7" fmla="*/ 35 h 118"/>
                    <a:gd name="T8" fmla="*/ 97 w 126"/>
                    <a:gd name="T9" fmla="*/ 0 h 118"/>
                  </a:gdLst>
                  <a:ahLst/>
                  <a:cxnLst>
                    <a:cxn ang="0">
                      <a:pos x="T0" y="T1"/>
                    </a:cxn>
                    <a:cxn ang="0">
                      <a:pos x="T2" y="T3"/>
                    </a:cxn>
                    <a:cxn ang="0">
                      <a:pos x="T4" y="T5"/>
                    </a:cxn>
                    <a:cxn ang="0">
                      <a:pos x="T6" y="T7"/>
                    </a:cxn>
                    <a:cxn ang="0">
                      <a:pos x="T8" y="T9"/>
                    </a:cxn>
                  </a:cxnLst>
                  <a:rect l="0" t="0" r="r" b="b"/>
                  <a:pathLst>
                    <a:path w="126" h="118">
                      <a:moveTo>
                        <a:pt x="97" y="0"/>
                      </a:moveTo>
                      <a:lnTo>
                        <a:pt x="0" y="0"/>
                      </a:lnTo>
                      <a:lnTo>
                        <a:pt x="71" y="118"/>
                      </a:lnTo>
                      <a:lnTo>
                        <a:pt x="126" y="35"/>
                      </a:lnTo>
                      <a:lnTo>
                        <a:pt x="97" y="0"/>
                      </a:lnTo>
                      <a:close/>
                    </a:path>
                  </a:pathLst>
                </a:custGeom>
                <a:solidFill>
                  <a:srgbClr val="F3FF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39"/>
                <p:cNvSpPr/>
                <p:nvPr/>
              </p:nvSpPr>
              <p:spPr bwMode="auto">
                <a:xfrm>
                  <a:off x="8286751" y="1585913"/>
                  <a:ext cx="198438" cy="188913"/>
                </a:xfrm>
                <a:custGeom>
                  <a:avLst/>
                  <a:gdLst>
                    <a:gd name="T0" fmla="*/ 28 w 125"/>
                    <a:gd name="T1" fmla="*/ 0 h 119"/>
                    <a:gd name="T2" fmla="*/ 125 w 125"/>
                    <a:gd name="T3" fmla="*/ 0 h 119"/>
                    <a:gd name="T4" fmla="*/ 54 w 125"/>
                    <a:gd name="T5" fmla="*/ 119 h 119"/>
                    <a:gd name="T6" fmla="*/ 0 w 125"/>
                    <a:gd name="T7" fmla="*/ 36 h 119"/>
                    <a:gd name="T8" fmla="*/ 28 w 125"/>
                    <a:gd name="T9" fmla="*/ 0 h 119"/>
                  </a:gdLst>
                  <a:ahLst/>
                  <a:cxnLst>
                    <a:cxn ang="0">
                      <a:pos x="T0" y="T1"/>
                    </a:cxn>
                    <a:cxn ang="0">
                      <a:pos x="T2" y="T3"/>
                    </a:cxn>
                    <a:cxn ang="0">
                      <a:pos x="T4" y="T5"/>
                    </a:cxn>
                    <a:cxn ang="0">
                      <a:pos x="T6" y="T7"/>
                    </a:cxn>
                    <a:cxn ang="0">
                      <a:pos x="T8" y="T9"/>
                    </a:cxn>
                  </a:cxnLst>
                  <a:rect l="0" t="0" r="r" b="b"/>
                  <a:pathLst>
                    <a:path w="125" h="119">
                      <a:moveTo>
                        <a:pt x="28" y="0"/>
                      </a:moveTo>
                      <a:lnTo>
                        <a:pt x="125" y="0"/>
                      </a:lnTo>
                      <a:lnTo>
                        <a:pt x="54" y="119"/>
                      </a:lnTo>
                      <a:lnTo>
                        <a:pt x="0" y="36"/>
                      </a:lnTo>
                      <a:lnTo>
                        <a:pt x="28" y="0"/>
                      </a:lnTo>
                      <a:close/>
                    </a:path>
                  </a:pathLst>
                </a:custGeom>
                <a:solidFill>
                  <a:srgbClr val="D9CAC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40"/>
                <p:cNvSpPr/>
                <p:nvPr/>
              </p:nvSpPr>
              <p:spPr bwMode="auto">
                <a:xfrm>
                  <a:off x="8289926" y="1579563"/>
                  <a:ext cx="203200" cy="187325"/>
                </a:xfrm>
                <a:custGeom>
                  <a:avLst/>
                  <a:gdLst>
                    <a:gd name="T0" fmla="*/ 28 w 128"/>
                    <a:gd name="T1" fmla="*/ 0 h 118"/>
                    <a:gd name="T2" fmla="*/ 128 w 128"/>
                    <a:gd name="T3" fmla="*/ 0 h 118"/>
                    <a:gd name="T4" fmla="*/ 54 w 128"/>
                    <a:gd name="T5" fmla="*/ 118 h 118"/>
                    <a:gd name="T6" fmla="*/ 0 w 128"/>
                    <a:gd name="T7" fmla="*/ 35 h 118"/>
                    <a:gd name="T8" fmla="*/ 28 w 128"/>
                    <a:gd name="T9" fmla="*/ 0 h 118"/>
                  </a:gdLst>
                  <a:ahLst/>
                  <a:cxnLst>
                    <a:cxn ang="0">
                      <a:pos x="T0" y="T1"/>
                    </a:cxn>
                    <a:cxn ang="0">
                      <a:pos x="T2" y="T3"/>
                    </a:cxn>
                    <a:cxn ang="0">
                      <a:pos x="T4" y="T5"/>
                    </a:cxn>
                    <a:cxn ang="0">
                      <a:pos x="T6" y="T7"/>
                    </a:cxn>
                    <a:cxn ang="0">
                      <a:pos x="T8" y="T9"/>
                    </a:cxn>
                  </a:cxnLst>
                  <a:rect l="0" t="0" r="r" b="b"/>
                  <a:pathLst>
                    <a:path w="128" h="118">
                      <a:moveTo>
                        <a:pt x="28" y="0"/>
                      </a:moveTo>
                      <a:lnTo>
                        <a:pt x="128" y="0"/>
                      </a:lnTo>
                      <a:lnTo>
                        <a:pt x="54" y="118"/>
                      </a:lnTo>
                      <a:lnTo>
                        <a:pt x="0" y="35"/>
                      </a:lnTo>
                      <a:lnTo>
                        <a:pt x="28" y="0"/>
                      </a:lnTo>
                      <a:close/>
                    </a:path>
                  </a:pathLst>
                </a:custGeom>
                <a:solidFill>
                  <a:srgbClr val="F3FF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41"/>
                <p:cNvSpPr/>
                <p:nvPr/>
              </p:nvSpPr>
              <p:spPr bwMode="auto">
                <a:xfrm>
                  <a:off x="8196263" y="1681163"/>
                  <a:ext cx="77788" cy="69850"/>
                </a:xfrm>
                <a:custGeom>
                  <a:avLst/>
                  <a:gdLst>
                    <a:gd name="T0" fmla="*/ 16 w 49"/>
                    <a:gd name="T1" fmla="*/ 0 h 44"/>
                    <a:gd name="T2" fmla="*/ 0 w 49"/>
                    <a:gd name="T3" fmla="*/ 21 h 44"/>
                    <a:gd name="T4" fmla="*/ 14 w 49"/>
                    <a:gd name="T5" fmla="*/ 44 h 44"/>
                    <a:gd name="T6" fmla="*/ 38 w 49"/>
                    <a:gd name="T7" fmla="*/ 44 h 44"/>
                    <a:gd name="T8" fmla="*/ 49 w 49"/>
                    <a:gd name="T9" fmla="*/ 21 h 44"/>
                    <a:gd name="T10" fmla="*/ 38 w 49"/>
                    <a:gd name="T11" fmla="*/ 0 h 44"/>
                    <a:gd name="T12" fmla="*/ 16 w 49"/>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9" h="44">
                      <a:moveTo>
                        <a:pt x="16" y="0"/>
                      </a:moveTo>
                      <a:lnTo>
                        <a:pt x="0" y="21"/>
                      </a:lnTo>
                      <a:lnTo>
                        <a:pt x="14" y="44"/>
                      </a:lnTo>
                      <a:lnTo>
                        <a:pt x="38" y="44"/>
                      </a:lnTo>
                      <a:lnTo>
                        <a:pt x="49" y="21"/>
                      </a:lnTo>
                      <a:lnTo>
                        <a:pt x="38" y="0"/>
                      </a:lnTo>
                      <a:lnTo>
                        <a:pt x="16" y="0"/>
                      </a:lnTo>
                      <a:close/>
                    </a:path>
                  </a:pathLst>
                </a:custGeom>
                <a:solidFill>
                  <a:srgbClr val="896A7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42"/>
                <p:cNvSpPr/>
                <p:nvPr/>
              </p:nvSpPr>
              <p:spPr bwMode="auto">
                <a:xfrm>
                  <a:off x="8150226" y="1751013"/>
                  <a:ext cx="153988" cy="395288"/>
                </a:xfrm>
                <a:custGeom>
                  <a:avLst/>
                  <a:gdLst>
                    <a:gd name="T0" fmla="*/ 43 w 97"/>
                    <a:gd name="T1" fmla="*/ 0 h 249"/>
                    <a:gd name="T2" fmla="*/ 0 w 97"/>
                    <a:gd name="T3" fmla="*/ 206 h 249"/>
                    <a:gd name="T4" fmla="*/ 48 w 97"/>
                    <a:gd name="T5" fmla="*/ 249 h 249"/>
                    <a:gd name="T6" fmla="*/ 97 w 97"/>
                    <a:gd name="T7" fmla="*/ 206 h 249"/>
                    <a:gd name="T8" fmla="*/ 67 w 97"/>
                    <a:gd name="T9" fmla="*/ 0 h 249"/>
                    <a:gd name="T10" fmla="*/ 43 w 97"/>
                    <a:gd name="T11" fmla="*/ 0 h 249"/>
                  </a:gdLst>
                  <a:ahLst/>
                  <a:cxnLst>
                    <a:cxn ang="0">
                      <a:pos x="T0" y="T1"/>
                    </a:cxn>
                    <a:cxn ang="0">
                      <a:pos x="T2" y="T3"/>
                    </a:cxn>
                    <a:cxn ang="0">
                      <a:pos x="T4" y="T5"/>
                    </a:cxn>
                    <a:cxn ang="0">
                      <a:pos x="T6" y="T7"/>
                    </a:cxn>
                    <a:cxn ang="0">
                      <a:pos x="T8" y="T9"/>
                    </a:cxn>
                    <a:cxn ang="0">
                      <a:pos x="T10" y="T11"/>
                    </a:cxn>
                  </a:cxnLst>
                  <a:rect l="0" t="0" r="r" b="b"/>
                  <a:pathLst>
                    <a:path w="97" h="249">
                      <a:moveTo>
                        <a:pt x="43" y="0"/>
                      </a:moveTo>
                      <a:lnTo>
                        <a:pt x="0" y="206"/>
                      </a:lnTo>
                      <a:lnTo>
                        <a:pt x="48" y="249"/>
                      </a:lnTo>
                      <a:lnTo>
                        <a:pt x="97" y="206"/>
                      </a:lnTo>
                      <a:lnTo>
                        <a:pt x="67" y="0"/>
                      </a:lnTo>
                      <a:lnTo>
                        <a:pt x="43" y="0"/>
                      </a:lnTo>
                      <a:close/>
                    </a:path>
                  </a:pathLst>
                </a:custGeom>
                <a:solidFill>
                  <a:srgbClr val="7A44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43"/>
                <p:cNvSpPr/>
                <p:nvPr/>
              </p:nvSpPr>
              <p:spPr bwMode="auto">
                <a:xfrm>
                  <a:off x="8470901" y="1819276"/>
                  <a:ext cx="160338" cy="15875"/>
                </a:xfrm>
                <a:custGeom>
                  <a:avLst/>
                  <a:gdLst>
                    <a:gd name="T0" fmla="*/ 43 w 43"/>
                    <a:gd name="T1" fmla="*/ 2 h 4"/>
                    <a:gd name="T2" fmla="*/ 41 w 43"/>
                    <a:gd name="T3" fmla="*/ 4 h 4"/>
                    <a:gd name="T4" fmla="*/ 2 w 43"/>
                    <a:gd name="T5" fmla="*/ 4 h 4"/>
                    <a:gd name="T6" fmla="*/ 0 w 43"/>
                    <a:gd name="T7" fmla="*/ 2 h 4"/>
                    <a:gd name="T8" fmla="*/ 2 w 43"/>
                    <a:gd name="T9" fmla="*/ 0 h 4"/>
                    <a:gd name="T10" fmla="*/ 41 w 43"/>
                    <a:gd name="T11" fmla="*/ 0 h 4"/>
                    <a:gd name="T12" fmla="*/ 43 w 43"/>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43" h="4">
                      <a:moveTo>
                        <a:pt x="43" y="2"/>
                      </a:moveTo>
                      <a:cubicBezTo>
                        <a:pt x="43" y="3"/>
                        <a:pt x="42" y="4"/>
                        <a:pt x="41" y="4"/>
                      </a:cubicBezTo>
                      <a:cubicBezTo>
                        <a:pt x="2" y="4"/>
                        <a:pt x="2" y="4"/>
                        <a:pt x="2" y="4"/>
                      </a:cubicBezTo>
                      <a:cubicBezTo>
                        <a:pt x="1" y="4"/>
                        <a:pt x="0" y="3"/>
                        <a:pt x="0" y="2"/>
                      </a:cubicBezTo>
                      <a:cubicBezTo>
                        <a:pt x="0" y="1"/>
                        <a:pt x="1" y="0"/>
                        <a:pt x="2" y="0"/>
                      </a:cubicBezTo>
                      <a:cubicBezTo>
                        <a:pt x="41" y="0"/>
                        <a:pt x="41" y="0"/>
                        <a:pt x="41" y="0"/>
                      </a:cubicBezTo>
                      <a:cubicBezTo>
                        <a:pt x="42" y="0"/>
                        <a:pt x="43" y="1"/>
                        <a:pt x="43" y="2"/>
                      </a:cubicBezTo>
                      <a:close/>
                    </a:path>
                  </a:pathLst>
                </a:custGeom>
                <a:solidFill>
                  <a:srgbClr val="7A445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91" name="圆角矩形 90"/>
              <p:cNvSpPr/>
              <p:nvPr/>
            </p:nvSpPr>
            <p:spPr>
              <a:xfrm>
                <a:off x="4879" y="2588"/>
                <a:ext cx="788" cy="788"/>
              </a:xfrm>
              <a:prstGeom prst="roundRect">
                <a:avLst>
                  <a:gd name="adj" fmla="val 5423"/>
                </a:avLst>
              </a:prstGeom>
              <a:solidFill>
                <a:srgbClr val="30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p:cNvGrpSpPr/>
              <p:nvPr/>
            </p:nvGrpSpPr>
            <p:grpSpPr>
              <a:xfrm>
                <a:off x="4906" y="2615"/>
                <a:ext cx="734" cy="734"/>
                <a:chOff x="1814513" y="2571090"/>
                <a:chExt cx="476752" cy="476752"/>
              </a:xfrm>
            </p:grpSpPr>
            <p:sp>
              <p:nvSpPr>
                <p:cNvPr id="93" name="椭圆 92"/>
                <p:cNvSpPr/>
                <p:nvPr/>
              </p:nvSpPr>
              <p:spPr>
                <a:xfrm>
                  <a:off x="1814513" y="2571090"/>
                  <a:ext cx="476752" cy="476752"/>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93"/>
                <p:cNvSpPr/>
                <p:nvPr/>
              </p:nvSpPr>
              <p:spPr>
                <a:xfrm>
                  <a:off x="1835693" y="2592270"/>
                  <a:ext cx="434392" cy="434392"/>
                </a:xfrm>
                <a:custGeom>
                  <a:avLst/>
                  <a:gdLst>
                    <a:gd name="connsiteX0" fmla="*/ 217196 w 434392"/>
                    <a:gd name="connsiteY0" fmla="*/ 261588 h 434392"/>
                    <a:gd name="connsiteX1" fmla="*/ 150612 w 434392"/>
                    <a:gd name="connsiteY1" fmla="*/ 328172 h 434392"/>
                    <a:gd name="connsiteX2" fmla="*/ 217196 w 434392"/>
                    <a:gd name="connsiteY2" fmla="*/ 394756 h 434392"/>
                    <a:gd name="connsiteX3" fmla="*/ 283780 w 434392"/>
                    <a:gd name="connsiteY3" fmla="*/ 328172 h 434392"/>
                    <a:gd name="connsiteX4" fmla="*/ 217196 w 434392"/>
                    <a:gd name="connsiteY4" fmla="*/ 261588 h 434392"/>
                    <a:gd name="connsiteX5" fmla="*/ 328172 w 434392"/>
                    <a:gd name="connsiteY5" fmla="*/ 150612 h 434392"/>
                    <a:gd name="connsiteX6" fmla="*/ 261588 w 434392"/>
                    <a:gd name="connsiteY6" fmla="*/ 217196 h 434392"/>
                    <a:gd name="connsiteX7" fmla="*/ 328172 w 434392"/>
                    <a:gd name="connsiteY7" fmla="*/ 283780 h 434392"/>
                    <a:gd name="connsiteX8" fmla="*/ 394756 w 434392"/>
                    <a:gd name="connsiteY8" fmla="*/ 217196 h 434392"/>
                    <a:gd name="connsiteX9" fmla="*/ 328172 w 434392"/>
                    <a:gd name="connsiteY9" fmla="*/ 150612 h 434392"/>
                    <a:gd name="connsiteX10" fmla="*/ 106220 w 434392"/>
                    <a:gd name="connsiteY10" fmla="*/ 150612 h 434392"/>
                    <a:gd name="connsiteX11" fmla="*/ 39636 w 434392"/>
                    <a:gd name="connsiteY11" fmla="*/ 217196 h 434392"/>
                    <a:gd name="connsiteX12" fmla="*/ 106220 w 434392"/>
                    <a:gd name="connsiteY12" fmla="*/ 283780 h 434392"/>
                    <a:gd name="connsiteX13" fmla="*/ 172804 w 434392"/>
                    <a:gd name="connsiteY13" fmla="*/ 217196 h 434392"/>
                    <a:gd name="connsiteX14" fmla="*/ 106220 w 434392"/>
                    <a:gd name="connsiteY14" fmla="*/ 150612 h 434392"/>
                    <a:gd name="connsiteX15" fmla="*/ 217196 w 434392"/>
                    <a:gd name="connsiteY15" fmla="*/ 39636 h 434392"/>
                    <a:gd name="connsiteX16" fmla="*/ 150612 w 434392"/>
                    <a:gd name="connsiteY16" fmla="*/ 106220 h 434392"/>
                    <a:gd name="connsiteX17" fmla="*/ 217196 w 434392"/>
                    <a:gd name="connsiteY17" fmla="*/ 172804 h 434392"/>
                    <a:gd name="connsiteX18" fmla="*/ 283780 w 434392"/>
                    <a:gd name="connsiteY18" fmla="*/ 106220 h 434392"/>
                    <a:gd name="connsiteX19" fmla="*/ 217196 w 434392"/>
                    <a:gd name="connsiteY19" fmla="*/ 39636 h 434392"/>
                    <a:gd name="connsiteX20" fmla="*/ 217196 w 434392"/>
                    <a:gd name="connsiteY20" fmla="*/ 0 h 434392"/>
                    <a:gd name="connsiteX21" fmla="*/ 434392 w 434392"/>
                    <a:gd name="connsiteY21" fmla="*/ 217196 h 434392"/>
                    <a:gd name="connsiteX22" fmla="*/ 217196 w 434392"/>
                    <a:gd name="connsiteY22" fmla="*/ 434392 h 434392"/>
                    <a:gd name="connsiteX23" fmla="*/ 0 w 434392"/>
                    <a:gd name="connsiteY23" fmla="*/ 217196 h 434392"/>
                    <a:gd name="connsiteX24" fmla="*/ 217196 w 434392"/>
                    <a:gd name="connsiteY24" fmla="*/ 0 h 43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392" h="434392">
                      <a:moveTo>
                        <a:pt x="217196" y="261588"/>
                      </a:moveTo>
                      <a:cubicBezTo>
                        <a:pt x="180423" y="261588"/>
                        <a:pt x="150612" y="291399"/>
                        <a:pt x="150612" y="328172"/>
                      </a:cubicBezTo>
                      <a:cubicBezTo>
                        <a:pt x="150612" y="364945"/>
                        <a:pt x="180423" y="394756"/>
                        <a:pt x="217196" y="394756"/>
                      </a:cubicBezTo>
                      <a:cubicBezTo>
                        <a:pt x="253969" y="394756"/>
                        <a:pt x="283780" y="364945"/>
                        <a:pt x="283780" y="328172"/>
                      </a:cubicBezTo>
                      <a:cubicBezTo>
                        <a:pt x="283780" y="291399"/>
                        <a:pt x="253969" y="261588"/>
                        <a:pt x="217196" y="261588"/>
                      </a:cubicBezTo>
                      <a:close/>
                      <a:moveTo>
                        <a:pt x="328172" y="150612"/>
                      </a:moveTo>
                      <a:cubicBezTo>
                        <a:pt x="291399" y="150612"/>
                        <a:pt x="261588" y="180423"/>
                        <a:pt x="261588" y="217196"/>
                      </a:cubicBezTo>
                      <a:cubicBezTo>
                        <a:pt x="261588" y="253969"/>
                        <a:pt x="291399" y="283780"/>
                        <a:pt x="328172" y="283780"/>
                      </a:cubicBezTo>
                      <a:cubicBezTo>
                        <a:pt x="364945" y="283780"/>
                        <a:pt x="394756" y="253969"/>
                        <a:pt x="394756" y="217196"/>
                      </a:cubicBezTo>
                      <a:cubicBezTo>
                        <a:pt x="394756" y="180423"/>
                        <a:pt x="364945" y="150612"/>
                        <a:pt x="328172" y="150612"/>
                      </a:cubicBezTo>
                      <a:close/>
                      <a:moveTo>
                        <a:pt x="106220" y="150612"/>
                      </a:moveTo>
                      <a:cubicBezTo>
                        <a:pt x="69447" y="150612"/>
                        <a:pt x="39636" y="180423"/>
                        <a:pt x="39636" y="217196"/>
                      </a:cubicBezTo>
                      <a:cubicBezTo>
                        <a:pt x="39636" y="253969"/>
                        <a:pt x="69447" y="283780"/>
                        <a:pt x="106220" y="283780"/>
                      </a:cubicBezTo>
                      <a:cubicBezTo>
                        <a:pt x="142993" y="283780"/>
                        <a:pt x="172804" y="253969"/>
                        <a:pt x="172804" y="217196"/>
                      </a:cubicBezTo>
                      <a:cubicBezTo>
                        <a:pt x="172804" y="180423"/>
                        <a:pt x="142993" y="150612"/>
                        <a:pt x="106220" y="150612"/>
                      </a:cubicBezTo>
                      <a:close/>
                      <a:moveTo>
                        <a:pt x="217196" y="39636"/>
                      </a:moveTo>
                      <a:cubicBezTo>
                        <a:pt x="180423" y="39636"/>
                        <a:pt x="150612" y="69447"/>
                        <a:pt x="150612" y="106220"/>
                      </a:cubicBezTo>
                      <a:cubicBezTo>
                        <a:pt x="150612" y="142993"/>
                        <a:pt x="180423" y="172804"/>
                        <a:pt x="217196" y="172804"/>
                      </a:cubicBezTo>
                      <a:cubicBezTo>
                        <a:pt x="253969" y="172804"/>
                        <a:pt x="283780" y="142993"/>
                        <a:pt x="283780" y="106220"/>
                      </a:cubicBezTo>
                      <a:cubicBezTo>
                        <a:pt x="283780" y="69447"/>
                        <a:pt x="253969" y="39636"/>
                        <a:pt x="217196" y="39636"/>
                      </a:cubicBezTo>
                      <a:close/>
                      <a:moveTo>
                        <a:pt x="217196" y="0"/>
                      </a:moveTo>
                      <a:cubicBezTo>
                        <a:pt x="337150" y="0"/>
                        <a:pt x="434392" y="97242"/>
                        <a:pt x="434392" y="217196"/>
                      </a:cubicBezTo>
                      <a:cubicBezTo>
                        <a:pt x="434392" y="337150"/>
                        <a:pt x="337150" y="434392"/>
                        <a:pt x="217196" y="434392"/>
                      </a:cubicBezTo>
                      <a:cubicBezTo>
                        <a:pt x="97242" y="434392"/>
                        <a:pt x="0" y="337150"/>
                        <a:pt x="0" y="217196"/>
                      </a:cubicBezTo>
                      <a:cubicBezTo>
                        <a:pt x="0" y="97242"/>
                        <a:pt x="97242" y="0"/>
                        <a:pt x="21719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6" name="圆角矩形 95"/>
              <p:cNvSpPr/>
              <p:nvPr/>
            </p:nvSpPr>
            <p:spPr>
              <a:xfrm>
                <a:off x="4879" y="3962"/>
                <a:ext cx="788" cy="788"/>
              </a:xfrm>
              <a:prstGeom prst="roundRect">
                <a:avLst>
                  <a:gd name="adj" fmla="val 5423"/>
                </a:avLst>
              </a:prstGeom>
              <a:solidFill>
                <a:srgbClr val="EFA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96"/>
              <p:cNvGrpSpPr/>
              <p:nvPr/>
            </p:nvGrpSpPr>
            <p:grpSpPr>
              <a:xfrm>
                <a:off x="4906" y="3989"/>
                <a:ext cx="734" cy="734"/>
                <a:chOff x="1814513" y="2571090"/>
                <a:chExt cx="476752" cy="476752"/>
              </a:xfrm>
            </p:grpSpPr>
            <p:sp>
              <p:nvSpPr>
                <p:cNvPr id="98" name="椭圆 97"/>
                <p:cNvSpPr/>
                <p:nvPr/>
              </p:nvSpPr>
              <p:spPr>
                <a:xfrm>
                  <a:off x="1814513" y="2571090"/>
                  <a:ext cx="476752" cy="476752"/>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98"/>
                <p:cNvSpPr/>
                <p:nvPr/>
              </p:nvSpPr>
              <p:spPr>
                <a:xfrm>
                  <a:off x="1835693" y="2592270"/>
                  <a:ext cx="434392" cy="434392"/>
                </a:xfrm>
                <a:custGeom>
                  <a:avLst/>
                  <a:gdLst>
                    <a:gd name="connsiteX0" fmla="*/ 217196 w 434392"/>
                    <a:gd name="connsiteY0" fmla="*/ 261588 h 434392"/>
                    <a:gd name="connsiteX1" fmla="*/ 150612 w 434392"/>
                    <a:gd name="connsiteY1" fmla="*/ 328172 h 434392"/>
                    <a:gd name="connsiteX2" fmla="*/ 217196 w 434392"/>
                    <a:gd name="connsiteY2" fmla="*/ 394756 h 434392"/>
                    <a:gd name="connsiteX3" fmla="*/ 283780 w 434392"/>
                    <a:gd name="connsiteY3" fmla="*/ 328172 h 434392"/>
                    <a:gd name="connsiteX4" fmla="*/ 217196 w 434392"/>
                    <a:gd name="connsiteY4" fmla="*/ 261588 h 434392"/>
                    <a:gd name="connsiteX5" fmla="*/ 328172 w 434392"/>
                    <a:gd name="connsiteY5" fmla="*/ 150612 h 434392"/>
                    <a:gd name="connsiteX6" fmla="*/ 261588 w 434392"/>
                    <a:gd name="connsiteY6" fmla="*/ 217196 h 434392"/>
                    <a:gd name="connsiteX7" fmla="*/ 328172 w 434392"/>
                    <a:gd name="connsiteY7" fmla="*/ 283780 h 434392"/>
                    <a:gd name="connsiteX8" fmla="*/ 394756 w 434392"/>
                    <a:gd name="connsiteY8" fmla="*/ 217196 h 434392"/>
                    <a:gd name="connsiteX9" fmla="*/ 328172 w 434392"/>
                    <a:gd name="connsiteY9" fmla="*/ 150612 h 434392"/>
                    <a:gd name="connsiteX10" fmla="*/ 106220 w 434392"/>
                    <a:gd name="connsiteY10" fmla="*/ 150612 h 434392"/>
                    <a:gd name="connsiteX11" fmla="*/ 39636 w 434392"/>
                    <a:gd name="connsiteY11" fmla="*/ 217196 h 434392"/>
                    <a:gd name="connsiteX12" fmla="*/ 106220 w 434392"/>
                    <a:gd name="connsiteY12" fmla="*/ 283780 h 434392"/>
                    <a:gd name="connsiteX13" fmla="*/ 172804 w 434392"/>
                    <a:gd name="connsiteY13" fmla="*/ 217196 h 434392"/>
                    <a:gd name="connsiteX14" fmla="*/ 106220 w 434392"/>
                    <a:gd name="connsiteY14" fmla="*/ 150612 h 434392"/>
                    <a:gd name="connsiteX15" fmla="*/ 217196 w 434392"/>
                    <a:gd name="connsiteY15" fmla="*/ 39636 h 434392"/>
                    <a:gd name="connsiteX16" fmla="*/ 150612 w 434392"/>
                    <a:gd name="connsiteY16" fmla="*/ 106220 h 434392"/>
                    <a:gd name="connsiteX17" fmla="*/ 217196 w 434392"/>
                    <a:gd name="connsiteY17" fmla="*/ 172804 h 434392"/>
                    <a:gd name="connsiteX18" fmla="*/ 283780 w 434392"/>
                    <a:gd name="connsiteY18" fmla="*/ 106220 h 434392"/>
                    <a:gd name="connsiteX19" fmla="*/ 217196 w 434392"/>
                    <a:gd name="connsiteY19" fmla="*/ 39636 h 434392"/>
                    <a:gd name="connsiteX20" fmla="*/ 217196 w 434392"/>
                    <a:gd name="connsiteY20" fmla="*/ 0 h 434392"/>
                    <a:gd name="connsiteX21" fmla="*/ 434392 w 434392"/>
                    <a:gd name="connsiteY21" fmla="*/ 217196 h 434392"/>
                    <a:gd name="connsiteX22" fmla="*/ 217196 w 434392"/>
                    <a:gd name="connsiteY22" fmla="*/ 434392 h 434392"/>
                    <a:gd name="connsiteX23" fmla="*/ 0 w 434392"/>
                    <a:gd name="connsiteY23" fmla="*/ 217196 h 434392"/>
                    <a:gd name="connsiteX24" fmla="*/ 217196 w 434392"/>
                    <a:gd name="connsiteY24" fmla="*/ 0 h 43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392" h="434392">
                      <a:moveTo>
                        <a:pt x="217196" y="261588"/>
                      </a:moveTo>
                      <a:cubicBezTo>
                        <a:pt x="180423" y="261588"/>
                        <a:pt x="150612" y="291399"/>
                        <a:pt x="150612" y="328172"/>
                      </a:cubicBezTo>
                      <a:cubicBezTo>
                        <a:pt x="150612" y="364945"/>
                        <a:pt x="180423" y="394756"/>
                        <a:pt x="217196" y="394756"/>
                      </a:cubicBezTo>
                      <a:cubicBezTo>
                        <a:pt x="253969" y="394756"/>
                        <a:pt x="283780" y="364945"/>
                        <a:pt x="283780" y="328172"/>
                      </a:cubicBezTo>
                      <a:cubicBezTo>
                        <a:pt x="283780" y="291399"/>
                        <a:pt x="253969" y="261588"/>
                        <a:pt x="217196" y="261588"/>
                      </a:cubicBezTo>
                      <a:close/>
                      <a:moveTo>
                        <a:pt x="328172" y="150612"/>
                      </a:moveTo>
                      <a:cubicBezTo>
                        <a:pt x="291399" y="150612"/>
                        <a:pt x="261588" y="180423"/>
                        <a:pt x="261588" y="217196"/>
                      </a:cubicBezTo>
                      <a:cubicBezTo>
                        <a:pt x="261588" y="253969"/>
                        <a:pt x="291399" y="283780"/>
                        <a:pt x="328172" y="283780"/>
                      </a:cubicBezTo>
                      <a:cubicBezTo>
                        <a:pt x="364945" y="283780"/>
                        <a:pt x="394756" y="253969"/>
                        <a:pt x="394756" y="217196"/>
                      </a:cubicBezTo>
                      <a:cubicBezTo>
                        <a:pt x="394756" y="180423"/>
                        <a:pt x="364945" y="150612"/>
                        <a:pt x="328172" y="150612"/>
                      </a:cubicBezTo>
                      <a:close/>
                      <a:moveTo>
                        <a:pt x="106220" y="150612"/>
                      </a:moveTo>
                      <a:cubicBezTo>
                        <a:pt x="69447" y="150612"/>
                        <a:pt x="39636" y="180423"/>
                        <a:pt x="39636" y="217196"/>
                      </a:cubicBezTo>
                      <a:cubicBezTo>
                        <a:pt x="39636" y="253969"/>
                        <a:pt x="69447" y="283780"/>
                        <a:pt x="106220" y="283780"/>
                      </a:cubicBezTo>
                      <a:cubicBezTo>
                        <a:pt x="142993" y="283780"/>
                        <a:pt x="172804" y="253969"/>
                        <a:pt x="172804" y="217196"/>
                      </a:cubicBezTo>
                      <a:cubicBezTo>
                        <a:pt x="172804" y="180423"/>
                        <a:pt x="142993" y="150612"/>
                        <a:pt x="106220" y="150612"/>
                      </a:cubicBezTo>
                      <a:close/>
                      <a:moveTo>
                        <a:pt x="217196" y="39636"/>
                      </a:moveTo>
                      <a:cubicBezTo>
                        <a:pt x="180423" y="39636"/>
                        <a:pt x="150612" y="69447"/>
                        <a:pt x="150612" y="106220"/>
                      </a:cubicBezTo>
                      <a:cubicBezTo>
                        <a:pt x="150612" y="142993"/>
                        <a:pt x="180423" y="172804"/>
                        <a:pt x="217196" y="172804"/>
                      </a:cubicBezTo>
                      <a:cubicBezTo>
                        <a:pt x="253969" y="172804"/>
                        <a:pt x="283780" y="142993"/>
                        <a:pt x="283780" y="106220"/>
                      </a:cubicBezTo>
                      <a:cubicBezTo>
                        <a:pt x="283780" y="69447"/>
                        <a:pt x="253969" y="39636"/>
                        <a:pt x="217196" y="39636"/>
                      </a:cubicBezTo>
                      <a:close/>
                      <a:moveTo>
                        <a:pt x="217196" y="0"/>
                      </a:moveTo>
                      <a:cubicBezTo>
                        <a:pt x="337150" y="0"/>
                        <a:pt x="434392" y="97242"/>
                        <a:pt x="434392" y="217196"/>
                      </a:cubicBezTo>
                      <a:cubicBezTo>
                        <a:pt x="434392" y="337150"/>
                        <a:pt x="337150" y="434392"/>
                        <a:pt x="217196" y="434392"/>
                      </a:cubicBezTo>
                      <a:cubicBezTo>
                        <a:pt x="97242" y="434392"/>
                        <a:pt x="0" y="337150"/>
                        <a:pt x="0" y="217196"/>
                      </a:cubicBezTo>
                      <a:cubicBezTo>
                        <a:pt x="0" y="97242"/>
                        <a:pt x="97242" y="0"/>
                        <a:pt x="21719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1" name="圆角矩形 100"/>
              <p:cNvSpPr/>
              <p:nvPr/>
            </p:nvSpPr>
            <p:spPr>
              <a:xfrm>
                <a:off x="4879" y="5416"/>
                <a:ext cx="788" cy="788"/>
              </a:xfrm>
              <a:prstGeom prst="roundRect">
                <a:avLst>
                  <a:gd name="adj" fmla="val 5423"/>
                </a:avLst>
              </a:prstGeom>
              <a:solidFill>
                <a:srgbClr val="85B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4906" y="5443"/>
                <a:ext cx="734" cy="734"/>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任意多边形 103"/>
              <p:cNvSpPr/>
              <p:nvPr/>
            </p:nvSpPr>
            <p:spPr>
              <a:xfrm>
                <a:off x="4939" y="5476"/>
                <a:ext cx="669" cy="669"/>
              </a:xfrm>
              <a:custGeom>
                <a:avLst/>
                <a:gdLst>
                  <a:gd name="connsiteX0" fmla="*/ 217196 w 434392"/>
                  <a:gd name="connsiteY0" fmla="*/ 261588 h 434392"/>
                  <a:gd name="connsiteX1" fmla="*/ 150612 w 434392"/>
                  <a:gd name="connsiteY1" fmla="*/ 328172 h 434392"/>
                  <a:gd name="connsiteX2" fmla="*/ 217196 w 434392"/>
                  <a:gd name="connsiteY2" fmla="*/ 394756 h 434392"/>
                  <a:gd name="connsiteX3" fmla="*/ 283780 w 434392"/>
                  <a:gd name="connsiteY3" fmla="*/ 328172 h 434392"/>
                  <a:gd name="connsiteX4" fmla="*/ 217196 w 434392"/>
                  <a:gd name="connsiteY4" fmla="*/ 261588 h 434392"/>
                  <a:gd name="connsiteX5" fmla="*/ 328172 w 434392"/>
                  <a:gd name="connsiteY5" fmla="*/ 150612 h 434392"/>
                  <a:gd name="connsiteX6" fmla="*/ 261588 w 434392"/>
                  <a:gd name="connsiteY6" fmla="*/ 217196 h 434392"/>
                  <a:gd name="connsiteX7" fmla="*/ 328172 w 434392"/>
                  <a:gd name="connsiteY7" fmla="*/ 283780 h 434392"/>
                  <a:gd name="connsiteX8" fmla="*/ 394756 w 434392"/>
                  <a:gd name="connsiteY8" fmla="*/ 217196 h 434392"/>
                  <a:gd name="connsiteX9" fmla="*/ 328172 w 434392"/>
                  <a:gd name="connsiteY9" fmla="*/ 150612 h 434392"/>
                  <a:gd name="connsiteX10" fmla="*/ 106220 w 434392"/>
                  <a:gd name="connsiteY10" fmla="*/ 150612 h 434392"/>
                  <a:gd name="connsiteX11" fmla="*/ 39636 w 434392"/>
                  <a:gd name="connsiteY11" fmla="*/ 217196 h 434392"/>
                  <a:gd name="connsiteX12" fmla="*/ 106220 w 434392"/>
                  <a:gd name="connsiteY12" fmla="*/ 283780 h 434392"/>
                  <a:gd name="connsiteX13" fmla="*/ 172804 w 434392"/>
                  <a:gd name="connsiteY13" fmla="*/ 217196 h 434392"/>
                  <a:gd name="connsiteX14" fmla="*/ 106220 w 434392"/>
                  <a:gd name="connsiteY14" fmla="*/ 150612 h 434392"/>
                  <a:gd name="connsiteX15" fmla="*/ 217196 w 434392"/>
                  <a:gd name="connsiteY15" fmla="*/ 39636 h 434392"/>
                  <a:gd name="connsiteX16" fmla="*/ 150612 w 434392"/>
                  <a:gd name="connsiteY16" fmla="*/ 106220 h 434392"/>
                  <a:gd name="connsiteX17" fmla="*/ 217196 w 434392"/>
                  <a:gd name="connsiteY17" fmla="*/ 172804 h 434392"/>
                  <a:gd name="connsiteX18" fmla="*/ 283780 w 434392"/>
                  <a:gd name="connsiteY18" fmla="*/ 106220 h 434392"/>
                  <a:gd name="connsiteX19" fmla="*/ 217196 w 434392"/>
                  <a:gd name="connsiteY19" fmla="*/ 39636 h 434392"/>
                  <a:gd name="connsiteX20" fmla="*/ 217196 w 434392"/>
                  <a:gd name="connsiteY20" fmla="*/ 0 h 434392"/>
                  <a:gd name="connsiteX21" fmla="*/ 434392 w 434392"/>
                  <a:gd name="connsiteY21" fmla="*/ 217196 h 434392"/>
                  <a:gd name="connsiteX22" fmla="*/ 217196 w 434392"/>
                  <a:gd name="connsiteY22" fmla="*/ 434392 h 434392"/>
                  <a:gd name="connsiteX23" fmla="*/ 0 w 434392"/>
                  <a:gd name="connsiteY23" fmla="*/ 217196 h 434392"/>
                  <a:gd name="connsiteX24" fmla="*/ 217196 w 434392"/>
                  <a:gd name="connsiteY24" fmla="*/ 0 h 434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4392" h="434392">
                    <a:moveTo>
                      <a:pt x="217196" y="261588"/>
                    </a:moveTo>
                    <a:cubicBezTo>
                      <a:pt x="180423" y="261588"/>
                      <a:pt x="150612" y="291399"/>
                      <a:pt x="150612" y="328172"/>
                    </a:cubicBezTo>
                    <a:cubicBezTo>
                      <a:pt x="150612" y="364945"/>
                      <a:pt x="180423" y="394756"/>
                      <a:pt x="217196" y="394756"/>
                    </a:cubicBezTo>
                    <a:cubicBezTo>
                      <a:pt x="253969" y="394756"/>
                      <a:pt x="283780" y="364945"/>
                      <a:pt x="283780" y="328172"/>
                    </a:cubicBezTo>
                    <a:cubicBezTo>
                      <a:pt x="283780" y="291399"/>
                      <a:pt x="253969" y="261588"/>
                      <a:pt x="217196" y="261588"/>
                    </a:cubicBezTo>
                    <a:close/>
                    <a:moveTo>
                      <a:pt x="328172" y="150612"/>
                    </a:moveTo>
                    <a:cubicBezTo>
                      <a:pt x="291399" y="150612"/>
                      <a:pt x="261588" y="180423"/>
                      <a:pt x="261588" y="217196"/>
                    </a:cubicBezTo>
                    <a:cubicBezTo>
                      <a:pt x="261588" y="253969"/>
                      <a:pt x="291399" y="283780"/>
                      <a:pt x="328172" y="283780"/>
                    </a:cubicBezTo>
                    <a:cubicBezTo>
                      <a:pt x="364945" y="283780"/>
                      <a:pt x="394756" y="253969"/>
                      <a:pt x="394756" y="217196"/>
                    </a:cubicBezTo>
                    <a:cubicBezTo>
                      <a:pt x="394756" y="180423"/>
                      <a:pt x="364945" y="150612"/>
                      <a:pt x="328172" y="150612"/>
                    </a:cubicBezTo>
                    <a:close/>
                    <a:moveTo>
                      <a:pt x="106220" y="150612"/>
                    </a:moveTo>
                    <a:cubicBezTo>
                      <a:pt x="69447" y="150612"/>
                      <a:pt x="39636" y="180423"/>
                      <a:pt x="39636" y="217196"/>
                    </a:cubicBezTo>
                    <a:cubicBezTo>
                      <a:pt x="39636" y="253969"/>
                      <a:pt x="69447" y="283780"/>
                      <a:pt x="106220" y="283780"/>
                    </a:cubicBezTo>
                    <a:cubicBezTo>
                      <a:pt x="142993" y="283780"/>
                      <a:pt x="172804" y="253969"/>
                      <a:pt x="172804" y="217196"/>
                    </a:cubicBezTo>
                    <a:cubicBezTo>
                      <a:pt x="172804" y="180423"/>
                      <a:pt x="142993" y="150612"/>
                      <a:pt x="106220" y="150612"/>
                    </a:cubicBezTo>
                    <a:close/>
                    <a:moveTo>
                      <a:pt x="217196" y="39636"/>
                    </a:moveTo>
                    <a:cubicBezTo>
                      <a:pt x="180423" y="39636"/>
                      <a:pt x="150612" y="69447"/>
                      <a:pt x="150612" y="106220"/>
                    </a:cubicBezTo>
                    <a:cubicBezTo>
                      <a:pt x="150612" y="142993"/>
                      <a:pt x="180423" y="172804"/>
                      <a:pt x="217196" y="172804"/>
                    </a:cubicBezTo>
                    <a:cubicBezTo>
                      <a:pt x="253969" y="172804"/>
                      <a:pt x="283780" y="142993"/>
                      <a:pt x="283780" y="106220"/>
                    </a:cubicBezTo>
                    <a:cubicBezTo>
                      <a:pt x="283780" y="69447"/>
                      <a:pt x="253969" y="39636"/>
                      <a:pt x="217196" y="39636"/>
                    </a:cubicBezTo>
                    <a:close/>
                    <a:moveTo>
                      <a:pt x="217196" y="0"/>
                    </a:moveTo>
                    <a:cubicBezTo>
                      <a:pt x="337150" y="0"/>
                      <a:pt x="434392" y="97242"/>
                      <a:pt x="434392" y="217196"/>
                    </a:cubicBezTo>
                    <a:cubicBezTo>
                      <a:pt x="434392" y="337150"/>
                      <a:pt x="337150" y="434392"/>
                      <a:pt x="217196" y="434392"/>
                    </a:cubicBezTo>
                    <a:cubicBezTo>
                      <a:pt x="97242" y="434392"/>
                      <a:pt x="0" y="337150"/>
                      <a:pt x="0" y="217196"/>
                    </a:cubicBezTo>
                    <a:cubicBezTo>
                      <a:pt x="0" y="97242"/>
                      <a:pt x="97242" y="0"/>
                      <a:pt x="21719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左弧形箭头 104"/>
              <p:cNvSpPr/>
              <p:nvPr/>
            </p:nvSpPr>
            <p:spPr>
              <a:xfrm>
                <a:off x="1544" y="2978"/>
                <a:ext cx="1098" cy="2862"/>
              </a:xfrm>
              <a:prstGeom prst="curvedRightArrow">
                <a:avLst/>
              </a:prstGeom>
              <a:solidFill>
                <a:srgbClr val="85BADB"/>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cxnSp>
            <p:nvCxnSpPr>
              <p:cNvPr id="106" name="直接箭头连接符 105"/>
              <p:cNvCxnSpPr/>
              <p:nvPr/>
            </p:nvCxnSpPr>
            <p:spPr>
              <a:xfrm>
                <a:off x="3345" y="2983"/>
                <a:ext cx="1569" cy="2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endCxn id="98" idx="2"/>
              </p:cNvCxnSpPr>
              <p:nvPr/>
            </p:nvCxnSpPr>
            <p:spPr>
              <a:xfrm>
                <a:off x="3366" y="2997"/>
                <a:ext cx="1540" cy="13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V="1">
                <a:off x="3321" y="4375"/>
                <a:ext cx="1587" cy="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endCxn id="104" idx="23"/>
              </p:cNvCxnSpPr>
              <p:nvPr/>
            </p:nvCxnSpPr>
            <p:spPr>
              <a:xfrm>
                <a:off x="3330" y="4401"/>
                <a:ext cx="1609" cy="14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V="1">
                <a:off x="3294" y="3231"/>
                <a:ext cx="1584" cy="25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3330" y="5787"/>
                <a:ext cx="1620" cy="0"/>
              </a:xfrm>
              <a:prstGeom prst="straightConnector1">
                <a:avLst/>
              </a:prstGeom>
              <a:ln w="25400">
                <a:solidFill>
                  <a:srgbClr val="C00000"/>
                </a:solidFill>
                <a:prstDash val="sysDash"/>
                <a:tailEnd type="arrow" w="med" len="med"/>
              </a:ln>
            </p:spPr>
            <p:style>
              <a:lnRef idx="1">
                <a:schemeClr val="accent5"/>
              </a:lnRef>
              <a:fillRef idx="0">
                <a:schemeClr val="accent5"/>
              </a:fillRef>
              <a:effectRef idx="0">
                <a:schemeClr val="accent5"/>
              </a:effectRef>
              <a:fontRef idx="minor">
                <a:schemeClr val="tx1"/>
              </a:fontRef>
            </p:style>
          </p:cxnSp>
          <p:sp>
            <p:nvSpPr>
              <p:cNvPr id="112" name="文本框 111"/>
              <p:cNvSpPr txBox="1"/>
              <p:nvPr/>
            </p:nvSpPr>
            <p:spPr>
              <a:xfrm>
                <a:off x="772" y="3515"/>
                <a:ext cx="772" cy="1458"/>
              </a:xfrm>
              <a:prstGeom prst="rect">
                <a:avLst/>
              </a:prstGeom>
              <a:noFill/>
            </p:spPr>
            <p:txBody>
              <a:bodyPr vert="eaVert" wrap="square" rtlCol="0">
                <a:spAutoFit/>
              </a:bodyPr>
              <a:lstStyle/>
              <a:p>
                <a:pPr algn="ctr"/>
                <a:r>
                  <a:rPr lang="zh-CN" altLang="en-US" sz="2000" b="1">
                    <a:solidFill>
                      <a:srgbClr val="6A94AF"/>
                    </a:solidFill>
                    <a:latin typeface="幼圆" panose="02010509060101010101" charset="-122"/>
                    <a:ea typeface="幼圆" panose="02010509060101010101" charset="-122"/>
                  </a:rPr>
                  <a:t>相似</a:t>
                </a:r>
              </a:p>
            </p:txBody>
          </p:sp>
        </p:grpSp>
        <p:sp>
          <p:nvSpPr>
            <p:cNvPr id="114" name="文本框 113"/>
            <p:cNvSpPr txBox="1"/>
            <p:nvPr/>
          </p:nvSpPr>
          <p:spPr>
            <a:xfrm>
              <a:off x="3654" y="5880"/>
              <a:ext cx="864" cy="471"/>
            </a:xfrm>
            <a:prstGeom prst="rect">
              <a:avLst/>
            </a:prstGeom>
            <a:noFill/>
          </p:spPr>
          <p:txBody>
            <a:bodyPr wrap="square" rtlCol="0">
              <a:spAutoFit/>
            </a:bodyPr>
            <a:lstStyle/>
            <a:p>
              <a:pPr algn="ctr"/>
              <a:r>
                <a:rPr lang="zh-CN" altLang="en-US">
                  <a:solidFill>
                    <a:srgbClr val="C00000"/>
                  </a:solidFill>
                </a:rPr>
                <a:t>推荐</a:t>
              </a:r>
            </a:p>
          </p:txBody>
        </p:sp>
      </p:grpSp>
      <p:pic>
        <p:nvPicPr>
          <p:cNvPr id="10" name="图片 9">
            <a:hlinkClick r:id="rId5" action="ppaction://hlinksldjump"/>
          </p:cNvPr>
          <p:cNvPicPr>
            <a:picLocks noChangeAspect="1"/>
          </p:cNvPicPr>
          <p:nvPr/>
        </p:nvPicPr>
        <p:blipFill>
          <a:blip r:embed="rId6"/>
          <a:stretch>
            <a:fillRect/>
          </a:stretch>
        </p:blipFill>
        <p:spPr>
          <a:xfrm>
            <a:off x="8718550" y="4752340"/>
            <a:ext cx="371475" cy="304800"/>
          </a:xfrm>
          <a:prstGeom prst="rect">
            <a:avLst/>
          </a:prstGeom>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2" fill="hold" nodeType="clickEffect">
                                  <p:stCondLst>
                                    <p:cond delay="0"/>
                                  </p:stCondLst>
                                  <p:childTnLst>
                                    <p:animEffect transition="out" filter="wheel(2)">
                                      <p:cBhvr>
                                        <p:cTn id="6" dur="500"/>
                                        <p:tgtEl>
                                          <p:spTgt spid="115"/>
                                        </p:tgtEl>
                                      </p:cBhvr>
                                    </p:animEffect>
                                    <p:set>
                                      <p:cBhvr>
                                        <p:cTn id="7" dur="1" fill="hold">
                                          <p:stCondLst>
                                            <p:cond delay="500"/>
                                          </p:stCondLst>
                                        </p:cTn>
                                        <p:tgtEl>
                                          <p:spTgt spid="115"/>
                                        </p:tgtEl>
                                        <p:attrNameLst>
                                          <p:attrName>style.visibility</p:attrName>
                                        </p:attrNameLst>
                                      </p:cBhvr>
                                      <p:to>
                                        <p:strVal val="hidden"/>
                                      </p:to>
                                    </p:set>
                                  </p:childTnLst>
                                </p:cTn>
                              </p:par>
                            </p:childTnLst>
                          </p:cTn>
                        </p:par>
                        <p:par>
                          <p:cTn id="8" fill="hold">
                            <p:stCondLst>
                              <p:cond delay="500"/>
                            </p:stCondLst>
                            <p:childTnLst>
                              <p:par>
                                <p:cTn id="9" presetID="21" presetClass="entr" presetSubtype="2" fill="hold" nodeType="afterEffect">
                                  <p:stCondLst>
                                    <p:cond delay="0"/>
                                  </p:stCondLst>
                                  <p:childTnLst>
                                    <p:set>
                                      <p:cBhvr>
                                        <p:cTn id="10" dur="500" fill="hold">
                                          <p:stCondLst>
                                            <p:cond delay="0"/>
                                          </p:stCondLst>
                                        </p:cTn>
                                        <p:tgtEl>
                                          <p:spTgt spid="22"/>
                                        </p:tgtEl>
                                        <p:attrNameLst>
                                          <p:attrName>style.visibility</p:attrName>
                                        </p:attrNameLst>
                                      </p:cBhvr>
                                      <p:to>
                                        <p:strVal val="visible"/>
                                      </p:to>
                                    </p:set>
                                    <p:animEffect transition="in" filter="wheel(2)">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688283"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分解机（</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FM</a:t>
            </a: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5" name="矩形 4"/>
          <p:cNvSpPr/>
          <p:nvPr/>
        </p:nvSpPr>
        <p:spPr>
          <a:xfrm>
            <a:off x="90232" y="575233"/>
            <a:ext cx="800219"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传统推荐模型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891086" y="968695"/>
            <a:ext cx="7029048" cy="650240"/>
          </a:xfrm>
          <a:prstGeom prst="rect">
            <a:avLst/>
          </a:prstGeom>
          <a:noFill/>
        </p:spPr>
        <p:txBody>
          <a:bodyPr wrap="square" rtlCol="0">
            <a:spAutoFit/>
          </a:bodyPr>
          <a:lstStyle/>
          <a:p>
            <a:pPr algn="just">
              <a:lnSpc>
                <a:spcPct val="130000"/>
              </a:lnSpc>
            </a:pPr>
            <a:r>
              <a:rPr lang="zh-CN" altLang="en-US" sz="1400" b="1" dirty="0"/>
              <a:t>分解机（</a:t>
            </a:r>
            <a:r>
              <a:rPr lang="en-US" altLang="zh-CN" sz="1400" b="1" dirty="0"/>
              <a:t>FM</a:t>
            </a:r>
            <a:r>
              <a:rPr lang="zh-CN" altLang="en-US" sz="1400" b="1" dirty="0"/>
              <a:t>）：</a:t>
            </a:r>
            <a:r>
              <a:rPr lang="zh-CN" altLang="en-US" sz="1400" dirty="0"/>
              <a:t>利用特征分量之间的关系，对电影的结果进行二分类，即对某一部电影生成</a:t>
            </a:r>
            <a:r>
              <a:rPr lang="en-US" altLang="zh-CN" sz="1400" dirty="0"/>
              <a:t>0-1</a:t>
            </a:r>
            <a:r>
              <a:rPr lang="zh-CN" altLang="en-US" sz="1400" dirty="0"/>
              <a:t>的概率，取概率较高的进行推荐。</a:t>
            </a:r>
          </a:p>
        </p:txBody>
      </p:sp>
      <mc:AlternateContent xmlns:mc="http://schemas.openxmlformats.org/markup-compatibility/2006" xmlns:a14="http://schemas.microsoft.com/office/drawing/2010/main">
        <mc:Choice Requires="a14">
          <p:sp>
            <p:nvSpPr>
              <p:cNvPr id="2" name="文本框 1">
                <a:extLst/>
              </p:cNvPr>
              <p:cNvSpPr txBox="1"/>
              <p:nvPr/>
            </p:nvSpPr>
            <p:spPr>
              <a:xfrm>
                <a:off x="2994549" y="1773617"/>
                <a:ext cx="3154902" cy="6072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 </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e>
                      </m:nary>
                      <m:r>
                        <a:rPr lang="en-US" altLang="zh-CN" b="0" i="1" smtClean="0">
                          <a:latin typeface="Cambria Math" panose="02040503050406030204" pitchFamily="18" charset="0"/>
                        </a:rPr>
                        <m:t>+ </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𝑗</m:t>
                                  </m:r>
                                </m:sub>
                              </m:sSub>
                            </m:e>
                          </m:nary>
                        </m:e>
                      </m:nary>
                    </m:oMath>
                  </m:oMathPara>
                </a14:m>
                <a:endParaRPr lang="zh-CN" altLang="en-US" dirty="0"/>
              </a:p>
            </p:txBody>
          </p:sp>
        </mc:Choice>
        <mc:Fallback xmlns="">
          <p:sp>
            <p:nvSpPr>
              <p:cNvPr id="2" name="文本框 1">
                <a:extLst/>
              </p:cNvPr>
              <p:cNvSpPr txBox="1">
                <a:spLocks noRot="1" noChangeAspect="1" noMove="1" noResize="1" noEditPoints="1" noAdjustHandles="1" noChangeArrowheads="1" noChangeShapeType="1" noTextEdit="1"/>
              </p:cNvSpPr>
              <p:nvPr/>
            </p:nvSpPr>
            <p:spPr>
              <a:xfrm>
                <a:off x="2994549" y="1773617"/>
                <a:ext cx="3154902" cy="607218"/>
              </a:xfrm>
              <a:prstGeom prst="rect">
                <a:avLst/>
              </a:prstGeom>
              <a:blipFill>
                <a:blip r:embed="rId4"/>
                <a:stretch>
                  <a:fillRect/>
                </a:stretch>
              </a:blipFill>
            </p:spPr>
            <p:txBody>
              <a:bodyPr/>
              <a:lstStyle/>
              <a:p>
                <a:r>
                  <a:rPr lang="zh-CN" altLang="en-US">
                    <a:noFill/>
                  </a:rPr>
                  <a:t> </a:t>
                </a:r>
              </a:p>
            </p:txBody>
          </p:sp>
        </mc:Fallback>
      </mc:AlternateContent>
      <p:grpSp>
        <p:nvGrpSpPr>
          <p:cNvPr id="13" name="组合 12"/>
          <p:cNvGrpSpPr/>
          <p:nvPr/>
        </p:nvGrpSpPr>
        <p:grpSpPr>
          <a:xfrm>
            <a:off x="1313180" y="2730500"/>
            <a:ext cx="5863590" cy="1759585"/>
            <a:chOff x="1190021" y="2312330"/>
            <a:chExt cx="5664751" cy="1665544"/>
          </a:xfrm>
        </p:grpSpPr>
        <mc:AlternateContent xmlns:mc="http://schemas.openxmlformats.org/markup-compatibility/2006" xmlns:a14="http://schemas.microsoft.com/office/drawing/2010/main">
          <mc:Choice Requires="a14">
            <p:sp>
              <p:nvSpPr>
                <p:cNvPr id="3" name="矩形 2">
                  <a:extLst/>
                </p:cNvPr>
                <p:cNvSpPr/>
                <p:nvPr/>
              </p:nvSpPr>
              <p:spPr>
                <a:xfrm>
                  <a:off x="2735190" y="2312330"/>
                  <a:ext cx="3401059" cy="6995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0</m:t>
                            </m:r>
                          </m:sub>
                        </m:sSub>
                        <m:r>
                          <a:rPr lang="en-US" altLang="zh-CN" i="1">
                            <a:latin typeface="Cambria Math" panose="02040503050406030204" pitchFamily="18" charset="0"/>
                          </a:rPr>
                          <m:t>+ </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r>
                          <a:rPr lang="en-US" altLang="zh-CN" i="1">
                            <a:latin typeface="Cambria Math" panose="02040503050406030204" pitchFamily="18" charset="0"/>
                          </a:rPr>
                          <m:t>+ </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r>
                              <a:rPr lang="en-US" altLang="zh-CN" i="1">
                                <a:latin typeface="Cambria Math" panose="02040503050406030204" pitchFamily="18" charset="0"/>
                              </a:rPr>
                              <m:t>−1</m:t>
                            </m:r>
                          </m:sup>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sup>
                              <m:e>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𝒗</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𝑇</m:t>
                                    </m:r>
                                  </m:sup>
                                </m:sSubSup>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0" i="1" smtClean="0">
                                        <a:latin typeface="Cambria Math" panose="02040503050406030204" pitchFamily="18" charset="0"/>
                                      </a:rPr>
                                      <m:t>𝑗</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m:t>
                                    </m:r>
                                  </m:sub>
                                </m:sSub>
                              </m:e>
                            </m:nary>
                          </m:e>
                        </m:nary>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735190" y="2312330"/>
                  <a:ext cx="3401059" cy="699550"/>
                </a:xfrm>
                <a:prstGeom prst="rect">
                  <a:avLst/>
                </a:prstGeom>
                <a:blipFill rotWithShape="1">
                  <a:blip r:embed="rId5"/>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3" name="矩形 22">
                  <a:extLst/>
                </p:cNvPr>
                <p:cNvSpPr/>
                <p:nvPr/>
              </p:nvSpPr>
              <p:spPr>
                <a:xfrm>
                  <a:off x="2289227" y="3277298"/>
                  <a:ext cx="4565545" cy="7005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0</m:t>
                            </m:r>
                          </m:sub>
                        </m:sSub>
                        <m:r>
                          <a:rPr lang="en-US" altLang="zh-CN" i="1">
                            <a:latin typeface="Cambria Math" panose="02040503050406030204" pitchFamily="18" charset="0"/>
                          </a:rPr>
                          <m:t>+ </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𝑛</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e>
                        </m:nary>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𝑙</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𝑘</m:t>
                            </m:r>
                          </m:sup>
                          <m:e>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𝑖𝑙</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e>
                                    </m:nary>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 </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𝑖𝑙</m:t>
                                    </m:r>
                                  </m:sub>
                                  <m:sup>
                                    <m:r>
                                      <a:rPr lang="en-US" altLang="zh-CN" b="0" i="1" smtClean="0">
                                        <a:latin typeface="Cambria Math" panose="02040503050406030204" pitchFamily="18" charset="0"/>
                                      </a:rPr>
                                      <m:t>2</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2</m:t>
                                    </m:r>
                                  </m:sup>
                                </m:sSubSup>
                              </m:e>
                            </m:nary>
                            <m:r>
                              <a:rPr lang="en-US" altLang="zh-CN" b="0" i="1" smtClean="0">
                                <a:latin typeface="Cambria Math" panose="02040503050406030204" pitchFamily="18" charset="0"/>
                              </a:rPr>
                              <m:t>]</m:t>
                            </m:r>
                          </m:e>
                        </m:nary>
                      </m:oMath>
                    </m:oMathPara>
                  </a14:m>
                  <a:endParaRPr lang="zh-CN"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2289227" y="3277298"/>
                  <a:ext cx="4565545" cy="700576"/>
                </a:xfrm>
                <a:prstGeom prst="rect">
                  <a:avLst/>
                </a:prstGeom>
                <a:blipFill rotWithShape="1">
                  <a:blip r:embed="rId6"/>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8" name="文本框 7">
                  <a:extLst/>
                </p:cNvPr>
                <p:cNvSpPr txBox="1"/>
                <p:nvPr/>
              </p:nvSpPr>
              <p:spPr>
                <a:xfrm>
                  <a:off x="1190021" y="2571750"/>
                  <a:ext cx="588494"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1190021" y="2571750"/>
                  <a:ext cx="588494" cy="207749"/>
                </a:xfrm>
                <a:prstGeom prst="rect">
                  <a:avLst/>
                </a:prstGeom>
                <a:blipFill rotWithShape="1">
                  <a:blip r:embed="rId7"/>
                  <a:stretch>
                    <a:fillRect l="-6186" r="-10309" b="-35294"/>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4" name="文本框 23">
                  <a:extLst/>
                </p:cNvPr>
                <p:cNvSpPr txBox="1"/>
                <p:nvPr/>
              </p:nvSpPr>
              <p:spPr>
                <a:xfrm>
                  <a:off x="1190021" y="3523711"/>
                  <a:ext cx="502510"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𝑘𝑛</m:t>
                        </m:r>
                        <m:r>
                          <a:rPr lang="en-US" altLang="zh-CN" b="0" i="1" smtClean="0">
                            <a:latin typeface="Cambria Math" panose="02040503050406030204" pitchFamily="18" charset="0"/>
                          </a:rPr>
                          <m:t>)</m:t>
                        </m:r>
                      </m:oMath>
                    </m:oMathPara>
                  </a14:m>
                  <a:endParaRPr lang="zh-CN" altLang="en-US" dirty="0"/>
                </a:p>
              </p:txBody>
            </p:sp>
          </mc:Choice>
          <mc:Fallback xmlns="">
            <p:sp>
              <p:nvSpPr>
                <p:cNvPr id="24" name="文本框 23"/>
                <p:cNvSpPr txBox="1">
                  <a:spLocks noRot="1" noChangeAspect="1" noMove="1" noResize="1" noEditPoints="1" noAdjustHandles="1" noChangeArrowheads="1" noChangeShapeType="1" noTextEdit="1"/>
                </p:cNvSpPr>
                <p:nvPr/>
              </p:nvSpPr>
              <p:spPr>
                <a:xfrm>
                  <a:off x="1190021" y="3523711"/>
                  <a:ext cx="502510" cy="207749"/>
                </a:xfrm>
                <a:prstGeom prst="rect">
                  <a:avLst/>
                </a:prstGeom>
                <a:blipFill rotWithShape="1">
                  <a:blip r:embed="rId8"/>
                  <a:stretch>
                    <a:fillRect l="-8434" t="-2941" r="-12048" b="-35294"/>
                  </a:stretch>
                </a:blipFill>
              </p:spPr>
              <p:txBody>
                <a:bodyPr/>
                <a:lstStyle/>
                <a:p>
                  <a:r>
                    <a:rPr lang="zh-CN" altLang="en-US">
                      <a:noFill/>
                    </a:rPr>
                    <a:t> </a:t>
                  </a:r>
                  <a:endParaRPr lang="zh-CN" altLang="en-US">
                    <a:noFill/>
                  </a:endParaRPr>
                </a:p>
              </p:txBody>
            </p:sp>
          </mc:Fallback>
        </mc:AlternateContent>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Rectangle 75"/>
          <p:cNvSpPr/>
          <p:nvPr/>
        </p:nvSpPr>
        <p:spPr>
          <a:xfrm>
            <a:off x="7037480" y="1724053"/>
            <a:ext cx="2628502" cy="2003214"/>
          </a:xfrm>
          <a:prstGeom prst="rect">
            <a:avLst/>
          </a:prstGeom>
          <a:gradFill flip="none" rotWithShape="1">
            <a:gsLst>
              <a:gs pos="0">
                <a:srgbClr val="1C9494">
                  <a:lumMod val="0"/>
                  <a:lumOff val="100000"/>
                </a:srgbClr>
              </a:gs>
              <a:gs pos="35000">
                <a:srgbClr val="FAC14D">
                  <a:lumMod val="20000"/>
                  <a:lumOff val="80000"/>
                </a:srgbClr>
              </a:gs>
              <a:gs pos="100000">
                <a:srgbClr val="FAC14D"/>
              </a:gs>
            </a:gsLst>
            <a:lin ang="16200000" scaled="1"/>
            <a:tileRect/>
          </a:gra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id-ID"/>
          </a:p>
        </p:txBody>
      </p:sp>
      <p:sp>
        <p:nvSpPr>
          <p:cNvPr id="5" name="Rectangle 74"/>
          <p:cNvSpPr/>
          <p:nvPr/>
        </p:nvSpPr>
        <p:spPr>
          <a:xfrm>
            <a:off x="4422962" y="2771151"/>
            <a:ext cx="2628502" cy="2003214"/>
          </a:xfrm>
          <a:prstGeom prst="rect">
            <a:avLst/>
          </a:prstGeom>
          <a:gradFill flip="none" rotWithShape="1">
            <a:gsLst>
              <a:gs pos="0">
                <a:srgbClr val="1C9494">
                  <a:lumMod val="0"/>
                  <a:lumOff val="100000"/>
                </a:srgbClr>
              </a:gs>
              <a:gs pos="35000">
                <a:srgbClr val="7CB554">
                  <a:lumMod val="20000"/>
                  <a:lumOff val="80000"/>
                </a:srgbClr>
              </a:gs>
              <a:gs pos="100000">
                <a:srgbClr val="7CB554"/>
              </a:gs>
            </a:gsLst>
            <a:lin ang="16200000" scaled="1"/>
            <a:tileRect/>
          </a:gra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id-ID"/>
          </a:p>
        </p:txBody>
      </p:sp>
      <p:sp>
        <p:nvSpPr>
          <p:cNvPr id="7" name="Rectangle 73"/>
          <p:cNvSpPr/>
          <p:nvPr/>
        </p:nvSpPr>
        <p:spPr>
          <a:xfrm>
            <a:off x="1871479" y="3687438"/>
            <a:ext cx="2572309" cy="1453618"/>
          </a:xfrm>
          <a:prstGeom prst="rect">
            <a:avLst/>
          </a:prstGeom>
          <a:gradFill flip="none" rotWithShape="1">
            <a:gsLst>
              <a:gs pos="0">
                <a:srgbClr val="1C9494">
                  <a:lumMod val="0"/>
                  <a:lumOff val="100000"/>
                </a:srgbClr>
              </a:gs>
              <a:gs pos="35000">
                <a:srgbClr val="1C9494">
                  <a:lumMod val="20000"/>
                  <a:lumOff val="80000"/>
                </a:srgbClr>
              </a:gs>
              <a:gs pos="100000">
                <a:srgbClr val="1C9494">
                  <a:lumMod val="100000"/>
                </a:srgbClr>
              </a:gs>
            </a:gsLst>
            <a:lin ang="16200000" scaled="1"/>
            <a:tileRect/>
          </a:gra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id-ID"/>
          </a:p>
        </p:txBody>
      </p:sp>
      <p:grpSp>
        <p:nvGrpSpPr>
          <p:cNvPr id="8" name="Group 9"/>
          <p:cNvGrpSpPr/>
          <p:nvPr/>
        </p:nvGrpSpPr>
        <p:grpSpPr>
          <a:xfrm>
            <a:off x="929641" y="3307539"/>
            <a:ext cx="3521682" cy="1833517"/>
            <a:chOff x="1741171" y="5032199"/>
            <a:chExt cx="3521682" cy="1833517"/>
          </a:xfrm>
        </p:grpSpPr>
        <p:sp>
          <p:nvSpPr>
            <p:cNvPr id="9" name="Round Single Corner Rectangle 10"/>
            <p:cNvSpPr/>
            <p:nvPr/>
          </p:nvSpPr>
          <p:spPr>
            <a:xfrm flipV="1">
              <a:off x="4349143" y="5037343"/>
              <a:ext cx="913710" cy="911140"/>
            </a:xfrm>
            <a:prstGeom prst="round1Rect">
              <a:avLst>
                <a:gd name="adj" fmla="val 50000"/>
              </a:avLst>
            </a:prstGeom>
            <a:solidFill>
              <a:srgbClr val="1C949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23" name="Round Single Corner Rectangle 11"/>
            <p:cNvSpPr/>
            <p:nvPr/>
          </p:nvSpPr>
          <p:spPr>
            <a:xfrm flipH="1">
              <a:off x="1741172" y="5032199"/>
              <a:ext cx="949686" cy="913713"/>
            </a:xfrm>
            <a:prstGeom prst="round1Rect">
              <a:avLst>
                <a:gd name="adj" fmla="val 50000"/>
              </a:avLst>
            </a:prstGeom>
            <a:solidFill>
              <a:srgbClr val="1C949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24" name="Rectangle 12"/>
            <p:cNvSpPr/>
            <p:nvPr/>
          </p:nvSpPr>
          <p:spPr>
            <a:xfrm rot="5400000">
              <a:off x="1751381" y="5934080"/>
              <a:ext cx="921426" cy="941845"/>
            </a:xfrm>
            <a:prstGeom prst="rect">
              <a:avLst/>
            </a:prstGeom>
            <a:solidFill>
              <a:srgbClr val="1C949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25" name="Rectangle 13"/>
            <p:cNvSpPr/>
            <p:nvPr/>
          </p:nvSpPr>
          <p:spPr>
            <a:xfrm rot="5400000">
              <a:off x="3070516" y="4657687"/>
              <a:ext cx="913710" cy="1673027"/>
            </a:xfrm>
            <a:prstGeom prst="rect">
              <a:avLst/>
            </a:prstGeom>
            <a:solidFill>
              <a:srgbClr val="1C949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grpSp>
        <p:nvGrpSpPr>
          <p:cNvPr id="35" name="Group 14"/>
          <p:cNvGrpSpPr/>
          <p:nvPr/>
        </p:nvGrpSpPr>
        <p:grpSpPr>
          <a:xfrm>
            <a:off x="3537613" y="2393830"/>
            <a:ext cx="3513851" cy="916281"/>
            <a:chOff x="4349143" y="4118490"/>
            <a:chExt cx="3513851" cy="916281"/>
          </a:xfrm>
        </p:grpSpPr>
        <p:sp>
          <p:nvSpPr>
            <p:cNvPr id="36" name="Round Single Corner Rectangle 15"/>
            <p:cNvSpPr/>
            <p:nvPr/>
          </p:nvSpPr>
          <p:spPr>
            <a:xfrm flipH="1">
              <a:off x="4349143" y="4126204"/>
              <a:ext cx="913710" cy="908567"/>
            </a:xfrm>
            <a:prstGeom prst="round1Rect">
              <a:avLst>
                <a:gd name="adj" fmla="val 50000"/>
              </a:avLst>
            </a:prstGeom>
            <a:solidFill>
              <a:srgbClr val="7CB55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37" name="Round Single Corner Rectangle 16"/>
            <p:cNvSpPr/>
            <p:nvPr/>
          </p:nvSpPr>
          <p:spPr>
            <a:xfrm flipV="1">
              <a:off x="6949284" y="4121059"/>
              <a:ext cx="913710" cy="911140"/>
            </a:xfrm>
            <a:prstGeom prst="round1Rect">
              <a:avLst>
                <a:gd name="adj" fmla="val 50000"/>
              </a:avLst>
            </a:prstGeom>
            <a:solidFill>
              <a:srgbClr val="7CB55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44" name="Rectangle 17"/>
            <p:cNvSpPr/>
            <p:nvPr/>
          </p:nvSpPr>
          <p:spPr>
            <a:xfrm rot="5400000">
              <a:off x="5653585" y="3727757"/>
              <a:ext cx="913710" cy="1695175"/>
            </a:xfrm>
            <a:prstGeom prst="rect">
              <a:avLst/>
            </a:prstGeom>
            <a:solidFill>
              <a:srgbClr val="7CB554"/>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grpSp>
        <p:nvGrpSpPr>
          <p:cNvPr id="45" name="Group 18"/>
          <p:cNvGrpSpPr/>
          <p:nvPr/>
        </p:nvGrpSpPr>
        <p:grpSpPr>
          <a:xfrm>
            <a:off x="6158871" y="1477625"/>
            <a:ext cx="3507111" cy="918773"/>
            <a:chOff x="6970401" y="3202285"/>
            <a:chExt cx="3507111" cy="918773"/>
          </a:xfrm>
        </p:grpSpPr>
        <p:sp>
          <p:nvSpPr>
            <p:cNvPr id="67" name="Round Single Corner Rectangle 19"/>
            <p:cNvSpPr/>
            <p:nvPr/>
          </p:nvSpPr>
          <p:spPr>
            <a:xfrm flipH="1">
              <a:off x="6970401" y="3212491"/>
              <a:ext cx="913710" cy="908567"/>
            </a:xfrm>
            <a:prstGeom prst="round1Rect">
              <a:avLst>
                <a:gd name="adj" fmla="val 50000"/>
              </a:avLst>
            </a:prstGeom>
            <a:solidFill>
              <a:srgbClr val="FAC14D"/>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68" name="Round Single Corner Rectangle 20"/>
            <p:cNvSpPr/>
            <p:nvPr/>
          </p:nvSpPr>
          <p:spPr>
            <a:xfrm flipV="1">
              <a:off x="9563802" y="3209918"/>
              <a:ext cx="913710" cy="911140"/>
            </a:xfrm>
            <a:prstGeom prst="round1Rect">
              <a:avLst>
                <a:gd name="adj" fmla="val 50000"/>
              </a:avLst>
            </a:prstGeom>
            <a:solidFill>
              <a:srgbClr val="FAC14D"/>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69" name="Rectangle 21"/>
            <p:cNvSpPr/>
            <p:nvPr/>
          </p:nvSpPr>
          <p:spPr>
            <a:xfrm rot="5400000">
              <a:off x="8274844" y="2811552"/>
              <a:ext cx="913710" cy="1695175"/>
            </a:xfrm>
            <a:prstGeom prst="rect">
              <a:avLst/>
            </a:prstGeom>
            <a:solidFill>
              <a:srgbClr val="FAC14D"/>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grpSp>
        <p:nvGrpSpPr>
          <p:cNvPr id="82" name="Group 37"/>
          <p:cNvGrpSpPr>
            <a:grpSpLocks noChangeAspect="1"/>
          </p:cNvGrpSpPr>
          <p:nvPr/>
        </p:nvGrpSpPr>
        <p:grpSpPr>
          <a:xfrm>
            <a:off x="-2546" y="4166368"/>
            <a:ext cx="925326" cy="896290"/>
            <a:chOff x="2053710" y="1590342"/>
            <a:chExt cx="345538" cy="334695"/>
          </a:xfrm>
          <a:solidFill>
            <a:srgbClr val="202F3D"/>
          </a:solidFill>
          <a:effectLst>
            <a:outerShdw blurRad="76200" dir="18900000" sy="23000" kx="-1200000" algn="bl" rotWithShape="0">
              <a:prstClr val="black">
                <a:alpha val="20000"/>
              </a:prstClr>
            </a:outerShdw>
          </a:effectLst>
        </p:grpSpPr>
        <p:sp>
          <p:nvSpPr>
            <p:cNvPr id="83" name="Oval 204"/>
            <p:cNvSpPr>
              <a:spLocks noChangeArrowheads="1"/>
            </p:cNvSpPr>
            <p:nvPr/>
          </p:nvSpPr>
          <p:spPr bwMode="auto">
            <a:xfrm>
              <a:off x="2243829" y="1590342"/>
              <a:ext cx="71566" cy="715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p>
          </p:txBody>
        </p:sp>
        <p:sp>
          <p:nvSpPr>
            <p:cNvPr id="84" name="Freeform 205"/>
            <p:cNvSpPr/>
            <p:nvPr/>
          </p:nvSpPr>
          <p:spPr bwMode="auto">
            <a:xfrm>
              <a:off x="2053710" y="1656847"/>
              <a:ext cx="345538" cy="268190"/>
            </a:xfrm>
            <a:custGeom>
              <a:avLst/>
              <a:gdLst>
                <a:gd name="T0" fmla="*/ 383 w 478"/>
                <a:gd name="T1" fmla="*/ 76 h 371"/>
                <a:gd name="T2" fmla="*/ 331 w 478"/>
                <a:gd name="T3" fmla="*/ 35 h 371"/>
                <a:gd name="T4" fmla="*/ 242 w 478"/>
                <a:gd name="T5" fmla="*/ 0 h 371"/>
                <a:gd name="T6" fmla="*/ 133 w 478"/>
                <a:gd name="T7" fmla="*/ 0 h 371"/>
                <a:gd name="T8" fmla="*/ 78 w 478"/>
                <a:gd name="T9" fmla="*/ 118 h 371"/>
                <a:gd name="T10" fmla="*/ 64 w 478"/>
                <a:gd name="T11" fmla="*/ 114 h 371"/>
                <a:gd name="T12" fmla="*/ 59 w 478"/>
                <a:gd name="T13" fmla="*/ 128 h 371"/>
                <a:gd name="T14" fmla="*/ 57 w 478"/>
                <a:gd name="T15" fmla="*/ 132 h 371"/>
                <a:gd name="T16" fmla="*/ 55 w 478"/>
                <a:gd name="T17" fmla="*/ 137 h 371"/>
                <a:gd name="T18" fmla="*/ 38 w 478"/>
                <a:gd name="T19" fmla="*/ 130 h 371"/>
                <a:gd name="T20" fmla="*/ 0 w 478"/>
                <a:gd name="T21" fmla="*/ 220 h 371"/>
                <a:gd name="T22" fmla="*/ 90 w 478"/>
                <a:gd name="T23" fmla="*/ 258 h 371"/>
                <a:gd name="T24" fmla="*/ 97 w 478"/>
                <a:gd name="T25" fmla="*/ 260 h 371"/>
                <a:gd name="T26" fmla="*/ 97 w 478"/>
                <a:gd name="T27" fmla="*/ 258 h 371"/>
                <a:gd name="T28" fmla="*/ 135 w 478"/>
                <a:gd name="T29" fmla="*/ 170 h 371"/>
                <a:gd name="T30" fmla="*/ 119 w 478"/>
                <a:gd name="T31" fmla="*/ 163 h 371"/>
                <a:gd name="T32" fmla="*/ 121 w 478"/>
                <a:gd name="T33" fmla="*/ 159 h 371"/>
                <a:gd name="T34" fmla="*/ 123 w 478"/>
                <a:gd name="T35" fmla="*/ 154 h 371"/>
                <a:gd name="T36" fmla="*/ 128 w 478"/>
                <a:gd name="T37" fmla="*/ 140 h 371"/>
                <a:gd name="T38" fmla="*/ 114 w 478"/>
                <a:gd name="T39" fmla="*/ 135 h 371"/>
                <a:gd name="T40" fmla="*/ 156 w 478"/>
                <a:gd name="T41" fmla="*/ 38 h 371"/>
                <a:gd name="T42" fmla="*/ 227 w 478"/>
                <a:gd name="T43" fmla="*/ 38 h 371"/>
                <a:gd name="T44" fmla="*/ 178 w 478"/>
                <a:gd name="T45" fmla="*/ 175 h 371"/>
                <a:gd name="T46" fmla="*/ 166 w 478"/>
                <a:gd name="T47" fmla="*/ 251 h 371"/>
                <a:gd name="T48" fmla="*/ 145 w 478"/>
                <a:gd name="T49" fmla="*/ 253 h 371"/>
                <a:gd name="T50" fmla="*/ 135 w 478"/>
                <a:gd name="T51" fmla="*/ 277 h 371"/>
                <a:gd name="T52" fmla="*/ 130 w 478"/>
                <a:gd name="T53" fmla="*/ 286 h 371"/>
                <a:gd name="T54" fmla="*/ 121 w 478"/>
                <a:gd name="T55" fmla="*/ 282 h 371"/>
                <a:gd name="T56" fmla="*/ 64 w 478"/>
                <a:gd name="T57" fmla="*/ 260 h 371"/>
                <a:gd name="T58" fmla="*/ 57 w 478"/>
                <a:gd name="T59" fmla="*/ 260 h 371"/>
                <a:gd name="T60" fmla="*/ 59 w 478"/>
                <a:gd name="T61" fmla="*/ 310 h 371"/>
                <a:gd name="T62" fmla="*/ 208 w 478"/>
                <a:gd name="T63" fmla="*/ 298 h 371"/>
                <a:gd name="T64" fmla="*/ 225 w 478"/>
                <a:gd name="T65" fmla="*/ 208 h 371"/>
                <a:gd name="T66" fmla="*/ 227 w 478"/>
                <a:gd name="T67" fmla="*/ 211 h 371"/>
                <a:gd name="T68" fmla="*/ 286 w 478"/>
                <a:gd name="T69" fmla="*/ 253 h 371"/>
                <a:gd name="T70" fmla="*/ 291 w 478"/>
                <a:gd name="T71" fmla="*/ 371 h 371"/>
                <a:gd name="T72" fmla="*/ 341 w 478"/>
                <a:gd name="T73" fmla="*/ 369 h 371"/>
                <a:gd name="T74" fmla="*/ 334 w 478"/>
                <a:gd name="T75" fmla="*/ 227 h 371"/>
                <a:gd name="T76" fmla="*/ 263 w 478"/>
                <a:gd name="T77" fmla="*/ 175 h 371"/>
                <a:gd name="T78" fmla="*/ 315 w 478"/>
                <a:gd name="T79" fmla="*/ 69 h 371"/>
                <a:gd name="T80" fmla="*/ 383 w 478"/>
                <a:gd name="T81" fmla="*/ 123 h 371"/>
                <a:gd name="T82" fmla="*/ 478 w 478"/>
                <a:gd name="T83" fmla="*/ 43 h 371"/>
                <a:gd name="T84" fmla="*/ 454 w 478"/>
                <a:gd name="T85" fmla="*/ 14 h 371"/>
                <a:gd name="T86" fmla="*/ 383 w 478"/>
                <a:gd name="T87" fmla="*/ 76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8" h="371">
                  <a:moveTo>
                    <a:pt x="383" y="76"/>
                  </a:moveTo>
                  <a:lnTo>
                    <a:pt x="331" y="35"/>
                  </a:lnTo>
                  <a:lnTo>
                    <a:pt x="242" y="0"/>
                  </a:lnTo>
                  <a:lnTo>
                    <a:pt x="133" y="0"/>
                  </a:lnTo>
                  <a:lnTo>
                    <a:pt x="78" y="118"/>
                  </a:lnTo>
                  <a:lnTo>
                    <a:pt x="64" y="114"/>
                  </a:lnTo>
                  <a:lnTo>
                    <a:pt x="59" y="128"/>
                  </a:lnTo>
                  <a:lnTo>
                    <a:pt x="57" y="132"/>
                  </a:lnTo>
                  <a:lnTo>
                    <a:pt x="55" y="137"/>
                  </a:lnTo>
                  <a:lnTo>
                    <a:pt x="38" y="130"/>
                  </a:lnTo>
                  <a:lnTo>
                    <a:pt x="0" y="220"/>
                  </a:lnTo>
                  <a:lnTo>
                    <a:pt x="90" y="258"/>
                  </a:lnTo>
                  <a:lnTo>
                    <a:pt x="97" y="260"/>
                  </a:lnTo>
                  <a:lnTo>
                    <a:pt x="97" y="258"/>
                  </a:lnTo>
                  <a:lnTo>
                    <a:pt x="135" y="170"/>
                  </a:lnTo>
                  <a:lnTo>
                    <a:pt x="119" y="163"/>
                  </a:lnTo>
                  <a:lnTo>
                    <a:pt x="121" y="159"/>
                  </a:lnTo>
                  <a:lnTo>
                    <a:pt x="123" y="154"/>
                  </a:lnTo>
                  <a:lnTo>
                    <a:pt x="128" y="140"/>
                  </a:lnTo>
                  <a:lnTo>
                    <a:pt x="114" y="135"/>
                  </a:lnTo>
                  <a:lnTo>
                    <a:pt x="156" y="38"/>
                  </a:lnTo>
                  <a:lnTo>
                    <a:pt x="227" y="38"/>
                  </a:lnTo>
                  <a:lnTo>
                    <a:pt x="178" y="175"/>
                  </a:lnTo>
                  <a:lnTo>
                    <a:pt x="166" y="251"/>
                  </a:lnTo>
                  <a:lnTo>
                    <a:pt x="145" y="253"/>
                  </a:lnTo>
                  <a:lnTo>
                    <a:pt x="135" y="277"/>
                  </a:lnTo>
                  <a:lnTo>
                    <a:pt x="130" y="286"/>
                  </a:lnTo>
                  <a:lnTo>
                    <a:pt x="121" y="282"/>
                  </a:lnTo>
                  <a:lnTo>
                    <a:pt x="64" y="260"/>
                  </a:lnTo>
                  <a:lnTo>
                    <a:pt x="57" y="260"/>
                  </a:lnTo>
                  <a:lnTo>
                    <a:pt x="59" y="310"/>
                  </a:lnTo>
                  <a:lnTo>
                    <a:pt x="208" y="298"/>
                  </a:lnTo>
                  <a:lnTo>
                    <a:pt x="225" y="208"/>
                  </a:lnTo>
                  <a:lnTo>
                    <a:pt x="227" y="211"/>
                  </a:lnTo>
                  <a:lnTo>
                    <a:pt x="286" y="253"/>
                  </a:lnTo>
                  <a:lnTo>
                    <a:pt x="291" y="371"/>
                  </a:lnTo>
                  <a:lnTo>
                    <a:pt x="341" y="369"/>
                  </a:lnTo>
                  <a:lnTo>
                    <a:pt x="334" y="227"/>
                  </a:lnTo>
                  <a:lnTo>
                    <a:pt x="263" y="175"/>
                  </a:lnTo>
                  <a:lnTo>
                    <a:pt x="315" y="69"/>
                  </a:lnTo>
                  <a:lnTo>
                    <a:pt x="383" y="123"/>
                  </a:lnTo>
                  <a:lnTo>
                    <a:pt x="478" y="43"/>
                  </a:lnTo>
                  <a:lnTo>
                    <a:pt x="454" y="14"/>
                  </a:lnTo>
                  <a:lnTo>
                    <a:pt x="383" y="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p>
          </p:txBody>
        </p:sp>
      </p:grpSp>
      <p:grpSp>
        <p:nvGrpSpPr>
          <p:cNvPr id="88" name="Group 45"/>
          <p:cNvGrpSpPr/>
          <p:nvPr/>
        </p:nvGrpSpPr>
        <p:grpSpPr>
          <a:xfrm>
            <a:off x="1871481" y="3186073"/>
            <a:ext cx="850209" cy="1033862"/>
            <a:chOff x="2683010" y="4910733"/>
            <a:chExt cx="850209" cy="1033862"/>
          </a:xfrm>
        </p:grpSpPr>
        <p:grpSp>
          <p:nvGrpSpPr>
            <p:cNvPr id="89" name="Group 46"/>
            <p:cNvGrpSpPr/>
            <p:nvPr/>
          </p:nvGrpSpPr>
          <p:grpSpPr>
            <a:xfrm rot="16200000">
              <a:off x="2591183" y="5002559"/>
              <a:ext cx="1033862" cy="850209"/>
              <a:chOff x="917661" y="2671968"/>
              <a:chExt cx="1033862" cy="850209"/>
            </a:xfrm>
            <a:solidFill>
              <a:srgbClr val="202F3D">
                <a:lumMod val="50000"/>
              </a:srgbClr>
            </a:solidFill>
          </p:grpSpPr>
          <p:sp>
            <p:nvSpPr>
              <p:cNvPr id="90" name="Rectangle 50"/>
              <p:cNvSpPr/>
              <p:nvPr/>
            </p:nvSpPr>
            <p:spPr>
              <a:xfrm>
                <a:off x="917661" y="2671968"/>
                <a:ext cx="913710" cy="850209"/>
              </a:xfrm>
              <a:prstGeom prst="rect">
                <a:avLst/>
              </a:prstGeom>
              <a:solidFill>
                <a:srgbClr val="1C9494">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91" name="Isosceles Triangle 51"/>
              <p:cNvSpPr/>
              <p:nvPr/>
            </p:nvSpPr>
            <p:spPr>
              <a:xfrm rot="5400000">
                <a:off x="1785948" y="3035711"/>
                <a:ext cx="208428" cy="122723"/>
              </a:xfrm>
              <a:prstGeom prst="triangle">
                <a:avLst/>
              </a:prstGeom>
              <a:solidFill>
                <a:srgbClr val="1C9494">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sp>
          <p:nvSpPr>
            <p:cNvPr id="93" name="Freeform 16"/>
            <p:cNvSpPr>
              <a:spLocks noEditPoints="1"/>
            </p:cNvSpPr>
            <p:nvPr/>
          </p:nvSpPr>
          <p:spPr bwMode="auto">
            <a:xfrm>
              <a:off x="2942859" y="5246138"/>
              <a:ext cx="325709" cy="326475"/>
            </a:xfrm>
            <a:custGeom>
              <a:avLst/>
              <a:gdLst>
                <a:gd name="T0" fmla="*/ 136 w 360"/>
                <a:gd name="T1" fmla="*/ 226 h 361"/>
                <a:gd name="T2" fmla="*/ 56 w 360"/>
                <a:gd name="T3" fmla="*/ 194 h 361"/>
                <a:gd name="T4" fmla="*/ 56 w 360"/>
                <a:gd name="T5" fmla="*/ 221 h 361"/>
                <a:gd name="T6" fmla="*/ 136 w 360"/>
                <a:gd name="T7" fmla="*/ 253 h 361"/>
                <a:gd name="T8" fmla="*/ 136 w 360"/>
                <a:gd name="T9" fmla="*/ 226 h 361"/>
                <a:gd name="T10" fmla="*/ 136 w 360"/>
                <a:gd name="T11" fmla="*/ 143 h 361"/>
                <a:gd name="T12" fmla="*/ 56 w 360"/>
                <a:gd name="T13" fmla="*/ 111 h 361"/>
                <a:gd name="T14" fmla="*/ 56 w 360"/>
                <a:gd name="T15" fmla="*/ 138 h 361"/>
                <a:gd name="T16" fmla="*/ 136 w 360"/>
                <a:gd name="T17" fmla="*/ 170 h 361"/>
                <a:gd name="T18" fmla="*/ 136 w 360"/>
                <a:gd name="T19" fmla="*/ 143 h 361"/>
                <a:gd name="T20" fmla="*/ 351 w 360"/>
                <a:gd name="T21" fmla="*/ 4 h 361"/>
                <a:gd name="T22" fmla="*/ 332 w 360"/>
                <a:gd name="T23" fmla="*/ 2 h 361"/>
                <a:gd name="T24" fmla="*/ 180 w 360"/>
                <a:gd name="T25" fmla="*/ 63 h 361"/>
                <a:gd name="T26" fmla="*/ 27 w 360"/>
                <a:gd name="T27" fmla="*/ 2 h 361"/>
                <a:gd name="T28" fmla="*/ 8 w 360"/>
                <a:gd name="T29" fmla="*/ 4 h 361"/>
                <a:gd name="T30" fmla="*/ 0 w 360"/>
                <a:gd name="T31" fmla="*/ 21 h 361"/>
                <a:gd name="T32" fmla="*/ 0 w 360"/>
                <a:gd name="T33" fmla="*/ 277 h 361"/>
                <a:gd name="T34" fmla="*/ 12 w 360"/>
                <a:gd name="T35" fmla="*/ 295 h 361"/>
                <a:gd name="T36" fmla="*/ 172 w 360"/>
                <a:gd name="T37" fmla="*/ 359 h 361"/>
                <a:gd name="T38" fmla="*/ 176 w 360"/>
                <a:gd name="T39" fmla="*/ 361 h 361"/>
                <a:gd name="T40" fmla="*/ 180 w 360"/>
                <a:gd name="T41" fmla="*/ 361 h 361"/>
                <a:gd name="T42" fmla="*/ 184 w 360"/>
                <a:gd name="T43" fmla="*/ 361 h 361"/>
                <a:gd name="T44" fmla="*/ 187 w 360"/>
                <a:gd name="T45" fmla="*/ 359 h 361"/>
                <a:gd name="T46" fmla="*/ 347 w 360"/>
                <a:gd name="T47" fmla="*/ 295 h 361"/>
                <a:gd name="T48" fmla="*/ 360 w 360"/>
                <a:gd name="T49" fmla="*/ 277 h 361"/>
                <a:gd name="T50" fmla="*/ 360 w 360"/>
                <a:gd name="T51" fmla="*/ 21 h 361"/>
                <a:gd name="T52" fmla="*/ 351 w 360"/>
                <a:gd name="T53" fmla="*/ 4 h 361"/>
                <a:gd name="T54" fmla="*/ 160 w 360"/>
                <a:gd name="T55" fmla="*/ 320 h 361"/>
                <a:gd name="T56" fmla="*/ 32 w 360"/>
                <a:gd name="T57" fmla="*/ 269 h 361"/>
                <a:gd name="T58" fmla="*/ 32 w 360"/>
                <a:gd name="T59" fmla="*/ 45 h 361"/>
                <a:gd name="T60" fmla="*/ 160 w 360"/>
                <a:gd name="T61" fmla="*/ 96 h 361"/>
                <a:gd name="T62" fmla="*/ 160 w 360"/>
                <a:gd name="T63" fmla="*/ 320 h 361"/>
                <a:gd name="T64" fmla="*/ 328 w 360"/>
                <a:gd name="T65" fmla="*/ 269 h 361"/>
                <a:gd name="T66" fmla="*/ 200 w 360"/>
                <a:gd name="T67" fmla="*/ 320 h 361"/>
                <a:gd name="T68" fmla="*/ 200 w 360"/>
                <a:gd name="T69" fmla="*/ 96 h 361"/>
                <a:gd name="T70" fmla="*/ 328 w 360"/>
                <a:gd name="T71" fmla="*/ 45 h 361"/>
                <a:gd name="T72" fmla="*/ 328 w 360"/>
                <a:gd name="T73" fmla="*/ 269 h 361"/>
                <a:gd name="T74" fmla="*/ 304 w 360"/>
                <a:gd name="T75" fmla="*/ 194 h 361"/>
                <a:gd name="T76" fmla="*/ 224 w 360"/>
                <a:gd name="T77" fmla="*/ 226 h 361"/>
                <a:gd name="T78" fmla="*/ 224 w 360"/>
                <a:gd name="T79" fmla="*/ 253 h 361"/>
                <a:gd name="T80" fmla="*/ 304 w 360"/>
                <a:gd name="T81" fmla="*/ 221 h 361"/>
                <a:gd name="T82" fmla="*/ 304 w 360"/>
                <a:gd name="T83" fmla="*/ 194 h 361"/>
                <a:gd name="T84" fmla="*/ 304 w 360"/>
                <a:gd name="T85" fmla="*/ 111 h 361"/>
                <a:gd name="T86" fmla="*/ 224 w 360"/>
                <a:gd name="T87" fmla="*/ 143 h 361"/>
                <a:gd name="T88" fmla="*/ 224 w 360"/>
                <a:gd name="T89" fmla="*/ 170 h 361"/>
                <a:gd name="T90" fmla="*/ 304 w 360"/>
                <a:gd name="T91" fmla="*/ 138 h 361"/>
                <a:gd name="T92" fmla="*/ 304 w 360"/>
                <a:gd name="T93" fmla="*/ 111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0" h="361">
                  <a:moveTo>
                    <a:pt x="136" y="226"/>
                  </a:moveTo>
                  <a:cubicBezTo>
                    <a:pt x="56" y="194"/>
                    <a:pt x="56" y="194"/>
                    <a:pt x="56" y="194"/>
                  </a:cubicBezTo>
                  <a:cubicBezTo>
                    <a:pt x="56" y="221"/>
                    <a:pt x="56" y="221"/>
                    <a:pt x="56" y="221"/>
                  </a:cubicBezTo>
                  <a:cubicBezTo>
                    <a:pt x="136" y="253"/>
                    <a:pt x="136" y="253"/>
                    <a:pt x="136" y="253"/>
                  </a:cubicBezTo>
                  <a:lnTo>
                    <a:pt x="136" y="226"/>
                  </a:lnTo>
                  <a:close/>
                  <a:moveTo>
                    <a:pt x="136" y="143"/>
                  </a:moveTo>
                  <a:cubicBezTo>
                    <a:pt x="56" y="111"/>
                    <a:pt x="56" y="111"/>
                    <a:pt x="56" y="111"/>
                  </a:cubicBezTo>
                  <a:cubicBezTo>
                    <a:pt x="56" y="138"/>
                    <a:pt x="56" y="138"/>
                    <a:pt x="56" y="138"/>
                  </a:cubicBezTo>
                  <a:cubicBezTo>
                    <a:pt x="136" y="170"/>
                    <a:pt x="136" y="170"/>
                    <a:pt x="136" y="170"/>
                  </a:cubicBezTo>
                  <a:lnTo>
                    <a:pt x="136" y="143"/>
                  </a:lnTo>
                  <a:close/>
                  <a:moveTo>
                    <a:pt x="351" y="4"/>
                  </a:moveTo>
                  <a:cubicBezTo>
                    <a:pt x="345" y="1"/>
                    <a:pt x="338" y="0"/>
                    <a:pt x="332" y="2"/>
                  </a:cubicBezTo>
                  <a:cubicBezTo>
                    <a:pt x="180" y="63"/>
                    <a:pt x="180" y="63"/>
                    <a:pt x="180" y="63"/>
                  </a:cubicBezTo>
                  <a:cubicBezTo>
                    <a:pt x="27" y="2"/>
                    <a:pt x="27" y="2"/>
                    <a:pt x="27" y="2"/>
                  </a:cubicBezTo>
                  <a:cubicBezTo>
                    <a:pt x="21" y="0"/>
                    <a:pt x="14" y="1"/>
                    <a:pt x="8" y="4"/>
                  </a:cubicBezTo>
                  <a:cubicBezTo>
                    <a:pt x="3" y="8"/>
                    <a:pt x="0" y="14"/>
                    <a:pt x="0" y="21"/>
                  </a:cubicBezTo>
                  <a:cubicBezTo>
                    <a:pt x="0" y="277"/>
                    <a:pt x="0" y="277"/>
                    <a:pt x="0" y="277"/>
                  </a:cubicBezTo>
                  <a:cubicBezTo>
                    <a:pt x="0" y="285"/>
                    <a:pt x="5" y="292"/>
                    <a:pt x="12" y="295"/>
                  </a:cubicBezTo>
                  <a:cubicBezTo>
                    <a:pt x="172" y="359"/>
                    <a:pt x="172" y="359"/>
                    <a:pt x="172" y="359"/>
                  </a:cubicBezTo>
                  <a:cubicBezTo>
                    <a:pt x="172" y="359"/>
                    <a:pt x="175" y="360"/>
                    <a:pt x="176" y="361"/>
                  </a:cubicBezTo>
                  <a:cubicBezTo>
                    <a:pt x="177" y="361"/>
                    <a:pt x="178" y="361"/>
                    <a:pt x="180" y="361"/>
                  </a:cubicBezTo>
                  <a:cubicBezTo>
                    <a:pt x="181" y="361"/>
                    <a:pt x="182" y="361"/>
                    <a:pt x="184" y="361"/>
                  </a:cubicBezTo>
                  <a:cubicBezTo>
                    <a:pt x="184" y="360"/>
                    <a:pt x="187" y="359"/>
                    <a:pt x="187" y="359"/>
                  </a:cubicBezTo>
                  <a:cubicBezTo>
                    <a:pt x="347" y="295"/>
                    <a:pt x="347" y="295"/>
                    <a:pt x="347" y="295"/>
                  </a:cubicBezTo>
                  <a:cubicBezTo>
                    <a:pt x="355" y="292"/>
                    <a:pt x="360" y="285"/>
                    <a:pt x="360" y="277"/>
                  </a:cubicBezTo>
                  <a:cubicBezTo>
                    <a:pt x="360" y="21"/>
                    <a:pt x="360" y="21"/>
                    <a:pt x="360" y="21"/>
                  </a:cubicBezTo>
                  <a:cubicBezTo>
                    <a:pt x="360" y="14"/>
                    <a:pt x="356" y="8"/>
                    <a:pt x="351" y="4"/>
                  </a:cubicBezTo>
                  <a:close/>
                  <a:moveTo>
                    <a:pt x="160" y="320"/>
                  </a:moveTo>
                  <a:cubicBezTo>
                    <a:pt x="32" y="269"/>
                    <a:pt x="32" y="269"/>
                    <a:pt x="32" y="269"/>
                  </a:cubicBezTo>
                  <a:cubicBezTo>
                    <a:pt x="32" y="45"/>
                    <a:pt x="32" y="45"/>
                    <a:pt x="32" y="45"/>
                  </a:cubicBezTo>
                  <a:cubicBezTo>
                    <a:pt x="160" y="96"/>
                    <a:pt x="160" y="96"/>
                    <a:pt x="160" y="96"/>
                  </a:cubicBezTo>
                  <a:lnTo>
                    <a:pt x="160" y="320"/>
                  </a:lnTo>
                  <a:close/>
                  <a:moveTo>
                    <a:pt x="328" y="269"/>
                  </a:moveTo>
                  <a:cubicBezTo>
                    <a:pt x="200" y="320"/>
                    <a:pt x="200" y="320"/>
                    <a:pt x="200" y="320"/>
                  </a:cubicBezTo>
                  <a:cubicBezTo>
                    <a:pt x="200" y="96"/>
                    <a:pt x="200" y="96"/>
                    <a:pt x="200" y="96"/>
                  </a:cubicBezTo>
                  <a:cubicBezTo>
                    <a:pt x="328" y="45"/>
                    <a:pt x="328" y="45"/>
                    <a:pt x="328" y="45"/>
                  </a:cubicBezTo>
                  <a:lnTo>
                    <a:pt x="328" y="269"/>
                  </a:lnTo>
                  <a:close/>
                  <a:moveTo>
                    <a:pt x="304" y="194"/>
                  </a:moveTo>
                  <a:cubicBezTo>
                    <a:pt x="224" y="226"/>
                    <a:pt x="224" y="226"/>
                    <a:pt x="224" y="226"/>
                  </a:cubicBezTo>
                  <a:cubicBezTo>
                    <a:pt x="224" y="253"/>
                    <a:pt x="224" y="253"/>
                    <a:pt x="224" y="253"/>
                  </a:cubicBezTo>
                  <a:cubicBezTo>
                    <a:pt x="304" y="221"/>
                    <a:pt x="304" y="221"/>
                    <a:pt x="304" y="221"/>
                  </a:cubicBezTo>
                  <a:lnTo>
                    <a:pt x="304" y="194"/>
                  </a:lnTo>
                  <a:close/>
                  <a:moveTo>
                    <a:pt x="304" y="111"/>
                  </a:moveTo>
                  <a:cubicBezTo>
                    <a:pt x="224" y="143"/>
                    <a:pt x="224" y="143"/>
                    <a:pt x="224" y="143"/>
                  </a:cubicBezTo>
                  <a:cubicBezTo>
                    <a:pt x="224" y="170"/>
                    <a:pt x="224" y="170"/>
                    <a:pt x="224" y="170"/>
                  </a:cubicBezTo>
                  <a:cubicBezTo>
                    <a:pt x="304" y="138"/>
                    <a:pt x="304" y="138"/>
                    <a:pt x="304" y="138"/>
                  </a:cubicBezTo>
                  <a:lnTo>
                    <a:pt x="304" y="111"/>
                  </a:lnTo>
                  <a:close/>
                </a:path>
              </a:pathLst>
            </a:custGeom>
            <a:solidFill>
              <a:sysClr val="window" lastClr="FFFFFF"/>
            </a:solidFill>
            <a:ln>
              <a:noFill/>
            </a:ln>
          </p:spPr>
          <p:txBody>
            <a:bodyPr vert="horz" wrap="square" lIns="91440" tIns="45720" rIns="91440" bIns="45720" numCol="1" anchor="t" anchorCtr="0" compatLnSpc="1"/>
            <a:lstStyle/>
            <a:p>
              <a:endParaRPr lang="en-US" dirty="0"/>
            </a:p>
          </p:txBody>
        </p:sp>
      </p:grpSp>
      <p:grpSp>
        <p:nvGrpSpPr>
          <p:cNvPr id="95" name="Group 52"/>
          <p:cNvGrpSpPr/>
          <p:nvPr/>
        </p:nvGrpSpPr>
        <p:grpSpPr>
          <a:xfrm>
            <a:off x="4443789" y="2274934"/>
            <a:ext cx="850209" cy="1033862"/>
            <a:chOff x="6113450" y="3999594"/>
            <a:chExt cx="850209" cy="1033862"/>
          </a:xfrm>
        </p:grpSpPr>
        <p:grpSp>
          <p:nvGrpSpPr>
            <p:cNvPr id="96" name="Group 53"/>
            <p:cNvGrpSpPr/>
            <p:nvPr/>
          </p:nvGrpSpPr>
          <p:grpSpPr>
            <a:xfrm rot="16200000">
              <a:off x="6021623" y="4091420"/>
              <a:ext cx="1033862" cy="850209"/>
              <a:chOff x="917661" y="2671968"/>
              <a:chExt cx="1033862" cy="850209"/>
            </a:xfrm>
            <a:solidFill>
              <a:srgbClr val="002672">
                <a:lumMod val="50000"/>
              </a:srgbClr>
            </a:solidFill>
          </p:grpSpPr>
          <p:sp>
            <p:nvSpPr>
              <p:cNvPr id="97" name="Rectangle 57"/>
              <p:cNvSpPr/>
              <p:nvPr/>
            </p:nvSpPr>
            <p:spPr>
              <a:xfrm>
                <a:off x="917661" y="2671968"/>
                <a:ext cx="913710" cy="850209"/>
              </a:xfrm>
              <a:prstGeom prst="rect">
                <a:avLst/>
              </a:prstGeom>
              <a:solidFill>
                <a:srgbClr val="7CB554">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98" name="Isosceles Triangle 58"/>
              <p:cNvSpPr/>
              <p:nvPr/>
            </p:nvSpPr>
            <p:spPr>
              <a:xfrm rot="5400000">
                <a:off x="1785948" y="3035711"/>
                <a:ext cx="208428" cy="122723"/>
              </a:xfrm>
              <a:prstGeom prst="triangle">
                <a:avLst/>
              </a:prstGeom>
              <a:solidFill>
                <a:srgbClr val="7CB554">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sp>
          <p:nvSpPr>
            <p:cNvPr id="101" name="Freeform 36"/>
            <p:cNvSpPr>
              <a:spLocks noEditPoints="1"/>
            </p:cNvSpPr>
            <p:nvPr/>
          </p:nvSpPr>
          <p:spPr bwMode="auto">
            <a:xfrm>
              <a:off x="6284500" y="4352378"/>
              <a:ext cx="475926" cy="266700"/>
            </a:xfrm>
            <a:custGeom>
              <a:avLst/>
              <a:gdLst>
                <a:gd name="T0" fmla="*/ 200 w 400"/>
                <a:gd name="T1" fmla="*/ 0 h 224"/>
                <a:gd name="T2" fmla="*/ 0 w 400"/>
                <a:gd name="T3" fmla="*/ 112 h 224"/>
                <a:gd name="T4" fmla="*/ 200 w 400"/>
                <a:gd name="T5" fmla="*/ 224 h 224"/>
                <a:gd name="T6" fmla="*/ 400 w 400"/>
                <a:gd name="T7" fmla="*/ 112 h 224"/>
                <a:gd name="T8" fmla="*/ 200 w 400"/>
                <a:gd name="T9" fmla="*/ 0 h 224"/>
                <a:gd name="T10" fmla="*/ 200 w 400"/>
                <a:gd name="T11" fmla="*/ 198 h 224"/>
                <a:gd name="T12" fmla="*/ 111 w 400"/>
                <a:gd name="T13" fmla="*/ 112 h 224"/>
                <a:gd name="T14" fmla="*/ 200 w 400"/>
                <a:gd name="T15" fmla="*/ 26 h 224"/>
                <a:gd name="T16" fmla="*/ 289 w 400"/>
                <a:gd name="T17" fmla="*/ 112 h 224"/>
                <a:gd name="T18" fmla="*/ 200 w 400"/>
                <a:gd name="T19" fmla="*/ 198 h 224"/>
                <a:gd name="T20" fmla="*/ 200 w 400"/>
                <a:gd name="T21" fmla="*/ 112 h 224"/>
                <a:gd name="T22" fmla="*/ 200 w 400"/>
                <a:gd name="T23" fmla="*/ 69 h 224"/>
                <a:gd name="T24" fmla="*/ 155 w 400"/>
                <a:gd name="T25" fmla="*/ 112 h 224"/>
                <a:gd name="T26" fmla="*/ 200 w 400"/>
                <a:gd name="T27" fmla="*/ 155 h 224"/>
                <a:gd name="T28" fmla="*/ 244 w 400"/>
                <a:gd name="T29" fmla="*/ 112 h 224"/>
                <a:gd name="T30" fmla="*/ 200 w 400"/>
                <a:gd name="T31" fmla="*/ 1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0" h="224">
                  <a:moveTo>
                    <a:pt x="200" y="0"/>
                  </a:moveTo>
                  <a:cubicBezTo>
                    <a:pt x="69" y="0"/>
                    <a:pt x="0" y="97"/>
                    <a:pt x="0" y="112"/>
                  </a:cubicBezTo>
                  <a:cubicBezTo>
                    <a:pt x="0" y="127"/>
                    <a:pt x="69" y="224"/>
                    <a:pt x="200" y="224"/>
                  </a:cubicBezTo>
                  <a:cubicBezTo>
                    <a:pt x="331" y="224"/>
                    <a:pt x="400" y="127"/>
                    <a:pt x="400" y="112"/>
                  </a:cubicBezTo>
                  <a:cubicBezTo>
                    <a:pt x="400" y="97"/>
                    <a:pt x="331" y="0"/>
                    <a:pt x="200" y="0"/>
                  </a:cubicBezTo>
                  <a:close/>
                  <a:moveTo>
                    <a:pt x="200" y="198"/>
                  </a:moveTo>
                  <a:cubicBezTo>
                    <a:pt x="151" y="198"/>
                    <a:pt x="111" y="159"/>
                    <a:pt x="111" y="112"/>
                  </a:cubicBezTo>
                  <a:cubicBezTo>
                    <a:pt x="111" y="64"/>
                    <a:pt x="151" y="26"/>
                    <a:pt x="200" y="26"/>
                  </a:cubicBezTo>
                  <a:cubicBezTo>
                    <a:pt x="249" y="26"/>
                    <a:pt x="289" y="64"/>
                    <a:pt x="289" y="112"/>
                  </a:cubicBezTo>
                  <a:cubicBezTo>
                    <a:pt x="289" y="159"/>
                    <a:pt x="249" y="198"/>
                    <a:pt x="200" y="198"/>
                  </a:cubicBezTo>
                  <a:close/>
                  <a:moveTo>
                    <a:pt x="200" y="112"/>
                  </a:moveTo>
                  <a:cubicBezTo>
                    <a:pt x="192" y="103"/>
                    <a:pt x="213" y="69"/>
                    <a:pt x="200" y="69"/>
                  </a:cubicBezTo>
                  <a:cubicBezTo>
                    <a:pt x="175" y="69"/>
                    <a:pt x="155" y="88"/>
                    <a:pt x="155" y="112"/>
                  </a:cubicBezTo>
                  <a:cubicBezTo>
                    <a:pt x="155" y="136"/>
                    <a:pt x="175" y="155"/>
                    <a:pt x="200" y="155"/>
                  </a:cubicBezTo>
                  <a:cubicBezTo>
                    <a:pt x="224" y="155"/>
                    <a:pt x="244" y="136"/>
                    <a:pt x="244" y="112"/>
                  </a:cubicBezTo>
                  <a:cubicBezTo>
                    <a:pt x="244" y="101"/>
                    <a:pt x="207" y="119"/>
                    <a:pt x="200" y="112"/>
                  </a:cubicBezTo>
                  <a:close/>
                </a:path>
              </a:pathLst>
            </a:custGeom>
            <a:solidFill>
              <a:sysClr val="window" lastClr="FFFFFF"/>
            </a:solidFill>
            <a:ln>
              <a:noFill/>
            </a:ln>
          </p:spPr>
          <p:txBody>
            <a:bodyPr vert="horz" wrap="square" lIns="91440" tIns="45720" rIns="91440" bIns="45720" numCol="1" anchor="t" anchorCtr="0" compatLnSpc="1"/>
            <a:lstStyle/>
            <a:p>
              <a:endParaRPr lang="en-US" dirty="0"/>
            </a:p>
          </p:txBody>
        </p:sp>
      </p:grpSp>
      <p:grpSp>
        <p:nvGrpSpPr>
          <p:cNvPr id="102" name="Group 59"/>
          <p:cNvGrpSpPr/>
          <p:nvPr/>
        </p:nvGrpSpPr>
        <p:grpSpPr>
          <a:xfrm>
            <a:off x="7171732" y="1357411"/>
            <a:ext cx="850209" cy="1033862"/>
            <a:chOff x="8734710" y="3085881"/>
            <a:chExt cx="850209" cy="1033862"/>
          </a:xfrm>
        </p:grpSpPr>
        <p:grpSp>
          <p:nvGrpSpPr>
            <p:cNvPr id="103" name="Group 60"/>
            <p:cNvGrpSpPr/>
            <p:nvPr/>
          </p:nvGrpSpPr>
          <p:grpSpPr>
            <a:xfrm rot="16200000">
              <a:off x="8642883" y="3177707"/>
              <a:ext cx="1033862" cy="850209"/>
              <a:chOff x="917661" y="2671968"/>
              <a:chExt cx="1033862" cy="850209"/>
            </a:xfrm>
            <a:solidFill>
              <a:srgbClr val="FAC14D">
                <a:lumMod val="50000"/>
              </a:srgbClr>
            </a:solidFill>
          </p:grpSpPr>
          <p:sp>
            <p:nvSpPr>
              <p:cNvPr id="104" name="Rectangle 64"/>
              <p:cNvSpPr/>
              <p:nvPr/>
            </p:nvSpPr>
            <p:spPr>
              <a:xfrm>
                <a:off x="917661" y="2671968"/>
                <a:ext cx="913710" cy="850209"/>
              </a:xfrm>
              <a:prstGeom prst="rect">
                <a:avLst/>
              </a:prstGeom>
              <a:solidFill>
                <a:srgbClr val="FAC14D">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sp>
            <p:nvSpPr>
              <p:cNvPr id="105" name="Isosceles Triangle 65"/>
              <p:cNvSpPr/>
              <p:nvPr/>
            </p:nvSpPr>
            <p:spPr>
              <a:xfrm rot="5400000">
                <a:off x="1785948" y="3035711"/>
                <a:ext cx="208428" cy="122723"/>
              </a:xfrm>
              <a:prstGeom prst="triangle">
                <a:avLst/>
              </a:prstGeom>
              <a:solidFill>
                <a:srgbClr val="FAC14D">
                  <a:lumMod val="75000"/>
                </a:srgbClr>
              </a:solidFill>
              <a:ln>
                <a:noFill/>
              </a:ln>
            </p:spPr>
            <p:style>
              <a:lnRef idx="2">
                <a:srgbClr val="202F3D">
                  <a:shade val="50000"/>
                </a:srgbClr>
              </a:lnRef>
              <a:fillRef idx="1">
                <a:srgbClr val="202F3D"/>
              </a:fillRef>
              <a:effectRef idx="0">
                <a:srgbClr val="202F3D"/>
              </a:effectRef>
              <a:fontRef idx="minor">
                <a:sysClr val="window" lastClr="FFFFFF"/>
              </a:fontRef>
            </p:style>
            <p:txBody>
              <a:bodyPr rtlCol="0" anchor="ctr"/>
              <a:lstStyle/>
              <a:p>
                <a:pPr algn="ctr"/>
                <a:endParaRPr lang="en-US" dirty="0"/>
              </a:p>
            </p:txBody>
          </p:sp>
        </p:grpSp>
        <p:sp>
          <p:nvSpPr>
            <p:cNvPr id="108" name="Freeform 31"/>
            <p:cNvSpPr>
              <a:spLocks noEditPoints="1"/>
            </p:cNvSpPr>
            <p:nvPr/>
          </p:nvSpPr>
          <p:spPr bwMode="auto">
            <a:xfrm>
              <a:off x="9037576" y="3408253"/>
              <a:ext cx="244475" cy="333375"/>
            </a:xfrm>
            <a:custGeom>
              <a:avLst/>
              <a:gdLst>
                <a:gd name="T0" fmla="*/ 90 w 293"/>
                <a:gd name="T1" fmla="*/ 383 h 400"/>
                <a:gd name="T2" fmla="*/ 147 w 293"/>
                <a:gd name="T3" fmla="*/ 400 h 400"/>
                <a:gd name="T4" fmla="*/ 203 w 293"/>
                <a:gd name="T5" fmla="*/ 383 h 400"/>
                <a:gd name="T6" fmla="*/ 203 w 293"/>
                <a:gd name="T7" fmla="*/ 342 h 400"/>
                <a:gd name="T8" fmla="*/ 90 w 293"/>
                <a:gd name="T9" fmla="*/ 342 h 400"/>
                <a:gd name="T10" fmla="*/ 90 w 293"/>
                <a:gd name="T11" fmla="*/ 383 h 400"/>
                <a:gd name="T12" fmla="*/ 201 w 293"/>
                <a:gd name="T13" fmla="*/ 318 h 400"/>
                <a:gd name="T14" fmla="*/ 286 w 293"/>
                <a:gd name="T15" fmla="*/ 116 h 400"/>
                <a:gd name="T16" fmla="*/ 147 w 293"/>
                <a:gd name="T17" fmla="*/ 0 h 400"/>
                <a:gd name="T18" fmla="*/ 7 w 293"/>
                <a:gd name="T19" fmla="*/ 116 h 400"/>
                <a:gd name="T20" fmla="*/ 93 w 293"/>
                <a:gd name="T21" fmla="*/ 318 h 400"/>
                <a:gd name="T22" fmla="*/ 201 w 293"/>
                <a:gd name="T23" fmla="*/ 318 h 400"/>
                <a:gd name="T24" fmla="*/ 50 w 293"/>
                <a:gd name="T25" fmla="*/ 119 h 400"/>
                <a:gd name="T26" fmla="*/ 147 w 293"/>
                <a:gd name="T27" fmla="*/ 41 h 400"/>
                <a:gd name="T28" fmla="*/ 244 w 293"/>
                <a:gd name="T29" fmla="*/ 119 h 400"/>
                <a:gd name="T30" fmla="*/ 208 w 293"/>
                <a:gd name="T31" fmla="*/ 198 h 400"/>
                <a:gd name="T32" fmla="*/ 163 w 293"/>
                <a:gd name="T33" fmla="*/ 283 h 400"/>
                <a:gd name="T34" fmla="*/ 130 w 293"/>
                <a:gd name="T35" fmla="*/ 283 h 400"/>
                <a:gd name="T36" fmla="*/ 86 w 293"/>
                <a:gd name="T37" fmla="*/ 198 h 400"/>
                <a:gd name="T38" fmla="*/ 50 w 293"/>
                <a:gd name="T39" fmla="*/ 11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3" h="400">
                  <a:moveTo>
                    <a:pt x="90" y="383"/>
                  </a:moveTo>
                  <a:cubicBezTo>
                    <a:pt x="106" y="393"/>
                    <a:pt x="125" y="400"/>
                    <a:pt x="147" y="400"/>
                  </a:cubicBezTo>
                  <a:cubicBezTo>
                    <a:pt x="169" y="400"/>
                    <a:pt x="187" y="393"/>
                    <a:pt x="203" y="383"/>
                  </a:cubicBezTo>
                  <a:cubicBezTo>
                    <a:pt x="203" y="342"/>
                    <a:pt x="203" y="342"/>
                    <a:pt x="203" y="342"/>
                  </a:cubicBezTo>
                  <a:cubicBezTo>
                    <a:pt x="90" y="342"/>
                    <a:pt x="90" y="342"/>
                    <a:pt x="90" y="342"/>
                  </a:cubicBezTo>
                  <a:lnTo>
                    <a:pt x="90" y="383"/>
                  </a:lnTo>
                  <a:close/>
                  <a:moveTo>
                    <a:pt x="201" y="318"/>
                  </a:moveTo>
                  <a:cubicBezTo>
                    <a:pt x="201" y="231"/>
                    <a:pt x="293" y="203"/>
                    <a:pt x="286" y="116"/>
                  </a:cubicBezTo>
                  <a:cubicBezTo>
                    <a:pt x="282" y="61"/>
                    <a:pt x="245" y="0"/>
                    <a:pt x="147" y="0"/>
                  </a:cubicBezTo>
                  <a:cubicBezTo>
                    <a:pt x="49" y="0"/>
                    <a:pt x="12" y="61"/>
                    <a:pt x="7" y="116"/>
                  </a:cubicBezTo>
                  <a:cubicBezTo>
                    <a:pt x="0" y="203"/>
                    <a:pt x="93" y="231"/>
                    <a:pt x="93" y="318"/>
                  </a:cubicBezTo>
                  <a:lnTo>
                    <a:pt x="201" y="318"/>
                  </a:lnTo>
                  <a:close/>
                  <a:moveTo>
                    <a:pt x="50" y="119"/>
                  </a:moveTo>
                  <a:cubicBezTo>
                    <a:pt x="54" y="67"/>
                    <a:pt x="89" y="41"/>
                    <a:pt x="147" y="41"/>
                  </a:cubicBezTo>
                  <a:cubicBezTo>
                    <a:pt x="204" y="41"/>
                    <a:pt x="240" y="67"/>
                    <a:pt x="244" y="119"/>
                  </a:cubicBezTo>
                  <a:cubicBezTo>
                    <a:pt x="246" y="148"/>
                    <a:pt x="230" y="167"/>
                    <a:pt x="208" y="198"/>
                  </a:cubicBezTo>
                  <a:cubicBezTo>
                    <a:pt x="192" y="221"/>
                    <a:pt x="172" y="248"/>
                    <a:pt x="163" y="283"/>
                  </a:cubicBezTo>
                  <a:cubicBezTo>
                    <a:pt x="130" y="283"/>
                    <a:pt x="130" y="283"/>
                    <a:pt x="130" y="283"/>
                  </a:cubicBezTo>
                  <a:cubicBezTo>
                    <a:pt x="121" y="248"/>
                    <a:pt x="102" y="221"/>
                    <a:pt x="86" y="198"/>
                  </a:cubicBezTo>
                  <a:cubicBezTo>
                    <a:pt x="64" y="167"/>
                    <a:pt x="47" y="148"/>
                    <a:pt x="50" y="119"/>
                  </a:cubicBezTo>
                  <a:close/>
                </a:path>
              </a:pathLst>
            </a:custGeom>
            <a:solidFill>
              <a:sysClr val="window" lastClr="FFFFFF"/>
            </a:solidFill>
            <a:ln>
              <a:noFill/>
            </a:ln>
          </p:spPr>
          <p:txBody>
            <a:bodyPr vert="horz" wrap="square" lIns="91440" tIns="45720" rIns="91440" bIns="45720" numCol="1" anchor="t" anchorCtr="0" compatLnSpc="1"/>
            <a:lstStyle/>
            <a:p>
              <a:endParaRPr lang="en-US" dirty="0"/>
            </a:p>
          </p:txBody>
        </p:sp>
      </p:grpSp>
      <p:graphicFrame>
        <p:nvGraphicFramePr>
          <p:cNvPr id="109" name="表格 108"/>
          <p:cNvGraphicFramePr/>
          <p:nvPr>
            <p:extLst>
              <p:ext uri="{D42A27DB-BD31-4B8C-83A1-F6EECF244321}">
                <p14:modId xmlns:p14="http://schemas.microsoft.com/office/powerpoint/2010/main" val="1170843022"/>
              </p:ext>
            </p:extLst>
          </p:nvPr>
        </p:nvGraphicFramePr>
        <p:xfrm>
          <a:off x="109855" y="1025525"/>
          <a:ext cx="5184000" cy="2160135"/>
        </p:xfrm>
        <a:graphic>
          <a:graphicData uri="http://schemas.openxmlformats.org/drawingml/2006/table">
            <a:tbl>
              <a:tblPr firstRow="1" bandRow="1">
                <a:tableStyleId>{B301B821-A1FF-4177-AEE7-76D212191A09}</a:tableStyleId>
              </a:tblPr>
              <a:tblGrid>
                <a:gridCol w="1224000">
                  <a:extLst>
                    <a:ext uri="{9D8B030D-6E8A-4147-A177-3AD203B41FA5}">
                      <a16:colId xmlns:a16="http://schemas.microsoft.com/office/drawing/2014/main" val="20000"/>
                    </a:ext>
                  </a:extLst>
                </a:gridCol>
                <a:gridCol w="1223645">
                  <a:extLst>
                    <a:ext uri="{9D8B030D-6E8A-4147-A177-3AD203B41FA5}">
                      <a16:colId xmlns:a16="http://schemas.microsoft.com/office/drawing/2014/main" val="20001"/>
                    </a:ext>
                  </a:extLst>
                </a:gridCol>
                <a:gridCol w="1008355">
                  <a:extLst>
                    <a:ext uri="{9D8B030D-6E8A-4147-A177-3AD203B41FA5}">
                      <a16:colId xmlns:a16="http://schemas.microsoft.com/office/drawing/2014/main" val="20002"/>
                    </a:ext>
                  </a:extLst>
                </a:gridCol>
                <a:gridCol w="1007745">
                  <a:extLst>
                    <a:ext uri="{9D8B030D-6E8A-4147-A177-3AD203B41FA5}">
                      <a16:colId xmlns:a16="http://schemas.microsoft.com/office/drawing/2014/main" val="20003"/>
                    </a:ext>
                  </a:extLst>
                </a:gridCol>
                <a:gridCol w="720255">
                  <a:extLst>
                    <a:ext uri="{9D8B030D-6E8A-4147-A177-3AD203B41FA5}">
                      <a16:colId xmlns:a16="http://schemas.microsoft.com/office/drawing/2014/main" val="20004"/>
                    </a:ext>
                  </a:extLst>
                </a:gridCol>
              </a:tblGrid>
              <a:tr h="360045">
                <a:tc>
                  <a:txBody>
                    <a:bodyPr/>
                    <a:lstStyle/>
                    <a:p>
                      <a:pPr algn="ctr">
                        <a:buNone/>
                      </a:pPr>
                      <a:r>
                        <a:rPr lang="en-US" altLang="zh-CN" sz="1400"/>
                        <a:t>user id</a:t>
                      </a:r>
                    </a:p>
                  </a:txBody>
                  <a:tcPr>
                    <a:lnB>
                      <a:noFill/>
                    </a:lnB>
                    <a:solidFill>
                      <a:srgbClr val="1C9494"/>
                    </a:solidFill>
                  </a:tcPr>
                </a:tc>
                <a:tc>
                  <a:txBody>
                    <a:bodyPr/>
                    <a:lstStyle/>
                    <a:p>
                      <a:pPr algn="ctr">
                        <a:buNone/>
                      </a:pPr>
                      <a:r>
                        <a:rPr lang="en-US" altLang="zh-CN" sz="1400"/>
                        <a:t>moive id</a:t>
                      </a:r>
                    </a:p>
                  </a:txBody>
                  <a:tcPr>
                    <a:lnB>
                      <a:noFill/>
                    </a:lnB>
                    <a:solidFill>
                      <a:srgbClr val="1C9494"/>
                    </a:solidFill>
                  </a:tcPr>
                </a:tc>
                <a:tc>
                  <a:txBody>
                    <a:bodyPr/>
                    <a:lstStyle/>
                    <a:p>
                      <a:pPr algn="ctr">
                        <a:buNone/>
                      </a:pPr>
                      <a:r>
                        <a:rPr lang="en-US" altLang="zh-CN" sz="1400"/>
                        <a:t>time Stamp</a:t>
                      </a:r>
                    </a:p>
                  </a:txBody>
                  <a:tcPr>
                    <a:lnB>
                      <a:noFill/>
                    </a:lnB>
                    <a:solidFill>
                      <a:srgbClr val="1C9494"/>
                    </a:solidFill>
                  </a:tcPr>
                </a:tc>
                <a:tc>
                  <a:txBody>
                    <a:bodyPr/>
                    <a:lstStyle/>
                    <a:p>
                      <a:pPr algn="ctr">
                        <a:buNone/>
                      </a:pPr>
                      <a:r>
                        <a:rPr lang="en-US" altLang="zh-CN" sz="1400" dirty="0"/>
                        <a:t>time Mode </a:t>
                      </a:r>
                    </a:p>
                  </a:txBody>
                  <a:tcPr>
                    <a:lnB>
                      <a:noFill/>
                    </a:lnB>
                    <a:solidFill>
                      <a:srgbClr val="1C9494"/>
                    </a:solidFill>
                  </a:tcPr>
                </a:tc>
                <a:tc>
                  <a:txBody>
                    <a:bodyPr/>
                    <a:lstStyle/>
                    <a:p>
                      <a:pPr algn="ctr">
                        <a:buNone/>
                      </a:pPr>
                      <a:r>
                        <a:rPr lang="zh-CN" altLang="en-US" sz="1400"/>
                        <a:t>★</a:t>
                      </a:r>
                    </a:p>
                  </a:txBody>
                  <a:tcPr>
                    <a:lnB>
                      <a:noFill/>
                    </a:lnB>
                    <a:solidFill>
                      <a:srgbClr val="1C9494"/>
                    </a:solidFill>
                  </a:tcPr>
                </a:tc>
                <a:extLst>
                  <a:ext uri="{0D108BD9-81ED-4DB2-BD59-A6C34878D82A}">
                    <a16:rowId xmlns:a16="http://schemas.microsoft.com/office/drawing/2014/main" val="10000"/>
                  </a:ext>
                </a:extLst>
              </a:tr>
              <a:tr h="360000">
                <a:tc>
                  <a:txBody>
                    <a:bodyPr/>
                    <a:lstStyle/>
                    <a:p>
                      <a:pPr algn="ctr">
                        <a:buNone/>
                      </a:pPr>
                      <a:r>
                        <a:rPr lang="en-US" altLang="zh-CN" sz="1400" dirty="0"/>
                        <a:t>1000000000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0100000000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a:t>010</a:t>
                      </a:r>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a:t>1</a:t>
                      </a:r>
                    </a:p>
                  </a:txBody>
                  <a:tcPr>
                    <a:lnL>
                      <a:noFill/>
                    </a:lnL>
                    <a:lnR>
                      <a:noFill/>
                    </a:lnR>
                    <a:lnT>
                      <a:noFill/>
                    </a:lnT>
                    <a:lnB>
                      <a:noFill/>
                    </a:lnB>
                    <a:lnTlToBr>
                      <a:noFill/>
                    </a:lnTlToBr>
                    <a:lnBlToTr>
                      <a:noFill/>
                    </a:lnBlToTr>
                  </a:tcPr>
                </a:tc>
                <a:extLst>
                  <a:ext uri="{0D108BD9-81ED-4DB2-BD59-A6C34878D82A}">
                    <a16:rowId xmlns:a16="http://schemas.microsoft.com/office/drawing/2014/main" val="10001"/>
                  </a:ext>
                </a:extLst>
              </a:tr>
              <a:tr h="360045">
                <a:tc>
                  <a:txBody>
                    <a:bodyPr/>
                    <a:lstStyle/>
                    <a:p>
                      <a:pPr algn="ctr">
                        <a:buNone/>
                      </a:pPr>
                      <a:r>
                        <a:rPr lang="en-US" altLang="zh-CN" sz="1400" dirty="0"/>
                        <a:t>0001000000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0010000000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a:t>100</a:t>
                      </a:r>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a:t>1</a:t>
                      </a:r>
                    </a:p>
                  </a:txBody>
                  <a:tcPr>
                    <a:lnL>
                      <a:noFill/>
                    </a:lnL>
                    <a:lnR>
                      <a:noFill/>
                    </a:lnR>
                    <a:lnT>
                      <a:noFill/>
                    </a:lnT>
                    <a:lnB>
                      <a:noFill/>
                    </a:lnB>
                    <a:lnTlToBr>
                      <a:noFill/>
                    </a:lnTlToBr>
                    <a:lnBlToTr>
                      <a:noFill/>
                    </a:lnBlToTr>
                  </a:tcPr>
                </a:tc>
                <a:extLst>
                  <a:ext uri="{0D108BD9-81ED-4DB2-BD59-A6C34878D82A}">
                    <a16:rowId xmlns:a16="http://schemas.microsoft.com/office/drawing/2014/main" val="10002"/>
                  </a:ext>
                </a:extLst>
              </a:tr>
              <a:tr h="360000">
                <a:tc>
                  <a:txBody>
                    <a:bodyPr/>
                    <a:lstStyle/>
                    <a:p>
                      <a:pPr algn="ctr">
                        <a:buNone/>
                      </a:pPr>
                      <a:r>
                        <a:rPr lang="en-US" altLang="zh-CN" sz="1400" dirty="0"/>
                        <a:t>0000100000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0000010000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001</a:t>
                      </a:r>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a:t>1</a:t>
                      </a:r>
                    </a:p>
                  </a:txBody>
                  <a:tcPr>
                    <a:lnL>
                      <a:noFill/>
                    </a:lnL>
                    <a:lnR>
                      <a:noFill/>
                    </a:lnR>
                    <a:lnT>
                      <a:noFill/>
                    </a:lnT>
                    <a:lnB>
                      <a:noFill/>
                    </a:lnB>
                    <a:lnTlToBr>
                      <a:noFill/>
                    </a:lnTlToBr>
                    <a:lnBlToTr>
                      <a:noFill/>
                    </a:lnBlToTr>
                  </a:tcPr>
                </a:tc>
                <a:extLst>
                  <a:ext uri="{0D108BD9-81ED-4DB2-BD59-A6C34878D82A}">
                    <a16:rowId xmlns:a16="http://schemas.microsoft.com/office/drawing/2014/main" val="10003"/>
                  </a:ext>
                </a:extLst>
              </a:tr>
              <a:tr h="360000">
                <a:tc>
                  <a:txBody>
                    <a:bodyPr/>
                    <a:lstStyle/>
                    <a:p>
                      <a:pPr algn="ctr">
                        <a:buNone/>
                      </a:pPr>
                      <a:r>
                        <a:rPr lang="en-US" altLang="zh-CN" sz="1400" dirty="0"/>
                        <a:t>0000000100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0000000100</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a:t>001</a:t>
                      </a:r>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a:t>1</a:t>
                      </a:r>
                    </a:p>
                  </a:txBody>
                  <a:tcPr>
                    <a:lnL>
                      <a:noFill/>
                    </a:lnL>
                    <a:lnR>
                      <a:noFill/>
                    </a:lnR>
                    <a:lnT>
                      <a:noFill/>
                    </a:lnT>
                    <a:lnB>
                      <a:noFill/>
                    </a:lnB>
                    <a:lnTlToBr>
                      <a:noFill/>
                    </a:lnTlToBr>
                    <a:lnBlToTr>
                      <a:noFill/>
                    </a:lnBlToTr>
                  </a:tcPr>
                </a:tc>
                <a:extLst>
                  <a:ext uri="{0D108BD9-81ED-4DB2-BD59-A6C34878D82A}">
                    <a16:rowId xmlns:a16="http://schemas.microsoft.com/office/drawing/2014/main" val="10004"/>
                  </a:ext>
                </a:extLst>
              </a:tr>
              <a:tr h="360045">
                <a:tc>
                  <a:txBody>
                    <a:bodyPr/>
                    <a:lstStyle/>
                    <a:p>
                      <a:pPr algn="ctr">
                        <a:buNone/>
                      </a:pPr>
                      <a:r>
                        <a:rPr lang="en-US" altLang="zh-CN" sz="1400" dirty="0"/>
                        <a:t>0000000001</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0000000001</a:t>
                      </a:r>
                      <a:r>
                        <a:rPr lang="en-US" altLang="zh-CN" sz="1400" dirty="0">
                          <a:sym typeface="+mn-ea"/>
                        </a:rPr>
                        <a:t>…</a:t>
                      </a:r>
                      <a:endParaRPr lang="en-US" altLang="zh-CN" sz="1400" dirty="0"/>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dirty="0"/>
                        <a:t>010</a:t>
                      </a:r>
                    </a:p>
                  </a:txBody>
                  <a:tcPr>
                    <a:lnL>
                      <a:noFill/>
                    </a:lnL>
                    <a:lnR>
                      <a:noFill/>
                    </a:lnR>
                    <a:lnT>
                      <a:noFill/>
                    </a:lnT>
                    <a:lnB>
                      <a:noFill/>
                    </a:lnB>
                    <a:lnTlToBr>
                      <a:noFill/>
                    </a:lnTlToBr>
                    <a:lnBlToTr>
                      <a:noFill/>
                    </a:lnBlToTr>
                  </a:tcPr>
                </a:tc>
                <a:tc>
                  <a:txBody>
                    <a:bodyPr/>
                    <a:lstStyle/>
                    <a:p>
                      <a:pPr algn="ctr">
                        <a:buNone/>
                      </a:pPr>
                      <a:r>
                        <a:rPr lang="en-US" altLang="zh-CN" sz="1400" dirty="0"/>
                        <a:t>1</a:t>
                      </a:r>
                    </a:p>
                  </a:txBody>
                  <a:tcPr>
                    <a:lnL>
                      <a:noFill/>
                    </a:lnL>
                    <a:lnR>
                      <a:noFill/>
                    </a:lnR>
                    <a:lnT>
                      <a:noFill/>
                    </a:lnT>
                    <a:lnB>
                      <a:noFill/>
                    </a:lnB>
                    <a:lnTlToBr>
                      <a:noFill/>
                    </a:lnTlToBr>
                    <a:lnBlToTr>
                      <a:noFill/>
                    </a:lnBlToTr>
                  </a:tcPr>
                </a:tc>
                <a:extLst>
                  <a:ext uri="{0D108BD9-81ED-4DB2-BD59-A6C34878D82A}">
                    <a16:rowId xmlns:a16="http://schemas.microsoft.com/office/drawing/2014/main" val="10005"/>
                  </a:ext>
                </a:extLst>
              </a:tr>
            </a:tbl>
          </a:graphicData>
        </a:graphic>
      </p:graphicFrame>
      <p:graphicFrame>
        <p:nvGraphicFramePr>
          <p:cNvPr id="110" name="表格 109"/>
          <p:cNvGraphicFramePr/>
          <p:nvPr/>
        </p:nvGraphicFramePr>
        <p:xfrm>
          <a:off x="2516505" y="114935"/>
          <a:ext cx="5184000" cy="2160090"/>
        </p:xfrm>
        <a:graphic>
          <a:graphicData uri="http://schemas.openxmlformats.org/drawingml/2006/table">
            <a:tbl>
              <a:tblPr firstRow="1" bandRow="1">
                <a:tableStyleId>{5C22544A-7EE6-4342-B048-85BDC9FD1C3A}</a:tableStyleId>
              </a:tblPr>
              <a:tblGrid>
                <a:gridCol w="1224280">
                  <a:extLst>
                    <a:ext uri="{9D8B030D-6E8A-4147-A177-3AD203B41FA5}">
                      <a16:colId xmlns:a16="http://schemas.microsoft.com/office/drawing/2014/main" val="20000"/>
                    </a:ext>
                  </a:extLst>
                </a:gridCol>
                <a:gridCol w="1223365">
                  <a:extLst>
                    <a:ext uri="{9D8B030D-6E8A-4147-A177-3AD203B41FA5}">
                      <a16:colId xmlns:a16="http://schemas.microsoft.com/office/drawing/2014/main" val="20001"/>
                    </a:ext>
                  </a:extLst>
                </a:gridCol>
                <a:gridCol w="1008355">
                  <a:extLst>
                    <a:ext uri="{9D8B030D-6E8A-4147-A177-3AD203B41FA5}">
                      <a16:colId xmlns:a16="http://schemas.microsoft.com/office/drawing/2014/main" val="20002"/>
                    </a:ext>
                  </a:extLst>
                </a:gridCol>
                <a:gridCol w="1008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tblGrid>
              <a:tr h="360045">
                <a:tc>
                  <a:txBody>
                    <a:bodyPr/>
                    <a:lstStyle/>
                    <a:p>
                      <a:pPr algn="ctr">
                        <a:buNone/>
                      </a:pPr>
                      <a:r>
                        <a:rPr lang="en-US" altLang="zh-CN" sz="1400"/>
                        <a:t>user id</a:t>
                      </a:r>
                    </a:p>
                  </a:txBody>
                  <a:tcPr>
                    <a:solidFill>
                      <a:srgbClr val="7CB554"/>
                    </a:solidFill>
                  </a:tcPr>
                </a:tc>
                <a:tc>
                  <a:txBody>
                    <a:bodyPr/>
                    <a:lstStyle/>
                    <a:p>
                      <a:pPr algn="ctr">
                        <a:buNone/>
                      </a:pPr>
                      <a:r>
                        <a:rPr lang="en-US" altLang="zh-CN" sz="1400"/>
                        <a:t>moive id</a:t>
                      </a:r>
                    </a:p>
                  </a:txBody>
                  <a:tcPr>
                    <a:solidFill>
                      <a:srgbClr val="7CB554"/>
                    </a:solidFill>
                  </a:tcPr>
                </a:tc>
                <a:tc>
                  <a:txBody>
                    <a:bodyPr/>
                    <a:lstStyle/>
                    <a:p>
                      <a:pPr algn="ctr">
                        <a:buNone/>
                      </a:pPr>
                      <a:r>
                        <a:rPr lang="en-US" altLang="zh-CN" sz="1400"/>
                        <a:t>time Stamp</a:t>
                      </a:r>
                    </a:p>
                  </a:txBody>
                  <a:tcPr>
                    <a:solidFill>
                      <a:srgbClr val="7CB554"/>
                    </a:solidFill>
                  </a:tcPr>
                </a:tc>
                <a:tc>
                  <a:txBody>
                    <a:bodyPr/>
                    <a:lstStyle/>
                    <a:p>
                      <a:pPr algn="ctr">
                        <a:buNone/>
                      </a:pPr>
                      <a:r>
                        <a:rPr lang="en-US" altLang="zh-CN" sz="1400"/>
                        <a:t>time Mode </a:t>
                      </a:r>
                    </a:p>
                  </a:txBody>
                  <a:tcPr>
                    <a:solidFill>
                      <a:srgbClr val="7CB554"/>
                    </a:solidFill>
                  </a:tcPr>
                </a:tc>
                <a:tc>
                  <a:txBody>
                    <a:bodyPr/>
                    <a:lstStyle/>
                    <a:p>
                      <a:pPr algn="ctr">
                        <a:buNone/>
                      </a:pPr>
                      <a:r>
                        <a:rPr lang="en-US" altLang="zh-CN" sz="1400"/>
                        <a:t>star</a:t>
                      </a:r>
                    </a:p>
                  </a:txBody>
                  <a:tcPr>
                    <a:solidFill>
                      <a:srgbClr val="7CB554"/>
                    </a:solidFill>
                  </a:tcPr>
                </a:tc>
                <a:extLst>
                  <a:ext uri="{0D108BD9-81ED-4DB2-BD59-A6C34878D82A}">
                    <a16:rowId xmlns:a16="http://schemas.microsoft.com/office/drawing/2014/main" val="10000"/>
                  </a:ext>
                </a:extLst>
              </a:tr>
              <a:tr h="360000">
                <a:tc>
                  <a:txBody>
                    <a:bodyPr/>
                    <a:lstStyle/>
                    <a:p>
                      <a:pPr algn="ctr">
                        <a:buNone/>
                      </a:pPr>
                      <a:r>
                        <a:rPr lang="en-US" altLang="zh-CN" sz="1400"/>
                        <a:t>1722994</a:t>
                      </a:r>
                    </a:p>
                  </a:txBody>
                  <a:tcPr/>
                </a:tc>
                <a:tc>
                  <a:txBody>
                    <a:bodyPr/>
                    <a:lstStyle/>
                    <a:p>
                      <a:pPr algn="ctr">
                        <a:buNone/>
                      </a:pPr>
                      <a:r>
                        <a:rPr lang="en-US" altLang="zh-CN" sz="1400"/>
                        <a:t>1306505</a:t>
                      </a:r>
                    </a:p>
                  </a:txBody>
                  <a:tcPr/>
                </a:tc>
                <a:tc>
                  <a:txBody>
                    <a:bodyPr/>
                    <a:lstStyle/>
                    <a:p>
                      <a:pPr algn="ctr">
                        <a:buNone/>
                      </a:pPr>
                      <a:r>
                        <a:rPr lang="en-US" altLang="zh-CN" sz="1400"/>
                        <a:t>2</a:t>
                      </a:r>
                    </a:p>
                  </a:txBody>
                  <a:tcPr/>
                </a:tc>
                <a:tc>
                  <a:txBody>
                    <a:bodyPr/>
                    <a:lstStyle/>
                    <a:p>
                      <a:pPr algn="ctr">
                        <a:buNone/>
                      </a:pPr>
                      <a:r>
                        <a:rPr lang="en-US" altLang="zh-CN" sz="1400"/>
                        <a:t>3</a:t>
                      </a:r>
                    </a:p>
                  </a:txBody>
                  <a:tcPr/>
                </a:tc>
                <a:tc>
                  <a:txBody>
                    <a:bodyPr/>
                    <a:lstStyle/>
                    <a:p>
                      <a:pPr algn="ctr">
                        <a:buNone/>
                      </a:pPr>
                      <a:r>
                        <a:rPr lang="en-US" altLang="zh-CN" sz="1400"/>
                        <a:t>1</a:t>
                      </a:r>
                    </a:p>
                  </a:txBody>
                  <a:tcPr/>
                </a:tc>
                <a:extLst>
                  <a:ext uri="{0D108BD9-81ED-4DB2-BD59-A6C34878D82A}">
                    <a16:rowId xmlns:a16="http://schemas.microsoft.com/office/drawing/2014/main" val="10001"/>
                  </a:ext>
                </a:extLst>
              </a:tr>
              <a:tr h="360045">
                <a:tc>
                  <a:txBody>
                    <a:bodyPr/>
                    <a:lstStyle/>
                    <a:p>
                      <a:pPr algn="ctr">
                        <a:buNone/>
                      </a:pPr>
                      <a:r>
                        <a:rPr lang="en-US" altLang="zh-CN" sz="1400"/>
                        <a:t>1299639</a:t>
                      </a:r>
                    </a:p>
                  </a:txBody>
                  <a:tcPr/>
                </a:tc>
                <a:tc>
                  <a:txBody>
                    <a:bodyPr/>
                    <a:lstStyle/>
                    <a:p>
                      <a:pPr algn="ctr">
                        <a:buNone/>
                      </a:pPr>
                      <a:r>
                        <a:rPr lang="en-US" altLang="zh-CN" sz="1400"/>
                        <a:t>1306505</a:t>
                      </a:r>
                    </a:p>
                  </a:txBody>
                  <a:tcPr/>
                </a:tc>
                <a:tc>
                  <a:txBody>
                    <a:bodyPr/>
                    <a:lstStyle/>
                    <a:p>
                      <a:pPr algn="ctr">
                        <a:buNone/>
                      </a:pPr>
                      <a:r>
                        <a:rPr lang="en-US" altLang="zh-CN" sz="1400"/>
                        <a:t>4</a:t>
                      </a:r>
                    </a:p>
                  </a:txBody>
                  <a:tcPr/>
                </a:tc>
                <a:tc>
                  <a:txBody>
                    <a:bodyPr/>
                    <a:lstStyle/>
                    <a:p>
                      <a:pPr algn="ctr">
                        <a:buNone/>
                      </a:pPr>
                      <a:r>
                        <a:rPr lang="en-US" altLang="zh-CN" sz="1400"/>
                        <a:t>3</a:t>
                      </a:r>
                    </a:p>
                  </a:txBody>
                  <a:tcPr/>
                </a:tc>
                <a:tc>
                  <a:txBody>
                    <a:bodyPr/>
                    <a:lstStyle/>
                    <a:p>
                      <a:pPr algn="ctr">
                        <a:buNone/>
                      </a:pPr>
                      <a:r>
                        <a:rPr lang="en-US" altLang="zh-CN" sz="1400"/>
                        <a:t>1</a:t>
                      </a:r>
                    </a:p>
                  </a:txBody>
                  <a:tcPr/>
                </a:tc>
                <a:extLst>
                  <a:ext uri="{0D108BD9-81ED-4DB2-BD59-A6C34878D82A}">
                    <a16:rowId xmlns:a16="http://schemas.microsoft.com/office/drawing/2014/main" val="10002"/>
                  </a:ext>
                </a:extLst>
              </a:tr>
              <a:tr h="360000">
                <a:tc>
                  <a:txBody>
                    <a:bodyPr/>
                    <a:lstStyle/>
                    <a:p>
                      <a:pPr algn="ctr">
                        <a:buNone/>
                      </a:pPr>
                      <a:r>
                        <a:rPr lang="en-US" altLang="zh-CN" sz="1400"/>
                        <a:t>1279487</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a:t>1</a:t>
                      </a:r>
                    </a:p>
                  </a:txBody>
                  <a:tcPr/>
                </a:tc>
                <a:extLst>
                  <a:ext uri="{0D108BD9-81ED-4DB2-BD59-A6C34878D82A}">
                    <a16:rowId xmlns:a16="http://schemas.microsoft.com/office/drawing/2014/main" val="10003"/>
                  </a:ext>
                </a:extLst>
              </a:tr>
              <a:tr h="360000">
                <a:tc>
                  <a:txBody>
                    <a:bodyPr/>
                    <a:lstStyle/>
                    <a:p>
                      <a:pPr algn="ctr">
                        <a:buNone/>
                      </a:pPr>
                      <a:r>
                        <a:rPr lang="en-US" altLang="zh-CN" sz="1400"/>
                        <a:t>1226283</a:t>
                      </a:r>
                    </a:p>
                  </a:txBody>
                  <a:tcPr/>
                </a:tc>
                <a:tc>
                  <a:txBody>
                    <a:bodyPr/>
                    <a:lstStyle/>
                    <a:p>
                      <a:pPr algn="ctr">
                        <a:buNone/>
                      </a:pPr>
                      <a:r>
                        <a:rPr lang="en-US" altLang="zh-CN" sz="1400"/>
                        <a:t>1306505</a:t>
                      </a:r>
                    </a:p>
                  </a:txBody>
                  <a:tcPr/>
                </a:tc>
                <a:tc>
                  <a:txBody>
                    <a:bodyPr/>
                    <a:lstStyle/>
                    <a:p>
                      <a:pPr algn="ctr">
                        <a:buNone/>
                      </a:pPr>
                      <a:r>
                        <a:rPr lang="en-US" altLang="zh-CN" sz="1400"/>
                        <a:t>1</a:t>
                      </a:r>
                    </a:p>
                  </a:txBody>
                  <a:tcPr/>
                </a:tc>
                <a:tc>
                  <a:txBody>
                    <a:bodyPr/>
                    <a:lstStyle/>
                    <a:p>
                      <a:pPr algn="ctr">
                        <a:buNone/>
                      </a:pPr>
                      <a:r>
                        <a:rPr lang="en-US" altLang="zh-CN" sz="1400"/>
                        <a:t>3</a:t>
                      </a:r>
                    </a:p>
                  </a:txBody>
                  <a:tcPr/>
                </a:tc>
                <a:tc>
                  <a:txBody>
                    <a:bodyPr/>
                    <a:lstStyle/>
                    <a:p>
                      <a:pPr algn="ctr">
                        <a:buNone/>
                      </a:pPr>
                      <a:r>
                        <a:rPr lang="en-US" altLang="zh-CN" sz="1400"/>
                        <a:t>1</a:t>
                      </a:r>
                    </a:p>
                  </a:txBody>
                  <a:tcPr/>
                </a:tc>
                <a:extLst>
                  <a:ext uri="{0D108BD9-81ED-4DB2-BD59-A6C34878D82A}">
                    <a16:rowId xmlns:a16="http://schemas.microsoft.com/office/drawing/2014/main" val="10004"/>
                  </a:ext>
                </a:extLst>
              </a:tr>
              <a:tr h="360000">
                <a:tc>
                  <a:txBody>
                    <a:bodyPr/>
                    <a:lstStyle/>
                    <a:p>
                      <a:pPr algn="ctr">
                        <a:buNone/>
                      </a:pPr>
                      <a:r>
                        <a:rPr lang="en-US" altLang="zh-CN" sz="1400" dirty="0"/>
                        <a:t>1694045</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dirty="0"/>
                        <a:t>1</a:t>
                      </a:r>
                    </a:p>
                  </a:txBody>
                  <a:tcPr/>
                </a:tc>
                <a:extLst>
                  <a:ext uri="{0D108BD9-81ED-4DB2-BD59-A6C34878D82A}">
                    <a16:rowId xmlns:a16="http://schemas.microsoft.com/office/drawing/2014/main" val="10005"/>
                  </a:ext>
                </a:extLst>
              </a:tr>
            </a:tbl>
          </a:graphicData>
        </a:graphic>
      </p:graphicFrame>
      <p:sp>
        <p:nvSpPr>
          <p:cNvPr id="2" name="矩形 1"/>
          <p:cNvSpPr/>
          <p:nvPr/>
        </p:nvSpPr>
        <p:spPr bwMode="auto">
          <a:xfrm>
            <a:off x="90232" y="205901"/>
            <a:ext cx="1688283" cy="369332"/>
          </a:xfrm>
          <a:prstGeom prst="rect">
            <a:avLst/>
          </a:prstGeom>
          <a:noFill/>
        </p:spPr>
        <p:txBody>
          <a:bodyPr wrap="none">
            <a:spAutoFit/>
          </a:bodyPr>
          <a:lstStyle/>
          <a:p>
            <a:pPr>
              <a:defRPr/>
            </a:pP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分解机（</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FM</a:t>
            </a: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矩形 2"/>
          <p:cNvSpPr/>
          <p:nvPr/>
        </p:nvSpPr>
        <p:spPr>
          <a:xfrm>
            <a:off x="90232" y="575233"/>
            <a:ext cx="800219"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传统推荐模型</a:t>
            </a:r>
            <a:endParaRPr lang="en-US" altLang="zh-CN" sz="800" dirty="0">
              <a:solidFill>
                <a:schemeClr val="accent1"/>
              </a:solidFill>
              <a:latin typeface="+mj-lt"/>
              <a:ea typeface="方正兰亭黑_GBK"/>
            </a:endParaRPr>
          </a:p>
        </p:txBody>
      </p:sp>
      <p:cxnSp>
        <p:nvCxnSpPr>
          <p:cNvPr id="6" name="直接连接符 5"/>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46" name="表格 45">
            <a:extLst>
              <a:ext uri="{FF2B5EF4-FFF2-40B4-BE49-F238E27FC236}">
                <a16:creationId xmlns:a16="http://schemas.microsoft.com/office/drawing/2014/main" id="{586516D3-D8FC-4AC6-839A-9A2E3670A0DC}"/>
              </a:ext>
            </a:extLst>
          </p:cNvPr>
          <p:cNvGraphicFramePr/>
          <p:nvPr>
            <p:extLst>
              <p:ext uri="{D42A27DB-BD31-4B8C-83A1-F6EECF244321}">
                <p14:modId xmlns:p14="http://schemas.microsoft.com/office/powerpoint/2010/main" val="1581532548"/>
              </p:ext>
            </p:extLst>
          </p:nvPr>
        </p:nvGraphicFramePr>
        <p:xfrm>
          <a:off x="619760" y="999470"/>
          <a:ext cx="6552000" cy="2309345"/>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20000"/>
                    </a:ext>
                  </a:extLst>
                </a:gridCol>
                <a:gridCol w="864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gridCol w="648000">
                  <a:extLst>
                    <a:ext uri="{9D8B030D-6E8A-4147-A177-3AD203B41FA5}">
                      <a16:colId xmlns:a16="http://schemas.microsoft.com/office/drawing/2014/main" val="20003"/>
                    </a:ext>
                  </a:extLst>
                </a:gridCol>
                <a:gridCol w="648000">
                  <a:extLst>
                    <a:ext uri="{9D8B030D-6E8A-4147-A177-3AD203B41FA5}">
                      <a16:colId xmlns:a16="http://schemas.microsoft.com/office/drawing/2014/main" val="20004"/>
                    </a:ext>
                  </a:extLst>
                </a:gridCol>
                <a:gridCol w="2880000">
                  <a:extLst>
                    <a:ext uri="{9D8B030D-6E8A-4147-A177-3AD203B41FA5}">
                      <a16:colId xmlns:a16="http://schemas.microsoft.com/office/drawing/2014/main" val="20005"/>
                    </a:ext>
                  </a:extLst>
                </a:gridCol>
              </a:tblGrid>
              <a:tr h="515610">
                <a:tc>
                  <a:txBody>
                    <a:bodyPr/>
                    <a:lstStyle/>
                    <a:p>
                      <a:pPr algn="ctr">
                        <a:buNone/>
                      </a:pPr>
                      <a:r>
                        <a:rPr lang="en-US" altLang="zh-CN" sz="1400"/>
                        <a:t>user id</a:t>
                      </a:r>
                    </a:p>
                  </a:txBody>
                  <a:tcPr>
                    <a:solidFill>
                      <a:srgbClr val="FAC14D"/>
                    </a:solidFill>
                  </a:tcPr>
                </a:tc>
                <a:tc>
                  <a:txBody>
                    <a:bodyPr/>
                    <a:lstStyle/>
                    <a:p>
                      <a:pPr algn="ctr">
                        <a:buNone/>
                      </a:pPr>
                      <a:r>
                        <a:rPr lang="en-US" altLang="zh-CN" sz="1400"/>
                        <a:t>moive id</a:t>
                      </a:r>
                    </a:p>
                  </a:txBody>
                  <a:tcPr>
                    <a:solidFill>
                      <a:srgbClr val="FAC14D"/>
                    </a:solidFill>
                  </a:tcPr>
                </a:tc>
                <a:tc>
                  <a:txBody>
                    <a:bodyPr/>
                    <a:lstStyle/>
                    <a:p>
                      <a:pPr algn="ctr">
                        <a:buNone/>
                      </a:pPr>
                      <a:r>
                        <a:rPr lang="en-US" altLang="zh-CN" sz="1400"/>
                        <a:t>time Stamp</a:t>
                      </a:r>
                    </a:p>
                  </a:txBody>
                  <a:tcPr>
                    <a:solidFill>
                      <a:srgbClr val="FAC14D"/>
                    </a:solidFill>
                  </a:tcPr>
                </a:tc>
                <a:tc>
                  <a:txBody>
                    <a:bodyPr/>
                    <a:lstStyle/>
                    <a:p>
                      <a:pPr algn="ctr">
                        <a:buNone/>
                      </a:pPr>
                      <a:r>
                        <a:rPr lang="en-US" altLang="zh-CN" sz="1400"/>
                        <a:t>time Mode </a:t>
                      </a:r>
                    </a:p>
                  </a:txBody>
                  <a:tcPr>
                    <a:solidFill>
                      <a:srgbClr val="FAC14D"/>
                    </a:solidFill>
                  </a:tcPr>
                </a:tc>
                <a:tc>
                  <a:txBody>
                    <a:bodyPr/>
                    <a:lstStyle/>
                    <a:p>
                      <a:pPr algn="ctr">
                        <a:buNone/>
                      </a:pPr>
                      <a:r>
                        <a:rPr lang="en-US" altLang="zh-CN" sz="1400"/>
                        <a:t>star</a:t>
                      </a:r>
                    </a:p>
                  </a:txBody>
                  <a:tcPr>
                    <a:solidFill>
                      <a:srgbClr val="FAC14D"/>
                    </a:solidFill>
                  </a:tcPr>
                </a:tc>
                <a:tc>
                  <a:txBody>
                    <a:bodyPr/>
                    <a:lstStyle/>
                    <a:p>
                      <a:pPr algn="ctr">
                        <a:buNone/>
                      </a:pPr>
                      <a:r>
                        <a:rPr lang="en-US" altLang="zh-CN" sz="1400" dirty="0"/>
                        <a:t>movie id list</a:t>
                      </a:r>
                    </a:p>
                  </a:txBody>
                  <a:tcPr>
                    <a:solidFill>
                      <a:srgbClr val="FAC14D"/>
                    </a:solidFill>
                  </a:tcPr>
                </a:tc>
                <a:extLst>
                  <a:ext uri="{0D108BD9-81ED-4DB2-BD59-A6C34878D82A}">
                    <a16:rowId xmlns:a16="http://schemas.microsoft.com/office/drawing/2014/main" val="10000"/>
                  </a:ext>
                </a:extLst>
              </a:tr>
              <a:tr h="358273">
                <a:tc>
                  <a:txBody>
                    <a:bodyPr/>
                    <a:lstStyle/>
                    <a:p>
                      <a:pPr algn="ctr">
                        <a:buNone/>
                      </a:pPr>
                      <a:r>
                        <a:rPr lang="en-US" altLang="zh-CN" sz="1400" dirty="0"/>
                        <a:t>1722994</a:t>
                      </a:r>
                    </a:p>
                  </a:txBody>
                  <a:tcPr/>
                </a:tc>
                <a:tc>
                  <a:txBody>
                    <a:bodyPr/>
                    <a:lstStyle/>
                    <a:p>
                      <a:pPr algn="ctr">
                        <a:buNone/>
                      </a:pPr>
                      <a:r>
                        <a:rPr lang="en-US" altLang="zh-CN" sz="1400"/>
                        <a:t>1306505</a:t>
                      </a:r>
                    </a:p>
                  </a:txBody>
                  <a:tcPr/>
                </a:tc>
                <a:tc>
                  <a:txBody>
                    <a:bodyPr/>
                    <a:lstStyle/>
                    <a:p>
                      <a:pPr algn="ctr">
                        <a:buNone/>
                      </a:pPr>
                      <a:r>
                        <a:rPr lang="en-US" altLang="zh-CN" sz="1400"/>
                        <a:t>2</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t>[0.52603,-0.040752,-0.056807,0.02…]</a:t>
                      </a:r>
                    </a:p>
                  </a:txBody>
                  <a:tcPr/>
                </a:tc>
                <a:extLst>
                  <a:ext uri="{0D108BD9-81ED-4DB2-BD59-A6C34878D82A}">
                    <a16:rowId xmlns:a16="http://schemas.microsoft.com/office/drawing/2014/main" val="10001"/>
                  </a:ext>
                </a:extLst>
              </a:tr>
              <a:tr h="358228">
                <a:tc>
                  <a:txBody>
                    <a:bodyPr/>
                    <a:lstStyle/>
                    <a:p>
                      <a:pPr algn="ctr">
                        <a:buNone/>
                      </a:pPr>
                      <a:r>
                        <a:rPr lang="en-US" altLang="zh-CN" sz="1400"/>
                        <a:t>1299639</a:t>
                      </a:r>
                    </a:p>
                  </a:txBody>
                  <a:tcPr/>
                </a:tc>
                <a:tc>
                  <a:txBody>
                    <a:bodyPr/>
                    <a:lstStyle/>
                    <a:p>
                      <a:pPr algn="ctr">
                        <a:buNone/>
                      </a:pPr>
                      <a:r>
                        <a:rPr lang="en-US" altLang="zh-CN" sz="1400"/>
                        <a:t>1306505</a:t>
                      </a:r>
                    </a:p>
                  </a:txBody>
                  <a:tcPr/>
                </a:tc>
                <a:tc>
                  <a:txBody>
                    <a:bodyPr/>
                    <a:lstStyle/>
                    <a:p>
                      <a:pPr algn="ctr">
                        <a:buNone/>
                      </a:pPr>
                      <a:r>
                        <a:rPr lang="en-US" altLang="zh-CN" sz="1400"/>
                        <a:t>4</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dirty="0">
                          <a:sym typeface="+mn-ea"/>
                        </a:rPr>
                        <a:t>[0.52603,-0.040752,-0.056807,0.02…]</a:t>
                      </a:r>
                    </a:p>
                  </a:txBody>
                  <a:tcPr/>
                </a:tc>
                <a:extLst>
                  <a:ext uri="{0D108BD9-81ED-4DB2-BD59-A6C34878D82A}">
                    <a16:rowId xmlns:a16="http://schemas.microsoft.com/office/drawing/2014/main" val="10002"/>
                  </a:ext>
                </a:extLst>
              </a:tr>
              <a:tr h="358228">
                <a:tc>
                  <a:txBody>
                    <a:bodyPr/>
                    <a:lstStyle/>
                    <a:p>
                      <a:pPr algn="ctr">
                        <a:buNone/>
                      </a:pPr>
                      <a:r>
                        <a:rPr lang="en-US" altLang="zh-CN" sz="1400"/>
                        <a:t>1279487</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sym typeface="+mn-ea"/>
                        </a:rPr>
                        <a:t>[0.52603,-0.040752,-0.056807,0.02…]</a:t>
                      </a:r>
                    </a:p>
                  </a:txBody>
                  <a:tcPr/>
                </a:tc>
                <a:extLst>
                  <a:ext uri="{0D108BD9-81ED-4DB2-BD59-A6C34878D82A}">
                    <a16:rowId xmlns:a16="http://schemas.microsoft.com/office/drawing/2014/main" val="10003"/>
                  </a:ext>
                </a:extLst>
              </a:tr>
              <a:tr h="358228">
                <a:tc>
                  <a:txBody>
                    <a:bodyPr/>
                    <a:lstStyle/>
                    <a:p>
                      <a:pPr algn="ctr">
                        <a:buNone/>
                      </a:pPr>
                      <a:r>
                        <a:rPr lang="en-US" altLang="zh-CN" sz="1400"/>
                        <a:t>1226283</a:t>
                      </a:r>
                    </a:p>
                  </a:txBody>
                  <a:tcPr/>
                </a:tc>
                <a:tc>
                  <a:txBody>
                    <a:bodyPr/>
                    <a:lstStyle/>
                    <a:p>
                      <a:pPr algn="ctr">
                        <a:buNone/>
                      </a:pPr>
                      <a:r>
                        <a:rPr lang="en-US" altLang="zh-CN" sz="1400"/>
                        <a:t>1306505</a:t>
                      </a:r>
                    </a:p>
                  </a:txBody>
                  <a:tcPr/>
                </a:tc>
                <a:tc>
                  <a:txBody>
                    <a:bodyPr/>
                    <a:lstStyle/>
                    <a:p>
                      <a:pPr algn="ctr">
                        <a:buNone/>
                      </a:pPr>
                      <a:r>
                        <a:rPr lang="en-US" altLang="zh-CN" sz="1400"/>
                        <a:t>1</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sym typeface="+mn-ea"/>
                        </a:rPr>
                        <a:t>[0.52603,-0.040752,-0.056807,0.02…]</a:t>
                      </a:r>
                    </a:p>
                  </a:txBody>
                  <a:tcPr/>
                </a:tc>
                <a:extLst>
                  <a:ext uri="{0D108BD9-81ED-4DB2-BD59-A6C34878D82A}">
                    <a16:rowId xmlns:a16="http://schemas.microsoft.com/office/drawing/2014/main" val="10004"/>
                  </a:ext>
                </a:extLst>
              </a:tr>
              <a:tr h="358228">
                <a:tc>
                  <a:txBody>
                    <a:bodyPr/>
                    <a:lstStyle/>
                    <a:p>
                      <a:pPr algn="ctr">
                        <a:buNone/>
                      </a:pPr>
                      <a:r>
                        <a:rPr lang="en-US" altLang="zh-CN" sz="1400"/>
                        <a:t>1694045</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dirty="0">
                          <a:sym typeface="+mn-ea"/>
                        </a:rPr>
                        <a:t>[0.52603,-0.040752,-0.056807,0.02…]</a:t>
                      </a:r>
                    </a:p>
                  </a:txBody>
                  <a:tcPr/>
                </a:tc>
                <a:extLst>
                  <a:ext uri="{0D108BD9-81ED-4DB2-BD59-A6C34878D82A}">
                    <a16:rowId xmlns:a16="http://schemas.microsoft.com/office/drawing/2014/main" val="10005"/>
                  </a:ext>
                </a:extLst>
              </a:tr>
            </a:tbl>
          </a:graphicData>
        </a:graphic>
      </p:graphicFrame>
      <p:sp>
        <p:nvSpPr>
          <p:cNvPr id="10" name="矩形 9">
            <a:extLst>
              <a:ext uri="{FF2B5EF4-FFF2-40B4-BE49-F238E27FC236}">
                <a16:creationId xmlns:a16="http://schemas.microsoft.com/office/drawing/2014/main" id="{38C0AC5B-981C-413B-889A-11EDF9BAEF0A}"/>
              </a:ext>
            </a:extLst>
          </p:cNvPr>
          <p:cNvSpPr/>
          <p:nvPr/>
        </p:nvSpPr>
        <p:spPr>
          <a:xfrm>
            <a:off x="-60003" y="3376516"/>
            <a:ext cx="1111202" cy="261610"/>
          </a:xfrm>
          <a:prstGeom prst="rect">
            <a:avLst/>
          </a:prstGeom>
        </p:spPr>
        <p:txBody>
          <a:bodyPr wrap="none">
            <a:spAutoFit/>
          </a:bodyPr>
          <a:lstStyle/>
          <a:p>
            <a:r>
              <a:rPr lang="en-US" altLang="zh-CN" sz="1100" dirty="0">
                <a:solidFill>
                  <a:srgbClr val="FF0000"/>
                </a:solidFill>
              </a:rPr>
              <a:t>1600</a:t>
            </a:r>
            <a:r>
              <a:rPr lang="zh-CN" altLang="en-US" sz="1100" dirty="0">
                <a:solidFill>
                  <a:srgbClr val="FF0000"/>
                </a:solidFill>
              </a:rPr>
              <a:t>万*</a:t>
            </a:r>
            <a:r>
              <a:rPr lang="en-US" altLang="zh-CN" sz="1100" dirty="0">
                <a:solidFill>
                  <a:srgbClr val="FF0000"/>
                </a:solidFill>
              </a:rPr>
              <a:t>30</a:t>
            </a:r>
            <a:r>
              <a:rPr lang="zh-CN" altLang="en-US" sz="1100" dirty="0">
                <a:solidFill>
                  <a:srgbClr val="FF0000"/>
                </a:solidFill>
              </a:rPr>
              <a:t>万维</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0-#ppt_w/2"/>
                                          </p:val>
                                        </p:tav>
                                        <p:tav tm="100000">
                                          <p:val>
                                            <p:strVal val="#ppt_x"/>
                                          </p:val>
                                        </p:tav>
                                      </p:tavLst>
                                    </p:anim>
                                    <p:anim calcmode="lin" valueType="num">
                                      <p:cBhvr additive="base">
                                        <p:cTn id="8" dur="500" fill="hold"/>
                                        <p:tgtEl>
                                          <p:spTgt spid="8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500"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500"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500"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par>
                          <p:cTn id="21" fill="hold">
                            <p:stCondLst>
                              <p:cond delay="2000"/>
                            </p:stCondLst>
                            <p:childTnLst>
                              <p:par>
                                <p:cTn id="22" presetID="42" presetClass="entr" presetSubtype="0" fill="hold" nodeType="afterEffect">
                                  <p:stCondLst>
                                    <p:cond delay="0"/>
                                  </p:stCondLst>
                                  <p:childTnLst>
                                    <p:set>
                                      <p:cBhvr>
                                        <p:cTn id="23" dur="500"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anim calcmode="lin" valueType="num">
                                      <p:cBhvr>
                                        <p:cTn id="25" dur="500" fill="hold"/>
                                        <p:tgtEl>
                                          <p:spTgt spid="88"/>
                                        </p:tgtEl>
                                        <p:attrNameLst>
                                          <p:attrName>ppt_x</p:attrName>
                                        </p:attrNameLst>
                                      </p:cBhvr>
                                      <p:tavLst>
                                        <p:tav tm="0">
                                          <p:val>
                                            <p:strVal val="#ppt_x"/>
                                          </p:val>
                                        </p:tav>
                                        <p:tav tm="100000">
                                          <p:val>
                                            <p:strVal val="#ppt_x"/>
                                          </p:val>
                                        </p:tav>
                                      </p:tavLst>
                                    </p:anim>
                                    <p:anim calcmode="lin" valueType="num">
                                      <p:cBhvr>
                                        <p:cTn id="26" dur="500" fill="hold"/>
                                        <p:tgtEl>
                                          <p:spTgt spid="88"/>
                                        </p:tgtEl>
                                        <p:attrNameLst>
                                          <p:attrName>ppt_y</p:attrName>
                                        </p:attrNameLst>
                                      </p:cBhvr>
                                      <p:tavLst>
                                        <p:tav tm="0">
                                          <p:val>
                                            <p:strVal val="#ppt_y+.1"/>
                                          </p:val>
                                        </p:tav>
                                        <p:tav tm="100000">
                                          <p:val>
                                            <p:strVal val="#ppt_y"/>
                                          </p:val>
                                        </p:tav>
                                      </p:tavLst>
                                    </p:anim>
                                  </p:childTnLst>
                                </p:cTn>
                              </p:par>
                            </p:childTnLst>
                          </p:cTn>
                        </p:par>
                        <p:par>
                          <p:cTn id="27" fill="hold">
                            <p:stCondLst>
                              <p:cond delay="2500"/>
                            </p:stCondLst>
                            <p:childTnLst>
                              <p:par>
                                <p:cTn id="28" presetID="22" presetClass="entr" presetSubtype="1" fill="hold" grpId="0" nodeType="afterEffect">
                                  <p:stCondLst>
                                    <p:cond delay="0"/>
                                  </p:stCondLst>
                                  <p:childTnLst>
                                    <p:set>
                                      <p:cBhvr>
                                        <p:cTn id="29" dur="500"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par>
                          <p:cTn id="31" fill="hold">
                            <p:stCondLst>
                              <p:cond delay="3000"/>
                            </p:stCondLst>
                            <p:childTnLst>
                              <p:par>
                                <p:cTn id="32" presetID="42" presetClass="entr" presetSubtype="0" fill="hold" nodeType="afterEffect">
                                  <p:stCondLst>
                                    <p:cond delay="0"/>
                                  </p:stCondLst>
                                  <p:childTnLst>
                                    <p:set>
                                      <p:cBhvr>
                                        <p:cTn id="33" dur="1" fill="hold">
                                          <p:stCondLst>
                                            <p:cond delay="0"/>
                                          </p:stCondLst>
                                        </p:cTn>
                                        <p:tgtEl>
                                          <p:spTgt spid="109"/>
                                        </p:tgtEl>
                                        <p:attrNameLst>
                                          <p:attrName>style.visibility</p:attrName>
                                        </p:attrNameLst>
                                      </p:cBhvr>
                                      <p:to>
                                        <p:strVal val="visible"/>
                                      </p:to>
                                    </p:set>
                                    <p:animEffect transition="in" filter="fade">
                                      <p:cBhvr>
                                        <p:cTn id="34" dur="1000"/>
                                        <p:tgtEl>
                                          <p:spTgt spid="109"/>
                                        </p:tgtEl>
                                      </p:cBhvr>
                                    </p:animEffect>
                                    <p:anim calcmode="lin" valueType="num">
                                      <p:cBhvr>
                                        <p:cTn id="35" dur="1000" fill="hold"/>
                                        <p:tgtEl>
                                          <p:spTgt spid="109"/>
                                        </p:tgtEl>
                                        <p:attrNameLst>
                                          <p:attrName>ppt_x</p:attrName>
                                        </p:attrNameLst>
                                      </p:cBhvr>
                                      <p:tavLst>
                                        <p:tav tm="0">
                                          <p:val>
                                            <p:strVal val="#ppt_x"/>
                                          </p:val>
                                        </p:tav>
                                        <p:tav tm="100000">
                                          <p:val>
                                            <p:strVal val="#ppt_x"/>
                                          </p:val>
                                        </p:tav>
                                      </p:tavLst>
                                    </p:anim>
                                    <p:anim calcmode="lin" valueType="num">
                                      <p:cBhvr>
                                        <p:cTn id="36" dur="1000" fill="hold"/>
                                        <p:tgtEl>
                                          <p:spTgt spid="109"/>
                                        </p:tgtEl>
                                        <p:attrNameLst>
                                          <p:attrName>ppt_y</p:attrName>
                                        </p:attrNameLst>
                                      </p:cBhvr>
                                      <p:tavLst>
                                        <p:tav tm="0">
                                          <p:val>
                                            <p:strVal val="#ppt_y+.1"/>
                                          </p:val>
                                        </p:tav>
                                        <p:tav tm="100000">
                                          <p:val>
                                            <p:strVal val="#ppt_y"/>
                                          </p:val>
                                        </p:tav>
                                      </p:tavLst>
                                    </p:anim>
                                  </p:childTnLst>
                                </p:cTn>
                              </p:par>
                            </p:childTnLst>
                          </p:cTn>
                        </p:par>
                        <p:par>
                          <p:cTn id="37" fill="hold">
                            <p:stCondLst>
                              <p:cond delay="4000"/>
                            </p:stCondLst>
                            <p:childTnLst>
                              <p:par>
                                <p:cTn id="38" presetID="10" presetClass="entr" presetSubtype="0" fill="hold" grpId="1"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4" fill="hold" nodeType="clickEffect">
                                  <p:stCondLst>
                                    <p:cond delay="0"/>
                                  </p:stCondLst>
                                  <p:childTnLst>
                                    <p:animEffect transition="out" filter="wipe(down)">
                                      <p:cBhvr>
                                        <p:cTn id="44" dur="500"/>
                                        <p:tgtEl>
                                          <p:spTgt spid="109"/>
                                        </p:tgtEl>
                                      </p:cBhvr>
                                    </p:animEffect>
                                    <p:set>
                                      <p:cBhvr>
                                        <p:cTn id="45" dur="1" fill="hold">
                                          <p:stCondLst>
                                            <p:cond delay="499"/>
                                          </p:stCondLst>
                                        </p:cTn>
                                        <p:tgtEl>
                                          <p:spTgt spid="109"/>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hidden"/>
                                      </p:to>
                                    </p:set>
                                  </p:childTnLst>
                                </p:cTn>
                              </p:par>
                            </p:childTnLst>
                          </p:cTn>
                        </p:par>
                        <p:par>
                          <p:cTn id="48" fill="hold">
                            <p:stCondLst>
                              <p:cond delay="500"/>
                            </p:stCondLst>
                            <p:childTnLst>
                              <p:par>
                                <p:cTn id="49" presetID="42" presetClass="entr" presetSubtype="0" fill="hold" nodeType="afterEffect">
                                  <p:stCondLst>
                                    <p:cond delay="0"/>
                                  </p:stCondLst>
                                  <p:childTnLst>
                                    <p:set>
                                      <p:cBhvr>
                                        <p:cTn id="50" dur="500" fill="hold">
                                          <p:stCondLst>
                                            <p:cond delay="0"/>
                                          </p:stCondLst>
                                        </p:cTn>
                                        <p:tgtEl>
                                          <p:spTgt spid="95"/>
                                        </p:tgtEl>
                                        <p:attrNameLst>
                                          <p:attrName>style.visibility</p:attrName>
                                        </p:attrNameLst>
                                      </p:cBhvr>
                                      <p:to>
                                        <p:strVal val="visible"/>
                                      </p:to>
                                    </p:set>
                                    <p:animEffect transition="in" filter="fade">
                                      <p:cBhvr>
                                        <p:cTn id="51" dur="500"/>
                                        <p:tgtEl>
                                          <p:spTgt spid="95"/>
                                        </p:tgtEl>
                                      </p:cBhvr>
                                    </p:animEffect>
                                    <p:anim calcmode="lin" valueType="num">
                                      <p:cBhvr>
                                        <p:cTn id="52" dur="500" fill="hold"/>
                                        <p:tgtEl>
                                          <p:spTgt spid="95"/>
                                        </p:tgtEl>
                                        <p:attrNameLst>
                                          <p:attrName>ppt_x</p:attrName>
                                        </p:attrNameLst>
                                      </p:cBhvr>
                                      <p:tavLst>
                                        <p:tav tm="0">
                                          <p:val>
                                            <p:strVal val="#ppt_x"/>
                                          </p:val>
                                        </p:tav>
                                        <p:tav tm="100000">
                                          <p:val>
                                            <p:strVal val="#ppt_x"/>
                                          </p:val>
                                        </p:tav>
                                      </p:tavLst>
                                    </p:anim>
                                    <p:anim calcmode="lin" valueType="num">
                                      <p:cBhvr>
                                        <p:cTn id="53" dur="500" fill="hold"/>
                                        <p:tgtEl>
                                          <p:spTgt spid="95"/>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22" presetClass="entr" presetSubtype="1" fill="hold" grpId="0" nodeType="afterEffect">
                                  <p:stCondLst>
                                    <p:cond delay="0"/>
                                  </p:stCondLst>
                                  <p:childTnLst>
                                    <p:set>
                                      <p:cBhvr>
                                        <p:cTn id="56" dur="500" fill="hold">
                                          <p:stCondLst>
                                            <p:cond delay="0"/>
                                          </p:stCondLst>
                                        </p:cTn>
                                        <p:tgtEl>
                                          <p:spTgt spid="5"/>
                                        </p:tgtEl>
                                        <p:attrNameLst>
                                          <p:attrName>style.visibility</p:attrName>
                                        </p:attrNameLst>
                                      </p:cBhvr>
                                      <p:to>
                                        <p:strVal val="visible"/>
                                      </p:to>
                                    </p:set>
                                    <p:animEffect transition="in" filter="wipe(up)">
                                      <p:cBhvr>
                                        <p:cTn id="57" dur="500"/>
                                        <p:tgtEl>
                                          <p:spTgt spid="5"/>
                                        </p:tgtEl>
                                      </p:cBhvr>
                                    </p:animEffect>
                                  </p:childTnLst>
                                </p:cTn>
                              </p:par>
                            </p:childTnLst>
                          </p:cTn>
                        </p:par>
                        <p:par>
                          <p:cTn id="58" fill="hold">
                            <p:stCondLst>
                              <p:cond delay="1500"/>
                            </p:stCondLst>
                            <p:childTnLst>
                              <p:par>
                                <p:cTn id="59" presetID="42" presetClass="entr" presetSubtype="0" fill="hold" nodeType="afterEffect">
                                  <p:stCondLst>
                                    <p:cond delay="0"/>
                                  </p:stCondLst>
                                  <p:childTnLst>
                                    <p:set>
                                      <p:cBhvr>
                                        <p:cTn id="60" dur="1" fill="hold">
                                          <p:stCondLst>
                                            <p:cond delay="0"/>
                                          </p:stCondLst>
                                        </p:cTn>
                                        <p:tgtEl>
                                          <p:spTgt spid="110"/>
                                        </p:tgtEl>
                                        <p:attrNameLst>
                                          <p:attrName>style.visibility</p:attrName>
                                        </p:attrNameLst>
                                      </p:cBhvr>
                                      <p:to>
                                        <p:strVal val="visible"/>
                                      </p:to>
                                    </p:set>
                                    <p:animEffect transition="in" filter="fade">
                                      <p:cBhvr>
                                        <p:cTn id="61" dur="1000"/>
                                        <p:tgtEl>
                                          <p:spTgt spid="110"/>
                                        </p:tgtEl>
                                      </p:cBhvr>
                                    </p:animEffect>
                                    <p:anim calcmode="lin" valueType="num">
                                      <p:cBhvr>
                                        <p:cTn id="62" dur="1000" fill="hold"/>
                                        <p:tgtEl>
                                          <p:spTgt spid="110"/>
                                        </p:tgtEl>
                                        <p:attrNameLst>
                                          <p:attrName>ppt_x</p:attrName>
                                        </p:attrNameLst>
                                      </p:cBhvr>
                                      <p:tavLst>
                                        <p:tav tm="0">
                                          <p:val>
                                            <p:strVal val="#ppt_x"/>
                                          </p:val>
                                        </p:tav>
                                        <p:tav tm="100000">
                                          <p:val>
                                            <p:strVal val="#ppt_x"/>
                                          </p:val>
                                        </p:tav>
                                      </p:tavLst>
                                    </p:anim>
                                    <p:anim calcmode="lin" valueType="num">
                                      <p:cBhvr>
                                        <p:cTn id="63"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xit" presetSubtype="4" fill="hold" nodeType="clickEffect">
                                  <p:stCondLst>
                                    <p:cond delay="0"/>
                                  </p:stCondLst>
                                  <p:childTnLst>
                                    <p:animEffect transition="out" filter="wipe(down)">
                                      <p:cBhvr>
                                        <p:cTn id="67" dur="500"/>
                                        <p:tgtEl>
                                          <p:spTgt spid="110"/>
                                        </p:tgtEl>
                                      </p:cBhvr>
                                    </p:animEffect>
                                    <p:set>
                                      <p:cBhvr>
                                        <p:cTn id="68" dur="1" fill="hold">
                                          <p:stCondLst>
                                            <p:cond delay="499"/>
                                          </p:stCondLst>
                                        </p:cTn>
                                        <p:tgtEl>
                                          <p:spTgt spid="110"/>
                                        </p:tgtEl>
                                        <p:attrNameLst>
                                          <p:attrName>style.visibility</p:attrName>
                                        </p:attrNameLst>
                                      </p:cBhvr>
                                      <p:to>
                                        <p:strVal val="hidden"/>
                                      </p:to>
                                    </p:set>
                                  </p:childTnLst>
                                </p:cTn>
                              </p:par>
                            </p:childTnLst>
                          </p:cTn>
                        </p:par>
                        <p:par>
                          <p:cTn id="69" fill="hold">
                            <p:stCondLst>
                              <p:cond delay="500"/>
                            </p:stCondLst>
                            <p:childTnLst>
                              <p:par>
                                <p:cTn id="70" presetID="42" presetClass="entr" presetSubtype="0" fill="hold" nodeType="afterEffect">
                                  <p:stCondLst>
                                    <p:cond delay="0"/>
                                  </p:stCondLst>
                                  <p:childTnLst>
                                    <p:set>
                                      <p:cBhvr>
                                        <p:cTn id="71" dur="500" fill="hold">
                                          <p:stCondLst>
                                            <p:cond delay="0"/>
                                          </p:stCondLst>
                                        </p:cTn>
                                        <p:tgtEl>
                                          <p:spTgt spid="102"/>
                                        </p:tgtEl>
                                        <p:attrNameLst>
                                          <p:attrName>style.visibility</p:attrName>
                                        </p:attrNameLst>
                                      </p:cBhvr>
                                      <p:to>
                                        <p:strVal val="visible"/>
                                      </p:to>
                                    </p:set>
                                    <p:animEffect transition="in" filter="fade">
                                      <p:cBhvr>
                                        <p:cTn id="72" dur="500"/>
                                        <p:tgtEl>
                                          <p:spTgt spid="102"/>
                                        </p:tgtEl>
                                      </p:cBhvr>
                                    </p:animEffect>
                                    <p:anim calcmode="lin" valueType="num">
                                      <p:cBhvr>
                                        <p:cTn id="73" dur="500" fill="hold"/>
                                        <p:tgtEl>
                                          <p:spTgt spid="102"/>
                                        </p:tgtEl>
                                        <p:attrNameLst>
                                          <p:attrName>ppt_x</p:attrName>
                                        </p:attrNameLst>
                                      </p:cBhvr>
                                      <p:tavLst>
                                        <p:tav tm="0">
                                          <p:val>
                                            <p:strVal val="#ppt_x"/>
                                          </p:val>
                                        </p:tav>
                                        <p:tav tm="100000">
                                          <p:val>
                                            <p:strVal val="#ppt_x"/>
                                          </p:val>
                                        </p:tav>
                                      </p:tavLst>
                                    </p:anim>
                                    <p:anim calcmode="lin" valueType="num">
                                      <p:cBhvr>
                                        <p:cTn id="74" dur="500" fill="hold"/>
                                        <p:tgtEl>
                                          <p:spTgt spid="102"/>
                                        </p:tgtEl>
                                        <p:attrNameLst>
                                          <p:attrName>ppt_y</p:attrName>
                                        </p:attrNameLst>
                                      </p:cBhvr>
                                      <p:tavLst>
                                        <p:tav tm="0">
                                          <p:val>
                                            <p:strVal val="#ppt_y+.1"/>
                                          </p:val>
                                        </p:tav>
                                        <p:tav tm="100000">
                                          <p:val>
                                            <p:strVal val="#ppt_y"/>
                                          </p:val>
                                        </p:tav>
                                      </p:tavLst>
                                    </p:anim>
                                  </p:childTnLst>
                                </p:cTn>
                              </p:par>
                            </p:childTnLst>
                          </p:cTn>
                        </p:par>
                        <p:par>
                          <p:cTn id="75" fill="hold">
                            <p:stCondLst>
                              <p:cond delay="1000"/>
                            </p:stCondLst>
                            <p:childTnLst>
                              <p:par>
                                <p:cTn id="76" presetID="22" presetClass="entr" presetSubtype="1" fill="hold" grpId="0" nodeType="afterEffect">
                                  <p:stCondLst>
                                    <p:cond delay="0"/>
                                  </p:stCondLst>
                                  <p:childTnLst>
                                    <p:set>
                                      <p:cBhvr>
                                        <p:cTn id="77" dur="500" fill="hold">
                                          <p:stCondLst>
                                            <p:cond delay="0"/>
                                          </p:stCondLst>
                                        </p:cTn>
                                        <p:tgtEl>
                                          <p:spTgt spid="4"/>
                                        </p:tgtEl>
                                        <p:attrNameLst>
                                          <p:attrName>style.visibility</p:attrName>
                                        </p:attrNameLst>
                                      </p:cBhvr>
                                      <p:to>
                                        <p:strVal val="visible"/>
                                      </p:to>
                                    </p:set>
                                    <p:animEffect transition="in" filter="wipe(up)">
                                      <p:cBhvr>
                                        <p:cTn id="78" dur="500"/>
                                        <p:tgtEl>
                                          <p:spTgt spid="4"/>
                                        </p:tgtEl>
                                      </p:cBhvr>
                                    </p:animEffect>
                                  </p:childTnLst>
                                </p:cTn>
                              </p:par>
                            </p:childTnLst>
                          </p:cTn>
                        </p:par>
                        <p:par>
                          <p:cTn id="79" fill="hold">
                            <p:stCondLst>
                              <p:cond delay="1500"/>
                            </p:stCondLst>
                            <p:childTnLst>
                              <p:par>
                                <p:cTn id="80" presetID="42" presetClass="entr" presetSubtype="0" fill="hold" nodeType="after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1000"/>
                                        <p:tgtEl>
                                          <p:spTgt spid="46"/>
                                        </p:tgtEl>
                                      </p:cBhvr>
                                    </p:animEffect>
                                    <p:anim calcmode="lin" valueType="num">
                                      <p:cBhvr>
                                        <p:cTn id="83" dur="1000" fill="hold"/>
                                        <p:tgtEl>
                                          <p:spTgt spid="46"/>
                                        </p:tgtEl>
                                        <p:attrNameLst>
                                          <p:attrName>ppt_x</p:attrName>
                                        </p:attrNameLst>
                                      </p:cBhvr>
                                      <p:tavLst>
                                        <p:tav tm="0">
                                          <p:val>
                                            <p:strVal val="#ppt_x"/>
                                          </p:val>
                                        </p:tav>
                                        <p:tav tm="100000">
                                          <p:val>
                                            <p:strVal val="#ppt_x"/>
                                          </p:val>
                                        </p:tav>
                                      </p:tavLst>
                                    </p:anim>
                                    <p:anim calcmode="lin" valueType="num">
                                      <p:cBhvr>
                                        <p:cTn id="8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bldLvl="0" animBg="1"/>
      <p:bldP spid="10" grpId="0"/>
      <p:bldP spid="10" grpId="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224181" cy="369332"/>
          </a:xfrm>
          <a:prstGeom prst="rect">
            <a:avLst/>
          </a:prstGeom>
          <a:noFill/>
        </p:spPr>
        <p:txBody>
          <a:bodyPr wrap="none">
            <a:spAutoFit/>
          </a:bodyPr>
          <a:lstStyle/>
          <a:p>
            <a:pPr>
              <a:defRPr/>
            </a:pP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Trans</a:t>
            </a:r>
            <a:r>
              <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系列</a:t>
            </a:r>
          </a:p>
        </p:txBody>
      </p:sp>
      <p:sp>
        <p:nvSpPr>
          <p:cNvPr id="5" name="矩形 4"/>
          <p:cNvSpPr/>
          <p:nvPr/>
        </p:nvSpPr>
        <p:spPr>
          <a:xfrm>
            <a:off x="90232" y="575233"/>
            <a:ext cx="1005403"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知识图谱特征提取</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06124" y="3569732"/>
            <a:ext cx="779021" cy="341184"/>
          </a:xfrm>
          <a:prstGeom prst="rect">
            <a:avLst/>
          </a:prstGeom>
          <a:noFill/>
        </p:spPr>
        <p:txBody>
          <a:bodyPr wrap="square" rtlCol="0">
            <a:spAutoFit/>
          </a:bodyPr>
          <a:lstStyle/>
          <a:p>
            <a:pPr algn="just">
              <a:lnSpc>
                <a:spcPct val="150000"/>
              </a:lnSpc>
            </a:pPr>
            <a:r>
              <a:rPr lang="en-US" altLang="zh-CN" sz="1200" dirty="0" err="1">
                <a:latin typeface="+mn-ea"/>
              </a:rPr>
              <a:t>TransE</a:t>
            </a:r>
            <a:endParaRPr lang="zh-CN" altLang="en-US" sz="1200" dirty="0">
              <a:latin typeface="+mn-ea"/>
            </a:endParaRPr>
          </a:p>
        </p:txBody>
      </p:sp>
      <p:sp>
        <p:nvSpPr>
          <p:cNvPr id="13" name="文本框 12"/>
          <p:cNvSpPr txBox="1"/>
          <p:nvPr/>
        </p:nvSpPr>
        <p:spPr>
          <a:xfrm>
            <a:off x="3248986" y="3583116"/>
            <a:ext cx="779021" cy="341184"/>
          </a:xfrm>
          <a:prstGeom prst="rect">
            <a:avLst/>
          </a:prstGeom>
          <a:noFill/>
        </p:spPr>
        <p:txBody>
          <a:bodyPr wrap="square" rtlCol="0">
            <a:spAutoFit/>
          </a:bodyPr>
          <a:lstStyle/>
          <a:p>
            <a:pPr algn="just">
              <a:lnSpc>
                <a:spcPct val="150000"/>
              </a:lnSpc>
            </a:pPr>
            <a:r>
              <a:rPr lang="en-US" altLang="zh-CN" sz="1200" dirty="0" err="1">
                <a:latin typeface="+mn-ea"/>
              </a:rPr>
              <a:t>TransH</a:t>
            </a:r>
            <a:endParaRPr lang="zh-CN" altLang="en-US" sz="1200" dirty="0">
              <a:latin typeface="+mn-ea"/>
            </a:endParaRPr>
          </a:p>
        </p:txBody>
      </p:sp>
      <p:sp>
        <p:nvSpPr>
          <p:cNvPr id="14" name="文本框 13"/>
          <p:cNvSpPr txBox="1"/>
          <p:nvPr/>
        </p:nvSpPr>
        <p:spPr>
          <a:xfrm>
            <a:off x="6696119" y="3596846"/>
            <a:ext cx="779021" cy="341184"/>
          </a:xfrm>
          <a:prstGeom prst="rect">
            <a:avLst/>
          </a:prstGeom>
          <a:noFill/>
        </p:spPr>
        <p:txBody>
          <a:bodyPr wrap="square" rtlCol="0">
            <a:spAutoFit/>
          </a:bodyPr>
          <a:lstStyle/>
          <a:p>
            <a:pPr algn="just">
              <a:lnSpc>
                <a:spcPct val="150000"/>
              </a:lnSpc>
            </a:pPr>
            <a:r>
              <a:rPr lang="en-US" altLang="zh-CN" sz="1200" dirty="0" err="1">
                <a:latin typeface="+mn-ea"/>
              </a:rPr>
              <a:t>TransR</a:t>
            </a:r>
            <a:endParaRPr lang="zh-CN" altLang="en-US" sz="1200" dirty="0">
              <a:latin typeface="+mn-ea"/>
            </a:endParaRPr>
          </a:p>
        </p:txBody>
      </p:sp>
      <p:pic>
        <p:nvPicPr>
          <p:cNvPr id="10" name="图片 9"/>
          <p:cNvPicPr>
            <a:picLocks noChangeAspect="1"/>
          </p:cNvPicPr>
          <p:nvPr/>
        </p:nvPicPr>
        <p:blipFill>
          <a:blip r:embed="rId4">
            <a:clrChange>
              <a:clrFrom>
                <a:srgbClr val="FFFFFF"/>
              </a:clrFrom>
              <a:clrTo>
                <a:srgbClr val="FFFFFF">
                  <a:alpha val="0"/>
                </a:srgbClr>
              </a:clrTo>
            </a:clrChange>
          </a:blip>
          <a:stretch>
            <a:fillRect/>
          </a:stretch>
        </p:blipFill>
        <p:spPr>
          <a:xfrm>
            <a:off x="90232" y="4205974"/>
            <a:ext cx="2178657" cy="414623"/>
          </a:xfrm>
          <a:prstGeom prst="rect">
            <a:avLst/>
          </a:prstGeom>
        </p:spPr>
      </p:pic>
      <p:pic>
        <p:nvPicPr>
          <p:cNvPr id="17" name="图片 16"/>
          <p:cNvPicPr>
            <a:picLocks noChangeAspect="1"/>
          </p:cNvPicPr>
          <p:nvPr/>
        </p:nvPicPr>
        <p:blipFill>
          <a:blip r:embed="rId5">
            <a:clrChange>
              <a:clrFrom>
                <a:srgbClr val="FFFFFF"/>
              </a:clrFrom>
              <a:clrTo>
                <a:srgbClr val="FFFFFF">
                  <a:alpha val="0"/>
                </a:srgbClr>
              </a:clrTo>
            </a:clrChange>
          </a:blip>
          <a:stretch>
            <a:fillRect/>
          </a:stretch>
        </p:blipFill>
        <p:spPr>
          <a:xfrm>
            <a:off x="2464766" y="4242693"/>
            <a:ext cx="3126482" cy="341184"/>
          </a:xfrm>
          <a:prstGeom prst="rect">
            <a:avLst/>
          </a:prstGeom>
        </p:spPr>
      </p:pic>
      <p:pic>
        <p:nvPicPr>
          <p:cNvPr id="18" name="图片 17"/>
          <p:cNvPicPr>
            <a:picLocks noChangeAspect="1"/>
          </p:cNvPicPr>
          <p:nvPr/>
        </p:nvPicPr>
        <p:blipFill>
          <a:blip r:embed="rId6">
            <a:clrChange>
              <a:clrFrom>
                <a:srgbClr val="FFFFFF"/>
              </a:clrFrom>
              <a:clrTo>
                <a:srgbClr val="FFFFFF">
                  <a:alpha val="0"/>
                </a:srgbClr>
              </a:clrTo>
            </a:clrChange>
          </a:blip>
          <a:stretch>
            <a:fillRect/>
          </a:stretch>
        </p:blipFill>
        <p:spPr>
          <a:xfrm>
            <a:off x="6206283" y="4052374"/>
            <a:ext cx="1672529" cy="307199"/>
          </a:xfrm>
          <a:prstGeom prst="rect">
            <a:avLst/>
          </a:prstGeom>
        </p:spPr>
      </p:pic>
      <p:pic>
        <p:nvPicPr>
          <p:cNvPr id="19" name="图片 18"/>
          <p:cNvPicPr>
            <a:picLocks noChangeAspect="1"/>
          </p:cNvPicPr>
          <p:nvPr/>
        </p:nvPicPr>
        <p:blipFill>
          <a:blip r:embed="rId7">
            <a:clrChange>
              <a:clrFrom>
                <a:srgbClr val="FFFFFF"/>
              </a:clrFrom>
              <a:clrTo>
                <a:srgbClr val="FFFFFF">
                  <a:alpha val="0"/>
                </a:srgbClr>
              </a:clrTo>
            </a:clrChange>
          </a:blip>
          <a:stretch>
            <a:fillRect/>
          </a:stretch>
        </p:blipFill>
        <p:spPr>
          <a:xfrm>
            <a:off x="5911155" y="4378629"/>
            <a:ext cx="2262786" cy="379825"/>
          </a:xfrm>
          <a:prstGeom prst="rect">
            <a:avLst/>
          </a:prstGeom>
        </p:spPr>
      </p:pic>
      <p:pic>
        <p:nvPicPr>
          <p:cNvPr id="9" name="图片 8">
            <a:extLst>
              <a:ext uri="{FF2B5EF4-FFF2-40B4-BE49-F238E27FC236}">
                <a16:creationId xmlns:a16="http://schemas.microsoft.com/office/drawing/2014/main" id="{BB60B409-92F0-4D9E-8B6D-27487E64EEAC}"/>
              </a:ext>
            </a:extLst>
          </p:cNvPr>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b="13825"/>
          <a:stretch/>
        </p:blipFill>
        <p:spPr>
          <a:xfrm>
            <a:off x="156532" y="1432067"/>
            <a:ext cx="4357171" cy="2132516"/>
          </a:xfrm>
          <a:prstGeom prst="rect">
            <a:avLst/>
          </a:prstGeom>
        </p:spPr>
      </p:pic>
      <p:pic>
        <p:nvPicPr>
          <p:cNvPr id="15" name="图片 14">
            <a:extLst>
              <a:ext uri="{FF2B5EF4-FFF2-40B4-BE49-F238E27FC236}">
                <a16:creationId xmlns:a16="http://schemas.microsoft.com/office/drawing/2014/main" id="{12A8C0ED-77A2-42BE-97A2-995D3D502AC2}"/>
              </a:ext>
            </a:extLst>
          </p:cNvPr>
          <p:cNvPicPr>
            <a:picLocks noChangeAspect="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99399" y="1419985"/>
            <a:ext cx="4086295" cy="230353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572033" cy="369332"/>
          </a:xfrm>
          <a:prstGeom prst="rect">
            <a:avLst/>
          </a:prstGeom>
          <a:noFill/>
        </p:spPr>
        <p:txBody>
          <a:bodyPr wrap="none">
            <a:spAutoFit/>
          </a:bodyPr>
          <a:lstStyle/>
          <a:p>
            <a:pPr>
              <a:defRPr/>
            </a:pPr>
            <a:r>
              <a:rPr lang="en-US" altLang="zh-CN" sz="18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TransR</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 FM</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1225015"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a:t>
            </a:r>
            <a:r>
              <a:rPr lang="en-US" altLang="zh-CN" sz="800" dirty="0">
                <a:solidFill>
                  <a:schemeClr val="accent1"/>
                </a:solidFill>
                <a:latin typeface="+mj-lt"/>
                <a:ea typeface="方正兰亭黑_GBK"/>
              </a:rPr>
              <a:t> + </a:t>
            </a:r>
            <a:r>
              <a:rPr lang="zh-CN" altLang="en-US" sz="800" dirty="0">
                <a:solidFill>
                  <a:schemeClr val="accent1"/>
                </a:solidFill>
                <a:latin typeface="+mj-lt"/>
                <a:ea typeface="方正兰亭黑_GBK"/>
              </a:rPr>
              <a:t>分解机模型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8" name="表格 7"/>
          <p:cNvGraphicFramePr/>
          <p:nvPr>
            <p:extLst>
              <p:ext uri="{D42A27DB-BD31-4B8C-83A1-F6EECF244321}">
                <p14:modId xmlns:p14="http://schemas.microsoft.com/office/powerpoint/2010/main" val="2487752365"/>
              </p:ext>
            </p:extLst>
          </p:nvPr>
        </p:nvGraphicFramePr>
        <p:xfrm>
          <a:off x="1368398" y="3296524"/>
          <a:ext cx="6399530" cy="1143000"/>
        </p:xfrm>
        <a:graphic>
          <a:graphicData uri="http://schemas.openxmlformats.org/drawingml/2006/table">
            <a:tbl>
              <a:tblPr firstRow="1" bandRow="1">
                <a:tableStyleId>{5C22544A-7EE6-4342-B048-85BDC9FD1C3A}</a:tableStyleId>
              </a:tblPr>
              <a:tblGrid>
                <a:gridCol w="3199765">
                  <a:extLst>
                    <a:ext uri="{9D8B030D-6E8A-4147-A177-3AD203B41FA5}">
                      <a16:colId xmlns:a16="http://schemas.microsoft.com/office/drawing/2014/main" val="20000"/>
                    </a:ext>
                  </a:extLst>
                </a:gridCol>
                <a:gridCol w="3199765">
                  <a:extLst>
                    <a:ext uri="{9D8B030D-6E8A-4147-A177-3AD203B41FA5}">
                      <a16:colId xmlns:a16="http://schemas.microsoft.com/office/drawing/2014/main" val="20001"/>
                    </a:ext>
                  </a:extLst>
                </a:gridCol>
              </a:tblGrid>
              <a:tr h="381000">
                <a:tc>
                  <a:txBody>
                    <a:bodyPr/>
                    <a:lstStyle/>
                    <a:p>
                      <a:pPr>
                        <a:buNone/>
                      </a:pPr>
                      <a:r>
                        <a:rPr lang="zh-CN" altLang="en-US" sz="1600" b="1">
                          <a:solidFill>
                            <a:schemeClr val="bg1"/>
                          </a:solidFill>
                          <a:sym typeface="+mn-ea"/>
                        </a:rPr>
                        <a:t>precision</a:t>
                      </a:r>
                    </a:p>
                  </a:txBody>
                  <a:tcPr/>
                </a:tc>
                <a:tc>
                  <a:txBody>
                    <a:bodyPr/>
                    <a:lstStyle/>
                    <a:p>
                      <a:pPr>
                        <a:buNone/>
                      </a:pPr>
                      <a:r>
                        <a:rPr lang="zh-CN" altLang="en-US" sz="1600" b="1" dirty="0">
                          <a:solidFill>
                            <a:schemeClr val="bg1"/>
                          </a:solidFill>
                          <a:sym typeface="+mn-ea"/>
                        </a:rPr>
                        <a:t> 0.07103214688929824</a:t>
                      </a:r>
                    </a:p>
                  </a:txBody>
                  <a:tcPr/>
                </a:tc>
                <a:extLst>
                  <a:ext uri="{0D108BD9-81ED-4DB2-BD59-A6C34878D82A}">
                    <a16:rowId xmlns:a16="http://schemas.microsoft.com/office/drawing/2014/main" val="10000"/>
                  </a:ext>
                </a:extLst>
              </a:tr>
              <a:tr h="381000">
                <a:tc>
                  <a:txBody>
                    <a:bodyPr/>
                    <a:lstStyle/>
                    <a:p>
                      <a:pPr>
                        <a:buNone/>
                      </a:pPr>
                      <a:r>
                        <a:rPr lang="zh-CN" altLang="en-US" sz="1600">
                          <a:solidFill>
                            <a:schemeClr val="tx1"/>
                          </a:solidFill>
                          <a:sym typeface="+mn-ea"/>
                        </a:rPr>
                        <a:t>recall</a:t>
                      </a:r>
                    </a:p>
                  </a:txBody>
                  <a:tcPr/>
                </a:tc>
                <a:tc>
                  <a:txBody>
                    <a:bodyPr/>
                    <a:lstStyle/>
                    <a:p>
                      <a:pPr>
                        <a:buNone/>
                      </a:pPr>
                      <a:r>
                        <a:rPr lang="zh-CN" altLang="en-US" sz="1600">
                          <a:solidFill>
                            <a:schemeClr val="tx1"/>
                          </a:solidFill>
                          <a:sym typeface="+mn-ea"/>
                        </a:rPr>
                        <a:t>0.048452471667828595</a:t>
                      </a:r>
                    </a:p>
                  </a:txBody>
                  <a:tcPr/>
                </a:tc>
                <a:extLst>
                  <a:ext uri="{0D108BD9-81ED-4DB2-BD59-A6C34878D82A}">
                    <a16:rowId xmlns:a16="http://schemas.microsoft.com/office/drawing/2014/main" val="10001"/>
                  </a:ext>
                </a:extLst>
              </a:tr>
              <a:tr h="381000">
                <a:tc>
                  <a:txBody>
                    <a:bodyPr/>
                    <a:lstStyle/>
                    <a:p>
                      <a:pPr>
                        <a:buNone/>
                      </a:pPr>
                      <a:r>
                        <a:rPr lang="zh-CN" altLang="en-US" sz="1600">
                          <a:solidFill>
                            <a:schemeClr val="tx1"/>
                          </a:solidFill>
                          <a:sym typeface="+mn-ea"/>
                        </a:rPr>
                        <a:t> f1</a:t>
                      </a:r>
                    </a:p>
                  </a:txBody>
                  <a:tcPr/>
                </a:tc>
                <a:tc>
                  <a:txBody>
                    <a:bodyPr/>
                    <a:lstStyle/>
                    <a:p>
                      <a:pPr>
                        <a:buNone/>
                      </a:pPr>
                      <a:r>
                        <a:rPr lang="zh-CN" altLang="en-US" sz="1600" b="1" dirty="0">
                          <a:solidFill>
                            <a:srgbClr val="FF0000"/>
                          </a:solidFill>
                          <a:sym typeface="+mn-ea"/>
                        </a:rPr>
                        <a:t>0.05760880565582184</a:t>
                      </a:r>
                    </a:p>
                  </a:txBody>
                  <a:tcPr/>
                </a:tc>
                <a:extLst>
                  <a:ext uri="{0D108BD9-81ED-4DB2-BD59-A6C34878D82A}">
                    <a16:rowId xmlns:a16="http://schemas.microsoft.com/office/drawing/2014/main" val="10002"/>
                  </a:ext>
                </a:extLst>
              </a:tr>
            </a:tbl>
          </a:graphicData>
        </a:graphic>
      </p:graphicFrame>
      <p:pic>
        <p:nvPicPr>
          <p:cNvPr id="10" name="图片 9">
            <a:hlinkClick r:id="rId4" action="ppaction://hlinksldjump"/>
          </p:cNvPr>
          <p:cNvPicPr>
            <a:picLocks noChangeAspect="1"/>
          </p:cNvPicPr>
          <p:nvPr/>
        </p:nvPicPr>
        <p:blipFill>
          <a:blip r:embed="rId5"/>
          <a:stretch>
            <a:fillRect/>
          </a:stretch>
        </p:blipFill>
        <p:spPr>
          <a:xfrm>
            <a:off x="8718550" y="4752340"/>
            <a:ext cx="371475" cy="304800"/>
          </a:xfrm>
          <a:prstGeom prst="rect">
            <a:avLst/>
          </a:prstGeom>
        </p:spPr>
      </p:pic>
      <p:grpSp>
        <p:nvGrpSpPr>
          <p:cNvPr id="14" name="组合 13"/>
          <p:cNvGrpSpPr/>
          <p:nvPr/>
        </p:nvGrpSpPr>
        <p:grpSpPr>
          <a:xfrm>
            <a:off x="2135502" y="506695"/>
            <a:ext cx="4865321" cy="2189475"/>
            <a:chOff x="4150" y="1097"/>
            <a:chExt cx="8296" cy="4053"/>
          </a:xfrm>
        </p:grpSpPr>
        <p:sp>
          <p:nvSpPr>
            <p:cNvPr id="9" name="任意多边形 8"/>
            <p:cNvSpPr/>
            <p:nvPr/>
          </p:nvSpPr>
          <p:spPr>
            <a:xfrm>
              <a:off x="4150" y="2706"/>
              <a:ext cx="2963" cy="118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5228" tIns="52007" rIns="381214" bIns="52007" numCol="1" spcCol="1270" anchor="ctr" anchorCtr="0">
              <a:noAutofit/>
            </a:bodyPr>
            <a:lstStyle/>
            <a:p>
              <a:pPr lvl="0" algn="ctr" defTabSz="1733550">
                <a:lnSpc>
                  <a:spcPct val="90000"/>
                </a:lnSpc>
                <a:spcBef>
                  <a:spcPct val="0"/>
                </a:spcBef>
                <a:spcAft>
                  <a:spcPct val="35000"/>
                </a:spcAft>
              </a:pPr>
              <a:endParaRPr lang="zh-CN" altLang="en-US" sz="3900" kern="1200"/>
            </a:p>
          </p:txBody>
        </p:sp>
        <p:sp>
          <p:nvSpPr>
            <p:cNvPr id="11" name="任意多边形 10"/>
            <p:cNvSpPr/>
            <p:nvPr/>
          </p:nvSpPr>
          <p:spPr>
            <a:xfrm>
              <a:off x="6816" y="2706"/>
              <a:ext cx="2963" cy="118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1222" tIns="37338" rIns="366545" bIns="37338"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2" name="任意多边形 11"/>
            <p:cNvSpPr/>
            <p:nvPr/>
          </p:nvSpPr>
          <p:spPr>
            <a:xfrm>
              <a:off x="9483" y="2706"/>
              <a:ext cx="2963" cy="118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1222" tIns="37338" rIns="366545" bIns="37338"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64" name="椭圆 63"/>
            <p:cNvSpPr/>
            <p:nvPr/>
          </p:nvSpPr>
          <p:spPr>
            <a:xfrm>
              <a:off x="5189" y="2370"/>
              <a:ext cx="672" cy="672"/>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连接符 65"/>
            <p:cNvCxnSpPr/>
            <p:nvPr/>
          </p:nvCxnSpPr>
          <p:spPr>
            <a:xfrm>
              <a:off x="5376" y="2258"/>
              <a:ext cx="29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椭圆 67"/>
            <p:cNvSpPr/>
            <p:nvPr/>
          </p:nvSpPr>
          <p:spPr>
            <a:xfrm>
              <a:off x="7962" y="3505"/>
              <a:ext cx="672" cy="672"/>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7113" y="4181"/>
              <a:ext cx="2394" cy="969"/>
            </a:xfrm>
            <a:prstGeom prst="rect">
              <a:avLst/>
            </a:prstGeom>
          </p:spPr>
          <p:txBody>
            <a:bodyPr wrap="square">
              <a:spAutoFit/>
            </a:body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输入到</a:t>
              </a:r>
              <a:r>
                <a:rPr lang="en-US" altLang="zh-CN" sz="1400" dirty="0" err="1">
                  <a:solidFill>
                    <a:schemeClr val="accent1"/>
                  </a:solidFill>
                  <a:latin typeface="微软雅黑" panose="020B0503020204020204" pitchFamily="34" charset="-122"/>
                  <a:ea typeface="微软雅黑" panose="020B0503020204020204" pitchFamily="34" charset="-122"/>
                </a:rPr>
                <a:t>TransR</a:t>
              </a:r>
              <a:r>
                <a:rPr lang="zh-CN" altLang="en-US" sz="1400" dirty="0">
                  <a:solidFill>
                    <a:schemeClr val="accent1"/>
                  </a:solidFill>
                  <a:latin typeface="微软雅黑" panose="020B0503020204020204" pitchFamily="34" charset="-122"/>
                  <a:ea typeface="微软雅黑" panose="020B0503020204020204" pitchFamily="34" charset="-122"/>
                </a:rPr>
                <a:t>进行训练</a:t>
              </a:r>
            </a:p>
          </p:txBody>
        </p:sp>
        <p:sp>
          <p:nvSpPr>
            <p:cNvPr id="72" name="椭圆 71"/>
            <p:cNvSpPr/>
            <p:nvPr/>
          </p:nvSpPr>
          <p:spPr>
            <a:xfrm>
              <a:off x="10552" y="2370"/>
              <a:ext cx="672" cy="672"/>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直接连接符 73"/>
            <p:cNvCxnSpPr/>
            <p:nvPr/>
          </p:nvCxnSpPr>
          <p:spPr>
            <a:xfrm>
              <a:off x="10714" y="2258"/>
              <a:ext cx="29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a:off x="9834" y="1496"/>
              <a:ext cx="2057" cy="568"/>
            </a:xfrm>
            <a:prstGeom prst="rect">
              <a:avLst/>
            </a:prstGeom>
          </p:spPr>
          <p:txBody>
            <a:bodyPr wrap="square">
              <a:spAutoFit/>
            </a:body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特征向量</a:t>
              </a:r>
            </a:p>
          </p:txBody>
        </p:sp>
        <p:grpSp>
          <p:nvGrpSpPr>
            <p:cNvPr id="40" name="组合 39"/>
            <p:cNvGrpSpPr/>
            <p:nvPr/>
          </p:nvGrpSpPr>
          <p:grpSpPr>
            <a:xfrm>
              <a:off x="5358" y="2531"/>
              <a:ext cx="335" cy="336"/>
              <a:chOff x="5394325" y="2859088"/>
              <a:chExt cx="358775" cy="360362"/>
            </a:xfrm>
            <a:solidFill>
              <a:schemeClr val="accent1"/>
            </a:solidFill>
          </p:grpSpPr>
          <p:sp>
            <p:nvSpPr>
              <p:cNvPr id="41"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3"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4"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6"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7" name="组合 46"/>
            <p:cNvGrpSpPr/>
            <p:nvPr/>
          </p:nvGrpSpPr>
          <p:grpSpPr>
            <a:xfrm>
              <a:off x="8124" y="3674"/>
              <a:ext cx="335" cy="335"/>
              <a:chOff x="5394312" y="2141343"/>
              <a:chExt cx="359165" cy="359165"/>
            </a:xfrm>
            <a:solidFill>
              <a:schemeClr val="accent1"/>
            </a:solidFill>
          </p:grpSpPr>
          <p:sp>
            <p:nvSpPr>
              <p:cNvPr id="48"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9"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0"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51" name="AutoShape 112"/>
            <p:cNvSpPr/>
            <p:nvPr/>
          </p:nvSpPr>
          <p:spPr bwMode="auto">
            <a:xfrm>
              <a:off x="10714" y="2539"/>
              <a:ext cx="336" cy="33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accent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7" name="矩形 66"/>
            <p:cNvSpPr/>
            <p:nvPr/>
          </p:nvSpPr>
          <p:spPr>
            <a:xfrm>
              <a:off x="4201" y="1097"/>
              <a:ext cx="2617" cy="966"/>
            </a:xfrm>
            <a:prstGeom prst="rect">
              <a:avLst/>
            </a:prstGeom>
          </p:spPr>
          <p:txBody>
            <a:bodyPr wrap="square">
              <a:spAutoFit/>
            </a:bodyPr>
            <a:lstStyle/>
            <a:p>
              <a:pPr algn="ctr"/>
              <a:r>
                <a:rPr lang="en-US" altLang="zh-CN" sz="1400" dirty="0">
                  <a:solidFill>
                    <a:schemeClr val="accent1"/>
                  </a:solidFill>
                  <a:latin typeface="微软雅黑" panose="020B0503020204020204" pitchFamily="34" charset="-122"/>
                  <a:ea typeface="微软雅黑" panose="020B0503020204020204" pitchFamily="34" charset="-122"/>
                </a:rPr>
                <a:t>movie.txt</a:t>
              </a:r>
              <a:r>
                <a:rPr lang="zh-CN" altLang="en-US" sz="1400" dirty="0">
                  <a:solidFill>
                    <a:schemeClr val="accent1"/>
                  </a:solidFill>
                  <a:latin typeface="微软雅黑" panose="020B0503020204020204" pitchFamily="34" charset="-122"/>
                  <a:ea typeface="微软雅黑" panose="020B0503020204020204" pitchFamily="34" charset="-122"/>
                </a:rPr>
                <a:t>构造</a:t>
              </a:r>
              <a:endParaRPr lang="en-US" altLang="zh-CN" sz="1400" dirty="0">
                <a:solidFill>
                  <a:schemeClr val="accent1"/>
                </a:solidFill>
                <a:latin typeface="微软雅黑" panose="020B0503020204020204" pitchFamily="34" charset="-122"/>
                <a:ea typeface="微软雅黑" panose="020B0503020204020204" pitchFamily="34" charset="-122"/>
              </a:endParaRPr>
            </a:p>
            <a:p>
              <a:pPr algn="ctr"/>
              <a:r>
                <a:rPr lang="zh-CN" altLang="en-US" sz="1400" dirty="0">
                  <a:solidFill>
                    <a:schemeClr val="accent1"/>
                  </a:solidFill>
                  <a:latin typeface="微软雅黑" panose="020B0503020204020204" pitchFamily="34" charset="-122"/>
                  <a:ea typeface="微软雅黑" panose="020B0503020204020204" pitchFamily="34" charset="-122"/>
                </a:rPr>
                <a:t>三元组</a:t>
              </a:r>
            </a:p>
          </p:txBody>
        </p:sp>
      </p:grpSp>
      <p:graphicFrame>
        <p:nvGraphicFramePr>
          <p:cNvPr id="31" name="表格 30">
            <a:extLst>
              <a:ext uri="{FF2B5EF4-FFF2-40B4-BE49-F238E27FC236}">
                <a16:creationId xmlns:a16="http://schemas.microsoft.com/office/drawing/2014/main" id="{4E4A9524-8A07-41F0-A389-CF8BDC5DCE81}"/>
              </a:ext>
            </a:extLst>
          </p:cNvPr>
          <p:cNvGraphicFramePr/>
          <p:nvPr>
            <p:extLst>
              <p:ext uri="{D42A27DB-BD31-4B8C-83A1-F6EECF244321}">
                <p14:modId xmlns:p14="http://schemas.microsoft.com/office/powerpoint/2010/main" val="4018597642"/>
              </p:ext>
            </p:extLst>
          </p:nvPr>
        </p:nvGraphicFramePr>
        <p:xfrm>
          <a:off x="1368398" y="2684126"/>
          <a:ext cx="6552000" cy="2309345"/>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20000"/>
                    </a:ext>
                  </a:extLst>
                </a:gridCol>
                <a:gridCol w="864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gridCol w="648000">
                  <a:extLst>
                    <a:ext uri="{9D8B030D-6E8A-4147-A177-3AD203B41FA5}">
                      <a16:colId xmlns:a16="http://schemas.microsoft.com/office/drawing/2014/main" val="20003"/>
                    </a:ext>
                  </a:extLst>
                </a:gridCol>
                <a:gridCol w="648000">
                  <a:extLst>
                    <a:ext uri="{9D8B030D-6E8A-4147-A177-3AD203B41FA5}">
                      <a16:colId xmlns:a16="http://schemas.microsoft.com/office/drawing/2014/main" val="20004"/>
                    </a:ext>
                  </a:extLst>
                </a:gridCol>
                <a:gridCol w="2880000">
                  <a:extLst>
                    <a:ext uri="{9D8B030D-6E8A-4147-A177-3AD203B41FA5}">
                      <a16:colId xmlns:a16="http://schemas.microsoft.com/office/drawing/2014/main" val="20005"/>
                    </a:ext>
                  </a:extLst>
                </a:gridCol>
              </a:tblGrid>
              <a:tr h="515610">
                <a:tc>
                  <a:txBody>
                    <a:bodyPr/>
                    <a:lstStyle/>
                    <a:p>
                      <a:pPr algn="ctr">
                        <a:buNone/>
                      </a:pPr>
                      <a:r>
                        <a:rPr lang="en-US" altLang="zh-CN" sz="1400"/>
                        <a:t>user id</a:t>
                      </a:r>
                    </a:p>
                  </a:txBody>
                  <a:tcPr/>
                </a:tc>
                <a:tc>
                  <a:txBody>
                    <a:bodyPr/>
                    <a:lstStyle/>
                    <a:p>
                      <a:pPr algn="ctr">
                        <a:buNone/>
                      </a:pPr>
                      <a:r>
                        <a:rPr lang="en-US" altLang="zh-CN" sz="1400"/>
                        <a:t>moive id</a:t>
                      </a:r>
                    </a:p>
                  </a:txBody>
                  <a:tcPr/>
                </a:tc>
                <a:tc>
                  <a:txBody>
                    <a:bodyPr/>
                    <a:lstStyle/>
                    <a:p>
                      <a:pPr algn="ctr">
                        <a:buNone/>
                      </a:pPr>
                      <a:r>
                        <a:rPr lang="en-US" altLang="zh-CN" sz="1400"/>
                        <a:t>time Stamp</a:t>
                      </a:r>
                    </a:p>
                  </a:txBody>
                  <a:tcPr/>
                </a:tc>
                <a:tc>
                  <a:txBody>
                    <a:bodyPr/>
                    <a:lstStyle/>
                    <a:p>
                      <a:pPr algn="ctr">
                        <a:buNone/>
                      </a:pPr>
                      <a:r>
                        <a:rPr lang="en-US" altLang="zh-CN" sz="1400"/>
                        <a:t>time Mode </a:t>
                      </a:r>
                    </a:p>
                  </a:txBody>
                  <a:tcPr/>
                </a:tc>
                <a:tc>
                  <a:txBody>
                    <a:bodyPr/>
                    <a:lstStyle/>
                    <a:p>
                      <a:pPr algn="ctr">
                        <a:buNone/>
                      </a:pPr>
                      <a:r>
                        <a:rPr lang="en-US" altLang="zh-CN" sz="1400"/>
                        <a:t>star</a:t>
                      </a:r>
                    </a:p>
                  </a:txBody>
                  <a:tcPr/>
                </a:tc>
                <a:tc>
                  <a:txBody>
                    <a:bodyPr/>
                    <a:lstStyle/>
                    <a:p>
                      <a:pPr algn="ctr">
                        <a:buNone/>
                      </a:pPr>
                      <a:r>
                        <a:rPr lang="en-US" altLang="zh-CN" sz="1400" dirty="0"/>
                        <a:t>movie id list</a:t>
                      </a:r>
                    </a:p>
                  </a:txBody>
                  <a:tcPr/>
                </a:tc>
                <a:extLst>
                  <a:ext uri="{0D108BD9-81ED-4DB2-BD59-A6C34878D82A}">
                    <a16:rowId xmlns:a16="http://schemas.microsoft.com/office/drawing/2014/main" val="10000"/>
                  </a:ext>
                </a:extLst>
              </a:tr>
              <a:tr h="358273">
                <a:tc>
                  <a:txBody>
                    <a:bodyPr/>
                    <a:lstStyle/>
                    <a:p>
                      <a:pPr algn="ctr">
                        <a:buNone/>
                      </a:pPr>
                      <a:r>
                        <a:rPr lang="en-US" altLang="zh-CN" sz="1400" dirty="0"/>
                        <a:t>1722994</a:t>
                      </a:r>
                    </a:p>
                  </a:txBody>
                  <a:tcPr/>
                </a:tc>
                <a:tc>
                  <a:txBody>
                    <a:bodyPr/>
                    <a:lstStyle/>
                    <a:p>
                      <a:pPr algn="ctr">
                        <a:buNone/>
                      </a:pPr>
                      <a:r>
                        <a:rPr lang="en-US" altLang="zh-CN" sz="1400"/>
                        <a:t>1306505</a:t>
                      </a:r>
                    </a:p>
                  </a:txBody>
                  <a:tcPr/>
                </a:tc>
                <a:tc>
                  <a:txBody>
                    <a:bodyPr/>
                    <a:lstStyle/>
                    <a:p>
                      <a:pPr algn="ctr">
                        <a:buNone/>
                      </a:pPr>
                      <a:r>
                        <a:rPr lang="en-US" altLang="zh-CN" sz="1400"/>
                        <a:t>2</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t>[0.52603,-0.040752,-0.056807,0.02…]</a:t>
                      </a:r>
                    </a:p>
                  </a:txBody>
                  <a:tcPr/>
                </a:tc>
                <a:extLst>
                  <a:ext uri="{0D108BD9-81ED-4DB2-BD59-A6C34878D82A}">
                    <a16:rowId xmlns:a16="http://schemas.microsoft.com/office/drawing/2014/main" val="10001"/>
                  </a:ext>
                </a:extLst>
              </a:tr>
              <a:tr h="358228">
                <a:tc>
                  <a:txBody>
                    <a:bodyPr/>
                    <a:lstStyle/>
                    <a:p>
                      <a:pPr algn="ctr">
                        <a:buNone/>
                      </a:pPr>
                      <a:r>
                        <a:rPr lang="en-US" altLang="zh-CN" sz="1400"/>
                        <a:t>1299639</a:t>
                      </a:r>
                    </a:p>
                  </a:txBody>
                  <a:tcPr/>
                </a:tc>
                <a:tc>
                  <a:txBody>
                    <a:bodyPr/>
                    <a:lstStyle/>
                    <a:p>
                      <a:pPr algn="ctr">
                        <a:buNone/>
                      </a:pPr>
                      <a:r>
                        <a:rPr lang="en-US" altLang="zh-CN" sz="1400"/>
                        <a:t>1306505</a:t>
                      </a:r>
                    </a:p>
                  </a:txBody>
                  <a:tcPr/>
                </a:tc>
                <a:tc>
                  <a:txBody>
                    <a:bodyPr/>
                    <a:lstStyle/>
                    <a:p>
                      <a:pPr algn="ctr">
                        <a:buNone/>
                      </a:pPr>
                      <a:r>
                        <a:rPr lang="en-US" altLang="zh-CN" sz="1400"/>
                        <a:t>4</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dirty="0">
                          <a:sym typeface="+mn-ea"/>
                        </a:rPr>
                        <a:t>[0.52603,-0.040752,-0.056807,0.02…]</a:t>
                      </a:r>
                    </a:p>
                  </a:txBody>
                  <a:tcPr/>
                </a:tc>
                <a:extLst>
                  <a:ext uri="{0D108BD9-81ED-4DB2-BD59-A6C34878D82A}">
                    <a16:rowId xmlns:a16="http://schemas.microsoft.com/office/drawing/2014/main" val="10002"/>
                  </a:ext>
                </a:extLst>
              </a:tr>
              <a:tr h="358228">
                <a:tc>
                  <a:txBody>
                    <a:bodyPr/>
                    <a:lstStyle/>
                    <a:p>
                      <a:pPr algn="ctr">
                        <a:buNone/>
                      </a:pPr>
                      <a:r>
                        <a:rPr lang="en-US" altLang="zh-CN" sz="1400"/>
                        <a:t>1279487</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sym typeface="+mn-ea"/>
                        </a:rPr>
                        <a:t>[0.52603,-0.040752,-0.056807,0.02…]</a:t>
                      </a:r>
                    </a:p>
                  </a:txBody>
                  <a:tcPr/>
                </a:tc>
                <a:extLst>
                  <a:ext uri="{0D108BD9-81ED-4DB2-BD59-A6C34878D82A}">
                    <a16:rowId xmlns:a16="http://schemas.microsoft.com/office/drawing/2014/main" val="10003"/>
                  </a:ext>
                </a:extLst>
              </a:tr>
              <a:tr h="358228">
                <a:tc>
                  <a:txBody>
                    <a:bodyPr/>
                    <a:lstStyle/>
                    <a:p>
                      <a:pPr algn="ctr">
                        <a:buNone/>
                      </a:pPr>
                      <a:r>
                        <a:rPr lang="en-US" altLang="zh-CN" sz="1400"/>
                        <a:t>1226283</a:t>
                      </a:r>
                    </a:p>
                  </a:txBody>
                  <a:tcPr/>
                </a:tc>
                <a:tc>
                  <a:txBody>
                    <a:bodyPr/>
                    <a:lstStyle/>
                    <a:p>
                      <a:pPr algn="ctr">
                        <a:buNone/>
                      </a:pPr>
                      <a:r>
                        <a:rPr lang="en-US" altLang="zh-CN" sz="1400"/>
                        <a:t>1306505</a:t>
                      </a:r>
                    </a:p>
                  </a:txBody>
                  <a:tcPr/>
                </a:tc>
                <a:tc>
                  <a:txBody>
                    <a:bodyPr/>
                    <a:lstStyle/>
                    <a:p>
                      <a:pPr algn="ctr">
                        <a:buNone/>
                      </a:pPr>
                      <a:r>
                        <a:rPr lang="en-US" altLang="zh-CN" sz="1400"/>
                        <a:t>1</a:t>
                      </a:r>
                    </a:p>
                  </a:txBody>
                  <a:tcPr/>
                </a:tc>
                <a:tc>
                  <a:txBody>
                    <a:bodyPr/>
                    <a:lstStyle/>
                    <a:p>
                      <a:pPr algn="ctr">
                        <a:buNone/>
                      </a:pPr>
                      <a:r>
                        <a:rPr lang="en-US" altLang="zh-CN" sz="1400"/>
                        <a:t>3</a:t>
                      </a:r>
                    </a:p>
                  </a:txBody>
                  <a:tcPr/>
                </a:tc>
                <a:tc>
                  <a:txBody>
                    <a:bodyPr/>
                    <a:lstStyle/>
                    <a:p>
                      <a:pPr algn="ctr">
                        <a:buNone/>
                      </a:pPr>
                      <a:r>
                        <a:rPr lang="en-US" altLang="zh-CN" sz="1400"/>
                        <a:t>1</a:t>
                      </a:r>
                    </a:p>
                  </a:txBody>
                  <a:tcPr/>
                </a:tc>
                <a:tc>
                  <a:txBody>
                    <a:bodyPr/>
                    <a:lstStyle/>
                    <a:p>
                      <a:pPr algn="ctr">
                        <a:buNone/>
                      </a:pPr>
                      <a:r>
                        <a:rPr lang="en-US" altLang="zh-CN" sz="1400">
                          <a:sym typeface="+mn-ea"/>
                        </a:rPr>
                        <a:t>[0.52603,-0.040752,-0.056807,0.02…]</a:t>
                      </a:r>
                    </a:p>
                  </a:txBody>
                  <a:tcPr/>
                </a:tc>
                <a:extLst>
                  <a:ext uri="{0D108BD9-81ED-4DB2-BD59-A6C34878D82A}">
                    <a16:rowId xmlns:a16="http://schemas.microsoft.com/office/drawing/2014/main" val="10004"/>
                  </a:ext>
                </a:extLst>
              </a:tr>
              <a:tr h="358228">
                <a:tc>
                  <a:txBody>
                    <a:bodyPr/>
                    <a:lstStyle/>
                    <a:p>
                      <a:pPr algn="ctr">
                        <a:buNone/>
                      </a:pPr>
                      <a:r>
                        <a:rPr lang="en-US" altLang="zh-CN" sz="1400"/>
                        <a:t>1694045</a:t>
                      </a:r>
                    </a:p>
                  </a:txBody>
                  <a:tcPr/>
                </a:tc>
                <a:tc>
                  <a:txBody>
                    <a:bodyPr/>
                    <a:lstStyle/>
                    <a:p>
                      <a:pPr algn="ctr">
                        <a:buNone/>
                      </a:pPr>
                      <a:r>
                        <a:rPr lang="en-US" altLang="zh-CN" sz="1400"/>
                        <a:t>1306505</a:t>
                      </a:r>
                    </a:p>
                  </a:txBody>
                  <a:tcPr/>
                </a:tc>
                <a:tc>
                  <a:txBody>
                    <a:bodyPr/>
                    <a:lstStyle/>
                    <a:p>
                      <a:pPr algn="ctr">
                        <a:buNone/>
                      </a:pPr>
                      <a:r>
                        <a:rPr lang="en-US" altLang="zh-CN" sz="1400"/>
                        <a:t>3</a:t>
                      </a:r>
                    </a:p>
                  </a:txBody>
                  <a:tcPr/>
                </a:tc>
                <a:tc>
                  <a:txBody>
                    <a:bodyPr/>
                    <a:lstStyle/>
                    <a:p>
                      <a:pPr algn="ctr">
                        <a:buNone/>
                      </a:pPr>
                      <a:r>
                        <a:rPr lang="en-US" altLang="zh-CN" sz="1400"/>
                        <a:t>3</a:t>
                      </a:r>
                    </a:p>
                  </a:txBody>
                  <a:tcPr/>
                </a:tc>
                <a:tc>
                  <a:txBody>
                    <a:bodyPr/>
                    <a:lstStyle/>
                    <a:p>
                      <a:pPr algn="ctr">
                        <a:buNone/>
                      </a:pPr>
                      <a:r>
                        <a:rPr lang="en-US" altLang="zh-CN" sz="1400" dirty="0"/>
                        <a:t>1</a:t>
                      </a:r>
                    </a:p>
                  </a:txBody>
                  <a:tcPr/>
                </a:tc>
                <a:tc>
                  <a:txBody>
                    <a:bodyPr/>
                    <a:lstStyle/>
                    <a:p>
                      <a:pPr algn="ctr">
                        <a:buNone/>
                      </a:pPr>
                      <a:r>
                        <a:rPr lang="en-US" altLang="zh-CN" sz="1400" dirty="0">
                          <a:sym typeface="+mn-ea"/>
                        </a:rPr>
                        <a:t>[0.52603,-0.040752,-0.056807,0.02…]</a:t>
                      </a:r>
                    </a:p>
                  </a:txBody>
                  <a:tcPr/>
                </a:tc>
                <a:extLst>
                  <a:ext uri="{0D108BD9-81ED-4DB2-BD59-A6C34878D82A}">
                    <a16:rowId xmlns:a16="http://schemas.microsoft.com/office/drawing/2014/main" val="10005"/>
                  </a:ext>
                </a:extLst>
              </a:tr>
            </a:tbl>
          </a:graphicData>
        </a:graphic>
      </p:graphicFrame>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282723" cy="369332"/>
          </a:xfrm>
          <a:prstGeom prst="rect">
            <a:avLst/>
          </a:prstGeom>
          <a:noFill/>
        </p:spPr>
        <p:txBody>
          <a:bodyPr wrap="none">
            <a:spAutoFit/>
          </a:bodyPr>
          <a:lstStyle/>
          <a:p>
            <a:pPr>
              <a:defRPr/>
            </a:pPr>
            <a:r>
              <a:rPr lang="en-US" altLang="zh-CN" sz="18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LightGBM</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800219"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传统推荐模型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133324" y="2795166"/>
            <a:ext cx="18292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矩形 12"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4889049" y="949543"/>
            <a:ext cx="3573147" cy="3692525"/>
          </a:xfrm>
          <a:prstGeom prst="rect">
            <a:avLst/>
          </a:prstGeom>
        </p:spPr>
        <p:txBody>
          <a:bodyPr wrap="square">
            <a:spAutoFit/>
          </a:bodyPr>
          <a:lstStyle/>
          <a:p>
            <a:pPr>
              <a:lnSpc>
                <a:spcPct val="150000"/>
              </a:lnSpc>
            </a:pPr>
            <a:r>
              <a:rPr lang="en-US" altLang="zh-CN" sz="1600" b="1" dirty="0">
                <a:solidFill>
                  <a:schemeClr val="tx1">
                    <a:lumMod val="85000"/>
                    <a:lumOff val="15000"/>
                  </a:schemeClr>
                </a:solidFill>
              </a:rPr>
              <a:t>        </a:t>
            </a:r>
            <a:r>
              <a:rPr lang="en-US" altLang="zh-CN" sz="1600" b="1" dirty="0" err="1">
                <a:solidFill>
                  <a:schemeClr val="tx1">
                    <a:lumMod val="85000"/>
                    <a:lumOff val="15000"/>
                  </a:schemeClr>
                </a:solidFill>
              </a:rPr>
              <a:t>LightGBM</a:t>
            </a:r>
            <a:r>
              <a:rPr lang="en-US" altLang="zh-CN" sz="1600" b="1" dirty="0">
                <a:solidFill>
                  <a:schemeClr val="tx1">
                    <a:lumMod val="85000"/>
                    <a:lumOff val="15000"/>
                  </a:schemeClr>
                </a:solidFill>
              </a:rPr>
              <a:t> </a:t>
            </a:r>
            <a:r>
              <a:rPr lang="zh-CN" altLang="en-US" sz="1400" dirty="0">
                <a:solidFill>
                  <a:schemeClr val="tx1">
                    <a:lumMod val="85000"/>
                    <a:lumOff val="15000"/>
                  </a:schemeClr>
                </a:solidFill>
              </a:rPr>
              <a:t>是一个梯度 </a:t>
            </a:r>
            <a:r>
              <a:rPr lang="en-US" altLang="zh-CN" sz="1400" dirty="0">
                <a:solidFill>
                  <a:schemeClr val="tx1">
                    <a:lumMod val="85000"/>
                    <a:lumOff val="15000"/>
                  </a:schemeClr>
                </a:solidFill>
              </a:rPr>
              <a:t>boosting </a:t>
            </a:r>
            <a:r>
              <a:rPr lang="zh-CN" altLang="en-US" sz="1400" dirty="0">
                <a:solidFill>
                  <a:schemeClr val="tx1">
                    <a:lumMod val="85000"/>
                    <a:lumOff val="15000"/>
                  </a:schemeClr>
                </a:solidFill>
              </a:rPr>
              <a:t>框架，使用基于学习算法的决策树。</a:t>
            </a:r>
            <a:r>
              <a:rPr lang="en-US" altLang="zh-CN" sz="1400" dirty="0" err="1">
                <a:solidFill>
                  <a:schemeClr val="tx1">
                    <a:lumMod val="85000"/>
                    <a:lumOff val="15000"/>
                  </a:schemeClr>
                </a:solidFill>
              </a:rPr>
              <a:t>lightGBM</a:t>
            </a:r>
            <a:r>
              <a:rPr lang="zh-CN" altLang="en-US" sz="1400" dirty="0">
                <a:solidFill>
                  <a:schemeClr val="tx1">
                    <a:lumMod val="85000"/>
                    <a:lumOff val="15000"/>
                  </a:schemeClr>
                </a:solidFill>
              </a:rPr>
              <a:t>包含两个关键点：</a:t>
            </a:r>
            <a:r>
              <a:rPr lang="en-US" altLang="zh-CN" sz="1400" dirty="0">
                <a:solidFill>
                  <a:schemeClr val="tx1">
                    <a:lumMod val="85000"/>
                    <a:lumOff val="15000"/>
                  </a:schemeClr>
                </a:solidFill>
              </a:rPr>
              <a:t>light</a:t>
            </a:r>
            <a:r>
              <a:rPr lang="zh-CN" altLang="en-US" sz="1400" dirty="0">
                <a:solidFill>
                  <a:schemeClr val="tx1">
                    <a:lumMod val="85000"/>
                    <a:lumOff val="15000"/>
                  </a:schemeClr>
                </a:solidFill>
              </a:rPr>
              <a:t>即轻量级，</a:t>
            </a:r>
            <a:r>
              <a:rPr lang="en-US" altLang="zh-CN" sz="1400" dirty="0">
                <a:solidFill>
                  <a:schemeClr val="tx1">
                    <a:lumMod val="85000"/>
                    <a:lumOff val="15000"/>
                  </a:schemeClr>
                </a:solidFill>
              </a:rPr>
              <a:t>GBM </a:t>
            </a:r>
            <a:r>
              <a:rPr lang="zh-CN" altLang="en-US" sz="1400" dirty="0">
                <a:solidFill>
                  <a:schemeClr val="tx1">
                    <a:lumMod val="85000"/>
                    <a:lumOff val="15000"/>
                  </a:schemeClr>
                </a:solidFill>
              </a:rPr>
              <a:t>梯度提升机。它可以说是分布式的，高效的，有以下优势：</a:t>
            </a:r>
          </a:p>
          <a:p>
            <a:pPr>
              <a:lnSpc>
                <a:spcPct val="150000"/>
              </a:lnSpc>
            </a:pPr>
            <a:endParaRPr lang="zh-CN" altLang="en-US" sz="1400" dirty="0">
              <a:solidFill>
                <a:schemeClr val="tx1">
                  <a:lumMod val="85000"/>
                  <a:lumOff val="15000"/>
                </a:schemeClr>
              </a:solidFill>
            </a:endParaRPr>
          </a:p>
          <a:p>
            <a:pPr lvl="1">
              <a:lnSpc>
                <a:spcPct val="150000"/>
              </a:lnSpc>
            </a:pPr>
            <a:r>
              <a:rPr lang="zh-CN" altLang="en-US" sz="1400" b="1" dirty="0">
                <a:solidFill>
                  <a:schemeClr val="tx1">
                    <a:lumMod val="85000"/>
                    <a:lumOff val="15000"/>
                  </a:schemeClr>
                </a:solidFill>
              </a:rPr>
              <a:t>更快的训练效率</a:t>
            </a:r>
            <a:r>
              <a:rPr lang="zh-CN" altLang="en-US" sz="1400" dirty="0">
                <a:solidFill>
                  <a:schemeClr val="tx1">
                    <a:lumMod val="85000"/>
                    <a:lumOff val="15000"/>
                  </a:schemeClr>
                </a:solidFill>
              </a:rPr>
              <a:t>；</a:t>
            </a:r>
          </a:p>
          <a:p>
            <a:pPr lvl="1">
              <a:lnSpc>
                <a:spcPct val="150000"/>
              </a:lnSpc>
            </a:pPr>
            <a:r>
              <a:rPr lang="zh-CN" altLang="en-US" sz="1400" dirty="0">
                <a:solidFill>
                  <a:schemeClr val="tx1">
                    <a:lumMod val="85000"/>
                    <a:lumOff val="15000"/>
                  </a:schemeClr>
                </a:solidFill>
              </a:rPr>
              <a:t>低内存使用；</a:t>
            </a:r>
          </a:p>
          <a:p>
            <a:pPr lvl="1">
              <a:lnSpc>
                <a:spcPct val="150000"/>
              </a:lnSpc>
            </a:pPr>
            <a:r>
              <a:rPr lang="zh-CN" altLang="en-US" sz="1400" dirty="0">
                <a:solidFill>
                  <a:schemeClr val="tx1">
                    <a:lumMod val="85000"/>
                    <a:lumOff val="15000"/>
                  </a:schemeClr>
                </a:solidFill>
              </a:rPr>
              <a:t>更高的准确率；</a:t>
            </a:r>
          </a:p>
          <a:p>
            <a:pPr lvl="1">
              <a:lnSpc>
                <a:spcPct val="150000"/>
              </a:lnSpc>
            </a:pPr>
            <a:r>
              <a:rPr lang="zh-CN" altLang="en-US" sz="1400" dirty="0">
                <a:solidFill>
                  <a:schemeClr val="tx1">
                    <a:lumMod val="85000"/>
                    <a:lumOff val="15000"/>
                  </a:schemeClr>
                </a:solidFill>
              </a:rPr>
              <a:t>支持并行化学习；</a:t>
            </a:r>
          </a:p>
          <a:p>
            <a:pPr lvl="1">
              <a:lnSpc>
                <a:spcPct val="150000"/>
              </a:lnSpc>
            </a:pPr>
            <a:r>
              <a:rPr lang="zh-CN" altLang="en-US" sz="1400" dirty="0">
                <a:solidFill>
                  <a:schemeClr val="tx1">
                    <a:lumMod val="85000"/>
                    <a:lumOff val="15000"/>
                  </a:schemeClr>
                </a:solidFill>
              </a:rPr>
              <a:t>可处理大规模数据；</a:t>
            </a:r>
          </a:p>
        </p:txBody>
      </p:sp>
      <p:pic>
        <p:nvPicPr>
          <p:cNvPr id="6" name="图片 5"/>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4041" y="1510204"/>
            <a:ext cx="4234892" cy="2438649"/>
          </a:xfrm>
          <a:prstGeom prst="rect">
            <a:avLst/>
          </a:prstGeom>
        </p:spPr>
      </p:pic>
      <p:cxnSp>
        <p:nvCxnSpPr>
          <p:cNvPr id="27" name="Straight Connector 335"/>
          <p:cNvCxnSpPr/>
          <p:nvPr/>
        </p:nvCxnSpPr>
        <p:spPr>
          <a:xfrm>
            <a:off x="4664377" y="845716"/>
            <a:ext cx="0" cy="38989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2320635" cy="369332"/>
          </a:xfrm>
          <a:prstGeom prst="rect">
            <a:avLst/>
          </a:prstGeom>
          <a:noFill/>
        </p:spPr>
        <p:txBody>
          <a:bodyPr wrap="none">
            <a:spAutoFit/>
          </a:bodyPr>
          <a:lstStyle/>
          <a:p>
            <a:pPr>
              <a:defRPr/>
            </a:pPr>
            <a:r>
              <a:rPr lang="en-US" altLang="zh-CN" sz="18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TransR</a:t>
            </a: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kern="100" dirty="0" err="1">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LightGBM</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1019831"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 </a:t>
            </a:r>
            <a:r>
              <a:rPr lang="en-US" altLang="zh-CN" sz="800" dirty="0">
                <a:solidFill>
                  <a:schemeClr val="accent1"/>
                </a:solidFill>
                <a:latin typeface="+mj-lt"/>
                <a:ea typeface="方正兰亭黑_GBK"/>
              </a:rPr>
              <a:t>+ </a:t>
            </a:r>
            <a:r>
              <a:rPr lang="zh-CN" altLang="en-US" sz="800" dirty="0">
                <a:solidFill>
                  <a:schemeClr val="accent1"/>
                </a:solidFill>
                <a:latin typeface="+mj-lt"/>
                <a:ea typeface="方正兰亭黑_GBK"/>
              </a:rPr>
              <a:t>树模型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9" name="表格 8"/>
          <p:cNvGraphicFramePr>
            <a:graphicFrameLocks noGrp="1"/>
          </p:cNvGraphicFramePr>
          <p:nvPr>
            <p:extLst>
              <p:ext uri="{D42A27DB-BD31-4B8C-83A1-F6EECF244321}">
                <p14:modId xmlns:p14="http://schemas.microsoft.com/office/powerpoint/2010/main" val="3973971967"/>
              </p:ext>
            </p:extLst>
          </p:nvPr>
        </p:nvGraphicFramePr>
        <p:xfrm>
          <a:off x="1680845" y="1036320"/>
          <a:ext cx="7122160" cy="1804035"/>
        </p:xfrm>
        <a:graphic>
          <a:graphicData uri="http://schemas.openxmlformats.org/drawingml/2006/table">
            <a:tbl>
              <a:tblPr firstCol="1" bandRow="1">
                <a:tableStyleId>{5C22544A-7EE6-4342-B048-85BDC9FD1C3A}</a:tableStyleId>
              </a:tblPr>
              <a:tblGrid>
                <a:gridCol w="1343660">
                  <a:extLst>
                    <a:ext uri="{9D8B030D-6E8A-4147-A177-3AD203B41FA5}">
                      <a16:colId xmlns:a16="http://schemas.microsoft.com/office/drawing/2014/main" val="20000"/>
                    </a:ext>
                  </a:extLst>
                </a:gridCol>
                <a:gridCol w="5778500">
                  <a:extLst>
                    <a:ext uri="{9D8B030D-6E8A-4147-A177-3AD203B41FA5}">
                      <a16:colId xmlns:a16="http://schemas.microsoft.com/office/drawing/2014/main" val="20001"/>
                    </a:ext>
                  </a:extLst>
                </a:gridCol>
              </a:tblGrid>
              <a:tr h="365760">
                <a:tc>
                  <a:txBody>
                    <a:bodyPr/>
                    <a:lstStyle/>
                    <a:p>
                      <a:r>
                        <a:rPr lang="zh-CN" altLang="en-US" dirty="0"/>
                        <a:t>用户特征</a:t>
                      </a:r>
                      <a:endParaRPr lang="zh-CN" alt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err="1">
                          <a:effectLst/>
                        </a:rPr>
                        <a:t>uid</a:t>
                      </a:r>
                      <a:r>
                        <a:rPr lang="en-US" altLang="zh-CN" sz="1800" kern="1200" dirty="0">
                          <a:effectLst/>
                        </a:rPr>
                        <a:t>,</a:t>
                      </a:r>
                      <a:r>
                        <a:rPr lang="zh-CN" altLang="en-US" sz="1800" kern="1200" dirty="0">
                          <a:effectLst/>
                        </a:rPr>
                        <a:t> </a:t>
                      </a:r>
                      <a:r>
                        <a:rPr lang="en-US" altLang="zh-CN" sz="1800" kern="1200" dirty="0">
                          <a:effectLst/>
                        </a:rPr>
                        <a:t>star,</a:t>
                      </a:r>
                      <a:r>
                        <a:rPr lang="zh-CN" altLang="en-US" sz="1800" kern="1200" dirty="0">
                          <a:effectLst/>
                        </a:rPr>
                        <a:t> </a:t>
                      </a:r>
                      <a:r>
                        <a:rPr lang="en-US" altLang="zh-CN" sz="1800" kern="1200" dirty="0" err="1">
                          <a:effectLst/>
                        </a:rPr>
                        <a:t>timeStamp</a:t>
                      </a:r>
                      <a:endParaRPr lang="en-US" altLang="zh-CN" sz="1800" b="0" kern="1200" dirty="0">
                        <a:solidFill>
                          <a:schemeClr val="tx1"/>
                        </a:solidFill>
                        <a:effectLst/>
                        <a:latin typeface="+mn-lt"/>
                        <a:ea typeface="+mn-ea"/>
                        <a:cs typeface="+mn-cs"/>
                      </a:endParaRPr>
                    </a:p>
                  </a:txBody>
                  <a:tcPr/>
                </a:tc>
                <a:extLst>
                  <a:ext uri="{0D108BD9-81ED-4DB2-BD59-A6C34878D82A}">
                    <a16:rowId xmlns:a16="http://schemas.microsoft.com/office/drawing/2014/main" val="10000"/>
                  </a:ext>
                </a:extLst>
              </a:tr>
              <a:tr h="475615">
                <a:tc>
                  <a:txBody>
                    <a:bodyPr/>
                    <a:lstStyle/>
                    <a:p>
                      <a:r>
                        <a:rPr lang="en-US" altLang="zh-CN" dirty="0" err="1"/>
                        <a:t>transR</a:t>
                      </a:r>
                      <a:r>
                        <a:rPr lang="zh-CN" altLang="en-US" dirty="0"/>
                        <a:t> 特征</a:t>
                      </a:r>
                      <a:endParaRPr lang="zh-CN" alt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err="1">
                          <a:effectLst/>
                        </a:rPr>
                        <a:t>transR</a:t>
                      </a:r>
                      <a:endParaRPr lang="zh-CN" altLang="en-US" sz="1800" b="0" kern="1200" dirty="0">
                        <a:solidFill>
                          <a:schemeClr val="tx1"/>
                        </a:solidFill>
                        <a:effectLst/>
                        <a:latin typeface="+mn-lt"/>
                        <a:ea typeface="+mn-ea"/>
                        <a:cs typeface="+mn-cs"/>
                      </a:endParaRPr>
                    </a:p>
                  </a:txBody>
                  <a:tcPr/>
                </a:tc>
                <a:extLst>
                  <a:ext uri="{0D108BD9-81ED-4DB2-BD59-A6C34878D82A}">
                    <a16:rowId xmlns:a16="http://schemas.microsoft.com/office/drawing/2014/main" val="10001"/>
                  </a:ext>
                </a:extLst>
              </a:tr>
              <a:tr h="962660">
                <a:tc>
                  <a:txBody>
                    <a:bodyPr/>
                    <a:lstStyle/>
                    <a:p>
                      <a:r>
                        <a:rPr lang="zh-CN" altLang="en-US" dirty="0"/>
                        <a:t>电影特征</a:t>
                      </a:r>
                      <a:endParaRPr lang="zh-CN" alt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a:effectLst/>
                        </a:rPr>
                        <a:t>mid,</a:t>
                      </a:r>
                      <a:r>
                        <a:rPr lang="zh-CN" altLang="en-US" sz="1800" kern="1200" dirty="0">
                          <a:effectLst/>
                        </a:rPr>
                        <a:t> </a:t>
                      </a:r>
                      <a:r>
                        <a:rPr lang="en-US" altLang="zh-CN" sz="1800" kern="1200" dirty="0">
                          <a:effectLst/>
                        </a:rPr>
                        <a:t>name,</a:t>
                      </a:r>
                      <a:r>
                        <a:rPr lang="zh-CN" altLang="en-US" sz="1800" kern="1200" dirty="0">
                          <a:effectLst/>
                        </a:rPr>
                        <a:t> </a:t>
                      </a:r>
                      <a:r>
                        <a:rPr lang="en-US" altLang="zh-CN" sz="1800" kern="1200" dirty="0">
                          <a:effectLst/>
                        </a:rPr>
                        <a:t>director,</a:t>
                      </a:r>
                      <a:r>
                        <a:rPr lang="zh-CN" altLang="en-US" sz="1800" kern="1200" dirty="0">
                          <a:effectLst/>
                        </a:rPr>
                        <a:t> </a:t>
                      </a:r>
                      <a:r>
                        <a:rPr lang="en-US" altLang="zh-CN" sz="1800" kern="1200" dirty="0">
                          <a:effectLst/>
                        </a:rPr>
                        <a:t>scriptwriter,</a:t>
                      </a:r>
                      <a:r>
                        <a:rPr lang="zh-CN" altLang="en-US" sz="1800" kern="1200" dirty="0">
                          <a:effectLst/>
                        </a:rPr>
                        <a:t> </a:t>
                      </a:r>
                      <a:r>
                        <a:rPr lang="en-US" altLang="zh-CN" sz="1800" kern="1200" dirty="0" err="1">
                          <a:effectLst/>
                        </a:rPr>
                        <a:t>mainPlayers</a:t>
                      </a:r>
                      <a:r>
                        <a:rPr lang="en-US" altLang="zh-CN" sz="1800" kern="1200" dirty="0">
                          <a:effectLst/>
                        </a:rPr>
                        <a:t>,</a:t>
                      </a:r>
                      <a:r>
                        <a:rPr lang="zh-CN" altLang="en-US" sz="1800" kern="1200" dirty="0">
                          <a:effectLst/>
                        </a:rPr>
                        <a:t> </a:t>
                      </a:r>
                      <a:r>
                        <a:rPr lang="en-US" altLang="zh-CN" sz="1800" kern="1200" dirty="0">
                          <a:effectLst/>
                        </a:rPr>
                        <a:t>categories,</a:t>
                      </a:r>
                      <a:r>
                        <a:rPr lang="zh-CN" altLang="en-US" sz="1800" kern="1200" dirty="0">
                          <a:effectLst/>
                        </a:rPr>
                        <a:t> </a:t>
                      </a:r>
                      <a:r>
                        <a:rPr lang="en-US" altLang="zh-CN" sz="1800" kern="1200" dirty="0" err="1">
                          <a:effectLst/>
                        </a:rPr>
                        <a:t>productCountry</a:t>
                      </a:r>
                      <a:r>
                        <a:rPr lang="en-US" altLang="zh-CN" sz="1800" kern="1200" dirty="0">
                          <a:effectLst/>
                        </a:rPr>
                        <a:t>,</a:t>
                      </a:r>
                      <a:r>
                        <a:rPr lang="zh-CN" altLang="en-US" sz="1800" kern="1200" dirty="0">
                          <a:effectLst/>
                        </a:rPr>
                        <a:t> </a:t>
                      </a:r>
                      <a:r>
                        <a:rPr lang="en-US" altLang="zh-CN" sz="1800" kern="1200" dirty="0">
                          <a:effectLst/>
                        </a:rPr>
                        <a:t>duration,</a:t>
                      </a:r>
                      <a:r>
                        <a:rPr lang="zh-CN" altLang="en-US" sz="1800" kern="1200" dirty="0">
                          <a:effectLst/>
                        </a:rPr>
                        <a:t> </a:t>
                      </a:r>
                      <a:r>
                        <a:rPr lang="en-US" altLang="zh-CN" sz="1800" kern="1200" dirty="0" err="1">
                          <a:effectLst/>
                        </a:rPr>
                        <a:t>releasedTime</a:t>
                      </a:r>
                      <a:r>
                        <a:rPr lang="en-US" altLang="zh-CN" sz="1800" kern="1200" dirty="0">
                          <a:effectLst/>
                        </a:rPr>
                        <a:t>,</a:t>
                      </a:r>
                      <a:r>
                        <a:rPr lang="zh-CN" altLang="en-US" sz="1800" kern="1200" dirty="0">
                          <a:effectLst/>
                        </a:rPr>
                        <a:t> </a:t>
                      </a:r>
                      <a:r>
                        <a:rPr lang="en-US" altLang="zh-CN" sz="1800" kern="1200" dirty="0">
                          <a:effectLst/>
                        </a:rPr>
                        <a:t>tags,</a:t>
                      </a:r>
                      <a:r>
                        <a:rPr lang="zh-CN" altLang="en-US" sz="1800" kern="1200" dirty="0">
                          <a:effectLst/>
                        </a:rPr>
                        <a:t> </a:t>
                      </a:r>
                      <a:r>
                        <a:rPr lang="en-US" altLang="zh-CN" sz="1800" kern="1200" dirty="0" err="1">
                          <a:effectLst/>
                        </a:rPr>
                        <a:t>ratingCount</a:t>
                      </a:r>
                      <a:r>
                        <a:rPr lang="en-US" altLang="zh-CN" sz="1800" kern="1200" dirty="0">
                          <a:effectLst/>
                        </a:rPr>
                        <a:t>,</a:t>
                      </a:r>
                      <a:r>
                        <a:rPr lang="zh-CN" altLang="en-US" sz="1800" kern="1200" dirty="0">
                          <a:effectLst/>
                        </a:rPr>
                        <a:t>  </a:t>
                      </a:r>
                      <a:r>
                        <a:rPr lang="en-US" altLang="zh-CN" sz="1800" kern="1200" dirty="0">
                          <a:effectLst/>
                        </a:rPr>
                        <a:t>star1~5,</a:t>
                      </a:r>
                      <a:r>
                        <a:rPr lang="zh-CN" altLang="en-US" sz="1800" kern="1200" dirty="0">
                          <a:effectLst/>
                        </a:rPr>
                        <a:t> </a:t>
                      </a:r>
                      <a:r>
                        <a:rPr lang="en-US" altLang="zh-CN" sz="1800" kern="1200" dirty="0">
                          <a:effectLst/>
                        </a:rPr>
                        <a:t>language</a:t>
                      </a:r>
                      <a:endParaRPr lang="en-US" altLang="zh-CN" sz="1800" b="0" kern="1200" dirty="0">
                        <a:solidFill>
                          <a:schemeClr val="tx1"/>
                        </a:solidFill>
                        <a:effectLst/>
                        <a:latin typeface="+mn-lt"/>
                        <a:ea typeface="+mn-ea"/>
                        <a:cs typeface="+mn-cs"/>
                      </a:endParaRPr>
                    </a:p>
                  </a:txBody>
                  <a:tcPr/>
                </a:tc>
                <a:extLst>
                  <a:ext uri="{0D108BD9-81ED-4DB2-BD59-A6C34878D82A}">
                    <a16:rowId xmlns:a16="http://schemas.microsoft.com/office/drawing/2014/main" val="10002"/>
                  </a:ext>
                </a:extLst>
              </a:tr>
            </a:tbl>
          </a:graphicData>
        </a:graphic>
      </p:graphicFrame>
      <p:sp>
        <p:nvSpPr>
          <p:cNvPr id="10" name="文本框 9"/>
          <p:cNvSpPr txBox="1"/>
          <p:nvPr/>
        </p:nvSpPr>
        <p:spPr>
          <a:xfrm>
            <a:off x="567329" y="1036613"/>
            <a:ext cx="1078591" cy="349070"/>
          </a:xfrm>
          <a:prstGeom prst="rect">
            <a:avLst/>
          </a:prstGeom>
          <a:noFill/>
        </p:spPr>
        <p:txBody>
          <a:bodyPr wrap="square" rtlCol="0">
            <a:spAutoFit/>
          </a:bodyPr>
          <a:lstStyle/>
          <a:p>
            <a:pPr algn="just">
              <a:lnSpc>
                <a:spcPct val="130000"/>
              </a:lnSpc>
            </a:pPr>
            <a:r>
              <a:rPr lang="zh-CN" altLang="en-US" sz="1400" b="1" dirty="0"/>
              <a:t>输入数据：</a:t>
            </a:r>
            <a:endParaRPr lang="zh-CN" altLang="en-US" sz="1400" dirty="0"/>
          </a:p>
        </p:txBody>
      </p:sp>
      <p:sp>
        <p:nvSpPr>
          <p:cNvPr id="12" name="文本框 11"/>
          <p:cNvSpPr txBox="1"/>
          <p:nvPr/>
        </p:nvSpPr>
        <p:spPr>
          <a:xfrm>
            <a:off x="567127" y="3022783"/>
            <a:ext cx="1078591" cy="349070"/>
          </a:xfrm>
          <a:prstGeom prst="rect">
            <a:avLst/>
          </a:prstGeom>
          <a:noFill/>
        </p:spPr>
        <p:txBody>
          <a:bodyPr wrap="square" rtlCol="0">
            <a:spAutoFit/>
          </a:bodyPr>
          <a:lstStyle/>
          <a:p>
            <a:pPr algn="just">
              <a:lnSpc>
                <a:spcPct val="130000"/>
              </a:lnSpc>
            </a:pPr>
            <a:r>
              <a:rPr lang="zh-CN" altLang="en-US" sz="1400" b="1" dirty="0"/>
              <a:t>结果测试：</a:t>
            </a:r>
            <a:endParaRPr lang="zh-CN" altLang="en-US" sz="1400" dirty="0"/>
          </a:p>
        </p:txBody>
      </p:sp>
      <p:graphicFrame>
        <p:nvGraphicFramePr>
          <p:cNvPr id="14" name="表格 13"/>
          <p:cNvGraphicFramePr>
            <a:graphicFrameLocks noGrp="1"/>
          </p:cNvGraphicFramePr>
          <p:nvPr/>
        </p:nvGraphicFramePr>
        <p:xfrm>
          <a:off x="1679374" y="3022461"/>
          <a:ext cx="7123361" cy="1986280"/>
        </p:xfrm>
        <a:graphic>
          <a:graphicData uri="http://schemas.openxmlformats.org/drawingml/2006/table">
            <a:tbl>
              <a:tblPr firstRow="1" bandRow="1">
                <a:tableStyleId>{5C22544A-7EE6-4342-B048-85BDC9FD1C3A}</a:tableStyleId>
              </a:tblPr>
              <a:tblGrid>
                <a:gridCol w="1017623">
                  <a:extLst>
                    <a:ext uri="{9D8B030D-6E8A-4147-A177-3AD203B41FA5}">
                      <a16:colId xmlns:a16="http://schemas.microsoft.com/office/drawing/2014/main" val="20000"/>
                    </a:ext>
                  </a:extLst>
                </a:gridCol>
                <a:gridCol w="786309">
                  <a:extLst>
                    <a:ext uri="{9D8B030D-6E8A-4147-A177-3AD203B41FA5}">
                      <a16:colId xmlns:a16="http://schemas.microsoft.com/office/drawing/2014/main" val="20001"/>
                    </a:ext>
                  </a:extLst>
                </a:gridCol>
                <a:gridCol w="1249045">
                  <a:extLst>
                    <a:ext uri="{9D8B030D-6E8A-4147-A177-3AD203B41FA5}">
                      <a16:colId xmlns:a16="http://schemas.microsoft.com/office/drawing/2014/main" val="20002"/>
                    </a:ext>
                  </a:extLst>
                </a:gridCol>
                <a:gridCol w="1017515">
                  <a:extLst>
                    <a:ext uri="{9D8B030D-6E8A-4147-A177-3AD203B41FA5}">
                      <a16:colId xmlns:a16="http://schemas.microsoft.com/office/drawing/2014/main" val="20003"/>
                    </a:ext>
                  </a:extLst>
                </a:gridCol>
                <a:gridCol w="1017623">
                  <a:extLst>
                    <a:ext uri="{9D8B030D-6E8A-4147-A177-3AD203B41FA5}">
                      <a16:colId xmlns:a16="http://schemas.microsoft.com/office/drawing/2014/main" val="20004"/>
                    </a:ext>
                  </a:extLst>
                </a:gridCol>
                <a:gridCol w="1017623">
                  <a:extLst>
                    <a:ext uri="{9D8B030D-6E8A-4147-A177-3AD203B41FA5}">
                      <a16:colId xmlns:a16="http://schemas.microsoft.com/office/drawing/2014/main" val="20005"/>
                    </a:ext>
                  </a:extLst>
                </a:gridCol>
                <a:gridCol w="1017623">
                  <a:extLst>
                    <a:ext uri="{9D8B030D-6E8A-4147-A177-3AD203B41FA5}">
                      <a16:colId xmlns:a16="http://schemas.microsoft.com/office/drawing/2014/main" val="20006"/>
                    </a:ext>
                  </a:extLst>
                </a:gridCol>
              </a:tblGrid>
              <a:tr h="502920">
                <a:tc>
                  <a:txBody>
                    <a:bodyPr/>
                    <a:lstStyle/>
                    <a:p>
                      <a:r>
                        <a:rPr lang="zh-CN" altLang="en-US" dirty="0"/>
                        <a:t>是否有</a:t>
                      </a:r>
                      <a:r>
                        <a:rPr lang="en-US" altLang="zh-CN" dirty="0" err="1"/>
                        <a:t>TransR</a:t>
                      </a:r>
                      <a:r>
                        <a:rPr lang="zh-CN" altLang="en-US" dirty="0"/>
                        <a:t>特征</a:t>
                      </a:r>
                    </a:p>
                  </a:txBody>
                  <a:tcPr/>
                </a:tc>
                <a:tc>
                  <a:txBody>
                    <a:bodyPr/>
                    <a:lstStyle/>
                    <a:p>
                      <a:r>
                        <a:rPr lang="zh-CN" altLang="en-US" dirty="0"/>
                        <a:t>正负例比例</a:t>
                      </a:r>
                    </a:p>
                  </a:txBody>
                  <a:tcPr/>
                </a:tc>
                <a:tc>
                  <a:txBody>
                    <a:bodyPr/>
                    <a:lstStyle/>
                    <a:p>
                      <a:r>
                        <a:rPr lang="en-US" altLang="zh-CN" dirty="0" err="1"/>
                        <a:t>Binary_logloss</a:t>
                      </a:r>
                      <a:endParaRPr lang="zh-CN" altLang="en-US" dirty="0"/>
                    </a:p>
                  </a:txBody>
                  <a:tcPr/>
                </a:tc>
                <a:tc>
                  <a:txBody>
                    <a:bodyPr/>
                    <a:lstStyle/>
                    <a:p>
                      <a:r>
                        <a:rPr lang="en-US" altLang="zh-CN" dirty="0" err="1"/>
                        <a:t>Auc</a:t>
                      </a:r>
                      <a:endParaRPr lang="zh-CN" altLang="en-US" dirty="0"/>
                    </a:p>
                  </a:txBody>
                  <a:tcPr/>
                </a:tc>
                <a:tc>
                  <a:txBody>
                    <a:bodyPr/>
                    <a:lstStyle/>
                    <a:p>
                      <a:r>
                        <a:rPr lang="zh-CN" altLang="en-US" dirty="0"/>
                        <a:t>精确率（</a:t>
                      </a:r>
                      <a:r>
                        <a:rPr lang="en-US" altLang="zh-CN" dirty="0"/>
                        <a:t>Precision</a:t>
                      </a:r>
                      <a:r>
                        <a:rPr lang="zh-CN" altLang="en-US" dirty="0"/>
                        <a:t>）</a:t>
                      </a:r>
                    </a:p>
                  </a:txBody>
                  <a:tcPr/>
                </a:tc>
                <a:tc>
                  <a:txBody>
                    <a:bodyPr/>
                    <a:lstStyle/>
                    <a:p>
                      <a:r>
                        <a:rPr lang="zh-CN" altLang="en-US" dirty="0"/>
                        <a:t>召回率（</a:t>
                      </a:r>
                      <a:r>
                        <a:rPr lang="en-US" altLang="zh-CN" dirty="0"/>
                        <a:t>Recall</a:t>
                      </a:r>
                      <a:r>
                        <a:rPr lang="zh-CN" altLang="en-US" dirty="0"/>
                        <a:t>）</a:t>
                      </a:r>
                    </a:p>
                  </a:txBody>
                  <a:tcPr/>
                </a:tc>
                <a:tc>
                  <a:txBody>
                    <a:bodyPr/>
                    <a:lstStyle/>
                    <a:p>
                      <a:r>
                        <a:rPr lang="en-US" altLang="zh-CN" dirty="0"/>
                        <a:t>F1 Score</a:t>
                      </a:r>
                      <a:endParaRPr lang="zh-CN" altLang="en-US" dirty="0"/>
                    </a:p>
                  </a:txBody>
                  <a:tcPr/>
                </a:tc>
                <a:extLst>
                  <a:ext uri="{0D108BD9-81ED-4DB2-BD59-A6C34878D82A}">
                    <a16:rowId xmlns:a16="http://schemas.microsoft.com/office/drawing/2014/main" val="10000"/>
                  </a:ext>
                </a:extLst>
              </a:tr>
              <a:tr h="370840">
                <a:tc>
                  <a:txBody>
                    <a:bodyPr/>
                    <a:lstStyle/>
                    <a:p>
                      <a:r>
                        <a:rPr lang="zh-CN" altLang="en-US" dirty="0"/>
                        <a:t>无</a:t>
                      </a:r>
                    </a:p>
                  </a:txBody>
                  <a:tcPr/>
                </a:tc>
                <a:tc>
                  <a:txBody>
                    <a:bodyPr/>
                    <a:lstStyle/>
                    <a:p>
                      <a:r>
                        <a:rPr lang="en-US" altLang="zh-CN" dirty="0"/>
                        <a:t>1:1</a:t>
                      </a:r>
                      <a:endParaRPr lang="zh-CN" altLang="en-US" dirty="0"/>
                    </a:p>
                  </a:txBody>
                  <a:tcPr/>
                </a:tc>
                <a:tc>
                  <a:txBody>
                    <a:bodyPr/>
                    <a:lstStyle/>
                    <a:p>
                      <a:r>
                        <a:rPr lang="en-US" altLang="zh-CN" dirty="0"/>
                        <a:t>0.175391</a:t>
                      </a:r>
                      <a:endParaRPr lang="zh-CN" altLang="en-US" dirty="0"/>
                    </a:p>
                  </a:txBody>
                  <a:tcPr/>
                </a:tc>
                <a:tc>
                  <a:txBody>
                    <a:bodyPr/>
                    <a:lstStyle/>
                    <a:p>
                      <a:r>
                        <a:rPr lang="en-US" altLang="zh-CN" dirty="0"/>
                        <a:t>0.980719</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10001"/>
                  </a:ext>
                </a:extLst>
              </a:tr>
              <a:tr h="370840">
                <a:tc>
                  <a:txBody>
                    <a:bodyPr/>
                    <a:lstStyle/>
                    <a:p>
                      <a:r>
                        <a:rPr lang="zh-CN" altLang="zh-CN" dirty="0"/>
                        <a:t>无</a:t>
                      </a:r>
                    </a:p>
                  </a:txBody>
                  <a:tcPr/>
                </a:tc>
                <a:tc>
                  <a:txBody>
                    <a:bodyPr/>
                    <a:lstStyle/>
                    <a:p>
                      <a:r>
                        <a:rPr lang="en-US" altLang="zh-CN" dirty="0"/>
                        <a:t>1:4</a:t>
                      </a:r>
                      <a:endParaRPr lang="zh-CN" altLang="en-US" dirty="0"/>
                    </a:p>
                  </a:txBody>
                  <a:tcPr/>
                </a:tc>
                <a:tc>
                  <a:txBody>
                    <a:bodyPr/>
                    <a:lstStyle/>
                    <a:p>
                      <a:r>
                        <a:rPr lang="en-US" altLang="zh-CN" dirty="0"/>
                        <a:t>0.1</a:t>
                      </a:r>
                      <a:r>
                        <a:rPr lang="en-US" dirty="0"/>
                        <a:t>55583</a:t>
                      </a:r>
                    </a:p>
                  </a:txBody>
                  <a:tcPr/>
                </a:tc>
                <a:tc>
                  <a:txBody>
                    <a:bodyPr/>
                    <a:lstStyle/>
                    <a:p>
                      <a:r>
                        <a:rPr lang="en-US" altLang="zh-CN" dirty="0"/>
                        <a:t>0.980074</a:t>
                      </a:r>
                      <a:endParaRPr lang="zh-CN" altLang="en-US" dirty="0"/>
                    </a:p>
                  </a:txBody>
                  <a:tcPr/>
                </a:tc>
                <a:tc>
                  <a:txBody>
                    <a:bodyPr/>
                    <a:lstStyle/>
                    <a:p>
                      <a:r>
                        <a:rPr lang="en-US" altLang="zh-CN" dirty="0"/>
                        <a:t>-</a:t>
                      </a:r>
                    </a:p>
                  </a:txBody>
                  <a:tcPr/>
                </a:tc>
                <a:tc>
                  <a:txBody>
                    <a:bodyPr/>
                    <a:lstStyle/>
                    <a:p>
                      <a:r>
                        <a:rPr lang="en-US" altLang="zh-CN" dirty="0"/>
                        <a:t>-</a:t>
                      </a:r>
                    </a:p>
                  </a:txBody>
                  <a:tcPr/>
                </a:tc>
                <a:tc>
                  <a:txBody>
                    <a:bodyPr/>
                    <a:lstStyle/>
                    <a:p>
                      <a:r>
                        <a:rPr lang="en-US" altLang="zh-CN" dirty="0"/>
                        <a:t>-</a:t>
                      </a:r>
                    </a:p>
                  </a:txBody>
                  <a:tcPr/>
                </a:tc>
                <a:extLst>
                  <a:ext uri="{0D108BD9-81ED-4DB2-BD59-A6C34878D82A}">
                    <a16:rowId xmlns:a16="http://schemas.microsoft.com/office/drawing/2014/main" val="10002"/>
                  </a:ext>
                </a:extLst>
              </a:tr>
              <a:tr h="370840">
                <a:tc>
                  <a:txBody>
                    <a:bodyPr/>
                    <a:lstStyle/>
                    <a:p>
                      <a:r>
                        <a:rPr lang="zh-CN" altLang="en-US" dirty="0"/>
                        <a:t>有</a:t>
                      </a:r>
                    </a:p>
                  </a:txBody>
                  <a:tcPr/>
                </a:tc>
                <a:tc>
                  <a:txBody>
                    <a:bodyPr/>
                    <a:lstStyle/>
                    <a:p>
                      <a:r>
                        <a:rPr lang="en-US" altLang="zh-CN" dirty="0"/>
                        <a:t>1:1</a:t>
                      </a:r>
                      <a:endParaRPr lang="zh-CN" altLang="en-US" dirty="0"/>
                    </a:p>
                  </a:txBody>
                  <a:tcPr/>
                </a:tc>
                <a:tc>
                  <a:txBody>
                    <a:bodyPr/>
                    <a:lstStyle/>
                    <a:p>
                      <a:r>
                        <a:rPr lang="en-US" altLang="zh-CN" dirty="0"/>
                        <a:t>0.175233</a:t>
                      </a:r>
                      <a:endParaRPr lang="zh-CN" altLang="en-US" dirty="0"/>
                    </a:p>
                  </a:txBody>
                  <a:tcPr/>
                </a:tc>
                <a:tc>
                  <a:txBody>
                    <a:bodyPr/>
                    <a:lstStyle/>
                    <a:p>
                      <a:r>
                        <a:rPr lang="en-US" altLang="zh-CN" dirty="0"/>
                        <a:t>0.98</a:t>
                      </a:r>
                      <a:endParaRPr lang="zh-CN" altLang="en-US" dirty="0"/>
                    </a:p>
                  </a:txBody>
                  <a:tcPr/>
                </a:tc>
                <a:tc>
                  <a:txBody>
                    <a:bodyPr/>
                    <a:lstStyle/>
                    <a:p>
                      <a:r>
                        <a:rPr lang="en-US" altLang="zh-CN" dirty="0"/>
                        <a:t>0.005</a:t>
                      </a:r>
                      <a:endParaRPr lang="zh-CN" altLang="en-US" dirty="0"/>
                    </a:p>
                  </a:txBody>
                  <a:tcPr/>
                </a:tc>
                <a:tc>
                  <a:txBody>
                    <a:bodyPr/>
                    <a:lstStyle/>
                    <a:p>
                      <a:r>
                        <a:rPr lang="en-US" altLang="zh-CN" dirty="0"/>
                        <a:t>0.004</a:t>
                      </a:r>
                      <a:endParaRPr lang="zh-CN" altLang="en-US" dirty="0"/>
                    </a:p>
                  </a:txBody>
                  <a:tcPr/>
                </a:tc>
                <a:tc>
                  <a:txBody>
                    <a:bodyPr/>
                    <a:lstStyle/>
                    <a:p>
                      <a:r>
                        <a:rPr lang="en-US" altLang="zh-CN" dirty="0"/>
                        <a:t>0.004</a:t>
                      </a:r>
                      <a:endParaRPr lang="zh-CN" altLang="en-US" dirty="0"/>
                    </a:p>
                  </a:txBody>
                  <a:tcPr/>
                </a:tc>
                <a:extLst>
                  <a:ext uri="{0D108BD9-81ED-4DB2-BD59-A6C34878D82A}">
                    <a16:rowId xmlns:a16="http://schemas.microsoft.com/office/drawing/2014/main" val="10003"/>
                  </a:ext>
                </a:extLst>
              </a:tr>
              <a:tr h="370840">
                <a:tc>
                  <a:txBody>
                    <a:bodyPr/>
                    <a:lstStyle/>
                    <a:p>
                      <a:r>
                        <a:rPr lang="zh-CN" altLang="en-US" dirty="0"/>
                        <a:t>有</a:t>
                      </a:r>
                    </a:p>
                  </a:txBody>
                  <a:tcPr/>
                </a:tc>
                <a:tc>
                  <a:txBody>
                    <a:bodyPr/>
                    <a:lstStyle/>
                    <a:p>
                      <a:r>
                        <a:rPr lang="en-US" altLang="zh-CN" dirty="0"/>
                        <a:t>1:4</a:t>
                      </a:r>
                      <a:endParaRPr lang="zh-CN" altLang="en-US" dirty="0"/>
                    </a:p>
                  </a:txBody>
                  <a:tcPr/>
                </a:tc>
                <a:tc>
                  <a:txBody>
                    <a:bodyPr/>
                    <a:lstStyle/>
                    <a:p>
                      <a:r>
                        <a:rPr lang="en-US" altLang="zh-CN" dirty="0"/>
                        <a:t>0.184747</a:t>
                      </a:r>
                      <a:endParaRPr lang="zh-CN" altLang="en-US" dirty="0"/>
                    </a:p>
                  </a:txBody>
                  <a:tcPr/>
                </a:tc>
                <a:tc>
                  <a:txBody>
                    <a:bodyPr/>
                    <a:lstStyle/>
                    <a:p>
                      <a:r>
                        <a:rPr lang="en-US" altLang="zh-CN" dirty="0"/>
                        <a:t>1</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tc>
                  <a:txBody>
                    <a:bodyPr/>
                    <a:lstStyle/>
                    <a:p>
                      <a:r>
                        <a:rPr lang="en-US" altLang="zh-CN" dirty="0"/>
                        <a:t>-</a:t>
                      </a:r>
                      <a:endParaRPr lang="zh-CN" altLang="en-US" dirty="0"/>
                    </a:p>
                  </a:txBody>
                  <a:tcPr/>
                </a:tc>
                <a:extLst>
                  <a:ext uri="{0D108BD9-81ED-4DB2-BD59-A6C34878D82A}">
                    <a16:rowId xmlns:a16="http://schemas.microsoft.com/office/drawing/2014/main" val="10004"/>
                  </a:ext>
                </a:extLst>
              </a:tr>
            </a:tbl>
          </a:graphicData>
        </a:graphic>
      </p:graphicFrame>
      <p:pic>
        <p:nvPicPr>
          <p:cNvPr id="3" name="图片 2">
            <a:hlinkClick r:id="rId4" action="ppaction://hlinksldjump"/>
          </p:cNvPr>
          <p:cNvPicPr>
            <a:picLocks noChangeAspect="1"/>
          </p:cNvPicPr>
          <p:nvPr/>
        </p:nvPicPr>
        <p:blipFill>
          <a:blip r:embed="rId5"/>
          <a:stretch>
            <a:fillRect/>
          </a:stretch>
        </p:blipFill>
        <p:spPr>
          <a:xfrm>
            <a:off x="8718550" y="4752340"/>
            <a:ext cx="371475" cy="304800"/>
          </a:xfrm>
          <a:prstGeom prst="rect">
            <a:avLst/>
          </a:prstGeom>
        </p:spPr>
      </p:pic>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319977" cy="369332"/>
          </a:xfrm>
          <a:prstGeom prst="rect">
            <a:avLst/>
          </a:prstGeom>
          <a:noFill/>
        </p:spPr>
        <p:txBody>
          <a:bodyPr wrap="none">
            <a:spAutoFit/>
          </a:bodyPr>
          <a:lstStyle/>
          <a:p>
            <a:pPr>
              <a:defRPr/>
            </a:pP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Node2Vec</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1005403"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知识图谱推荐模型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矩形 12"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a:xfrm>
            <a:off x="795575" y="829103"/>
            <a:ext cx="7859447" cy="1027717"/>
          </a:xfrm>
          <a:prstGeom prst="rect">
            <a:avLst/>
          </a:prstGeom>
        </p:spPr>
        <p:txBody>
          <a:bodyPr wrap="square">
            <a:spAutoFit/>
          </a:bodyPr>
          <a:lstStyle/>
          <a:p>
            <a:pPr>
              <a:lnSpc>
                <a:spcPct val="150000"/>
              </a:lnSpc>
            </a:pPr>
            <a:r>
              <a:rPr lang="en-US" altLang="zh-CN" sz="1400" b="1" dirty="0">
                <a:solidFill>
                  <a:schemeClr val="tx1">
                    <a:lumMod val="85000"/>
                    <a:lumOff val="15000"/>
                  </a:schemeClr>
                </a:solidFill>
              </a:rPr>
              <a:t>         Node2vec</a:t>
            </a:r>
            <a:r>
              <a:rPr lang="zh-CN" altLang="en-US" sz="1400" dirty="0">
                <a:solidFill>
                  <a:schemeClr val="tx1">
                    <a:lumMod val="85000"/>
                    <a:lumOff val="15000"/>
                  </a:schemeClr>
                </a:solidFill>
              </a:rPr>
              <a:t>通过模拟图上的随机游走，生成节点序列，然后将其输入神经语言模型（</a:t>
            </a:r>
            <a:r>
              <a:rPr lang="en-US" altLang="zh-CN" sz="1400" dirty="0">
                <a:solidFill>
                  <a:schemeClr val="tx1">
                    <a:lumMod val="85000"/>
                    <a:lumOff val="15000"/>
                  </a:schemeClr>
                </a:solidFill>
              </a:rPr>
              <a:t>word2vec </a:t>
            </a:r>
            <a:r>
              <a:rPr lang="zh-CN" altLang="en-US" sz="1400" dirty="0">
                <a:solidFill>
                  <a:schemeClr val="tx1">
                    <a:lumMod val="85000"/>
                    <a:lumOff val="15000"/>
                  </a:schemeClr>
                </a:solidFill>
              </a:rPr>
              <a:t>），将它们视为文档中的“句子”，以学习节点的矢量表示。通过这个表示，可以获得每部电影对应的分布式表示。</a:t>
            </a:r>
          </a:p>
        </p:txBody>
      </p:sp>
      <p:pic>
        <p:nvPicPr>
          <p:cNvPr id="12" name="图片 11"/>
          <p:cNvPicPr>
            <a:picLocks noChangeAspect="1"/>
          </p:cNvPicPr>
          <p:nvPr/>
        </p:nvPicPr>
        <p:blipFill>
          <a:blip r:embed="rId4">
            <a:clrChange>
              <a:clrFrom>
                <a:srgbClr val="FFFFFF"/>
              </a:clrFrom>
              <a:clrTo>
                <a:srgbClr val="FFFFFF">
                  <a:alpha val="0"/>
                </a:srgbClr>
              </a:clrTo>
            </a:clrChange>
          </a:blip>
          <a:stretch>
            <a:fillRect/>
          </a:stretch>
        </p:blipFill>
        <p:spPr>
          <a:xfrm>
            <a:off x="-56147" y="1824866"/>
            <a:ext cx="6074418" cy="2685399"/>
          </a:xfrm>
          <a:prstGeom prst="rect">
            <a:avLst/>
          </a:prstGeom>
        </p:spPr>
      </p:pic>
      <p:pic>
        <p:nvPicPr>
          <p:cNvPr id="2" name="图片 1">
            <a:extLst>
              <a:ext uri="{FF2B5EF4-FFF2-40B4-BE49-F238E27FC236}">
                <a16:creationId xmlns:a16="http://schemas.microsoft.com/office/drawing/2014/main" id="{440DD7E9-D185-44D3-B4A8-8B30E7A049A7}"/>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905500" y="1786440"/>
            <a:ext cx="2514600" cy="2762250"/>
          </a:xfrm>
          <a:prstGeom prst="rect">
            <a:avLst/>
          </a:prstGeom>
        </p:spPr>
      </p:pic>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900777" cy="369332"/>
          </a:xfrm>
          <a:prstGeom prst="rect">
            <a:avLst/>
          </a:prstGeom>
          <a:noFill/>
        </p:spPr>
        <p:txBody>
          <a:bodyPr wrap="none">
            <a:spAutoFit/>
          </a:bodyPr>
          <a:lstStyle/>
          <a:p>
            <a:pPr>
              <a:defRPr/>
            </a:pP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Ripple Network</a:t>
            </a:r>
            <a:endParaRPr lang="zh-CN" altLang="en-US"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90232" y="575233"/>
            <a:ext cx="1005403"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知识图谱推荐模型</a:t>
            </a:r>
            <a:endParaRPr lang="en-US" altLang="zh-CN" sz="800" dirty="0">
              <a:solidFill>
                <a:schemeClr val="accent1"/>
              </a:solidFill>
              <a:latin typeface="+mj-lt"/>
              <a:ea typeface="方正兰亭黑_GBK"/>
            </a:endParaRP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4">
            <a:clrChange>
              <a:clrFrom>
                <a:srgbClr val="FFFFFF"/>
              </a:clrFrom>
              <a:clrTo>
                <a:srgbClr val="FFFFFF">
                  <a:alpha val="0"/>
                </a:srgbClr>
              </a:clrTo>
            </a:clrChange>
          </a:blip>
          <a:stretch>
            <a:fillRect/>
          </a:stretch>
        </p:blipFill>
        <p:spPr>
          <a:xfrm>
            <a:off x="920738" y="1305846"/>
            <a:ext cx="7763977" cy="2909482"/>
          </a:xfrm>
          <a:prstGeom prst="rect">
            <a:avLst/>
          </a:prstGeom>
        </p:spPr>
      </p:pic>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900777" cy="369332"/>
          </a:xfrm>
          <a:prstGeom prst="rect">
            <a:avLst/>
          </a:prstGeom>
          <a:noFill/>
        </p:spPr>
        <p:txBody>
          <a:bodyPr wrap="none">
            <a:spAutoFit/>
          </a:bodyPr>
          <a:lstStyle/>
          <a:p>
            <a:pPr>
              <a:defRPr/>
            </a:pPr>
            <a:r>
              <a:rPr lang="en-US" altLang="zh-CN" sz="1800"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Ripple Network</a:t>
            </a:r>
          </a:p>
        </p:txBody>
      </p:sp>
      <p:sp>
        <p:nvSpPr>
          <p:cNvPr id="5" name="矩形 4"/>
          <p:cNvSpPr/>
          <p:nvPr/>
        </p:nvSpPr>
        <p:spPr>
          <a:xfrm>
            <a:off x="90232" y="575233"/>
            <a:ext cx="1005403" cy="215444"/>
          </a:xfrm>
          <a:prstGeom prst="rect">
            <a:avLst/>
          </a:prstGeom>
        </p:spPr>
        <p:txBody>
          <a:bodyPr wrap="none">
            <a:spAutoFit/>
          </a:bodyPr>
          <a:lstStyle/>
          <a:p>
            <a:pPr lvl="0" fontAlgn="base">
              <a:spcBef>
                <a:spcPct val="0"/>
              </a:spcBef>
              <a:spcAft>
                <a:spcPct val="0"/>
              </a:spcAft>
              <a:defRPr/>
            </a:pPr>
            <a:r>
              <a:rPr lang="zh-CN" altLang="en-US" sz="800" dirty="0">
                <a:solidFill>
                  <a:schemeClr val="accent1"/>
                </a:solidFill>
                <a:latin typeface="+mj-lt"/>
                <a:ea typeface="方正兰亭黑_GBK"/>
              </a:rPr>
              <a:t>知识图谱推荐模型</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1688772" y="3506890"/>
            <a:ext cx="2365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1249003" y="2759609"/>
            <a:ext cx="1154761" cy="738664"/>
          </a:xfrm>
          <a:prstGeom prst="rect">
            <a:avLst/>
          </a:prstGeom>
        </p:spPr>
        <p:txBody>
          <a:bodyPr wrap="square">
            <a:spAutoFit/>
          </a:body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对用户编号数据清洗</a:t>
            </a:r>
            <a:endParaRPr lang="en-US" altLang="zh-CN" sz="1400" dirty="0">
              <a:solidFill>
                <a:schemeClr val="accent1"/>
              </a:solidFill>
              <a:latin typeface="微软雅黑" panose="020B0503020204020204" pitchFamily="34" charset="-122"/>
              <a:ea typeface="微软雅黑" panose="020B0503020204020204" pitchFamily="34" charset="-122"/>
            </a:endParaRPr>
          </a:p>
          <a:p>
            <a:pPr algn="ctr"/>
            <a:r>
              <a:rPr lang="zh-CN" altLang="en-US" sz="1400" dirty="0">
                <a:solidFill>
                  <a:schemeClr val="accent1"/>
                </a:solidFill>
                <a:latin typeface="微软雅黑" panose="020B0503020204020204" pitchFamily="34" charset="-122"/>
                <a:ea typeface="微软雅黑" panose="020B0503020204020204" pitchFamily="34" charset="-122"/>
              </a:rPr>
              <a:t>构建负样本</a:t>
            </a:r>
          </a:p>
        </p:txBody>
      </p:sp>
      <p:cxnSp>
        <p:nvCxnSpPr>
          <p:cNvPr id="70" name="直接连接符 69"/>
          <p:cNvCxnSpPr/>
          <p:nvPr/>
        </p:nvCxnSpPr>
        <p:spPr>
          <a:xfrm>
            <a:off x="5146844" y="3389630"/>
            <a:ext cx="2365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任意多边形 5"/>
          <p:cNvSpPr/>
          <p:nvPr/>
        </p:nvSpPr>
        <p:spPr>
          <a:xfrm>
            <a:off x="941705" y="1718310"/>
            <a:ext cx="1881505" cy="75247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1222" tIns="37338" rIns="366545" bIns="37338"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8" name="任意多边形 7"/>
          <p:cNvSpPr/>
          <p:nvPr/>
        </p:nvSpPr>
        <p:spPr>
          <a:xfrm>
            <a:off x="2635250" y="1718310"/>
            <a:ext cx="1881505" cy="75247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85228" tIns="52007" rIns="381214" bIns="52007" numCol="1" spcCol="1270" anchor="ctr" anchorCtr="0">
            <a:noAutofit/>
          </a:bodyPr>
          <a:lstStyle/>
          <a:p>
            <a:pPr lvl="0" algn="ctr" defTabSz="1733550">
              <a:lnSpc>
                <a:spcPct val="90000"/>
              </a:lnSpc>
              <a:spcBef>
                <a:spcPct val="0"/>
              </a:spcBef>
              <a:spcAft>
                <a:spcPct val="35000"/>
              </a:spcAft>
            </a:pPr>
            <a:endParaRPr lang="zh-CN" altLang="en-US" sz="3900" kern="1200"/>
          </a:p>
        </p:txBody>
      </p:sp>
      <p:sp>
        <p:nvSpPr>
          <p:cNvPr id="9" name="任意多边形 8"/>
          <p:cNvSpPr/>
          <p:nvPr/>
        </p:nvSpPr>
        <p:spPr>
          <a:xfrm>
            <a:off x="4328160" y="1718310"/>
            <a:ext cx="1881505" cy="75247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1222" tIns="37338" rIns="366545" bIns="37338"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0" name="任意多边形 9"/>
          <p:cNvSpPr/>
          <p:nvPr/>
        </p:nvSpPr>
        <p:spPr>
          <a:xfrm>
            <a:off x="6021705" y="1718310"/>
            <a:ext cx="1881505" cy="752475"/>
          </a:xfrm>
          <a:custGeom>
            <a:avLst/>
            <a:gdLst>
              <a:gd name="connsiteX0" fmla="*/ 0 w 1646039"/>
              <a:gd name="connsiteY0" fmla="*/ 0 h 658415"/>
              <a:gd name="connsiteX1" fmla="*/ 1316832 w 1646039"/>
              <a:gd name="connsiteY1" fmla="*/ 0 h 658415"/>
              <a:gd name="connsiteX2" fmla="*/ 1646039 w 1646039"/>
              <a:gd name="connsiteY2" fmla="*/ 329208 h 658415"/>
              <a:gd name="connsiteX3" fmla="*/ 1316832 w 1646039"/>
              <a:gd name="connsiteY3" fmla="*/ 658415 h 658415"/>
              <a:gd name="connsiteX4" fmla="*/ 0 w 1646039"/>
              <a:gd name="connsiteY4" fmla="*/ 658415 h 658415"/>
              <a:gd name="connsiteX5" fmla="*/ 329208 w 1646039"/>
              <a:gd name="connsiteY5" fmla="*/ 329208 h 658415"/>
              <a:gd name="connsiteX6" fmla="*/ 0 w 1646039"/>
              <a:gd name="connsiteY6" fmla="*/ 0 h 65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6039" h="658415">
                <a:moveTo>
                  <a:pt x="0" y="0"/>
                </a:moveTo>
                <a:lnTo>
                  <a:pt x="1316832" y="0"/>
                </a:lnTo>
                <a:lnTo>
                  <a:pt x="1646039" y="329208"/>
                </a:lnTo>
                <a:lnTo>
                  <a:pt x="1316832" y="658415"/>
                </a:lnTo>
                <a:lnTo>
                  <a:pt x="0" y="658415"/>
                </a:lnTo>
                <a:lnTo>
                  <a:pt x="329208" y="32920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1222" tIns="37338" rIns="366545" bIns="37338"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1" name="椭圆 10"/>
          <p:cNvSpPr/>
          <p:nvPr/>
        </p:nvSpPr>
        <p:spPr>
          <a:xfrm>
            <a:off x="1613535" y="2234565"/>
            <a:ext cx="426720" cy="426720"/>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3295015" y="1504950"/>
            <a:ext cx="426720" cy="426720"/>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连接符 65"/>
          <p:cNvCxnSpPr/>
          <p:nvPr/>
        </p:nvCxnSpPr>
        <p:spPr>
          <a:xfrm>
            <a:off x="3413760" y="1433830"/>
            <a:ext cx="18923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2667635" y="696595"/>
            <a:ext cx="1661795" cy="737235"/>
          </a:xfrm>
          <a:prstGeom prst="rect">
            <a:avLst/>
          </a:prstGeom>
        </p:spPr>
        <p:txBody>
          <a:bodyPr wrap="square">
            <a:spAutoFit/>
          </a:body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生成</a:t>
            </a:r>
            <a:endParaRPr lang="en-US" altLang="zh-CN" sz="1400" dirty="0">
              <a:solidFill>
                <a:schemeClr val="accent1"/>
              </a:solidFill>
              <a:latin typeface="微软雅黑" panose="020B0503020204020204" pitchFamily="34" charset="-122"/>
              <a:ea typeface="微软雅黑" panose="020B0503020204020204" pitchFamily="34" charset="-122"/>
            </a:endParaRPr>
          </a:p>
          <a:p>
            <a:pPr algn="ctr"/>
            <a:r>
              <a:rPr lang="en-US" altLang="zh-CN" sz="1400" dirty="0">
                <a:solidFill>
                  <a:schemeClr val="accent1"/>
                </a:solidFill>
                <a:latin typeface="微软雅黑" panose="020B0503020204020204" pitchFamily="34" charset="-122"/>
                <a:ea typeface="微软雅黑" panose="020B0503020204020204" pitchFamily="34" charset="-122"/>
              </a:rPr>
              <a:t>Ripple Set</a:t>
            </a:r>
          </a:p>
          <a:p>
            <a:pPr algn="ctr"/>
            <a:r>
              <a:rPr lang="zh-CN" altLang="en-US" sz="1400" dirty="0">
                <a:solidFill>
                  <a:schemeClr val="accent1"/>
                </a:solidFill>
                <a:latin typeface="微软雅黑" panose="020B0503020204020204" pitchFamily="34" charset="-122"/>
                <a:ea typeface="微软雅黑" panose="020B0503020204020204" pitchFamily="34" charset="-122"/>
              </a:rPr>
              <a:t>波网络数据集</a:t>
            </a:r>
          </a:p>
        </p:txBody>
      </p:sp>
      <p:sp>
        <p:nvSpPr>
          <p:cNvPr id="68" name="椭圆 67"/>
          <p:cNvSpPr/>
          <p:nvPr/>
        </p:nvSpPr>
        <p:spPr>
          <a:xfrm>
            <a:off x="5055870" y="2225675"/>
            <a:ext cx="426720" cy="426720"/>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690745" y="2867660"/>
            <a:ext cx="1294130" cy="521970"/>
          </a:xfrm>
          <a:prstGeom prst="rect">
            <a:avLst/>
          </a:prstGeom>
        </p:spPr>
        <p:txBody>
          <a:bodyPr wrap="square">
            <a:spAutoFit/>
          </a:bodyPr>
          <a:lstStyle/>
          <a:p>
            <a:pPr algn="ctr"/>
            <a:r>
              <a:rPr lang="en-US" altLang="zh-CN" sz="1400" dirty="0">
                <a:solidFill>
                  <a:schemeClr val="accent1"/>
                </a:solidFill>
                <a:latin typeface="微软雅黑" panose="020B0503020204020204" pitchFamily="34" charset="-122"/>
                <a:ea typeface="微软雅黑" panose="020B0503020204020204" pitchFamily="34" charset="-122"/>
              </a:rPr>
              <a:t>Embedding</a:t>
            </a:r>
          </a:p>
          <a:p>
            <a:pPr algn="ctr"/>
            <a:r>
              <a:rPr lang="zh-CN" altLang="en-US" sz="1400" dirty="0">
                <a:solidFill>
                  <a:schemeClr val="accent1"/>
                </a:solidFill>
                <a:latin typeface="微软雅黑" panose="020B0503020204020204" pitchFamily="34" charset="-122"/>
                <a:ea typeface="微软雅黑" panose="020B0503020204020204" pitchFamily="34" charset="-122"/>
              </a:rPr>
              <a:t>送入模型训练</a:t>
            </a:r>
          </a:p>
        </p:txBody>
      </p:sp>
      <p:sp>
        <p:nvSpPr>
          <p:cNvPr id="72" name="椭圆 71"/>
          <p:cNvSpPr/>
          <p:nvPr/>
        </p:nvSpPr>
        <p:spPr>
          <a:xfrm>
            <a:off x="6700520" y="1504950"/>
            <a:ext cx="426720" cy="426720"/>
          </a:xfrm>
          <a:prstGeom prst="ellipse">
            <a:avLst/>
          </a:prstGeom>
          <a:solidFill>
            <a:srgbClr val="EEF2F5"/>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直接连接符 73"/>
          <p:cNvCxnSpPr/>
          <p:nvPr/>
        </p:nvCxnSpPr>
        <p:spPr>
          <a:xfrm>
            <a:off x="6803390" y="1433830"/>
            <a:ext cx="18923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矩形 74"/>
          <p:cNvSpPr/>
          <p:nvPr/>
        </p:nvSpPr>
        <p:spPr>
          <a:xfrm>
            <a:off x="6309359" y="460654"/>
            <a:ext cx="1306195" cy="953135"/>
          </a:xfrm>
          <a:prstGeom prst="rect">
            <a:avLst/>
          </a:prstGeom>
        </p:spPr>
        <p:txBody>
          <a:bodyPr wrap="square">
            <a:spAutoFit/>
          </a:bodyPr>
          <a:lstStyle/>
          <a:p>
            <a:pPr algn="ctr"/>
            <a:r>
              <a:rPr lang="zh-CN" altLang="en-US" sz="1400" dirty="0">
                <a:solidFill>
                  <a:schemeClr val="accent1"/>
                </a:solidFill>
                <a:latin typeface="微软雅黑" panose="020B0503020204020204" pitchFamily="34" charset="-122"/>
                <a:ea typeface="微软雅黑" panose="020B0503020204020204" pitchFamily="34" charset="-122"/>
              </a:rPr>
              <a:t>输出用户对电影的喜爱程度</a:t>
            </a:r>
            <a:r>
              <a:rPr lang="en-US" altLang="zh-CN" sz="1400" dirty="0">
                <a:solidFill>
                  <a:schemeClr val="accent1"/>
                </a:solidFill>
                <a:latin typeface="微软雅黑" panose="020B0503020204020204" pitchFamily="34" charset="-122"/>
                <a:ea typeface="微软雅黑" panose="020B0503020204020204" pitchFamily="34" charset="-122"/>
              </a:rPr>
              <a:t>Rank</a:t>
            </a:r>
            <a:r>
              <a:rPr lang="zh-CN" altLang="en-US" sz="1400" dirty="0">
                <a:solidFill>
                  <a:schemeClr val="accent1"/>
                </a:solidFill>
                <a:latin typeface="微软雅黑" panose="020B0503020204020204" pitchFamily="34" charset="-122"/>
                <a:ea typeface="微软雅黑" panose="020B0503020204020204" pitchFamily="34" charset="-122"/>
              </a:rPr>
              <a:t>后输出推荐电影</a:t>
            </a:r>
          </a:p>
        </p:txBody>
      </p:sp>
      <p:grpSp>
        <p:nvGrpSpPr>
          <p:cNvPr id="40" name="组合 39"/>
          <p:cNvGrpSpPr/>
          <p:nvPr/>
        </p:nvGrpSpPr>
        <p:grpSpPr>
          <a:xfrm>
            <a:off x="3402330" y="1607185"/>
            <a:ext cx="212725" cy="213360"/>
            <a:chOff x="5394325" y="2859088"/>
            <a:chExt cx="358775" cy="360362"/>
          </a:xfrm>
          <a:solidFill>
            <a:schemeClr val="accent1"/>
          </a:solidFill>
        </p:grpSpPr>
        <p:sp>
          <p:nvSpPr>
            <p:cNvPr id="41"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3"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4"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6"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7" name="组合 46"/>
          <p:cNvGrpSpPr/>
          <p:nvPr/>
        </p:nvGrpSpPr>
        <p:grpSpPr>
          <a:xfrm>
            <a:off x="5158740" y="2332990"/>
            <a:ext cx="212725" cy="212725"/>
            <a:chOff x="5394312" y="2141343"/>
            <a:chExt cx="359165" cy="359165"/>
          </a:xfrm>
          <a:solidFill>
            <a:schemeClr val="accent1"/>
          </a:solidFill>
        </p:grpSpPr>
        <p:sp>
          <p:nvSpPr>
            <p:cNvPr id="48"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9"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0"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51" name="AutoShape 112"/>
          <p:cNvSpPr/>
          <p:nvPr/>
        </p:nvSpPr>
        <p:spPr bwMode="auto">
          <a:xfrm>
            <a:off x="6803390" y="1612265"/>
            <a:ext cx="213360" cy="21272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accent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52" name="组合 51"/>
          <p:cNvGrpSpPr/>
          <p:nvPr/>
        </p:nvGrpSpPr>
        <p:grpSpPr>
          <a:xfrm>
            <a:off x="1720850" y="2342515"/>
            <a:ext cx="212725" cy="212725"/>
            <a:chOff x="2473104" y="2145028"/>
            <a:chExt cx="359165" cy="359165"/>
          </a:xfrm>
          <a:solidFill>
            <a:schemeClr val="accent1"/>
          </a:solidFill>
        </p:grpSpPr>
        <p:sp>
          <p:nvSpPr>
            <p:cNvPr id="53"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4"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aphicFrame>
        <p:nvGraphicFramePr>
          <p:cNvPr id="12" name="表格 11"/>
          <p:cNvGraphicFramePr>
            <a:graphicFrameLocks noGrp="1"/>
          </p:cNvGraphicFramePr>
          <p:nvPr>
            <p:extLst>
              <p:ext uri="{D42A27DB-BD31-4B8C-83A1-F6EECF244321}">
                <p14:modId xmlns:p14="http://schemas.microsoft.com/office/powerpoint/2010/main" val="988349460"/>
              </p:ext>
            </p:extLst>
          </p:nvPr>
        </p:nvGraphicFramePr>
        <p:xfrm>
          <a:off x="1250404" y="3613862"/>
          <a:ext cx="6096000" cy="11125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altLang="zh-CN" dirty="0" err="1"/>
                        <a:t>RippleSet</a:t>
                      </a:r>
                      <a:r>
                        <a:rPr lang="en-US" altLang="zh-CN" dirty="0"/>
                        <a:t> </a:t>
                      </a:r>
                      <a:r>
                        <a:rPr lang="zh-CN" altLang="en-US" dirty="0"/>
                        <a:t>大小</a:t>
                      </a:r>
                    </a:p>
                  </a:txBody>
                  <a:tcPr/>
                </a:tc>
                <a:tc>
                  <a:txBody>
                    <a:bodyPr/>
                    <a:lstStyle/>
                    <a:p>
                      <a:r>
                        <a:rPr lang="zh-CN" altLang="en-US" dirty="0"/>
                        <a:t>精确率（</a:t>
                      </a:r>
                      <a:r>
                        <a:rPr lang="en-US" altLang="zh-CN" dirty="0"/>
                        <a:t>Precision</a:t>
                      </a:r>
                      <a:r>
                        <a:rPr lang="zh-CN" altLang="en-US" dirty="0"/>
                        <a:t>）</a:t>
                      </a:r>
                    </a:p>
                  </a:txBody>
                  <a:tcPr/>
                </a:tc>
                <a:tc>
                  <a:txBody>
                    <a:bodyPr/>
                    <a:lstStyle/>
                    <a:p>
                      <a:r>
                        <a:rPr lang="zh-CN" altLang="en-US" dirty="0"/>
                        <a:t>召回率（</a:t>
                      </a:r>
                      <a:r>
                        <a:rPr lang="en-US" altLang="zh-CN" dirty="0"/>
                        <a:t>Recall</a:t>
                      </a:r>
                      <a:r>
                        <a:rPr lang="zh-CN" altLang="en-US" dirty="0"/>
                        <a:t>）</a:t>
                      </a:r>
                    </a:p>
                  </a:txBody>
                  <a:tcPr/>
                </a:tc>
                <a:tc>
                  <a:txBody>
                    <a:bodyPr/>
                    <a:lstStyle/>
                    <a:p>
                      <a:r>
                        <a:rPr lang="en-US" altLang="zh-CN" dirty="0"/>
                        <a:t>F1 Score</a:t>
                      </a:r>
                      <a:endParaRPr lang="zh-CN" altLang="en-US" dirty="0"/>
                    </a:p>
                  </a:txBody>
                  <a:tcPr/>
                </a:tc>
                <a:extLst>
                  <a:ext uri="{0D108BD9-81ED-4DB2-BD59-A6C34878D82A}">
                    <a16:rowId xmlns:a16="http://schemas.microsoft.com/office/drawing/2014/main" val="10000"/>
                  </a:ext>
                </a:extLst>
              </a:tr>
              <a:tr h="370840">
                <a:tc>
                  <a:txBody>
                    <a:bodyPr/>
                    <a:lstStyle/>
                    <a:p>
                      <a:r>
                        <a:rPr lang="en-US" altLang="zh-CN" dirty="0"/>
                        <a:t>32</a:t>
                      </a:r>
                      <a:endParaRPr lang="zh-CN" altLang="en-US" dirty="0"/>
                    </a:p>
                  </a:txBody>
                  <a:tcPr/>
                </a:tc>
                <a:tc>
                  <a:txBody>
                    <a:bodyPr/>
                    <a:lstStyle/>
                    <a:p>
                      <a:r>
                        <a:rPr lang="en-US" altLang="zh-CN" dirty="0"/>
                        <a:t>0.0513</a:t>
                      </a:r>
                      <a:endParaRPr lang="zh-CN" altLang="en-US" dirty="0"/>
                    </a:p>
                  </a:txBody>
                  <a:tcPr/>
                </a:tc>
                <a:tc>
                  <a:txBody>
                    <a:bodyPr/>
                    <a:lstStyle/>
                    <a:p>
                      <a:r>
                        <a:rPr lang="en-US" altLang="zh-CN" dirty="0"/>
                        <a:t>0.0350</a:t>
                      </a:r>
                      <a:endParaRPr lang="zh-CN" altLang="en-US" dirty="0"/>
                    </a:p>
                  </a:txBody>
                  <a:tcPr/>
                </a:tc>
                <a:tc>
                  <a:txBody>
                    <a:bodyPr/>
                    <a:lstStyle/>
                    <a:p>
                      <a:r>
                        <a:rPr lang="en-US" altLang="zh-CN" dirty="0"/>
                        <a:t>0.0416</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56</a:t>
                      </a:r>
                      <a:endParaRPr lang="zh-CN" altLang="en-US" dirty="0"/>
                    </a:p>
                  </a:txBody>
                  <a:tcPr/>
                </a:tc>
                <a:tc>
                  <a:txBody>
                    <a:bodyPr/>
                    <a:lstStyle/>
                    <a:p>
                      <a:r>
                        <a:rPr lang="en-US" altLang="zh-CN" dirty="0"/>
                        <a:t>0.0512</a:t>
                      </a:r>
                      <a:endParaRPr lang="zh-CN" altLang="en-US" dirty="0"/>
                    </a:p>
                  </a:txBody>
                  <a:tcPr/>
                </a:tc>
                <a:tc>
                  <a:txBody>
                    <a:bodyPr/>
                    <a:lstStyle/>
                    <a:p>
                      <a:r>
                        <a:rPr lang="en-US" altLang="zh-CN" dirty="0"/>
                        <a:t>0.0349</a:t>
                      </a:r>
                      <a:endParaRPr lang="zh-CN" altLang="en-US" dirty="0"/>
                    </a:p>
                  </a:txBody>
                  <a:tcPr/>
                </a:tc>
                <a:tc>
                  <a:txBody>
                    <a:bodyPr/>
                    <a:lstStyle/>
                    <a:p>
                      <a:r>
                        <a:rPr lang="en-US" altLang="zh-CN" dirty="0"/>
                        <a:t>0.0207</a:t>
                      </a:r>
                      <a:endParaRPr lang="zh-CN" altLang="en-US" dirty="0"/>
                    </a:p>
                  </a:txBody>
                  <a:tcPr/>
                </a:tc>
                <a:extLst>
                  <a:ext uri="{0D108BD9-81ED-4DB2-BD59-A6C34878D82A}">
                    <a16:rowId xmlns:a16="http://schemas.microsoft.com/office/drawing/2014/main" val="10002"/>
                  </a:ext>
                </a:extLst>
              </a:tr>
            </a:tbl>
          </a:graphicData>
        </a:graphic>
      </p:graphicFrame>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pic>
        <p:nvPicPr>
          <p:cNvPr id="3" name="图片 2" descr="DeeCamp角标"/>
          <p:cNvPicPr>
            <a:picLocks noChangeAspect="1"/>
          </p:cNvPicPr>
          <p:nvPr/>
        </p:nvPicPr>
        <p:blipFill>
          <a:blip r:embed="rId3"/>
          <a:stretch>
            <a:fillRect/>
          </a:stretch>
        </p:blipFill>
        <p:spPr>
          <a:xfrm>
            <a:off x="3259455" y="1270"/>
            <a:ext cx="5865495" cy="3299460"/>
          </a:xfrm>
          <a:prstGeom prst="rect">
            <a:avLst/>
          </a:prstGeom>
        </p:spPr>
      </p:pic>
      <p:sp>
        <p:nvSpPr>
          <p:cNvPr id="13" name="矩形 12"/>
          <p:cNvSpPr/>
          <p:nvPr/>
        </p:nvSpPr>
        <p:spPr bwMode="auto">
          <a:xfrm>
            <a:off x="2880360" y="2094283"/>
            <a:ext cx="3383280" cy="521970"/>
          </a:xfrm>
          <a:prstGeom prst="rect">
            <a:avLst/>
          </a:prstGeom>
          <a:noFill/>
        </p:spPr>
        <p:txBody>
          <a:bodyPr wrap="none">
            <a:spAutoFit/>
          </a:bodyPr>
          <a:lstStyle/>
          <a:p>
            <a:pPr algn="ctr">
              <a:defRPr/>
            </a:pPr>
            <a:r>
              <a:rPr lang="zh-CN" altLang="en-US" sz="2800" kern="100" dirty="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可解释性及项目展示</a:t>
            </a:r>
          </a:p>
        </p:txBody>
      </p:sp>
      <p:sp>
        <p:nvSpPr>
          <p:cNvPr id="14" name="矩形 13"/>
          <p:cNvSpPr/>
          <p:nvPr/>
        </p:nvSpPr>
        <p:spPr>
          <a:xfrm>
            <a:off x="3509009" y="2617504"/>
            <a:ext cx="2125980" cy="252730"/>
          </a:xfrm>
          <a:prstGeom prst="rect">
            <a:avLst/>
          </a:prstGeom>
        </p:spPr>
        <p:txBody>
          <a:bodyPr wrap="none">
            <a:spAutoFit/>
          </a:bodyPr>
          <a:lstStyle/>
          <a:p>
            <a:pPr algn="ctr" fontAlgn="base">
              <a:spcBef>
                <a:spcPct val="0"/>
              </a:spcBef>
              <a:spcAft>
                <a:spcPct val="0"/>
              </a:spcAft>
              <a:defRPr/>
            </a:pPr>
            <a:r>
              <a:rPr lang="en-US" altLang="zh-CN" sz="1050" dirty="0">
                <a:solidFill>
                  <a:srgbClr val="304371"/>
                </a:solidFill>
                <a:latin typeface="Arial" panose="020B0604020202020204"/>
                <a:ea typeface="方正兰亭黑_GBK"/>
              </a:rPr>
              <a:t>Interpretability  and  presentation</a:t>
            </a:r>
          </a:p>
        </p:txBody>
      </p:sp>
      <p:sp>
        <p:nvSpPr>
          <p:cNvPr id="15" name="矩形 14"/>
          <p:cNvSpPr/>
          <p:nvPr/>
        </p:nvSpPr>
        <p:spPr>
          <a:xfrm>
            <a:off x="2824381" y="2963755"/>
            <a:ext cx="3495238" cy="278602"/>
          </a:xfrm>
          <a:prstGeom prst="rect">
            <a:avLst/>
          </a:prstGeom>
        </p:spPr>
        <p:txBody>
          <a:bodyPr wrap="square">
            <a:spAutoFit/>
          </a:bodyPr>
          <a:lstStyle/>
          <a:p>
            <a:pPr algn="ctr">
              <a:lnSpc>
                <a:spcPct val="150000"/>
              </a:lnSpc>
            </a:pPr>
            <a:r>
              <a:rPr lang="en-US" altLang="zh-CN" sz="900" dirty="0" err="1">
                <a:solidFill>
                  <a:prstClr val="black">
                    <a:lumMod val="85000"/>
                    <a:lumOff val="15000"/>
                  </a:prstClr>
                </a:solidFill>
              </a:rPr>
              <a:t>NineTeen</a:t>
            </a:r>
            <a:r>
              <a:rPr lang="en-US" altLang="zh-CN" sz="900" dirty="0">
                <a:solidFill>
                  <a:prstClr val="black">
                    <a:lumMod val="85000"/>
                    <a:lumOff val="15000"/>
                  </a:prstClr>
                </a:solidFill>
              </a:rPr>
              <a:t> For Knowledge Graph</a:t>
            </a:r>
          </a:p>
        </p:txBody>
      </p:sp>
      <p:cxnSp>
        <p:nvCxnSpPr>
          <p:cNvPr id="16" name="直接连接符 15"/>
          <p:cNvCxnSpPr/>
          <p:nvPr/>
        </p:nvCxnSpPr>
        <p:spPr>
          <a:xfrm>
            <a:off x="4441372" y="2961888"/>
            <a:ext cx="2612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任意多边形 22"/>
          <p:cNvSpPr/>
          <p:nvPr/>
        </p:nvSpPr>
        <p:spPr>
          <a:xfrm>
            <a:off x="2496968" y="-465601"/>
            <a:ext cx="4171119" cy="2085559"/>
          </a:xfrm>
          <a:custGeom>
            <a:avLst/>
            <a:gdLst>
              <a:gd name="connsiteX0" fmla="*/ 0 w 3557939"/>
              <a:gd name="connsiteY0" fmla="*/ 0 h 1778969"/>
              <a:gd name="connsiteX1" fmla="*/ 3557939 w 3557939"/>
              <a:gd name="connsiteY1" fmla="*/ 0 h 1778969"/>
              <a:gd name="connsiteX2" fmla="*/ 1778970 w 3557939"/>
              <a:gd name="connsiteY2" fmla="*/ 1778969 h 1778969"/>
            </a:gdLst>
            <a:ahLst/>
            <a:cxnLst>
              <a:cxn ang="0">
                <a:pos x="connsiteX0" y="connsiteY0"/>
              </a:cxn>
              <a:cxn ang="0">
                <a:pos x="connsiteX1" y="connsiteY1"/>
              </a:cxn>
              <a:cxn ang="0">
                <a:pos x="connsiteX2" y="connsiteY2"/>
              </a:cxn>
            </a:cxnLst>
            <a:rect l="l" t="t" r="r" b="b"/>
            <a:pathLst>
              <a:path w="3557939" h="1778969">
                <a:moveTo>
                  <a:pt x="0" y="0"/>
                </a:moveTo>
                <a:lnTo>
                  <a:pt x="3557939" y="0"/>
                </a:lnTo>
                <a:lnTo>
                  <a:pt x="1778970" y="1778969"/>
                </a:lnTo>
                <a:close/>
              </a:path>
            </a:pathLst>
          </a:cu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菱形 24"/>
          <p:cNvSpPr/>
          <p:nvPr/>
        </p:nvSpPr>
        <p:spPr>
          <a:xfrm>
            <a:off x="2184101" y="229604"/>
            <a:ext cx="4775798" cy="4775798"/>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descr="logo"/>
          <p:cNvPicPr>
            <a:picLocks noChangeAspect="1"/>
          </p:cNvPicPr>
          <p:nvPr/>
        </p:nvPicPr>
        <p:blipFill>
          <a:blip r:embed="rId4"/>
          <a:srcRect l="365" t="-3316" r="-547" b="31993"/>
          <a:stretch>
            <a:fillRect/>
          </a:stretch>
        </p:blipFill>
        <p:spPr>
          <a:xfrm>
            <a:off x="4093210" y="548005"/>
            <a:ext cx="978612" cy="720005"/>
          </a:xfrm>
          <a:prstGeom prst="rect">
            <a:avLst/>
          </a:prstGeom>
        </p:spPr>
      </p:pic>
    </p:spTree>
  </p:cSld>
  <p:clrMapOvr>
    <a:masterClrMapping/>
  </p:clrMapOvr>
  <p:transition spd="slow">
    <p:push dir="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bwMode="auto">
          <a:xfrm>
            <a:off x="90232" y="205901"/>
            <a:ext cx="1107996" cy="369332"/>
          </a:xfrm>
          <a:prstGeom prst="rect">
            <a:avLst/>
          </a:prstGeom>
          <a:noFill/>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30437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可解释性</a:t>
            </a:r>
          </a:p>
        </p:txBody>
      </p:sp>
      <p:sp>
        <p:nvSpPr>
          <p:cNvPr id="5" name="矩形 4"/>
          <p:cNvSpPr/>
          <p:nvPr/>
        </p:nvSpPr>
        <p:spPr>
          <a:xfrm>
            <a:off x="90232" y="575233"/>
            <a:ext cx="832279" cy="215444"/>
          </a:xfrm>
          <a:prstGeom prst="rect">
            <a:avLst/>
          </a:prstGeom>
        </p:spPr>
        <p:txBody>
          <a:bodyPr wrap="none">
            <a:spAutoFit/>
          </a:bodyPr>
          <a:lstStyle/>
          <a:p>
            <a:pPr marL="0" marR="0" lvl="0" indent="0" algn="l" defTabSz="685800" rtl="0" eaLnBrk="1" fontAlgn="base" latinLnBrk="0" hangingPunct="1">
              <a:lnSpc>
                <a:spcPct val="100000"/>
              </a:lnSpc>
              <a:spcBef>
                <a:spcPct val="0"/>
              </a:spcBef>
              <a:spcAft>
                <a:spcPct val="0"/>
              </a:spcAft>
              <a:buClrTx/>
              <a:buSzTx/>
              <a:buFontTx/>
              <a:buNone/>
              <a:tabLst/>
              <a:defRPr/>
            </a:pPr>
            <a:r>
              <a:rPr kumimoji="0" lang="en-US" altLang="zh-CN" sz="800" b="0" i="0" u="none" strike="noStrike" kern="1200" cap="none" spc="0" normalizeH="0" baseline="0" noProof="0" dirty="0">
                <a:ln>
                  <a:noFill/>
                </a:ln>
                <a:solidFill>
                  <a:srgbClr val="304371"/>
                </a:solidFill>
                <a:effectLst/>
                <a:uLnTx/>
                <a:uFillTx/>
                <a:latin typeface="Arial"/>
                <a:ea typeface="方正兰亭黑_GBK"/>
                <a:cs typeface="+mn-cs"/>
              </a:rPr>
              <a:t>Interpretability</a:t>
            </a:r>
          </a:p>
        </p:txBody>
      </p:sp>
      <p:cxnSp>
        <p:nvCxnSpPr>
          <p:cNvPr id="7" name="直接连接符 6"/>
          <p:cNvCxnSpPr/>
          <p:nvPr/>
        </p:nvCxnSpPr>
        <p:spPr>
          <a:xfrm>
            <a:off x="194041" y="81169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矩形 7" descr="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
          <p:cNvSpPr/>
          <p:nvPr/>
        </p:nvSpPr>
        <p:spPr bwMode="auto">
          <a:xfrm>
            <a:off x="609940" y="1121648"/>
            <a:ext cx="1569660" cy="369332"/>
          </a:xfrm>
          <a:prstGeom prst="rect">
            <a:avLst/>
          </a:prstGeom>
          <a:noFill/>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304371"/>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网络路径搜寻</a:t>
            </a:r>
          </a:p>
        </p:txBody>
      </p:sp>
      <p:grpSp>
        <p:nvGrpSpPr>
          <p:cNvPr id="28" name="组合 27"/>
          <p:cNvGrpSpPr/>
          <p:nvPr/>
        </p:nvGrpSpPr>
        <p:grpSpPr>
          <a:xfrm>
            <a:off x="4614545" y="1445260"/>
            <a:ext cx="2926715" cy="3139440"/>
            <a:chOff x="2329" y="1579"/>
            <a:chExt cx="4609" cy="4944"/>
          </a:xfrm>
        </p:grpSpPr>
        <p:sp>
          <p:nvSpPr>
            <p:cNvPr id="2" name="圆角矩形 1"/>
            <p:cNvSpPr/>
            <p:nvPr/>
          </p:nvSpPr>
          <p:spPr>
            <a:xfrm>
              <a:off x="2329" y="1651"/>
              <a:ext cx="1056" cy="703"/>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Light"/>
                <a:ea typeface="微软雅黑 Light"/>
                <a:cs typeface="+mn-cs"/>
              </a:endParaRPr>
            </a:p>
          </p:txBody>
        </p:sp>
        <p:sp>
          <p:nvSpPr>
            <p:cNvPr id="6" name="文本框 5"/>
            <p:cNvSpPr txBox="1"/>
            <p:nvPr/>
          </p:nvSpPr>
          <p:spPr>
            <a:xfrm>
              <a:off x="2430" y="1713"/>
              <a:ext cx="853" cy="580"/>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a:solidFill>
                    <a:prstClr val="black"/>
                  </a:solidFill>
                  <a:latin typeface="Calibri Light"/>
                  <a:ea typeface="微软雅黑 Light"/>
                </a:rPr>
                <a:t>x</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1</a:t>
              </a:r>
            </a:p>
          </p:txBody>
        </p:sp>
        <p:sp>
          <p:nvSpPr>
            <p:cNvPr id="3" name="圆角矩形 2"/>
            <p:cNvSpPr/>
            <p:nvPr/>
          </p:nvSpPr>
          <p:spPr>
            <a:xfrm>
              <a:off x="2331" y="2632"/>
              <a:ext cx="1054" cy="3482"/>
            </a:xfrm>
            <a:prstGeom prst="roundRect">
              <a:avLst/>
            </a:prstGeom>
            <a:noFill/>
            <a:ln>
              <a:prstDash val="sysDot"/>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Light"/>
                <a:ea typeface="微软雅黑 Light"/>
                <a:cs typeface="+mn-cs"/>
              </a:endParaRPr>
            </a:p>
          </p:txBody>
        </p:sp>
        <p:sp>
          <p:nvSpPr>
            <p:cNvPr id="11" name="文本框 10"/>
            <p:cNvSpPr txBox="1"/>
            <p:nvPr/>
          </p:nvSpPr>
          <p:spPr>
            <a:xfrm>
              <a:off x="2433" y="2775"/>
              <a:ext cx="850" cy="3199"/>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a:solidFill>
                    <a:prstClr val="black"/>
                  </a:solidFill>
                  <a:latin typeface="Calibri Light"/>
                  <a:ea typeface="微软雅黑 Light"/>
                </a:rPr>
                <a:t>x</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2</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a:solidFill>
                    <a:prstClr val="black"/>
                  </a:solidFill>
                  <a:latin typeface="Calibri Light"/>
                  <a:ea typeface="微软雅黑 Light"/>
                </a:rPr>
                <a:t>x</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3</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a:solidFill>
                    <a:prstClr val="black"/>
                  </a:solidFill>
                  <a:latin typeface="Calibri Light"/>
                  <a:ea typeface="微软雅黑 Light"/>
                </a:rPr>
                <a:t>x</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4</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x5</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a:solidFill>
                    <a:prstClr val="black"/>
                  </a:solidFill>
                  <a:latin typeface="Calibri Light"/>
                  <a:ea typeface="微软雅黑 Light"/>
                </a:rPr>
                <a:t>x</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6</a:t>
              </a:r>
            </a:p>
            <a:p>
              <a:pPr algn="ctr">
                <a:defRPr/>
              </a:pPr>
              <a:r>
                <a:rPr lang="en-US" altLang="zh-CN" sz="1800" b="1" dirty="0">
                  <a:solidFill>
                    <a:prstClr val="black"/>
                  </a:solidFill>
                </a:rPr>
                <a:t>……</a:t>
              </a:r>
              <a:endPar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800" b="1" dirty="0" err="1">
                  <a:solidFill>
                    <a:prstClr val="black"/>
                  </a:solidFill>
                  <a:latin typeface="Calibri Light"/>
                  <a:ea typeface="微软雅黑 Light"/>
                </a:rPr>
                <a:t>xm</a:t>
              </a:r>
              <a:endPar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endParaRPr>
            </a:p>
          </p:txBody>
        </p:sp>
        <p:sp>
          <p:nvSpPr>
            <p:cNvPr id="12" name="圆角矩形 11"/>
            <p:cNvSpPr/>
            <p:nvPr/>
          </p:nvSpPr>
          <p:spPr>
            <a:xfrm>
              <a:off x="4438" y="1651"/>
              <a:ext cx="2499" cy="4463"/>
            </a:xfrm>
            <a:prstGeom prst="roundRect">
              <a:avLst/>
            </a:prstGeom>
            <a:noFill/>
            <a:ln>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Light"/>
                <a:ea typeface="微软雅黑 Light"/>
                <a:cs typeface="+mn-cs"/>
              </a:endParaRPr>
            </a:p>
          </p:txBody>
        </p:sp>
        <p:cxnSp>
          <p:nvCxnSpPr>
            <p:cNvPr id="13" name="直接连接符 12"/>
            <p:cNvCxnSpPr/>
            <p:nvPr/>
          </p:nvCxnSpPr>
          <p:spPr>
            <a:xfrm>
              <a:off x="3366" y="2095"/>
              <a:ext cx="1056" cy="11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366" y="2095"/>
              <a:ext cx="10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385" y="2095"/>
              <a:ext cx="1055" cy="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403" y="2151"/>
              <a:ext cx="1015" cy="1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385" y="2095"/>
              <a:ext cx="1037" cy="24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403" y="2225"/>
              <a:ext cx="1037" cy="3092"/>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049" y="1780"/>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Calibri Light"/>
                  <a:ea typeface="微软雅黑 Light"/>
                  <a:cs typeface="+mn-cs"/>
                </a:rPr>
                <a:t>类型：喜剧</a:t>
              </a:r>
            </a:p>
          </p:txBody>
        </p:sp>
        <p:sp>
          <p:nvSpPr>
            <p:cNvPr id="21" name="文本框 20"/>
            <p:cNvSpPr txBox="1"/>
            <p:nvPr/>
          </p:nvSpPr>
          <p:spPr>
            <a:xfrm>
              <a:off x="4418" y="1579"/>
              <a:ext cx="850" cy="4944"/>
            </a:xfrm>
            <a:prstGeom prst="rect">
              <a:avLst/>
            </a:prstGeom>
            <a:noFill/>
          </p:spPr>
          <p:txBody>
            <a:bodyPr wrap="square" rtlCol="0">
              <a:spAutoFit/>
            </a:bodyPr>
            <a:lstStyle/>
            <a:p>
              <a:pPr marL="0" marR="0" lvl="0" indent="0" algn="ctr" defTabSz="6858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h1</a:t>
              </a:r>
            </a:p>
            <a:p>
              <a:pPr marL="0" marR="0" lvl="0" indent="0" algn="ctr" defTabSz="6858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h2</a:t>
              </a:r>
            </a:p>
            <a:p>
              <a:pPr marL="0" marR="0" lvl="0" indent="0" algn="ctr" defTabSz="6858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h3</a:t>
              </a:r>
            </a:p>
            <a:p>
              <a:pPr marL="0" marR="0" lvl="0" indent="0" algn="ctr" defTabSz="6858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h4</a:t>
              </a:r>
            </a:p>
            <a:p>
              <a:pPr marL="0" marR="0" lvl="0" indent="0" algn="ctr" defTabSz="685800" rtl="0" eaLnBrk="1" fontAlgn="auto" latinLnBrk="0" hangingPunct="1">
                <a:lnSpc>
                  <a:spcPct val="150000"/>
                </a:lnSpc>
                <a:spcBef>
                  <a:spcPts val="0"/>
                </a:spcBef>
                <a:spcAft>
                  <a:spcPts val="0"/>
                </a:spcAft>
                <a:buClrTx/>
                <a:buSzTx/>
                <a:buFontTx/>
                <a:buNone/>
                <a:tabLst/>
                <a:defRPr/>
              </a:pPr>
              <a:r>
                <a:rPr lang="en-US" altLang="zh-CN" sz="1800" b="1" dirty="0">
                  <a:solidFill>
                    <a:prstClr val="black"/>
                  </a:solidFill>
                  <a:latin typeface="Calibri Light"/>
                  <a:ea typeface="微软雅黑 Light"/>
                </a:rPr>
                <a:t>h</a:t>
              </a:r>
              <a:r>
                <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rPr>
                <a:t>5</a:t>
              </a:r>
            </a:p>
            <a:p>
              <a:pPr algn="ctr">
                <a:defRPr/>
              </a:pPr>
              <a:r>
                <a:rPr lang="en-US" altLang="zh-CN" sz="1800" b="1" dirty="0">
                  <a:solidFill>
                    <a:prstClr val="black"/>
                  </a:solidFill>
                </a:rPr>
                <a:t>……</a:t>
              </a:r>
            </a:p>
            <a:p>
              <a:pPr marL="0" marR="0" lvl="0" indent="0" algn="ctr" defTabSz="6858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prstClr val="black"/>
                  </a:solidFill>
                  <a:effectLst/>
                  <a:uLnTx/>
                  <a:uFillTx/>
                  <a:latin typeface="Calibri Light"/>
                  <a:ea typeface="微软雅黑 Light"/>
                  <a:cs typeface="+mn-cs"/>
                </a:rPr>
                <a:t>hn</a:t>
              </a:r>
              <a:endPar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1200" cap="none" spc="0" normalizeH="0" baseline="0" noProof="0" dirty="0">
                <a:ln>
                  <a:noFill/>
                </a:ln>
                <a:solidFill>
                  <a:prstClr val="black"/>
                </a:solidFill>
                <a:effectLst/>
                <a:uLnTx/>
                <a:uFillTx/>
                <a:latin typeface="Calibri Light"/>
                <a:ea typeface="微软雅黑 Light"/>
                <a:cs typeface="+mn-cs"/>
              </a:endParaRPr>
            </a:p>
          </p:txBody>
        </p:sp>
        <p:sp>
          <p:nvSpPr>
            <p:cNvPr id="22" name="文本框 21"/>
            <p:cNvSpPr txBox="1"/>
            <p:nvPr/>
          </p:nvSpPr>
          <p:spPr>
            <a:xfrm>
              <a:off x="5049" y="4398"/>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Calibri Light"/>
                  <a:ea typeface="微软雅黑 Light"/>
                  <a:cs typeface="+mn-cs"/>
                </a:rPr>
                <a:t>主演：成龙</a:t>
              </a:r>
            </a:p>
          </p:txBody>
        </p:sp>
        <p:sp>
          <p:nvSpPr>
            <p:cNvPr id="23" name="文本框 22"/>
            <p:cNvSpPr txBox="1"/>
            <p:nvPr/>
          </p:nvSpPr>
          <p:spPr>
            <a:xfrm>
              <a:off x="5048" y="5443"/>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Calibri Light"/>
                  <a:ea typeface="微软雅黑 Light"/>
                  <a:cs typeface="+mn-cs"/>
                </a:rPr>
                <a:t>类型：爱情</a:t>
              </a:r>
            </a:p>
          </p:txBody>
        </p:sp>
        <p:sp>
          <p:nvSpPr>
            <p:cNvPr id="25" name="文本框 24"/>
            <p:cNvSpPr txBox="1"/>
            <p:nvPr/>
          </p:nvSpPr>
          <p:spPr>
            <a:xfrm>
              <a:off x="5048" y="2431"/>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Calibri Light"/>
                  <a:ea typeface="微软雅黑 Light"/>
                  <a:cs typeface="+mn-cs"/>
                </a:rPr>
                <a:t>语言：中文</a:t>
              </a:r>
            </a:p>
          </p:txBody>
        </p:sp>
        <p:sp>
          <p:nvSpPr>
            <p:cNvPr id="26" name="文本框 25"/>
            <p:cNvSpPr txBox="1"/>
            <p:nvPr/>
          </p:nvSpPr>
          <p:spPr>
            <a:xfrm>
              <a:off x="5049" y="3088"/>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Calibri Light"/>
                  <a:ea typeface="微软雅黑 Light"/>
                  <a:cs typeface="+mn-cs"/>
                </a:rPr>
                <a:t>类型：喜剧</a:t>
              </a:r>
            </a:p>
          </p:txBody>
        </p:sp>
        <p:sp>
          <p:nvSpPr>
            <p:cNvPr id="27" name="文本框 26"/>
            <p:cNvSpPr txBox="1"/>
            <p:nvPr/>
          </p:nvSpPr>
          <p:spPr>
            <a:xfrm>
              <a:off x="5049" y="3785"/>
              <a:ext cx="1889" cy="531"/>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a:ln>
                    <a:noFill/>
                  </a:ln>
                  <a:solidFill>
                    <a:prstClr val="black"/>
                  </a:solidFill>
                  <a:effectLst/>
                  <a:uLnTx/>
                  <a:uFillTx/>
                  <a:latin typeface="Calibri Light"/>
                  <a:ea typeface="微软雅黑 Light"/>
                  <a:cs typeface="+mn-cs"/>
                </a:rPr>
                <a:t>导演：徐克</a:t>
              </a:r>
            </a:p>
          </p:txBody>
        </p:sp>
      </p:grpSp>
      <p:sp>
        <p:nvSpPr>
          <p:cNvPr id="24" name="文本框 23"/>
          <p:cNvSpPr txBox="1"/>
          <p:nvPr/>
        </p:nvSpPr>
        <p:spPr>
          <a:xfrm>
            <a:off x="194945" y="1728470"/>
            <a:ext cx="3789680" cy="2777171"/>
          </a:xfrm>
          <a:prstGeom prst="rect">
            <a:avLst/>
          </a:prstGeom>
          <a:noFill/>
        </p:spPr>
        <p:txBody>
          <a:bodyPr wrap="square" rtlCol="0">
            <a:spAutoFit/>
          </a:bodyPr>
          <a:lstStyle/>
          <a:p>
            <a:pPr marL="0" marR="0" lvl="0" indent="0" algn="l" defTabSz="6858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rPr>
              <a:t>        </a:t>
            </a:r>
            <a:r>
              <a:rPr kumimoji="0" lang="zh-CN" altLang="en-US" sz="1600" b="0" i="0" u="none" strike="noStrike" kern="1200" cap="none" spc="0" normalizeH="0" baseline="0" noProof="0" dirty="0">
                <a:ln>
                  <a:noFill/>
                </a:ln>
                <a:solidFill>
                  <a:srgbClr val="304371"/>
                </a:solidFill>
                <a:effectLst/>
                <a:uLnTx/>
                <a:uFillTx/>
                <a:latin typeface="Calibri Light"/>
                <a:ea typeface="微软雅黑 Light"/>
                <a:cs typeface="+mn-cs"/>
              </a:rPr>
              <a:t>以用户看过的电影和推荐的电影为圆心，寻找这两个网络之间相交的部分，即寻找对用户推荐的电影</a:t>
            </a:r>
            <a:r>
              <a:rPr lang="en-US" altLang="zh-CN" sz="1600" dirty="0">
                <a:solidFill>
                  <a:srgbClr val="304371"/>
                </a:solidFill>
                <a:latin typeface="Calibri Light"/>
                <a:ea typeface="微软雅黑 Light"/>
              </a:rPr>
              <a:t>x1-xm</a:t>
            </a:r>
            <a:r>
              <a:rPr kumimoji="0" lang="zh-CN" altLang="en-US" sz="1600" b="0" i="0" u="none" strike="noStrike" kern="1200" cap="none" spc="0" normalizeH="0" baseline="0" noProof="0" dirty="0">
                <a:ln>
                  <a:noFill/>
                </a:ln>
                <a:solidFill>
                  <a:srgbClr val="304371"/>
                </a:solidFill>
                <a:effectLst/>
                <a:uLnTx/>
                <a:uFillTx/>
                <a:latin typeface="Calibri Light"/>
                <a:ea typeface="微软雅黑 Light"/>
                <a:cs typeface="+mn-cs"/>
              </a:rPr>
              <a:t>与</a:t>
            </a:r>
            <a:r>
              <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rPr>
              <a:t>h1-hn</a:t>
            </a:r>
            <a:r>
              <a:rPr kumimoji="0" lang="zh-CN" altLang="en-US" sz="1600" b="0" i="0" u="none" strike="noStrike" kern="1200" cap="none" spc="0" normalizeH="0" baseline="0" noProof="0" dirty="0">
                <a:ln>
                  <a:noFill/>
                </a:ln>
                <a:solidFill>
                  <a:srgbClr val="304371"/>
                </a:solidFill>
                <a:effectLst/>
                <a:uLnTx/>
                <a:uFillTx/>
                <a:latin typeface="Calibri Light"/>
                <a:ea typeface="微软雅黑 Light"/>
                <a:cs typeface="+mn-cs"/>
              </a:rPr>
              <a:t>的最短路径</a:t>
            </a:r>
          </a:p>
          <a:p>
            <a:pPr marL="0" marR="0" lvl="0" indent="0" algn="l" defTabSz="685800" rtl="0" eaLnBrk="1" fontAlgn="auto" latinLnBrk="0" hangingPunct="1">
              <a:lnSpc>
                <a:spcPct val="150000"/>
              </a:lnSpc>
              <a:spcBef>
                <a:spcPts val="0"/>
              </a:spcBef>
              <a:spcAft>
                <a:spcPts val="0"/>
              </a:spcAft>
              <a:buClrTx/>
              <a:buSzTx/>
              <a:buFontTx/>
              <a:buNone/>
              <a:tabLst/>
              <a:defRPr/>
            </a:pPr>
            <a:endParaRPr kumimoji="0" lang="zh-CN" altLang="en-US" sz="600" b="0" i="0" u="none" strike="noStrike" kern="1200" cap="none" spc="0" normalizeH="0" baseline="0" noProof="0" dirty="0">
              <a:ln>
                <a:noFill/>
              </a:ln>
              <a:solidFill>
                <a:srgbClr val="304371"/>
              </a:solidFill>
              <a:effectLst/>
              <a:uLnTx/>
              <a:uFillTx/>
              <a:latin typeface="Calibri Light"/>
              <a:ea typeface="微软雅黑 Light"/>
              <a:cs typeface="+mn-cs"/>
            </a:endParaRPr>
          </a:p>
          <a:p>
            <a:pPr marL="0" marR="0" lvl="0" indent="0" algn="l" defTabSz="6858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rPr>
              <a:t>1. </a:t>
            </a:r>
            <a:r>
              <a:rPr kumimoji="0" lang="zh-CN" altLang="en-US" sz="1600" b="0" i="0" u="none" strike="noStrike" kern="1200" cap="none" spc="0" normalizeH="0" baseline="0" noProof="0" dirty="0">
                <a:ln>
                  <a:noFill/>
                </a:ln>
                <a:solidFill>
                  <a:srgbClr val="304371"/>
                </a:solidFill>
                <a:effectLst/>
                <a:uLnTx/>
                <a:uFillTx/>
                <a:latin typeface="Calibri Light"/>
                <a:ea typeface="微软雅黑 Light"/>
                <a:cs typeface="+mn-cs"/>
              </a:rPr>
              <a:t>随机生成</a:t>
            </a:r>
            <a:endPar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endParaRPr>
          </a:p>
          <a:p>
            <a:pPr lvl="0">
              <a:lnSpc>
                <a:spcPct val="150000"/>
              </a:lnSpc>
              <a:defRPr/>
            </a:pPr>
            <a:r>
              <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rPr>
              <a:t>2</a:t>
            </a:r>
            <a:r>
              <a:rPr lang="en-US" altLang="zh-CN" sz="1600" dirty="0">
                <a:solidFill>
                  <a:srgbClr val="304371"/>
                </a:solidFill>
              </a:rPr>
              <a:t>. </a:t>
            </a:r>
            <a:r>
              <a:rPr lang="zh-CN" altLang="en-US" sz="1600" dirty="0">
                <a:solidFill>
                  <a:srgbClr val="304371"/>
                </a:solidFill>
              </a:rPr>
              <a:t>以统计的方法获取相关关系</a:t>
            </a:r>
            <a:r>
              <a:rPr lang="en-US" altLang="zh-CN" sz="1600" dirty="0" err="1">
                <a:solidFill>
                  <a:srgbClr val="304371"/>
                </a:solidFill>
              </a:rPr>
              <a:t>作为推荐理由</a:t>
            </a:r>
            <a:endParaRPr kumimoji="0" lang="en-US" altLang="zh-CN" sz="1600" b="0" i="0" u="none" strike="noStrike" kern="1200" cap="none" spc="0" normalizeH="0" baseline="0" noProof="0" dirty="0">
              <a:ln>
                <a:noFill/>
              </a:ln>
              <a:solidFill>
                <a:srgbClr val="304371"/>
              </a:solidFill>
              <a:effectLst/>
              <a:uLnTx/>
              <a:uFillTx/>
              <a:latin typeface="Calibri Light"/>
              <a:ea typeface="微软雅黑 Light"/>
              <a:cs typeface="+mn-cs"/>
            </a:endParaRPr>
          </a:p>
        </p:txBody>
      </p:sp>
      <p:sp>
        <p:nvSpPr>
          <p:cNvPr id="20" name="文本框 19"/>
          <p:cNvSpPr txBox="1"/>
          <p:nvPr/>
        </p:nvSpPr>
        <p:spPr>
          <a:xfrm>
            <a:off x="6358254" y="1066165"/>
            <a:ext cx="777875" cy="299085"/>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0" i="0" u="none" strike="noStrike" kern="1200" cap="none" spc="0" normalizeH="0" baseline="0" noProof="0" dirty="0">
                <a:ln>
                  <a:noFill/>
                </a:ln>
                <a:solidFill>
                  <a:prstClr val="black"/>
                </a:solidFill>
                <a:effectLst/>
                <a:uLnTx/>
                <a:uFillTx/>
                <a:latin typeface="Calibri Light"/>
                <a:ea typeface="微软雅黑 Light"/>
                <a:cs typeface="+mn-cs"/>
              </a:rPr>
              <a:t>History</a:t>
            </a:r>
          </a:p>
        </p:txBody>
      </p:sp>
      <p:sp>
        <p:nvSpPr>
          <p:cNvPr id="29" name="文本框 28"/>
          <p:cNvSpPr txBox="1"/>
          <p:nvPr/>
        </p:nvSpPr>
        <p:spPr>
          <a:xfrm>
            <a:off x="4120197" y="1076325"/>
            <a:ext cx="1658620" cy="299085"/>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0" i="0" u="none" strike="noStrike" kern="1200" cap="none" spc="0" normalizeH="0" baseline="0" noProof="0" dirty="0">
                <a:ln>
                  <a:noFill/>
                </a:ln>
                <a:solidFill>
                  <a:srgbClr val="000000"/>
                </a:solidFill>
                <a:effectLst/>
                <a:uLnTx/>
                <a:uFillTx/>
                <a:latin typeface="Calibri Light"/>
                <a:ea typeface="微软雅黑 Light"/>
                <a:cs typeface="+mn-cs"/>
                <a:sym typeface="+mn-ea"/>
              </a:rPr>
              <a:t>Recommendation</a:t>
            </a:r>
            <a:endParaRPr kumimoji="0" lang="zh-CN" altLang="en-US" sz="1350" b="0" i="0" u="none" strike="noStrike" kern="1200" cap="none" spc="0" normalizeH="0" baseline="0" noProof="0" dirty="0">
              <a:ln>
                <a:noFill/>
              </a:ln>
              <a:solidFill>
                <a:prstClr val="black"/>
              </a:solidFill>
              <a:effectLst/>
              <a:uLnTx/>
              <a:uFillTx/>
              <a:latin typeface="Calibri Light"/>
              <a:ea typeface="微软雅黑 Light"/>
              <a:cs typeface="+mn-cs"/>
            </a:endParaRPr>
          </a:p>
        </p:txBody>
      </p:sp>
      <p:sp>
        <p:nvSpPr>
          <p:cNvPr id="30" name="圆角矩形 29"/>
          <p:cNvSpPr/>
          <p:nvPr/>
        </p:nvSpPr>
        <p:spPr>
          <a:xfrm>
            <a:off x="4235450" y="434975"/>
            <a:ext cx="3672840" cy="424434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Calibri Light"/>
              <a:ea typeface="微软雅黑 Light"/>
              <a:cs typeface="+mn-cs"/>
            </a:endParaRPr>
          </a:p>
        </p:txBody>
      </p:sp>
      <p:sp>
        <p:nvSpPr>
          <p:cNvPr id="31" name="文本框 30"/>
          <p:cNvSpPr txBox="1"/>
          <p:nvPr/>
        </p:nvSpPr>
        <p:spPr>
          <a:xfrm>
            <a:off x="4615815" y="661670"/>
            <a:ext cx="923925" cy="29908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1350" b="0" i="0" u="none" strike="noStrike" kern="1200" cap="none" spc="0" normalizeH="0" baseline="0" noProof="0" dirty="0">
                <a:ln>
                  <a:noFill/>
                </a:ln>
                <a:solidFill>
                  <a:prstClr val="black"/>
                </a:solidFill>
                <a:effectLst/>
                <a:uLnTx/>
                <a:uFillTx/>
                <a:latin typeface="Calibri Light"/>
                <a:ea typeface="微软雅黑 Light"/>
                <a:cs typeface="+mn-cs"/>
              </a:rPr>
              <a:t>user:</a:t>
            </a:r>
            <a:r>
              <a:rPr lang="en-US" altLang="zh-CN" dirty="0">
                <a:solidFill>
                  <a:prstClr val="black"/>
                </a:solidFill>
                <a:latin typeface="Calibri Light"/>
                <a:ea typeface="微软雅黑 Light"/>
              </a:rPr>
              <a:t>xxx</a:t>
            </a:r>
            <a:endParaRPr kumimoji="0" lang="zh-CN" altLang="zh-CN" sz="1350" b="0" i="0" u="none" strike="noStrike" kern="1200" cap="none" spc="0" normalizeH="0" baseline="0" noProof="0" dirty="0">
              <a:ln>
                <a:noFill/>
              </a:ln>
              <a:solidFill>
                <a:prstClr val="black"/>
              </a:solidFill>
              <a:effectLst/>
              <a:uLnTx/>
              <a:uFillTx/>
              <a:latin typeface="Calibri Light"/>
              <a:ea typeface="微软雅黑 Light"/>
              <a:cs typeface="+mn-cs"/>
            </a:endParaRPr>
          </a:p>
        </p:txBody>
      </p:sp>
      <p:cxnSp>
        <p:nvCxnSpPr>
          <p:cNvPr id="32" name="直接连接符 31"/>
          <p:cNvCxnSpPr/>
          <p:nvPr/>
        </p:nvCxnSpPr>
        <p:spPr>
          <a:xfrm>
            <a:off x="678546" y="1491147"/>
            <a:ext cx="257904"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duotone>
              <a:prstClr val="black"/>
              <a:schemeClr val="tx2">
                <a:tint val="45000"/>
                <a:satMod val="400000"/>
              </a:schemeClr>
            </a:duotone>
            <a:lum/>
          </a:blip>
          <a:srcRect/>
          <a:stretch>
            <a:fillRect/>
          </a:stretch>
        </a:blipFill>
        <a:effectLst/>
      </p:bgPr>
    </p:bg>
    <p:spTree>
      <p:nvGrpSpPr>
        <p:cNvPr id="1" name=""/>
        <p:cNvGrpSpPr/>
        <p:nvPr/>
      </p:nvGrpSpPr>
      <p:grpSpPr>
        <a:xfrm>
          <a:off x="0" y="0"/>
          <a:ext cx="0" cy="0"/>
          <a:chOff x="0" y="0"/>
          <a:chExt cx="0" cy="0"/>
        </a:xfrm>
      </p:grpSpPr>
      <p:pic>
        <p:nvPicPr>
          <p:cNvPr id="3" name="图片 2" descr="DeeCamp角标"/>
          <p:cNvPicPr>
            <a:picLocks noChangeAspect="1"/>
          </p:cNvPicPr>
          <p:nvPr/>
        </p:nvPicPr>
        <p:blipFill>
          <a:blip r:embed="rId3"/>
          <a:stretch>
            <a:fillRect/>
          </a:stretch>
        </p:blipFill>
        <p:spPr>
          <a:xfrm>
            <a:off x="3259455" y="1270"/>
            <a:ext cx="5865495" cy="3299460"/>
          </a:xfrm>
          <a:prstGeom prst="rect">
            <a:avLst/>
          </a:prstGeom>
        </p:spPr>
      </p:pic>
      <p:sp>
        <p:nvSpPr>
          <p:cNvPr id="13" name="矩形 12"/>
          <p:cNvSpPr/>
          <p:nvPr/>
        </p:nvSpPr>
        <p:spPr bwMode="auto">
          <a:xfrm>
            <a:off x="3499431" y="2094283"/>
            <a:ext cx="2145138" cy="523220"/>
          </a:xfrm>
          <a:prstGeom prst="rect">
            <a:avLst/>
          </a:prstGeom>
          <a:noFill/>
        </p:spPr>
        <p:txBody>
          <a:bodyPr wrap="none">
            <a:spAutoFit/>
          </a:bodyPr>
          <a:lstStyle/>
          <a:p>
            <a:pPr algn="ctr">
              <a:defRPr/>
            </a:pPr>
            <a:r>
              <a:rPr lang="zh-CN" altLang="en-US" sz="2800" kern="100" dirty="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总结 </a:t>
            </a:r>
            <a:r>
              <a:rPr lang="en-US" altLang="zh-CN" sz="2800" kern="100" dirty="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&amp; </a:t>
            </a:r>
            <a:r>
              <a:rPr lang="zh-CN" altLang="en-US" sz="2800" kern="100" dirty="0">
                <a:solidFill>
                  <a:srgbClr val="304371"/>
                </a:solidFill>
                <a:latin typeface="微软雅黑" panose="020B0503020204020204" pitchFamily="34" charset="-122"/>
                <a:ea typeface="微软雅黑" panose="020B0503020204020204" pitchFamily="34" charset="-122"/>
                <a:cs typeface="Times New Roman" panose="02020603050405020304" pitchFamily="18" charset="0"/>
              </a:rPr>
              <a:t>致谢</a:t>
            </a:r>
          </a:p>
        </p:txBody>
      </p:sp>
      <p:sp>
        <p:nvSpPr>
          <p:cNvPr id="14" name="矩形 13"/>
          <p:cNvSpPr/>
          <p:nvPr/>
        </p:nvSpPr>
        <p:spPr>
          <a:xfrm>
            <a:off x="3841671" y="2617504"/>
            <a:ext cx="1460656" cy="253916"/>
          </a:xfrm>
          <a:prstGeom prst="rect">
            <a:avLst/>
          </a:prstGeom>
        </p:spPr>
        <p:txBody>
          <a:bodyPr wrap="none">
            <a:spAutoFit/>
          </a:bodyPr>
          <a:lstStyle/>
          <a:p>
            <a:pPr algn="ctr" fontAlgn="base">
              <a:spcBef>
                <a:spcPct val="0"/>
              </a:spcBef>
              <a:spcAft>
                <a:spcPct val="0"/>
              </a:spcAft>
              <a:defRPr/>
            </a:pPr>
            <a:r>
              <a:rPr lang="en-US" altLang="zh-CN" sz="1050" dirty="0">
                <a:solidFill>
                  <a:srgbClr val="304371"/>
                </a:solidFill>
                <a:latin typeface="Arial" panose="020B0604020202020204"/>
                <a:ea typeface="方正兰亭黑_GBK"/>
              </a:rPr>
              <a:t>Conclusion &amp; Thanks</a:t>
            </a:r>
          </a:p>
        </p:txBody>
      </p:sp>
      <p:sp>
        <p:nvSpPr>
          <p:cNvPr id="15" name="矩形 14"/>
          <p:cNvSpPr/>
          <p:nvPr/>
        </p:nvSpPr>
        <p:spPr>
          <a:xfrm>
            <a:off x="2824381" y="2963755"/>
            <a:ext cx="3495238" cy="278602"/>
          </a:xfrm>
          <a:prstGeom prst="rect">
            <a:avLst/>
          </a:prstGeom>
        </p:spPr>
        <p:txBody>
          <a:bodyPr wrap="square">
            <a:spAutoFit/>
          </a:bodyPr>
          <a:lstStyle/>
          <a:p>
            <a:pPr algn="ctr">
              <a:lnSpc>
                <a:spcPct val="150000"/>
              </a:lnSpc>
            </a:pPr>
            <a:r>
              <a:rPr lang="en-US" altLang="zh-CN" sz="900" dirty="0" err="1">
                <a:solidFill>
                  <a:prstClr val="black">
                    <a:lumMod val="85000"/>
                    <a:lumOff val="15000"/>
                  </a:prstClr>
                </a:solidFill>
              </a:rPr>
              <a:t>NineTeen</a:t>
            </a:r>
            <a:r>
              <a:rPr lang="en-US" altLang="zh-CN" sz="900" dirty="0">
                <a:solidFill>
                  <a:prstClr val="black">
                    <a:lumMod val="85000"/>
                    <a:lumOff val="15000"/>
                  </a:prstClr>
                </a:solidFill>
              </a:rPr>
              <a:t> For Knowledge Graph</a:t>
            </a:r>
          </a:p>
        </p:txBody>
      </p:sp>
      <p:cxnSp>
        <p:nvCxnSpPr>
          <p:cNvPr id="16" name="直接连接符 15"/>
          <p:cNvCxnSpPr/>
          <p:nvPr/>
        </p:nvCxnSpPr>
        <p:spPr>
          <a:xfrm>
            <a:off x="4441372" y="2961888"/>
            <a:ext cx="2612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任意多边形 22"/>
          <p:cNvSpPr/>
          <p:nvPr/>
        </p:nvSpPr>
        <p:spPr>
          <a:xfrm>
            <a:off x="2496968" y="-465601"/>
            <a:ext cx="4171119" cy="2085559"/>
          </a:xfrm>
          <a:custGeom>
            <a:avLst/>
            <a:gdLst>
              <a:gd name="connsiteX0" fmla="*/ 0 w 3557939"/>
              <a:gd name="connsiteY0" fmla="*/ 0 h 1778969"/>
              <a:gd name="connsiteX1" fmla="*/ 3557939 w 3557939"/>
              <a:gd name="connsiteY1" fmla="*/ 0 h 1778969"/>
              <a:gd name="connsiteX2" fmla="*/ 1778970 w 3557939"/>
              <a:gd name="connsiteY2" fmla="*/ 1778969 h 1778969"/>
            </a:gdLst>
            <a:ahLst/>
            <a:cxnLst>
              <a:cxn ang="0">
                <a:pos x="connsiteX0" y="connsiteY0"/>
              </a:cxn>
              <a:cxn ang="0">
                <a:pos x="connsiteX1" y="connsiteY1"/>
              </a:cxn>
              <a:cxn ang="0">
                <a:pos x="connsiteX2" y="connsiteY2"/>
              </a:cxn>
            </a:cxnLst>
            <a:rect l="l" t="t" r="r" b="b"/>
            <a:pathLst>
              <a:path w="3557939" h="1778969">
                <a:moveTo>
                  <a:pt x="0" y="0"/>
                </a:moveTo>
                <a:lnTo>
                  <a:pt x="3557939" y="0"/>
                </a:lnTo>
                <a:lnTo>
                  <a:pt x="1778970" y="1778969"/>
                </a:lnTo>
                <a:close/>
              </a:path>
            </a:pathLst>
          </a:cu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菱形 24"/>
          <p:cNvSpPr/>
          <p:nvPr/>
        </p:nvSpPr>
        <p:spPr>
          <a:xfrm>
            <a:off x="2184101" y="229604"/>
            <a:ext cx="4775798" cy="4775798"/>
          </a:xfrm>
          <a:prstGeom prst="diamond">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descr="logo"/>
          <p:cNvPicPr>
            <a:picLocks noChangeAspect="1"/>
          </p:cNvPicPr>
          <p:nvPr/>
        </p:nvPicPr>
        <p:blipFill>
          <a:blip r:embed="rId4"/>
          <a:srcRect l="365" t="-3316" r="-547" b="31993"/>
          <a:stretch>
            <a:fillRect/>
          </a:stretch>
        </p:blipFill>
        <p:spPr>
          <a:xfrm>
            <a:off x="4093210" y="548005"/>
            <a:ext cx="978612" cy="720005"/>
          </a:xfrm>
          <a:prstGeom prst="rect">
            <a:avLst/>
          </a:prstGeom>
        </p:spPr>
      </p:pic>
      <p:pic>
        <p:nvPicPr>
          <p:cNvPr id="17" name="图片 16">
            <a:extLst>
              <a:ext uri="{FF2B5EF4-FFF2-40B4-BE49-F238E27FC236}">
                <a16:creationId xmlns:a16="http://schemas.microsoft.com/office/drawing/2014/main" id="{8B6163C4-87B1-415D-A2BA-EF114E120D15}"/>
              </a:ext>
            </a:extLst>
          </p:cNvPr>
          <p:cNvPicPr>
            <a:picLocks noChangeAspect="1"/>
          </p:cNvPicPr>
          <p:nvPr/>
        </p:nvPicPr>
        <p:blipFill rotWithShape="1">
          <a:blip r:embed="rId5">
            <a:extLst>
              <a:ext uri="{28A0092B-C50C-407E-A947-70E740481C1C}">
                <a14:useLocalDpi xmlns:a14="http://schemas.microsoft.com/office/drawing/2010/main" val="0"/>
              </a:ext>
            </a:extLst>
          </a:blip>
          <a:srcRect r="60518"/>
          <a:stretch/>
        </p:blipFill>
        <p:spPr>
          <a:xfrm>
            <a:off x="256433" y="136901"/>
            <a:ext cx="504517" cy="466509"/>
          </a:xfrm>
          <a:prstGeom prst="rect">
            <a:avLst/>
          </a:prstGeom>
        </p:spPr>
      </p:pic>
    </p:spTree>
  </p:cSld>
  <p:clrMapOvr>
    <a:masterClrMapping/>
  </p:clrMapOvr>
  <p:transition spd="slow">
    <p:push dir="r"/>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第一PPT，www.1ppt.com">
  <a:themeElements>
    <a:clrScheme name="蓝色清新答辩1">
      <a:dk1>
        <a:sysClr val="windowText" lastClr="000000"/>
      </a:dk1>
      <a:lt1>
        <a:sysClr val="window" lastClr="FFFFFF"/>
      </a:lt1>
      <a:dk2>
        <a:srgbClr val="EEF2F5"/>
      </a:dk2>
      <a:lt2>
        <a:srgbClr val="E7E6E6"/>
      </a:lt2>
      <a:accent1>
        <a:srgbClr val="304371"/>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标准3">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蓝色清新答辩1">
      <a:dk1>
        <a:sysClr val="windowText" lastClr="000000"/>
      </a:dk1>
      <a:lt1>
        <a:sysClr val="window" lastClr="FFFFFF"/>
      </a:lt1>
      <a:dk2>
        <a:srgbClr val="EEF2F5"/>
      </a:dk2>
      <a:lt2>
        <a:srgbClr val="E7E6E6"/>
      </a:lt2>
      <a:accent1>
        <a:srgbClr val="304371"/>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标准3">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2933</Words>
  <Application>Microsoft Office PowerPoint</Application>
  <PresentationFormat>全屏显示(16:9)</PresentationFormat>
  <Paragraphs>426</Paragraphs>
  <Slides>25</Slides>
  <Notes>21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25</vt:i4>
      </vt:variant>
    </vt:vector>
  </HeadingPairs>
  <TitlesOfParts>
    <vt:vector size="38" baseType="lpstr">
      <vt:lpstr>Gill Sans</vt:lpstr>
      <vt:lpstr>方正兰亭黑_GBK</vt:lpstr>
      <vt:lpstr>宋体</vt:lpstr>
      <vt:lpstr>微软雅黑</vt:lpstr>
      <vt:lpstr>微软雅黑 Light</vt:lpstr>
      <vt:lpstr>幼圆</vt:lpstr>
      <vt:lpstr>Arial</vt:lpstr>
      <vt:lpstr>Calibri</vt:lpstr>
      <vt:lpstr>Calibri Light</vt:lpstr>
      <vt:lpstr>Cambria Math</vt:lpstr>
      <vt:lpstr>Times New Roman</vt:lpstr>
      <vt:lpstr>第一PPT，www.1ppt.com</vt:lpstr>
      <vt:lpstr>1_第一PPT，www.1ppt.com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第一PPT模板网-WWW.1PPT.COM</dc:creator>
  <cp:keywords>第一PPT模板网-WWW.1PPT.COM</cp:keywords>
  <cp:lastModifiedBy>Hong Zhilong</cp:lastModifiedBy>
  <cp:revision>362</cp:revision>
  <dcterms:created xsi:type="dcterms:W3CDTF">2017-05-01T12:27:00Z</dcterms:created>
  <dcterms:modified xsi:type="dcterms:W3CDTF">2018-08-23T16:22:24Z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2052-10.1.0.7469</vt:lpwstr>
  </property>
  <property fmtid="{D5CDD505-2E9C-101B-9397-08002B2CF9AE}" pid="3" name="KSORubyTemplateID">
    <vt:lpwstr>2</vt:lpwstr>
  </property>
</Properties>
</file>